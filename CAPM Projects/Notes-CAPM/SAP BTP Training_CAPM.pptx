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5.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6.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 id="2147483681" r:id="rId3"/>
    <p:sldMasterId id="2147483693" r:id="rId4"/>
    <p:sldMasterId id="2147483705" r:id="rId5"/>
    <p:sldMasterId id="2147483721" r:id="rId6"/>
    <p:sldMasterId id="2147483741" r:id="rId7"/>
  </p:sldMasterIdLst>
  <p:notesMasterIdLst>
    <p:notesMasterId r:id="rId177"/>
  </p:notesMasterIdLst>
  <p:sldIdLst>
    <p:sldId id="256" r:id="rId8"/>
    <p:sldId id="257" r:id="rId9"/>
    <p:sldId id="258" r:id="rId10"/>
    <p:sldId id="259" r:id="rId11"/>
    <p:sldId id="260" r:id="rId12"/>
    <p:sldId id="261" r:id="rId13"/>
    <p:sldId id="262" r:id="rId14"/>
    <p:sldId id="263" r:id="rId15"/>
    <p:sldId id="264" r:id="rId16"/>
    <p:sldId id="265" r:id="rId17"/>
    <p:sldId id="269" r:id="rId18"/>
    <p:sldId id="270" r:id="rId19"/>
    <p:sldId id="271" r:id="rId20"/>
    <p:sldId id="272" r:id="rId21"/>
    <p:sldId id="273" r:id="rId22"/>
    <p:sldId id="274" r:id="rId23"/>
    <p:sldId id="275" r:id="rId24"/>
    <p:sldId id="276" r:id="rId25"/>
    <p:sldId id="277" r:id="rId26"/>
    <p:sldId id="278" r:id="rId27"/>
    <p:sldId id="279" r:id="rId28"/>
    <p:sldId id="282" r:id="rId29"/>
    <p:sldId id="283"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 id="302" r:id="rId47"/>
    <p:sldId id="303" r:id="rId48"/>
    <p:sldId id="305" r:id="rId49"/>
    <p:sldId id="306" r:id="rId50"/>
    <p:sldId id="307" r:id="rId51"/>
    <p:sldId id="308" r:id="rId52"/>
    <p:sldId id="309" r:id="rId53"/>
    <p:sldId id="310" r:id="rId54"/>
    <p:sldId id="311" r:id="rId55"/>
    <p:sldId id="312" r:id="rId56"/>
    <p:sldId id="313" r:id="rId57"/>
    <p:sldId id="314" r:id="rId58"/>
    <p:sldId id="315" r:id="rId59"/>
    <p:sldId id="317" r:id="rId60"/>
    <p:sldId id="319" r:id="rId61"/>
    <p:sldId id="320" r:id="rId62"/>
    <p:sldId id="325" r:id="rId63"/>
    <p:sldId id="327" r:id="rId64"/>
    <p:sldId id="330" r:id="rId65"/>
    <p:sldId id="332" r:id="rId66"/>
    <p:sldId id="333" r:id="rId67"/>
    <p:sldId id="335" r:id="rId68"/>
    <p:sldId id="336" r:id="rId69"/>
    <p:sldId id="337" r:id="rId70"/>
    <p:sldId id="338" r:id="rId71"/>
    <p:sldId id="339" r:id="rId72"/>
    <p:sldId id="340" r:id="rId73"/>
    <p:sldId id="342" r:id="rId74"/>
    <p:sldId id="343" r:id="rId75"/>
    <p:sldId id="344" r:id="rId76"/>
    <p:sldId id="345" r:id="rId77"/>
    <p:sldId id="346" r:id="rId78"/>
    <p:sldId id="347" r:id="rId79"/>
    <p:sldId id="348" r:id="rId80"/>
    <p:sldId id="349" r:id="rId81"/>
    <p:sldId id="350" r:id="rId82"/>
    <p:sldId id="351" r:id="rId83"/>
    <p:sldId id="352" r:id="rId84"/>
    <p:sldId id="353" r:id="rId85"/>
    <p:sldId id="354" r:id="rId86"/>
    <p:sldId id="356" r:id="rId87"/>
    <p:sldId id="358" r:id="rId88"/>
    <p:sldId id="359" r:id="rId89"/>
    <p:sldId id="360" r:id="rId90"/>
    <p:sldId id="361" r:id="rId91"/>
    <p:sldId id="363" r:id="rId92"/>
    <p:sldId id="364" r:id="rId93"/>
    <p:sldId id="366" r:id="rId94"/>
    <p:sldId id="367" r:id="rId95"/>
    <p:sldId id="368" r:id="rId96"/>
    <p:sldId id="369" r:id="rId97"/>
    <p:sldId id="371" r:id="rId98"/>
    <p:sldId id="372" r:id="rId99"/>
    <p:sldId id="373" r:id="rId100"/>
    <p:sldId id="374" r:id="rId101"/>
    <p:sldId id="375" r:id="rId102"/>
    <p:sldId id="376" r:id="rId103"/>
    <p:sldId id="377" r:id="rId104"/>
    <p:sldId id="378" r:id="rId105"/>
    <p:sldId id="379" r:id="rId106"/>
    <p:sldId id="380" r:id="rId107"/>
    <p:sldId id="381" r:id="rId108"/>
    <p:sldId id="382" r:id="rId109"/>
    <p:sldId id="383" r:id="rId110"/>
    <p:sldId id="384" r:id="rId111"/>
    <p:sldId id="385" r:id="rId112"/>
    <p:sldId id="386" r:id="rId113"/>
    <p:sldId id="387" r:id="rId114"/>
    <p:sldId id="388" r:id="rId115"/>
    <p:sldId id="389" r:id="rId116"/>
    <p:sldId id="390" r:id="rId117"/>
    <p:sldId id="391" r:id="rId118"/>
    <p:sldId id="392" r:id="rId119"/>
    <p:sldId id="393" r:id="rId120"/>
    <p:sldId id="394" r:id="rId121"/>
    <p:sldId id="395" r:id="rId122"/>
    <p:sldId id="396" r:id="rId123"/>
    <p:sldId id="397" r:id="rId124"/>
    <p:sldId id="398" r:id="rId125"/>
    <p:sldId id="399" r:id="rId126"/>
    <p:sldId id="404" r:id="rId127"/>
    <p:sldId id="405" r:id="rId128"/>
    <p:sldId id="406" r:id="rId129"/>
    <p:sldId id="407" r:id="rId130"/>
    <p:sldId id="408" r:id="rId131"/>
    <p:sldId id="410" r:id="rId132"/>
    <p:sldId id="412" r:id="rId133"/>
    <p:sldId id="413" r:id="rId134"/>
    <p:sldId id="414" r:id="rId135"/>
    <p:sldId id="415" r:id="rId136"/>
    <p:sldId id="416" r:id="rId137"/>
    <p:sldId id="417" r:id="rId138"/>
    <p:sldId id="418" r:id="rId139"/>
    <p:sldId id="420" r:id="rId140"/>
    <p:sldId id="421" r:id="rId141"/>
    <p:sldId id="422" r:id="rId142"/>
    <p:sldId id="423" r:id="rId143"/>
    <p:sldId id="424" r:id="rId144"/>
    <p:sldId id="425" r:id="rId145"/>
    <p:sldId id="426" r:id="rId146"/>
    <p:sldId id="427" r:id="rId147"/>
    <p:sldId id="428" r:id="rId148"/>
    <p:sldId id="429" r:id="rId149"/>
    <p:sldId id="430" r:id="rId150"/>
    <p:sldId id="432" r:id="rId151"/>
    <p:sldId id="433" r:id="rId152"/>
    <p:sldId id="434" r:id="rId153"/>
    <p:sldId id="436" r:id="rId154"/>
    <p:sldId id="437" r:id="rId155"/>
    <p:sldId id="438" r:id="rId156"/>
    <p:sldId id="439" r:id="rId157"/>
    <p:sldId id="440" r:id="rId158"/>
    <p:sldId id="441" r:id="rId159"/>
    <p:sldId id="442" r:id="rId160"/>
    <p:sldId id="443" r:id="rId161"/>
    <p:sldId id="444" r:id="rId162"/>
    <p:sldId id="445" r:id="rId163"/>
    <p:sldId id="446" r:id="rId164"/>
    <p:sldId id="448" r:id="rId165"/>
    <p:sldId id="449" r:id="rId166"/>
    <p:sldId id="450" r:id="rId167"/>
    <p:sldId id="451" r:id="rId168"/>
    <p:sldId id="452" r:id="rId169"/>
    <p:sldId id="454" r:id="rId170"/>
    <p:sldId id="455" r:id="rId171"/>
    <p:sldId id="456" r:id="rId172"/>
    <p:sldId id="459" r:id="rId173"/>
    <p:sldId id="463" r:id="rId174"/>
    <p:sldId id="464" r:id="rId175"/>
    <p:sldId id="465" r:id="rId176"/>
  </p:sldIdLst>
  <p:sldSz cx="12188825" cy="6858000"/>
  <p:notesSz cx="6858000" cy="9144000"/>
  <p:embeddedFontLst>
    <p:embeddedFont>
      <p:font typeface="ADLaM Display" panose="02010000000000000000" pitchFamily="2" charset="0"/>
      <p:regular r:id="rId178"/>
    </p:embeddedFont>
    <p:embeddedFont>
      <p:font typeface="Consolas" panose="020B0609020204030204" pitchFamily="49" charset="0"/>
      <p:regular r:id="rId179"/>
      <p:bold r:id="rId180"/>
      <p:italic r:id="rId181"/>
      <p:boldItalic r:id="rId182"/>
    </p:embeddedFont>
    <p:embeddedFont>
      <p:font typeface="Corben" panose="020B0604020202020204" charset="0"/>
      <p:bold r:id="rId183"/>
    </p:embeddedFont>
    <p:embeddedFont>
      <p:font typeface="Open Sans" panose="020B0606030504020204" pitchFamily="34" charset="0"/>
      <p:regular r:id="rId184"/>
      <p:bold r:id="rId185"/>
      <p:italic r:id="rId186"/>
      <p:boldItalic r:id="rId187"/>
    </p:embeddedFont>
    <p:embeddedFont>
      <p:font typeface="Quattrocento Sans" panose="020B0502050000020003" pitchFamily="34" charset="0"/>
      <p:regular r:id="rId188"/>
      <p:bold r:id="rId189"/>
      <p:italic r:id="rId190"/>
      <p:boldItalic r:id="rId19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3" roundtripDataSignature="AMtx7mh2icpy3GGgUI832ME1EJgY/pjg1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24E735F-99A4-4C3F-A01A-79E7CE9A2917}">
  <a:tblStyle styleId="{224E735F-99A4-4C3F-A01A-79E7CE9A2917}" styleName="Table_0">
    <a:wholeTbl>
      <a:tcTxStyle b="off" i="off">
        <a:font>
          <a:latin typeface="Segoe UI"/>
          <a:ea typeface="Segoe UI"/>
          <a:cs typeface="Segoe U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1166063-1A6D-49AB-A6B6-7D06EA324BBF}" styleName="Table_1">
    <a:wholeTbl>
      <a:tcTxStyle b="off" i="off">
        <a:font>
          <a:latin typeface="Segoe UI"/>
          <a:ea typeface="Segoe UI"/>
          <a:cs typeface="Segoe UI"/>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chemeClr val="accent2"/>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40000"/>
            </a:schemeClr>
          </a:solidFill>
        </a:fill>
      </a:tcStyle>
    </a:band1H>
    <a:band2H>
      <a:tcTxStyle/>
      <a:tcStyle>
        <a:tcBdr/>
      </a:tcStyle>
    </a:band2H>
    <a:band1V>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fill>
          <a:solidFill>
            <a:schemeClr val="accent2">
              <a:alpha val="40000"/>
            </a:schemeClr>
          </a:solidFill>
        </a:fill>
      </a:tcStyle>
    </a:band1V>
    <a:band2V>
      <a:tcTxStyle/>
      <a:tcStyle>
        <a:tcBdr/>
      </a:tcStyle>
    </a:band2V>
    <a:lastCol>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Segoe UI"/>
          <a:ea typeface="Segoe UI"/>
          <a:cs typeface="Segoe UI"/>
        </a:font>
        <a:schemeClr val="lt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2"/>
          </a:solidFill>
        </a:fill>
      </a:tcStyle>
    </a:firstRow>
    <a:neCell>
      <a:tcTxStyle/>
      <a:tcStyle>
        <a:tcBdr/>
      </a:tcStyle>
    </a:neCell>
    <a:nwCell>
      <a:tcTxStyle/>
      <a:tcStyle>
        <a:tcBdr/>
      </a:tcStyle>
    </a:nwCell>
  </a:tblStyle>
  <a:tblStyle styleId="{E2589203-8263-40D6-834C-8223FCB96578}" styleName="Table_2">
    <a:wholeTbl>
      <a:tcTxStyle b="off" i="off">
        <a:font>
          <a:latin typeface="Segoe UI"/>
          <a:ea typeface="Segoe UI"/>
          <a:cs typeface="Segoe U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E8E7"/>
          </a:solidFill>
        </a:fill>
      </a:tcStyle>
    </a:wholeTbl>
    <a:band1H>
      <a:tcTxStyle/>
      <a:tcStyle>
        <a:tcBdr/>
        <a:fill>
          <a:solidFill>
            <a:srgbClr val="FFCECB"/>
          </a:solidFill>
        </a:fill>
      </a:tcStyle>
    </a:band1H>
    <a:band2H>
      <a:tcTxStyle/>
      <a:tcStyle>
        <a:tcBdr/>
      </a:tcStyle>
    </a:band2H>
    <a:band1V>
      <a:tcTxStyle/>
      <a:tcStyle>
        <a:tcBdr/>
        <a:fill>
          <a:solidFill>
            <a:srgbClr val="FFCECB"/>
          </a:solidFill>
        </a:fill>
      </a:tcStyle>
    </a:band1V>
    <a:band2V>
      <a:tcTxStyle/>
      <a:tcStyle>
        <a:tcBdr/>
      </a:tcStyle>
    </a:band2V>
    <a:lastCol>
      <a:tcTxStyle b="on" i="off">
        <a:font>
          <a:latin typeface="Segoe UI"/>
          <a:ea typeface="Segoe UI"/>
          <a:cs typeface="Segoe UI"/>
        </a:font>
        <a:schemeClr val="lt1"/>
      </a:tcTxStyle>
      <a:tcStyle>
        <a:tcBdr/>
        <a:fill>
          <a:solidFill>
            <a:schemeClr val="accent1"/>
          </a:solidFill>
        </a:fill>
      </a:tcStyle>
    </a:lastCol>
    <a:firstCol>
      <a:tcTxStyle b="on" i="off">
        <a:font>
          <a:latin typeface="Segoe UI"/>
          <a:ea typeface="Segoe UI"/>
          <a:cs typeface="Segoe UI"/>
        </a:font>
        <a:schemeClr val="lt1"/>
      </a:tcTxStyle>
      <a:tcStyle>
        <a:tcBdr/>
        <a:fill>
          <a:solidFill>
            <a:schemeClr val="accent1"/>
          </a:solidFill>
        </a:fill>
      </a:tcStyle>
    </a:firstCol>
    <a:lastRow>
      <a:tcTxStyle b="on" i="off">
        <a:font>
          <a:latin typeface="Segoe UI"/>
          <a:ea typeface="Segoe UI"/>
          <a:cs typeface="Segoe U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Segoe UI"/>
          <a:ea typeface="Segoe UI"/>
          <a:cs typeface="Segoe U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59" Type="http://schemas.openxmlformats.org/officeDocument/2006/relationships/slide" Target="slides/slide152.xml"/><Relationship Id="rId170" Type="http://schemas.openxmlformats.org/officeDocument/2006/relationships/slide" Target="slides/slide163.xml"/><Relationship Id="rId191" Type="http://schemas.openxmlformats.org/officeDocument/2006/relationships/font" Target="fonts/font14.fntdata"/><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slide" Target="slides/slide142.xml"/><Relationship Id="rId5" Type="http://schemas.openxmlformats.org/officeDocument/2006/relationships/slideMaster" Target="slideMasters/slideMaster5.xml"/><Relationship Id="rId95" Type="http://schemas.openxmlformats.org/officeDocument/2006/relationships/slide" Target="slides/slide88.xml"/><Relationship Id="rId160" Type="http://schemas.openxmlformats.org/officeDocument/2006/relationships/slide" Target="slides/slide153.xml"/><Relationship Id="rId181" Type="http://schemas.openxmlformats.org/officeDocument/2006/relationships/font" Target="fonts/font4.fntdata"/><Relationship Id="rId237" Type="http://schemas.openxmlformats.org/officeDocument/2006/relationships/tableStyles" Target="tableStyles.xml"/><Relationship Id="rId22" Type="http://schemas.openxmlformats.org/officeDocument/2006/relationships/slide" Target="slides/slide15.xml"/><Relationship Id="rId43" Type="http://schemas.openxmlformats.org/officeDocument/2006/relationships/slide" Target="slides/slide36.xml"/><Relationship Id="rId64" Type="http://schemas.openxmlformats.org/officeDocument/2006/relationships/slide" Target="slides/slide57.xml"/><Relationship Id="rId118" Type="http://schemas.openxmlformats.org/officeDocument/2006/relationships/slide" Target="slides/slide111.xml"/><Relationship Id="rId139" Type="http://schemas.openxmlformats.org/officeDocument/2006/relationships/slide" Target="slides/slide132.xml"/><Relationship Id="rId85" Type="http://schemas.openxmlformats.org/officeDocument/2006/relationships/slide" Target="slides/slide78.xml"/><Relationship Id="rId150" Type="http://schemas.openxmlformats.org/officeDocument/2006/relationships/slide" Target="slides/slide143.xml"/><Relationship Id="rId171" Type="http://schemas.openxmlformats.org/officeDocument/2006/relationships/slide" Target="slides/slide164.xml"/><Relationship Id="rId12" Type="http://schemas.openxmlformats.org/officeDocument/2006/relationships/slide" Target="slides/slide5.xml"/><Relationship Id="rId33" Type="http://schemas.openxmlformats.org/officeDocument/2006/relationships/slide" Target="slides/slide26.xml"/><Relationship Id="rId108" Type="http://schemas.openxmlformats.org/officeDocument/2006/relationships/slide" Target="slides/slide101.xml"/><Relationship Id="rId129" Type="http://schemas.openxmlformats.org/officeDocument/2006/relationships/slide" Target="slides/slide122.xml"/><Relationship Id="rId54" Type="http://schemas.openxmlformats.org/officeDocument/2006/relationships/slide" Target="slides/slide47.xml"/><Relationship Id="rId75" Type="http://schemas.openxmlformats.org/officeDocument/2006/relationships/slide" Target="slides/slide68.xml"/><Relationship Id="rId96" Type="http://schemas.openxmlformats.org/officeDocument/2006/relationships/slide" Target="slides/slide89.xml"/><Relationship Id="rId140" Type="http://schemas.openxmlformats.org/officeDocument/2006/relationships/slide" Target="slides/slide133.xml"/><Relationship Id="rId161" Type="http://schemas.openxmlformats.org/officeDocument/2006/relationships/slide" Target="slides/slide154.xml"/><Relationship Id="rId182" Type="http://schemas.openxmlformats.org/officeDocument/2006/relationships/font" Target="fonts/font5.fntdata"/><Relationship Id="rId6" Type="http://schemas.openxmlformats.org/officeDocument/2006/relationships/slideMaster" Target="slideMasters/slideMaster6.xml"/><Relationship Id="rId23" Type="http://schemas.openxmlformats.org/officeDocument/2006/relationships/slide" Target="slides/slide16.xml"/><Relationship Id="rId119" Type="http://schemas.openxmlformats.org/officeDocument/2006/relationships/slide" Target="slides/slide112.xml"/><Relationship Id="rId44" Type="http://schemas.openxmlformats.org/officeDocument/2006/relationships/slide" Target="slides/slide37.xml"/><Relationship Id="rId65" Type="http://schemas.openxmlformats.org/officeDocument/2006/relationships/slide" Target="slides/slide58.xml"/><Relationship Id="rId86" Type="http://schemas.openxmlformats.org/officeDocument/2006/relationships/slide" Target="slides/slide79.xml"/><Relationship Id="rId130" Type="http://schemas.openxmlformats.org/officeDocument/2006/relationships/slide" Target="slides/slide123.xml"/><Relationship Id="rId151" Type="http://schemas.openxmlformats.org/officeDocument/2006/relationships/slide" Target="slides/slide144.xml"/><Relationship Id="rId172" Type="http://schemas.openxmlformats.org/officeDocument/2006/relationships/slide" Target="slides/slide165.xml"/><Relationship Id="rId13" Type="http://schemas.openxmlformats.org/officeDocument/2006/relationships/slide" Target="slides/slide6.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141" Type="http://schemas.openxmlformats.org/officeDocument/2006/relationships/slide" Target="slides/slide134.xml"/><Relationship Id="rId146" Type="http://schemas.openxmlformats.org/officeDocument/2006/relationships/slide" Target="slides/slide139.xml"/><Relationship Id="rId167" Type="http://schemas.openxmlformats.org/officeDocument/2006/relationships/slide" Target="slides/slide160.xml"/><Relationship Id="rId188" Type="http://schemas.openxmlformats.org/officeDocument/2006/relationships/font" Target="fonts/font11.fntdata"/><Relationship Id="rId7" Type="http://schemas.openxmlformats.org/officeDocument/2006/relationships/slideMaster" Target="slideMasters/slideMaster7.xml"/><Relationship Id="rId71" Type="http://schemas.openxmlformats.org/officeDocument/2006/relationships/slide" Target="slides/slide64.xml"/><Relationship Id="rId92" Type="http://schemas.openxmlformats.org/officeDocument/2006/relationships/slide" Target="slides/slide85.xml"/><Relationship Id="rId162" Type="http://schemas.openxmlformats.org/officeDocument/2006/relationships/slide" Target="slides/slide155.xml"/><Relationship Id="rId183" Type="http://schemas.openxmlformats.org/officeDocument/2006/relationships/font" Target="fonts/font6.fntdata"/><Relationship Id="rId234"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157" Type="http://schemas.openxmlformats.org/officeDocument/2006/relationships/slide" Target="slides/slide150.xml"/><Relationship Id="rId178" Type="http://schemas.openxmlformats.org/officeDocument/2006/relationships/font" Target="fonts/font1.fntdata"/><Relationship Id="rId61" Type="http://schemas.openxmlformats.org/officeDocument/2006/relationships/slide" Target="slides/slide54.xml"/><Relationship Id="rId82" Type="http://schemas.openxmlformats.org/officeDocument/2006/relationships/slide" Target="slides/slide75.xml"/><Relationship Id="rId152" Type="http://schemas.openxmlformats.org/officeDocument/2006/relationships/slide" Target="slides/slide145.xml"/><Relationship Id="rId173" Type="http://schemas.openxmlformats.org/officeDocument/2006/relationships/slide" Target="slides/slide166.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slide" Target="slides/slide140.xml"/><Relationship Id="rId168" Type="http://schemas.openxmlformats.org/officeDocument/2006/relationships/slide" Target="slides/slide16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163" Type="http://schemas.openxmlformats.org/officeDocument/2006/relationships/slide" Target="slides/slide156.xml"/><Relationship Id="rId184" Type="http://schemas.openxmlformats.org/officeDocument/2006/relationships/font" Target="fonts/font7.fntdata"/><Relationship Id="rId189" Type="http://schemas.openxmlformats.org/officeDocument/2006/relationships/font" Target="fonts/font12.fntdata"/><Relationship Id="rId3" Type="http://schemas.openxmlformats.org/officeDocument/2006/relationships/slideMaster" Target="slideMasters/slideMaster3.xml"/><Relationship Id="rId235" Type="http://schemas.openxmlformats.org/officeDocument/2006/relationships/viewProps" Target="viewProps.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158" Type="http://schemas.openxmlformats.org/officeDocument/2006/relationships/slide" Target="slides/slide15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3" Type="http://schemas.openxmlformats.org/officeDocument/2006/relationships/slide" Target="slides/slide146.xml"/><Relationship Id="rId174" Type="http://schemas.openxmlformats.org/officeDocument/2006/relationships/slide" Target="slides/slide167.xml"/><Relationship Id="rId179" Type="http://schemas.openxmlformats.org/officeDocument/2006/relationships/font" Target="fonts/font2.fntdata"/><Relationship Id="rId190" Type="http://schemas.openxmlformats.org/officeDocument/2006/relationships/font" Target="fonts/font13.fntdata"/><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48" Type="http://schemas.openxmlformats.org/officeDocument/2006/relationships/slide" Target="slides/slide141.xml"/><Relationship Id="rId164" Type="http://schemas.openxmlformats.org/officeDocument/2006/relationships/slide" Target="slides/slide157.xml"/><Relationship Id="rId169" Type="http://schemas.openxmlformats.org/officeDocument/2006/relationships/slide" Target="slides/slide162.xml"/><Relationship Id="rId185" Type="http://schemas.openxmlformats.org/officeDocument/2006/relationships/font" Target="fonts/font8.fntdata"/><Relationship Id="rId4" Type="http://schemas.openxmlformats.org/officeDocument/2006/relationships/slideMaster" Target="slideMasters/slideMaster4.xml"/><Relationship Id="rId9" Type="http://schemas.openxmlformats.org/officeDocument/2006/relationships/slide" Target="slides/slide2.xml"/><Relationship Id="rId180" Type="http://schemas.openxmlformats.org/officeDocument/2006/relationships/font" Target="fonts/font3.fntdata"/><Relationship Id="rId236" Type="http://schemas.openxmlformats.org/officeDocument/2006/relationships/theme" Target="theme/theme1.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54" Type="http://schemas.openxmlformats.org/officeDocument/2006/relationships/slide" Target="slides/slide147.xml"/><Relationship Id="rId175" Type="http://schemas.openxmlformats.org/officeDocument/2006/relationships/slide" Target="slides/slide168.xml"/><Relationship Id="rId16" Type="http://schemas.openxmlformats.org/officeDocument/2006/relationships/slide" Target="slides/slide9.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slide" Target="slides/slide137.xml"/><Relationship Id="rId90" Type="http://schemas.openxmlformats.org/officeDocument/2006/relationships/slide" Target="slides/slide83.xml"/><Relationship Id="rId165" Type="http://schemas.openxmlformats.org/officeDocument/2006/relationships/slide" Target="slides/slide158.xml"/><Relationship Id="rId186" Type="http://schemas.openxmlformats.org/officeDocument/2006/relationships/font" Target="fonts/font9.fntdata"/><Relationship Id="rId27" Type="http://schemas.openxmlformats.org/officeDocument/2006/relationships/slide" Target="slides/slide20.xml"/><Relationship Id="rId48" Type="http://schemas.openxmlformats.org/officeDocument/2006/relationships/slide" Target="slides/slide41.xml"/><Relationship Id="rId69" Type="http://schemas.openxmlformats.org/officeDocument/2006/relationships/slide" Target="slides/slide62.xml"/><Relationship Id="rId113" Type="http://schemas.openxmlformats.org/officeDocument/2006/relationships/slide" Target="slides/slide106.xml"/><Relationship Id="rId134" Type="http://schemas.openxmlformats.org/officeDocument/2006/relationships/slide" Target="slides/slide127.xml"/><Relationship Id="rId80" Type="http://schemas.openxmlformats.org/officeDocument/2006/relationships/slide" Target="slides/slide73.xml"/><Relationship Id="rId155" Type="http://schemas.openxmlformats.org/officeDocument/2006/relationships/slide" Target="slides/slide148.xml"/><Relationship Id="rId176" Type="http://schemas.openxmlformats.org/officeDocument/2006/relationships/slide" Target="slides/slide169.xml"/><Relationship Id="rId17" Type="http://schemas.openxmlformats.org/officeDocument/2006/relationships/slide" Target="slides/slide10.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24" Type="http://schemas.openxmlformats.org/officeDocument/2006/relationships/slide" Target="slides/slide117.xml"/><Relationship Id="rId70" Type="http://schemas.openxmlformats.org/officeDocument/2006/relationships/slide" Target="slides/slide63.xml"/><Relationship Id="rId91" Type="http://schemas.openxmlformats.org/officeDocument/2006/relationships/slide" Target="slides/slide84.xml"/><Relationship Id="rId145" Type="http://schemas.openxmlformats.org/officeDocument/2006/relationships/slide" Target="slides/slide138.xml"/><Relationship Id="rId166" Type="http://schemas.openxmlformats.org/officeDocument/2006/relationships/slide" Target="slides/slide159.xml"/><Relationship Id="rId187" Type="http://schemas.openxmlformats.org/officeDocument/2006/relationships/font" Target="fonts/font10.fntdata"/><Relationship Id="rId1" Type="http://schemas.openxmlformats.org/officeDocument/2006/relationships/slideMaster" Target="slideMasters/slideMaster1.xml"/><Relationship Id="rId233" Type="http://customschemas.google.com/relationships/presentationmetadata" Target="metadata"/><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60" Type="http://schemas.openxmlformats.org/officeDocument/2006/relationships/slide" Target="slides/slide53.xml"/><Relationship Id="rId81" Type="http://schemas.openxmlformats.org/officeDocument/2006/relationships/slide" Target="slides/slide74.xml"/><Relationship Id="rId135" Type="http://schemas.openxmlformats.org/officeDocument/2006/relationships/slide" Target="slides/slide128.xml"/><Relationship Id="rId156" Type="http://schemas.openxmlformats.org/officeDocument/2006/relationships/slide" Target="slides/slide149.xml"/><Relationship Id="rId177" Type="http://schemas.openxmlformats.org/officeDocument/2006/relationships/notesMaster" Target="notesMasters/notesMaster1.xml"/><Relationship Id="rId18" Type="http://schemas.openxmlformats.org/officeDocument/2006/relationships/slide" Target="slides/slide1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8" name="Google Shape;688;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9" name="Google Shape;68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3" name="Google Shape;70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3" name="Google Shape;7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1" name="Google Shape;73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1" name="Google Shape;74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0" i="0">
                <a:solidFill>
                  <a:schemeClr val="dk1"/>
                </a:solidFill>
              </a:rPr>
              <a:t>AI generated images</a:t>
            </a:r>
            <a:endParaRPr/>
          </a:p>
        </p:txBody>
      </p:sp>
      <p:sp>
        <p:nvSpPr>
          <p:cNvPr id="780" name="Google Shape;780;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5" name="Google Shape;79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7" name="Google Shape;83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1" name="Google Shape;88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https://pixabay.com/photos/engineer-code-coding-software-4690505/</a:t>
            </a:r>
            <a:endParaRPr/>
          </a:p>
        </p:txBody>
      </p:sp>
      <p:sp>
        <p:nvSpPr>
          <p:cNvPr id="904" name="Google Shape;904;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1" name="Google Shape;9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2" name="Google Shape;96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3" name="Google Shape;99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0" name="Google Shape;103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6" name="Google Shape;103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7" name="Google Shape;104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7" name="Google Shape;105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8" name="Google Shape;108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4" name="Google Shape;111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4" name="Google Shape;113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3" name="Google Shape;117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4" name="Google Shape;1194;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5" name="Google Shape;1195;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4" name="Google Shape;125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7"/>
        <p:cNvGrpSpPr/>
        <p:nvPr/>
      </p:nvGrpSpPr>
      <p:grpSpPr>
        <a:xfrm>
          <a:off x="0" y="0"/>
          <a:ext cx="0" cy="0"/>
          <a:chOff x="0" y="0"/>
          <a:chExt cx="0" cy="0"/>
        </a:xfrm>
      </p:grpSpPr>
      <p:sp>
        <p:nvSpPr>
          <p:cNvPr id="1268" name="Google Shape;1268;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9" name="Google Shape;1269;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0" name="Google Shape;1270;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6" name="Google Shape;1276;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7" name="Google Shape;1277;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5" name="Google Shape;128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4" name="Google Shape;1294;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3" name="Google Shape;130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8"/>
        <p:cNvGrpSpPr/>
        <p:nvPr/>
      </p:nvGrpSpPr>
      <p:grpSpPr>
        <a:xfrm>
          <a:off x="0" y="0"/>
          <a:ext cx="0" cy="0"/>
          <a:chOff x="0" y="0"/>
          <a:chExt cx="0" cy="0"/>
        </a:xfrm>
      </p:grpSpPr>
      <p:sp>
        <p:nvSpPr>
          <p:cNvPr id="1319" name="Google Shape;1319;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0" name="Google Shape;1320;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0"/>
        <p:cNvGrpSpPr/>
        <p:nvPr/>
      </p:nvGrpSpPr>
      <p:grpSpPr>
        <a:xfrm>
          <a:off x="0" y="0"/>
          <a:ext cx="0" cy="0"/>
          <a:chOff x="0" y="0"/>
          <a:chExt cx="0" cy="0"/>
        </a:xfrm>
      </p:grpSpPr>
      <p:sp>
        <p:nvSpPr>
          <p:cNvPr id="1331" name="Google Shape;1331;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2" name="Google Shape;1332;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3" name="Google Shape;1333;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7"/>
        <p:cNvGrpSpPr/>
        <p:nvPr/>
      </p:nvGrpSpPr>
      <p:grpSpPr>
        <a:xfrm>
          <a:off x="0" y="0"/>
          <a:ext cx="0" cy="0"/>
          <a:chOff x="0" y="0"/>
          <a:chExt cx="0" cy="0"/>
        </a:xfrm>
      </p:grpSpPr>
      <p:sp>
        <p:nvSpPr>
          <p:cNvPr id="1338" name="Google Shape;1338;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9" name="Google Shape;1339;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0" name="Google Shape;1340;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8"/>
        <p:cNvGrpSpPr/>
        <p:nvPr/>
      </p:nvGrpSpPr>
      <p:grpSpPr>
        <a:xfrm>
          <a:off x="0" y="0"/>
          <a:ext cx="0" cy="0"/>
          <a:chOff x="0" y="0"/>
          <a:chExt cx="0" cy="0"/>
        </a:xfrm>
      </p:grpSpPr>
      <p:sp>
        <p:nvSpPr>
          <p:cNvPr id="1359" name="Google Shape;1359;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0" name="Google Shape;1360;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1" name="Google Shape;1361;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p:sp>
        <p:nvSpPr>
          <p:cNvPr id="1374" name="Google Shape;137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5" name="Google Shape;137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6" name="Google Shape;137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5" name="Google Shape;1385;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6" name="Google Shape;1386;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1"/>
        <p:cNvGrpSpPr/>
        <p:nvPr/>
      </p:nvGrpSpPr>
      <p:grpSpPr>
        <a:xfrm>
          <a:off x="0" y="0"/>
          <a:ext cx="0" cy="0"/>
          <a:chOff x="0" y="0"/>
          <a:chExt cx="0" cy="0"/>
        </a:xfrm>
      </p:grpSpPr>
      <p:sp>
        <p:nvSpPr>
          <p:cNvPr id="1402" name="Google Shape;1402;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3" name="Google Shape;1403;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4" name="Google Shape;1404;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p:cNvGrpSpPr/>
        <p:nvPr/>
      </p:nvGrpSpPr>
      <p:grpSpPr>
        <a:xfrm>
          <a:off x="0" y="0"/>
          <a:ext cx="0" cy="0"/>
          <a:chOff x="0" y="0"/>
          <a:chExt cx="0" cy="0"/>
        </a:xfrm>
      </p:grpSpPr>
      <p:sp>
        <p:nvSpPr>
          <p:cNvPr id="1418" name="Google Shape;1418;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9" name="Google Shape;1419;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0" name="Google Shape;1420;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4"/>
        <p:cNvGrpSpPr/>
        <p:nvPr/>
      </p:nvGrpSpPr>
      <p:grpSpPr>
        <a:xfrm>
          <a:off x="0" y="0"/>
          <a:ext cx="0" cy="0"/>
          <a:chOff x="0" y="0"/>
          <a:chExt cx="0" cy="0"/>
        </a:xfrm>
      </p:grpSpPr>
      <p:sp>
        <p:nvSpPr>
          <p:cNvPr id="1425" name="Google Shape;1425;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6" name="Google Shape;1426;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7" name="Google Shape;1427;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3"/>
        <p:cNvGrpSpPr/>
        <p:nvPr/>
      </p:nvGrpSpPr>
      <p:grpSpPr>
        <a:xfrm>
          <a:off x="0" y="0"/>
          <a:ext cx="0" cy="0"/>
          <a:chOff x="0" y="0"/>
          <a:chExt cx="0" cy="0"/>
        </a:xfrm>
      </p:grpSpPr>
      <p:sp>
        <p:nvSpPr>
          <p:cNvPr id="1434" name="Google Shape;1434;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5" name="Google Shape;1435;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6" name="Google Shape;1436;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7"/>
        <p:cNvGrpSpPr/>
        <p:nvPr/>
      </p:nvGrpSpPr>
      <p:grpSpPr>
        <a:xfrm>
          <a:off x="0" y="0"/>
          <a:ext cx="0" cy="0"/>
          <a:chOff x="0" y="0"/>
          <a:chExt cx="0" cy="0"/>
        </a:xfrm>
      </p:grpSpPr>
      <p:sp>
        <p:nvSpPr>
          <p:cNvPr id="1448" name="Google Shape;1448;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9" name="Google Shape;1449;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0" name="Google Shape;1450;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4"/>
        <p:cNvGrpSpPr/>
        <p:nvPr/>
      </p:nvGrpSpPr>
      <p:grpSpPr>
        <a:xfrm>
          <a:off x="0" y="0"/>
          <a:ext cx="0" cy="0"/>
          <a:chOff x="0" y="0"/>
          <a:chExt cx="0" cy="0"/>
        </a:xfrm>
      </p:grpSpPr>
      <p:sp>
        <p:nvSpPr>
          <p:cNvPr id="1455" name="Google Shape;1455;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6" name="Google Shape;1456;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7" name="Google Shape;1457;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4" name="Google Shape;1464;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5" name="Google Shape;1465;p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8" name="Google Shape;1478;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9" name="Google Shape;1479;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4" name="Google Shape;1504;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5" name="Google Shape;1505;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2" name="Google Shape;1512;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3" name="Google Shape;1513;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9" name="Google Shape;1519;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0" name="Google Shape;1520;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4"/>
        <p:cNvGrpSpPr/>
        <p:nvPr/>
      </p:nvGrpSpPr>
      <p:grpSpPr>
        <a:xfrm>
          <a:off x="0" y="0"/>
          <a:ext cx="0" cy="0"/>
          <a:chOff x="0" y="0"/>
          <a:chExt cx="0" cy="0"/>
        </a:xfrm>
      </p:grpSpPr>
      <p:sp>
        <p:nvSpPr>
          <p:cNvPr id="1525" name="Google Shape;1525;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6" name="Google Shape;1526;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7" name="Google Shape;1527;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7"/>
        <p:cNvGrpSpPr/>
        <p:nvPr/>
      </p:nvGrpSpPr>
      <p:grpSpPr>
        <a:xfrm>
          <a:off x="0" y="0"/>
          <a:ext cx="0" cy="0"/>
          <a:chOff x="0" y="0"/>
          <a:chExt cx="0" cy="0"/>
        </a:xfrm>
      </p:grpSpPr>
      <p:sp>
        <p:nvSpPr>
          <p:cNvPr id="1538" name="Google Shape;1538;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9" name="Google Shape;1539;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0" name="Google Shape;1540;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1" name="Google Shape;1551;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2" name="Google Shape;1552;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8" name="Google Shape;1558;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9" name="Google Shape;1559;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9" name="Google Shape;1589;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0" name="Google Shape;1590;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4"/>
        <p:cNvGrpSpPr/>
        <p:nvPr/>
      </p:nvGrpSpPr>
      <p:grpSpPr>
        <a:xfrm>
          <a:off x="0" y="0"/>
          <a:ext cx="0" cy="0"/>
          <a:chOff x="0" y="0"/>
          <a:chExt cx="0" cy="0"/>
        </a:xfrm>
      </p:grpSpPr>
      <p:sp>
        <p:nvSpPr>
          <p:cNvPr id="1595" name="Google Shape;1595;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6" name="Google Shape;1596;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7" name="Google Shape;1597;p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1"/>
        <p:cNvGrpSpPr/>
        <p:nvPr/>
      </p:nvGrpSpPr>
      <p:grpSpPr>
        <a:xfrm>
          <a:off x="0" y="0"/>
          <a:ext cx="0" cy="0"/>
          <a:chOff x="0" y="0"/>
          <a:chExt cx="0" cy="0"/>
        </a:xfrm>
      </p:grpSpPr>
      <p:sp>
        <p:nvSpPr>
          <p:cNvPr id="1602" name="Google Shape;1602;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3" name="Google Shape;1603;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4" name="Google Shape;1604;p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8"/>
        <p:cNvGrpSpPr/>
        <p:nvPr/>
      </p:nvGrpSpPr>
      <p:grpSpPr>
        <a:xfrm>
          <a:off x="0" y="0"/>
          <a:ext cx="0" cy="0"/>
          <a:chOff x="0" y="0"/>
          <a:chExt cx="0" cy="0"/>
        </a:xfrm>
      </p:grpSpPr>
      <p:sp>
        <p:nvSpPr>
          <p:cNvPr id="1619" name="Google Shape;1619;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0" name="Google Shape;1620;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1" name="Google Shape;1621;p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2"/>
        <p:cNvGrpSpPr/>
        <p:nvPr/>
      </p:nvGrpSpPr>
      <p:grpSpPr>
        <a:xfrm>
          <a:off x="0" y="0"/>
          <a:ext cx="0" cy="0"/>
          <a:chOff x="0" y="0"/>
          <a:chExt cx="0" cy="0"/>
        </a:xfrm>
      </p:grpSpPr>
      <p:sp>
        <p:nvSpPr>
          <p:cNvPr id="1633" name="Google Shape;1633;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4" name="Google Shape;1634;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5" name="Google Shape;1635;p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3"/>
        <p:cNvGrpSpPr/>
        <p:nvPr/>
      </p:nvGrpSpPr>
      <p:grpSpPr>
        <a:xfrm>
          <a:off x="0" y="0"/>
          <a:ext cx="0" cy="0"/>
          <a:chOff x="0" y="0"/>
          <a:chExt cx="0" cy="0"/>
        </a:xfrm>
      </p:grpSpPr>
      <p:sp>
        <p:nvSpPr>
          <p:cNvPr id="1644" name="Google Shape;1644;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5" name="Google Shape;1645;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6" name="Google Shape;1646;p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7"/>
        <p:cNvGrpSpPr/>
        <p:nvPr/>
      </p:nvGrpSpPr>
      <p:grpSpPr>
        <a:xfrm>
          <a:off x="0" y="0"/>
          <a:ext cx="0" cy="0"/>
          <a:chOff x="0" y="0"/>
          <a:chExt cx="0" cy="0"/>
        </a:xfrm>
      </p:grpSpPr>
      <p:sp>
        <p:nvSpPr>
          <p:cNvPr id="1678" name="Google Shape;1678;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9" name="Google Shape;1679;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0" name="Google Shape;1680;p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1"/>
        <p:cNvGrpSpPr/>
        <p:nvPr/>
      </p:nvGrpSpPr>
      <p:grpSpPr>
        <a:xfrm>
          <a:off x="0" y="0"/>
          <a:ext cx="0" cy="0"/>
          <a:chOff x="0" y="0"/>
          <a:chExt cx="0" cy="0"/>
        </a:xfrm>
      </p:grpSpPr>
      <p:sp>
        <p:nvSpPr>
          <p:cNvPr id="1692" name="Google Shape;1692;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3" name="Google Shape;1693;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4" name="Google Shape;1694;p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1"/>
        <p:cNvGrpSpPr/>
        <p:nvPr/>
      </p:nvGrpSpPr>
      <p:grpSpPr>
        <a:xfrm>
          <a:off x="0" y="0"/>
          <a:ext cx="0" cy="0"/>
          <a:chOff x="0" y="0"/>
          <a:chExt cx="0" cy="0"/>
        </a:xfrm>
      </p:grpSpPr>
      <p:sp>
        <p:nvSpPr>
          <p:cNvPr id="1712" name="Google Shape;1712;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3" name="Google Shape;1713;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4"/>
        <p:cNvGrpSpPr/>
        <p:nvPr/>
      </p:nvGrpSpPr>
      <p:grpSpPr>
        <a:xfrm>
          <a:off x="0" y="0"/>
          <a:ext cx="0" cy="0"/>
          <a:chOff x="0" y="0"/>
          <a:chExt cx="0" cy="0"/>
        </a:xfrm>
      </p:grpSpPr>
      <p:sp>
        <p:nvSpPr>
          <p:cNvPr id="1725" name="Google Shape;1725;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6" name="Google Shape;1726;p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7" name="Google Shape;1727;p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3" name="Google Shape;1733;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4" name="Google Shape;1734;p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6"/>
        <p:cNvGrpSpPr/>
        <p:nvPr/>
      </p:nvGrpSpPr>
      <p:grpSpPr>
        <a:xfrm>
          <a:off x="0" y="0"/>
          <a:ext cx="0" cy="0"/>
          <a:chOff x="0" y="0"/>
          <a:chExt cx="0" cy="0"/>
        </a:xfrm>
      </p:grpSpPr>
      <p:sp>
        <p:nvSpPr>
          <p:cNvPr id="1747" name="Google Shape;1747;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8" name="Google Shape;1748;p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9" name="Google Shape;1749;p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5" name="Google Shape;1755;p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6" name="Google Shape;1756;p8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0"/>
        <p:cNvGrpSpPr/>
        <p:nvPr/>
      </p:nvGrpSpPr>
      <p:grpSpPr>
        <a:xfrm>
          <a:off x="0" y="0"/>
          <a:ext cx="0" cy="0"/>
          <a:chOff x="0" y="0"/>
          <a:chExt cx="0" cy="0"/>
        </a:xfrm>
      </p:grpSpPr>
      <p:sp>
        <p:nvSpPr>
          <p:cNvPr id="1761" name="Google Shape;1761;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2" name="Google Shape;1762;p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3" name="Google Shape;1763;p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9" name="Google Shape;1769;p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0" name="Google Shape;1770;p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3"/>
        <p:cNvGrpSpPr/>
        <p:nvPr/>
      </p:nvGrpSpPr>
      <p:grpSpPr>
        <a:xfrm>
          <a:off x="0" y="0"/>
          <a:ext cx="0" cy="0"/>
          <a:chOff x="0" y="0"/>
          <a:chExt cx="0" cy="0"/>
        </a:xfrm>
      </p:grpSpPr>
      <p:sp>
        <p:nvSpPr>
          <p:cNvPr id="1804" name="Google Shape;1804;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5" name="Google Shape;1805;p8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6" name="Google Shape;1806;p8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1"/>
        <p:cNvGrpSpPr/>
        <p:nvPr/>
      </p:nvGrpSpPr>
      <p:grpSpPr>
        <a:xfrm>
          <a:off x="0" y="0"/>
          <a:ext cx="0" cy="0"/>
          <a:chOff x="0" y="0"/>
          <a:chExt cx="0" cy="0"/>
        </a:xfrm>
      </p:grpSpPr>
      <p:sp>
        <p:nvSpPr>
          <p:cNvPr id="1812" name="Google Shape;1812;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3" name="Google Shape;1813;p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4" name="Google Shape;1814;p8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5"/>
        <p:cNvGrpSpPr/>
        <p:nvPr/>
      </p:nvGrpSpPr>
      <p:grpSpPr>
        <a:xfrm>
          <a:off x="0" y="0"/>
          <a:ext cx="0" cy="0"/>
          <a:chOff x="0" y="0"/>
          <a:chExt cx="0" cy="0"/>
        </a:xfrm>
      </p:grpSpPr>
      <p:sp>
        <p:nvSpPr>
          <p:cNvPr id="1826" name="Google Shape;1826;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7" name="Google Shape;1827;p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0" i="0">
                <a:solidFill>
                  <a:schemeClr val="dk1"/>
                </a:solidFill>
                <a:latin typeface="Calibri"/>
                <a:ea typeface="Calibri"/>
                <a:cs typeface="Calibri"/>
                <a:sym typeface="Calibri"/>
              </a:rPr>
              <a:t>@cap-js-community/odata-v2-adapter</a:t>
            </a:r>
            <a:endParaRPr/>
          </a:p>
        </p:txBody>
      </p:sp>
      <p:sp>
        <p:nvSpPr>
          <p:cNvPr id="1828" name="Google Shape;1828;p8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4" name="Google Shape;1834;p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5" name="Google Shape;1835;p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9"/>
        <p:cNvGrpSpPr/>
        <p:nvPr/>
      </p:nvGrpSpPr>
      <p:grpSpPr>
        <a:xfrm>
          <a:off x="0" y="0"/>
          <a:ext cx="0" cy="0"/>
          <a:chOff x="0" y="0"/>
          <a:chExt cx="0" cy="0"/>
        </a:xfrm>
      </p:grpSpPr>
      <p:sp>
        <p:nvSpPr>
          <p:cNvPr id="1840" name="Google Shape;1840;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1" name="Google Shape;1841;p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2" name="Google Shape;1842;p8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6"/>
        <p:cNvGrpSpPr/>
        <p:nvPr/>
      </p:nvGrpSpPr>
      <p:grpSpPr>
        <a:xfrm>
          <a:off x="0" y="0"/>
          <a:ext cx="0" cy="0"/>
          <a:chOff x="0" y="0"/>
          <a:chExt cx="0" cy="0"/>
        </a:xfrm>
      </p:grpSpPr>
      <p:sp>
        <p:nvSpPr>
          <p:cNvPr id="1847" name="Google Shape;1847;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8" name="Google Shape;1848;p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9" name="Google Shape;1849;p9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3"/>
        <p:cNvGrpSpPr/>
        <p:nvPr/>
      </p:nvGrpSpPr>
      <p:grpSpPr>
        <a:xfrm>
          <a:off x="0" y="0"/>
          <a:ext cx="0" cy="0"/>
          <a:chOff x="0" y="0"/>
          <a:chExt cx="0" cy="0"/>
        </a:xfrm>
      </p:grpSpPr>
      <p:sp>
        <p:nvSpPr>
          <p:cNvPr id="1854" name="Google Shape;1854;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5" name="Google Shape;1855;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4" name="Google Shape;1864;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1"/>
        <p:cNvGrpSpPr/>
        <p:nvPr/>
      </p:nvGrpSpPr>
      <p:grpSpPr>
        <a:xfrm>
          <a:off x="0" y="0"/>
          <a:ext cx="0" cy="0"/>
          <a:chOff x="0" y="0"/>
          <a:chExt cx="0" cy="0"/>
        </a:xfrm>
      </p:grpSpPr>
      <p:sp>
        <p:nvSpPr>
          <p:cNvPr id="1872" name="Google Shape;1872;p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3" name="Google Shape;1873;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0"/>
        <p:cNvGrpSpPr/>
        <p:nvPr/>
      </p:nvGrpSpPr>
      <p:grpSpPr>
        <a:xfrm>
          <a:off x="0" y="0"/>
          <a:ext cx="0" cy="0"/>
          <a:chOff x="0" y="0"/>
          <a:chExt cx="0" cy="0"/>
        </a:xfrm>
      </p:grpSpPr>
      <p:sp>
        <p:nvSpPr>
          <p:cNvPr id="1881" name="Google Shape;1881;p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2" name="Google Shape;1882;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9"/>
        <p:cNvGrpSpPr/>
        <p:nvPr/>
      </p:nvGrpSpPr>
      <p:grpSpPr>
        <a:xfrm>
          <a:off x="0" y="0"/>
          <a:ext cx="0" cy="0"/>
          <a:chOff x="0" y="0"/>
          <a:chExt cx="0" cy="0"/>
        </a:xfrm>
      </p:grpSpPr>
      <p:sp>
        <p:nvSpPr>
          <p:cNvPr id="1890" name="Google Shape;1890;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1" name="Google Shape;1891;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5"/>
        <p:cNvGrpSpPr/>
        <p:nvPr/>
      </p:nvGrpSpPr>
      <p:grpSpPr>
        <a:xfrm>
          <a:off x="0" y="0"/>
          <a:ext cx="0" cy="0"/>
          <a:chOff x="0" y="0"/>
          <a:chExt cx="0" cy="0"/>
        </a:xfrm>
      </p:grpSpPr>
      <p:sp>
        <p:nvSpPr>
          <p:cNvPr id="1896" name="Google Shape;1896;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7" name="Google Shape;1897;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1"/>
        <p:cNvGrpSpPr/>
        <p:nvPr/>
      </p:nvGrpSpPr>
      <p:grpSpPr>
        <a:xfrm>
          <a:off x="0" y="0"/>
          <a:ext cx="0" cy="0"/>
          <a:chOff x="0" y="0"/>
          <a:chExt cx="0" cy="0"/>
        </a:xfrm>
      </p:grpSpPr>
      <p:sp>
        <p:nvSpPr>
          <p:cNvPr id="1902" name="Google Shape;1902;p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3" name="Google Shape;1903;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9" name="Google Shape;1909;p9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0" name="Google Shape;1910;p9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p:cNvGrpSpPr/>
        <p:nvPr/>
      </p:nvGrpSpPr>
      <p:grpSpPr>
        <a:xfrm>
          <a:off x="0" y="0"/>
          <a:ext cx="0" cy="0"/>
          <a:chOff x="0" y="0"/>
          <a:chExt cx="0" cy="0"/>
        </a:xfrm>
      </p:grpSpPr>
      <p:sp>
        <p:nvSpPr>
          <p:cNvPr id="1915" name="Google Shape;1915;p9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6" name="Google Shape;1916;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4" name="Google Shape;1934;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8"/>
        <p:cNvGrpSpPr/>
        <p:nvPr/>
      </p:nvGrpSpPr>
      <p:grpSpPr>
        <a:xfrm>
          <a:off x="0" y="0"/>
          <a:ext cx="0" cy="0"/>
          <a:chOff x="0" y="0"/>
          <a:chExt cx="0" cy="0"/>
        </a:xfrm>
      </p:grpSpPr>
      <p:sp>
        <p:nvSpPr>
          <p:cNvPr id="1949" name="Google Shape;1949;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0" name="Google Shape;1950;p1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1" name="Google Shape;1951;p10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5"/>
        <p:cNvGrpSpPr/>
        <p:nvPr/>
      </p:nvGrpSpPr>
      <p:grpSpPr>
        <a:xfrm>
          <a:off x="0" y="0"/>
          <a:ext cx="0" cy="0"/>
          <a:chOff x="0" y="0"/>
          <a:chExt cx="0" cy="0"/>
        </a:xfrm>
      </p:grpSpPr>
      <p:sp>
        <p:nvSpPr>
          <p:cNvPr id="1956" name="Google Shape;1956;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7" name="Google Shape;1957;p10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8" name="Google Shape;1958;p10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3"/>
        <p:cNvGrpSpPr/>
        <p:nvPr/>
      </p:nvGrpSpPr>
      <p:grpSpPr>
        <a:xfrm>
          <a:off x="0" y="0"/>
          <a:ext cx="0" cy="0"/>
          <a:chOff x="0" y="0"/>
          <a:chExt cx="0" cy="0"/>
        </a:xfrm>
      </p:grpSpPr>
      <p:sp>
        <p:nvSpPr>
          <p:cNvPr id="1964" name="Google Shape;1964;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5" name="Google Shape;1965;p10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6" name="Google Shape;1966;p10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2" name="Google Shape;1972;p10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3" name="Google Shape;1973;p10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4"/>
        <p:cNvGrpSpPr/>
        <p:nvPr/>
      </p:nvGrpSpPr>
      <p:grpSpPr>
        <a:xfrm>
          <a:off x="0" y="0"/>
          <a:ext cx="0" cy="0"/>
          <a:chOff x="0" y="0"/>
          <a:chExt cx="0" cy="0"/>
        </a:xfrm>
      </p:grpSpPr>
      <p:sp>
        <p:nvSpPr>
          <p:cNvPr id="1985" name="Google Shape;1985;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6" name="Google Shape;1986;p10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7" name="Google Shape;1987;p10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4"/>
        <p:cNvGrpSpPr/>
        <p:nvPr/>
      </p:nvGrpSpPr>
      <p:grpSpPr>
        <a:xfrm>
          <a:off x="0" y="0"/>
          <a:ext cx="0" cy="0"/>
          <a:chOff x="0" y="0"/>
          <a:chExt cx="0" cy="0"/>
        </a:xfrm>
      </p:grpSpPr>
      <p:sp>
        <p:nvSpPr>
          <p:cNvPr id="2005" name="Google Shape;2005;p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6" name="Google Shape;2006;p10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7" name="Google Shape;2007;p10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8"/>
        <p:cNvGrpSpPr/>
        <p:nvPr/>
      </p:nvGrpSpPr>
      <p:grpSpPr>
        <a:xfrm>
          <a:off x="0" y="0"/>
          <a:ext cx="0" cy="0"/>
          <a:chOff x="0" y="0"/>
          <a:chExt cx="0" cy="0"/>
        </a:xfrm>
      </p:grpSpPr>
      <p:sp>
        <p:nvSpPr>
          <p:cNvPr id="2019" name="Google Shape;2019;p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0" name="Google Shape;2020;p1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1" name="Google Shape;2021;p1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6"/>
        <p:cNvGrpSpPr/>
        <p:nvPr/>
      </p:nvGrpSpPr>
      <p:grpSpPr>
        <a:xfrm>
          <a:off x="0" y="0"/>
          <a:ext cx="0" cy="0"/>
          <a:chOff x="0" y="0"/>
          <a:chExt cx="0" cy="0"/>
        </a:xfrm>
      </p:grpSpPr>
      <p:sp>
        <p:nvSpPr>
          <p:cNvPr id="2027" name="Google Shape;2027;p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8" name="Google Shape;2028;p1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9" name="Google Shape;2029;p1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4"/>
        <p:cNvGrpSpPr/>
        <p:nvPr/>
      </p:nvGrpSpPr>
      <p:grpSpPr>
        <a:xfrm>
          <a:off x="0" y="0"/>
          <a:ext cx="0" cy="0"/>
          <a:chOff x="0" y="0"/>
          <a:chExt cx="0" cy="0"/>
        </a:xfrm>
      </p:grpSpPr>
      <p:sp>
        <p:nvSpPr>
          <p:cNvPr id="2035" name="Google Shape;2035;p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6" name="Google Shape;2036;p1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7" name="Google Shape;2037;p1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3"/>
        <p:cNvGrpSpPr/>
        <p:nvPr/>
      </p:nvGrpSpPr>
      <p:grpSpPr>
        <a:xfrm>
          <a:off x="0" y="0"/>
          <a:ext cx="0" cy="0"/>
          <a:chOff x="0" y="0"/>
          <a:chExt cx="0" cy="0"/>
        </a:xfrm>
      </p:grpSpPr>
      <p:sp>
        <p:nvSpPr>
          <p:cNvPr id="2064" name="Google Shape;2064;p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5" name="Google Shape;2065;p1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6" name="Google Shape;2066;p1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6"/>
        <p:cNvGrpSpPr/>
        <p:nvPr/>
      </p:nvGrpSpPr>
      <p:grpSpPr>
        <a:xfrm>
          <a:off x="0" y="0"/>
          <a:ext cx="0" cy="0"/>
          <a:chOff x="0" y="0"/>
          <a:chExt cx="0" cy="0"/>
        </a:xfrm>
      </p:grpSpPr>
      <p:sp>
        <p:nvSpPr>
          <p:cNvPr id="2077" name="Google Shape;2077;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8" name="Google Shape;2078;p1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9" name="Google Shape;2079;p1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9"/>
        <p:cNvGrpSpPr/>
        <p:nvPr/>
      </p:nvGrpSpPr>
      <p:grpSpPr>
        <a:xfrm>
          <a:off x="0" y="0"/>
          <a:ext cx="0" cy="0"/>
          <a:chOff x="0" y="0"/>
          <a:chExt cx="0" cy="0"/>
        </a:xfrm>
      </p:grpSpPr>
      <p:sp>
        <p:nvSpPr>
          <p:cNvPr id="2090" name="Google Shape;2090;p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1" name="Google Shape;2091;p1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2" name="Google Shape;2092;p1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0"/>
        <p:cNvGrpSpPr/>
        <p:nvPr/>
      </p:nvGrpSpPr>
      <p:grpSpPr>
        <a:xfrm>
          <a:off x="0" y="0"/>
          <a:ext cx="0" cy="0"/>
          <a:chOff x="0" y="0"/>
          <a:chExt cx="0" cy="0"/>
        </a:xfrm>
      </p:grpSpPr>
      <p:sp>
        <p:nvSpPr>
          <p:cNvPr id="2101" name="Google Shape;2101;p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2" name="Google Shape;2102;p1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3" name="Google Shape;2103;p1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7"/>
        <p:cNvGrpSpPr/>
        <p:nvPr/>
      </p:nvGrpSpPr>
      <p:grpSpPr>
        <a:xfrm>
          <a:off x="0" y="0"/>
          <a:ext cx="0" cy="0"/>
          <a:chOff x="0" y="0"/>
          <a:chExt cx="0" cy="0"/>
        </a:xfrm>
      </p:grpSpPr>
      <p:sp>
        <p:nvSpPr>
          <p:cNvPr id="2108" name="Google Shape;2108;p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9" name="Google Shape;2109;p1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0" name="Google Shape;2110;p1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4"/>
        <p:cNvGrpSpPr/>
        <p:nvPr/>
      </p:nvGrpSpPr>
      <p:grpSpPr>
        <a:xfrm>
          <a:off x="0" y="0"/>
          <a:ext cx="0" cy="0"/>
          <a:chOff x="0" y="0"/>
          <a:chExt cx="0" cy="0"/>
        </a:xfrm>
      </p:grpSpPr>
      <p:sp>
        <p:nvSpPr>
          <p:cNvPr id="2115" name="Google Shape;2115;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6" name="Google Shape;2116;p1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7" name="Google Shape;2117;p1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1"/>
        <p:cNvGrpSpPr/>
        <p:nvPr/>
      </p:nvGrpSpPr>
      <p:grpSpPr>
        <a:xfrm>
          <a:off x="0" y="0"/>
          <a:ext cx="0" cy="0"/>
          <a:chOff x="0" y="0"/>
          <a:chExt cx="0" cy="0"/>
        </a:xfrm>
      </p:grpSpPr>
      <p:sp>
        <p:nvSpPr>
          <p:cNvPr id="2142" name="Google Shape;2142;p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3" name="Google Shape;2143;p1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4" name="Google Shape;2144;p1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p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0" name="Google Shape;2150;p1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1" name="Google Shape;2151;p1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8"/>
        <p:cNvGrpSpPr/>
        <p:nvPr/>
      </p:nvGrpSpPr>
      <p:grpSpPr>
        <a:xfrm>
          <a:off x="0" y="0"/>
          <a:ext cx="0" cy="0"/>
          <a:chOff x="0" y="0"/>
          <a:chExt cx="0" cy="0"/>
        </a:xfrm>
      </p:grpSpPr>
      <p:sp>
        <p:nvSpPr>
          <p:cNvPr id="2169" name="Google Shape;2169;p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0" name="Google Shape;2170;p1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1" name="Google Shape;2171;p1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5"/>
        <p:cNvGrpSpPr/>
        <p:nvPr/>
      </p:nvGrpSpPr>
      <p:grpSpPr>
        <a:xfrm>
          <a:off x="0" y="0"/>
          <a:ext cx="0" cy="0"/>
          <a:chOff x="0" y="0"/>
          <a:chExt cx="0" cy="0"/>
        </a:xfrm>
      </p:grpSpPr>
      <p:sp>
        <p:nvSpPr>
          <p:cNvPr id="2176" name="Google Shape;2176;p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7" name="Google Shape;2177;p1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8" name="Google Shape;2178;p1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3"/>
        <p:cNvGrpSpPr/>
        <p:nvPr/>
      </p:nvGrpSpPr>
      <p:grpSpPr>
        <a:xfrm>
          <a:off x="0" y="0"/>
          <a:ext cx="0" cy="0"/>
          <a:chOff x="0" y="0"/>
          <a:chExt cx="0" cy="0"/>
        </a:xfrm>
      </p:grpSpPr>
      <p:sp>
        <p:nvSpPr>
          <p:cNvPr id="2184" name="Google Shape;2184;p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5" name="Google Shape;2185;p1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6" name="Google Shape;2186;p1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2"/>
        <p:cNvGrpSpPr/>
        <p:nvPr/>
      </p:nvGrpSpPr>
      <p:grpSpPr>
        <a:xfrm>
          <a:off x="0" y="0"/>
          <a:ext cx="0" cy="0"/>
          <a:chOff x="0" y="0"/>
          <a:chExt cx="0" cy="0"/>
        </a:xfrm>
      </p:grpSpPr>
      <p:sp>
        <p:nvSpPr>
          <p:cNvPr id="2203" name="Google Shape;2203;p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4" name="Google Shape;2204;p1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5" name="Google Shape;2205;p1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9"/>
        <p:cNvGrpSpPr/>
        <p:nvPr/>
      </p:nvGrpSpPr>
      <p:grpSpPr>
        <a:xfrm>
          <a:off x="0" y="0"/>
          <a:ext cx="0" cy="0"/>
          <a:chOff x="0" y="0"/>
          <a:chExt cx="0" cy="0"/>
        </a:xfrm>
      </p:grpSpPr>
      <p:sp>
        <p:nvSpPr>
          <p:cNvPr id="2210" name="Google Shape;2210;p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1" name="Google Shape;2211;p1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2" name="Google Shape;2212;p1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5"/>
        <p:cNvGrpSpPr/>
        <p:nvPr/>
      </p:nvGrpSpPr>
      <p:grpSpPr>
        <a:xfrm>
          <a:off x="0" y="0"/>
          <a:ext cx="0" cy="0"/>
          <a:chOff x="0" y="0"/>
          <a:chExt cx="0" cy="0"/>
        </a:xfrm>
      </p:grpSpPr>
      <p:sp>
        <p:nvSpPr>
          <p:cNvPr id="2256" name="Google Shape;2256;p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7" name="Google Shape;2257;p1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8" name="Google Shape;2258;p1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3"/>
        <p:cNvGrpSpPr/>
        <p:nvPr/>
      </p:nvGrpSpPr>
      <p:grpSpPr>
        <a:xfrm>
          <a:off x="0" y="0"/>
          <a:ext cx="0" cy="0"/>
          <a:chOff x="0" y="0"/>
          <a:chExt cx="0" cy="0"/>
        </a:xfrm>
      </p:grpSpPr>
      <p:sp>
        <p:nvSpPr>
          <p:cNvPr id="2264" name="Google Shape;2264;p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5" name="Google Shape;2265;p1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6" name="Google Shape;2266;p1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p:cNvGrpSpPr/>
        <p:nvPr/>
      </p:nvGrpSpPr>
      <p:grpSpPr>
        <a:xfrm>
          <a:off x="0" y="0"/>
          <a:ext cx="0" cy="0"/>
          <a:chOff x="0" y="0"/>
          <a:chExt cx="0" cy="0"/>
        </a:xfrm>
      </p:grpSpPr>
      <p:sp>
        <p:nvSpPr>
          <p:cNvPr id="2271" name="Google Shape;2271;p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2" name="Google Shape;2272;p1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3" name="Google Shape;2273;p1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9"/>
        <p:cNvGrpSpPr/>
        <p:nvPr/>
      </p:nvGrpSpPr>
      <p:grpSpPr>
        <a:xfrm>
          <a:off x="0" y="0"/>
          <a:ext cx="0" cy="0"/>
          <a:chOff x="0" y="0"/>
          <a:chExt cx="0" cy="0"/>
        </a:xfrm>
      </p:grpSpPr>
      <p:sp>
        <p:nvSpPr>
          <p:cNvPr id="2300" name="Google Shape;2300;p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1" name="Google Shape;2301;p1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2" name="Google Shape;2302;p1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p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0" name="Google Shape;2310;p1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1" name="Google Shape;2311;p1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8"/>
        <p:cNvGrpSpPr/>
        <p:nvPr/>
      </p:nvGrpSpPr>
      <p:grpSpPr>
        <a:xfrm>
          <a:off x="0" y="0"/>
          <a:ext cx="0" cy="0"/>
          <a:chOff x="0" y="0"/>
          <a:chExt cx="0" cy="0"/>
        </a:xfrm>
      </p:grpSpPr>
      <p:sp>
        <p:nvSpPr>
          <p:cNvPr id="2339" name="Google Shape;2339;p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0" name="Google Shape;2340;p1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1" name="Google Shape;2341;p1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5"/>
        <p:cNvGrpSpPr/>
        <p:nvPr/>
      </p:nvGrpSpPr>
      <p:grpSpPr>
        <a:xfrm>
          <a:off x="0" y="0"/>
          <a:ext cx="0" cy="0"/>
          <a:chOff x="0" y="0"/>
          <a:chExt cx="0" cy="0"/>
        </a:xfrm>
      </p:grpSpPr>
      <p:sp>
        <p:nvSpPr>
          <p:cNvPr id="2346" name="Google Shape;2346;p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7" name="Google Shape;2347;p1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8" name="Google Shape;2348;p1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3"/>
        <p:cNvGrpSpPr/>
        <p:nvPr/>
      </p:nvGrpSpPr>
      <p:grpSpPr>
        <a:xfrm>
          <a:off x="0" y="0"/>
          <a:ext cx="0" cy="0"/>
          <a:chOff x="0" y="0"/>
          <a:chExt cx="0" cy="0"/>
        </a:xfrm>
      </p:grpSpPr>
      <p:sp>
        <p:nvSpPr>
          <p:cNvPr id="2354" name="Google Shape;2354;p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5" name="Google Shape;2355;p1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6" name="Google Shape;2356;p1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3"/>
        <p:cNvGrpSpPr/>
        <p:nvPr/>
      </p:nvGrpSpPr>
      <p:grpSpPr>
        <a:xfrm>
          <a:off x="0" y="0"/>
          <a:ext cx="0" cy="0"/>
          <a:chOff x="0" y="0"/>
          <a:chExt cx="0" cy="0"/>
        </a:xfrm>
      </p:grpSpPr>
      <p:sp>
        <p:nvSpPr>
          <p:cNvPr id="2374" name="Google Shape;2374;p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5" name="Google Shape;2375;p1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6" name="Google Shape;2376;p1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1"/>
        <p:cNvGrpSpPr/>
        <p:nvPr/>
      </p:nvGrpSpPr>
      <p:grpSpPr>
        <a:xfrm>
          <a:off x="0" y="0"/>
          <a:ext cx="0" cy="0"/>
          <a:chOff x="0" y="0"/>
          <a:chExt cx="0" cy="0"/>
        </a:xfrm>
      </p:grpSpPr>
      <p:sp>
        <p:nvSpPr>
          <p:cNvPr id="2382" name="Google Shape;2382;p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3" name="Google Shape;2383;p1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4" name="Google Shape;2384;p1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p:cNvGrpSpPr/>
        <p:nvPr/>
      </p:nvGrpSpPr>
      <p:grpSpPr>
        <a:xfrm>
          <a:off x="0" y="0"/>
          <a:ext cx="0" cy="0"/>
          <a:chOff x="0" y="0"/>
          <a:chExt cx="0" cy="0"/>
        </a:xfrm>
      </p:grpSpPr>
      <p:sp>
        <p:nvSpPr>
          <p:cNvPr id="2389" name="Google Shape;2389;p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0" name="Google Shape;2390;p1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1" name="Google Shape;2391;p1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5"/>
        <p:cNvGrpSpPr/>
        <p:nvPr/>
      </p:nvGrpSpPr>
      <p:grpSpPr>
        <a:xfrm>
          <a:off x="0" y="0"/>
          <a:ext cx="0" cy="0"/>
          <a:chOff x="0" y="0"/>
          <a:chExt cx="0" cy="0"/>
        </a:xfrm>
      </p:grpSpPr>
      <p:sp>
        <p:nvSpPr>
          <p:cNvPr id="2396" name="Google Shape;2396;p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7" name="Google Shape;2397;p1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8" name="Google Shape;2398;p1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2"/>
        <p:cNvGrpSpPr/>
        <p:nvPr/>
      </p:nvGrpSpPr>
      <p:grpSpPr>
        <a:xfrm>
          <a:off x="0" y="0"/>
          <a:ext cx="0" cy="0"/>
          <a:chOff x="0" y="0"/>
          <a:chExt cx="0" cy="0"/>
        </a:xfrm>
      </p:grpSpPr>
      <p:sp>
        <p:nvSpPr>
          <p:cNvPr id="2403" name="Google Shape;2403;p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4" name="Google Shape;2404;p1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5" name="Google Shape;2405;p1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7"/>
        <p:cNvGrpSpPr/>
        <p:nvPr/>
      </p:nvGrpSpPr>
      <p:grpSpPr>
        <a:xfrm>
          <a:off x="0" y="0"/>
          <a:ext cx="0" cy="0"/>
          <a:chOff x="0" y="0"/>
          <a:chExt cx="0" cy="0"/>
        </a:xfrm>
      </p:grpSpPr>
      <p:sp>
        <p:nvSpPr>
          <p:cNvPr id="2458" name="Google Shape;2458;p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9" name="Google Shape;2459;p1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0" name="Google Shape;2460;p1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5"/>
        <p:cNvGrpSpPr/>
        <p:nvPr/>
      </p:nvGrpSpPr>
      <p:grpSpPr>
        <a:xfrm>
          <a:off x="0" y="0"/>
          <a:ext cx="0" cy="0"/>
          <a:chOff x="0" y="0"/>
          <a:chExt cx="0" cy="0"/>
        </a:xfrm>
      </p:grpSpPr>
      <p:sp>
        <p:nvSpPr>
          <p:cNvPr id="2466" name="Google Shape;2466;p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7" name="Google Shape;2467;p1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8" name="Google Shape;2468;p1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3"/>
        <p:cNvGrpSpPr/>
        <p:nvPr/>
      </p:nvGrpSpPr>
      <p:grpSpPr>
        <a:xfrm>
          <a:off x="0" y="0"/>
          <a:ext cx="0" cy="0"/>
          <a:chOff x="0" y="0"/>
          <a:chExt cx="0" cy="0"/>
        </a:xfrm>
      </p:grpSpPr>
      <p:sp>
        <p:nvSpPr>
          <p:cNvPr id="2474" name="Google Shape;2474;p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5" name="Google Shape;2475;p1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6" name="Google Shape;2476;p1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1"/>
        <p:cNvGrpSpPr/>
        <p:nvPr/>
      </p:nvGrpSpPr>
      <p:grpSpPr>
        <a:xfrm>
          <a:off x="0" y="0"/>
          <a:ext cx="0" cy="0"/>
          <a:chOff x="0" y="0"/>
          <a:chExt cx="0" cy="0"/>
        </a:xfrm>
      </p:grpSpPr>
      <p:sp>
        <p:nvSpPr>
          <p:cNvPr id="2482" name="Google Shape;2482;p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3" name="Google Shape;2483;p1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4" name="Google Shape;2484;p1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5"/>
        <p:cNvGrpSpPr/>
        <p:nvPr/>
      </p:nvGrpSpPr>
      <p:grpSpPr>
        <a:xfrm>
          <a:off x="0" y="0"/>
          <a:ext cx="0" cy="0"/>
          <a:chOff x="0" y="0"/>
          <a:chExt cx="0" cy="0"/>
        </a:xfrm>
      </p:grpSpPr>
      <p:sp>
        <p:nvSpPr>
          <p:cNvPr id="2516" name="Google Shape;2516;p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7" name="Google Shape;2517;p1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8" name="Google Shape;2518;p1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2"/>
        <p:cNvGrpSpPr/>
        <p:nvPr/>
      </p:nvGrpSpPr>
      <p:grpSpPr>
        <a:xfrm>
          <a:off x="0" y="0"/>
          <a:ext cx="0" cy="0"/>
          <a:chOff x="0" y="0"/>
          <a:chExt cx="0" cy="0"/>
        </a:xfrm>
      </p:grpSpPr>
      <p:sp>
        <p:nvSpPr>
          <p:cNvPr id="2523" name="Google Shape;2523;p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4" name="Google Shape;2524;p1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5" name="Google Shape;2525;p1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9"/>
        <p:cNvGrpSpPr/>
        <p:nvPr/>
      </p:nvGrpSpPr>
      <p:grpSpPr>
        <a:xfrm>
          <a:off x="0" y="0"/>
          <a:ext cx="0" cy="0"/>
          <a:chOff x="0" y="0"/>
          <a:chExt cx="0" cy="0"/>
        </a:xfrm>
      </p:grpSpPr>
      <p:sp>
        <p:nvSpPr>
          <p:cNvPr id="2530" name="Google Shape;2530;p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1" name="Google Shape;2531;p1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2" name="Google Shape;2532;p1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6"/>
        <p:cNvGrpSpPr/>
        <p:nvPr/>
      </p:nvGrpSpPr>
      <p:grpSpPr>
        <a:xfrm>
          <a:off x="0" y="0"/>
          <a:ext cx="0" cy="0"/>
          <a:chOff x="0" y="0"/>
          <a:chExt cx="0" cy="0"/>
        </a:xfrm>
      </p:grpSpPr>
      <p:sp>
        <p:nvSpPr>
          <p:cNvPr id="2537" name="Google Shape;2537;p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8" name="Google Shape;2538;p1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9" name="Google Shape;2539;p1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4"/>
        <p:cNvGrpSpPr/>
        <p:nvPr/>
      </p:nvGrpSpPr>
      <p:grpSpPr>
        <a:xfrm>
          <a:off x="0" y="0"/>
          <a:ext cx="0" cy="0"/>
          <a:chOff x="0" y="0"/>
          <a:chExt cx="0" cy="0"/>
        </a:xfrm>
      </p:grpSpPr>
      <p:sp>
        <p:nvSpPr>
          <p:cNvPr id="2555" name="Google Shape;2555;p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6" name="Google Shape;2556;p1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7" name="Google Shape;2557;p1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9"/>
        <p:cNvGrpSpPr/>
        <p:nvPr/>
      </p:nvGrpSpPr>
      <p:grpSpPr>
        <a:xfrm>
          <a:off x="0" y="0"/>
          <a:ext cx="0" cy="0"/>
          <a:chOff x="0" y="0"/>
          <a:chExt cx="0" cy="0"/>
        </a:xfrm>
      </p:grpSpPr>
      <p:sp>
        <p:nvSpPr>
          <p:cNvPr id="2580" name="Google Shape;2580;p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1" name="Google Shape;2581;p1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2" name="Google Shape;2582;p1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3"/>
        <p:cNvGrpSpPr/>
        <p:nvPr/>
      </p:nvGrpSpPr>
      <p:grpSpPr>
        <a:xfrm>
          <a:off x="0" y="0"/>
          <a:ext cx="0" cy="0"/>
          <a:chOff x="0" y="0"/>
          <a:chExt cx="0" cy="0"/>
        </a:xfrm>
      </p:grpSpPr>
      <p:sp>
        <p:nvSpPr>
          <p:cNvPr id="2594" name="Google Shape;2594;p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5" name="Google Shape;2595;p1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6" name="Google Shape;2596;p1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0"/>
        <p:cNvGrpSpPr/>
        <p:nvPr/>
      </p:nvGrpSpPr>
      <p:grpSpPr>
        <a:xfrm>
          <a:off x="0" y="0"/>
          <a:ext cx="0" cy="0"/>
          <a:chOff x="0" y="0"/>
          <a:chExt cx="0" cy="0"/>
        </a:xfrm>
      </p:grpSpPr>
      <p:sp>
        <p:nvSpPr>
          <p:cNvPr id="2601" name="Google Shape;2601;p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2" name="Google Shape;2602;p1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3" name="Google Shape;2603;p1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7"/>
        <p:cNvGrpSpPr/>
        <p:nvPr/>
      </p:nvGrpSpPr>
      <p:grpSpPr>
        <a:xfrm>
          <a:off x="0" y="0"/>
          <a:ext cx="0" cy="0"/>
          <a:chOff x="0" y="0"/>
          <a:chExt cx="0" cy="0"/>
        </a:xfrm>
      </p:grpSpPr>
      <p:sp>
        <p:nvSpPr>
          <p:cNvPr id="2608" name="Google Shape;2608;p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9" name="Google Shape;2609;p1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0" name="Google Shape;2610;p1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4"/>
        <p:cNvGrpSpPr/>
        <p:nvPr/>
      </p:nvGrpSpPr>
      <p:grpSpPr>
        <a:xfrm>
          <a:off x="0" y="0"/>
          <a:ext cx="0" cy="0"/>
          <a:chOff x="0" y="0"/>
          <a:chExt cx="0" cy="0"/>
        </a:xfrm>
      </p:grpSpPr>
      <p:sp>
        <p:nvSpPr>
          <p:cNvPr id="2615" name="Google Shape;2615;p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6" name="Google Shape;2616;p1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7" name="Google Shape;2617;p1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1"/>
        <p:cNvGrpSpPr/>
        <p:nvPr/>
      </p:nvGrpSpPr>
      <p:grpSpPr>
        <a:xfrm>
          <a:off x="0" y="0"/>
          <a:ext cx="0" cy="0"/>
          <a:chOff x="0" y="0"/>
          <a:chExt cx="0" cy="0"/>
        </a:xfrm>
      </p:grpSpPr>
      <p:sp>
        <p:nvSpPr>
          <p:cNvPr id="2622" name="Google Shape;2622;p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3" name="Google Shape;2623;p1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4" name="Google Shape;2624;p1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8"/>
        <p:cNvGrpSpPr/>
        <p:nvPr/>
      </p:nvGrpSpPr>
      <p:grpSpPr>
        <a:xfrm>
          <a:off x="0" y="0"/>
          <a:ext cx="0" cy="0"/>
          <a:chOff x="0" y="0"/>
          <a:chExt cx="0" cy="0"/>
        </a:xfrm>
      </p:grpSpPr>
      <p:sp>
        <p:nvSpPr>
          <p:cNvPr id="2629" name="Google Shape;2629;p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0" name="Google Shape;2630;p1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1" name="Google Shape;2631;p1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5"/>
        <p:cNvGrpSpPr/>
        <p:nvPr/>
      </p:nvGrpSpPr>
      <p:grpSpPr>
        <a:xfrm>
          <a:off x="0" y="0"/>
          <a:ext cx="0" cy="0"/>
          <a:chOff x="0" y="0"/>
          <a:chExt cx="0" cy="0"/>
        </a:xfrm>
      </p:grpSpPr>
      <p:sp>
        <p:nvSpPr>
          <p:cNvPr id="2636" name="Google Shape;2636;p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7" name="Google Shape;2637;p1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8" name="Google Shape;2638;p1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6"/>
        <p:cNvGrpSpPr/>
        <p:nvPr/>
      </p:nvGrpSpPr>
      <p:grpSpPr>
        <a:xfrm>
          <a:off x="0" y="0"/>
          <a:ext cx="0" cy="0"/>
          <a:chOff x="0" y="0"/>
          <a:chExt cx="0" cy="0"/>
        </a:xfrm>
      </p:grpSpPr>
      <p:sp>
        <p:nvSpPr>
          <p:cNvPr id="2647" name="Google Shape;2647;p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8" name="Google Shape;2648;p1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9" name="Google Shape;2649;p1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3"/>
        <p:cNvGrpSpPr/>
        <p:nvPr/>
      </p:nvGrpSpPr>
      <p:grpSpPr>
        <a:xfrm>
          <a:off x="0" y="0"/>
          <a:ext cx="0" cy="0"/>
          <a:chOff x="0" y="0"/>
          <a:chExt cx="0" cy="0"/>
        </a:xfrm>
      </p:grpSpPr>
      <p:sp>
        <p:nvSpPr>
          <p:cNvPr id="2654" name="Google Shape;2654;p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5" name="Google Shape;2655;p1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6" name="Google Shape;2656;p1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0"/>
        <p:cNvGrpSpPr/>
        <p:nvPr/>
      </p:nvGrpSpPr>
      <p:grpSpPr>
        <a:xfrm>
          <a:off x="0" y="0"/>
          <a:ext cx="0" cy="0"/>
          <a:chOff x="0" y="0"/>
          <a:chExt cx="0" cy="0"/>
        </a:xfrm>
      </p:grpSpPr>
      <p:sp>
        <p:nvSpPr>
          <p:cNvPr id="2661" name="Google Shape;2661;p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2" name="Google Shape;2662;p1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3" name="Google Shape;2663;p1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7"/>
        <p:cNvGrpSpPr/>
        <p:nvPr/>
      </p:nvGrpSpPr>
      <p:grpSpPr>
        <a:xfrm>
          <a:off x="0" y="0"/>
          <a:ext cx="0" cy="0"/>
          <a:chOff x="0" y="0"/>
          <a:chExt cx="0" cy="0"/>
        </a:xfrm>
      </p:grpSpPr>
      <p:sp>
        <p:nvSpPr>
          <p:cNvPr id="2668" name="Google Shape;2668;p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9" name="Google Shape;2669;p1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0" name="Google Shape;2670;p1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4"/>
        <p:cNvGrpSpPr/>
        <p:nvPr/>
      </p:nvGrpSpPr>
      <p:grpSpPr>
        <a:xfrm>
          <a:off x="0" y="0"/>
          <a:ext cx="0" cy="0"/>
          <a:chOff x="0" y="0"/>
          <a:chExt cx="0" cy="0"/>
        </a:xfrm>
      </p:grpSpPr>
      <p:sp>
        <p:nvSpPr>
          <p:cNvPr id="2675" name="Google Shape;2675;p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6" name="Google Shape;2676;p1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7" name="Google Shape;2677;p1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1"/>
        <p:cNvGrpSpPr/>
        <p:nvPr/>
      </p:nvGrpSpPr>
      <p:grpSpPr>
        <a:xfrm>
          <a:off x="0" y="0"/>
          <a:ext cx="0" cy="0"/>
          <a:chOff x="0" y="0"/>
          <a:chExt cx="0" cy="0"/>
        </a:xfrm>
      </p:grpSpPr>
      <p:sp>
        <p:nvSpPr>
          <p:cNvPr id="2682" name="Google Shape;2682;p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3" name="Google Shape;2683;p1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4" name="Google Shape;2684;p1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8"/>
        <p:cNvGrpSpPr/>
        <p:nvPr/>
      </p:nvGrpSpPr>
      <p:grpSpPr>
        <a:xfrm>
          <a:off x="0" y="0"/>
          <a:ext cx="0" cy="0"/>
          <a:chOff x="0" y="0"/>
          <a:chExt cx="0" cy="0"/>
        </a:xfrm>
      </p:grpSpPr>
      <p:sp>
        <p:nvSpPr>
          <p:cNvPr id="2689" name="Google Shape;2689;p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0" name="Google Shape;2690;p1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1" name="Google Shape;2691;p1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5"/>
        <p:cNvGrpSpPr/>
        <p:nvPr/>
      </p:nvGrpSpPr>
      <p:grpSpPr>
        <a:xfrm>
          <a:off x="0" y="0"/>
          <a:ext cx="0" cy="0"/>
          <a:chOff x="0" y="0"/>
          <a:chExt cx="0" cy="0"/>
        </a:xfrm>
      </p:grpSpPr>
      <p:sp>
        <p:nvSpPr>
          <p:cNvPr id="2696" name="Google Shape;2696;p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7" name="Google Shape;2697;p1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8" name="Google Shape;2698;p1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2"/>
        <p:cNvGrpSpPr/>
        <p:nvPr/>
      </p:nvGrpSpPr>
      <p:grpSpPr>
        <a:xfrm>
          <a:off x="0" y="0"/>
          <a:ext cx="0" cy="0"/>
          <a:chOff x="0" y="0"/>
          <a:chExt cx="0" cy="0"/>
        </a:xfrm>
      </p:grpSpPr>
      <p:sp>
        <p:nvSpPr>
          <p:cNvPr id="2703" name="Google Shape;2703;p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4" name="Google Shape;2704;p1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5" name="Google Shape;2705;p17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9"/>
        <p:cNvGrpSpPr/>
        <p:nvPr/>
      </p:nvGrpSpPr>
      <p:grpSpPr>
        <a:xfrm>
          <a:off x="0" y="0"/>
          <a:ext cx="0" cy="0"/>
          <a:chOff x="0" y="0"/>
          <a:chExt cx="0" cy="0"/>
        </a:xfrm>
      </p:grpSpPr>
      <p:sp>
        <p:nvSpPr>
          <p:cNvPr id="2710" name="Google Shape;2710;p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1" name="Google Shape;2711;p1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2" name="Google Shape;2712;p1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6"/>
        <p:cNvGrpSpPr/>
        <p:nvPr/>
      </p:nvGrpSpPr>
      <p:grpSpPr>
        <a:xfrm>
          <a:off x="0" y="0"/>
          <a:ext cx="0" cy="0"/>
          <a:chOff x="0" y="0"/>
          <a:chExt cx="0" cy="0"/>
        </a:xfrm>
      </p:grpSpPr>
      <p:sp>
        <p:nvSpPr>
          <p:cNvPr id="2717" name="Google Shape;2717;p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8" name="Google Shape;2718;p1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9" name="Google Shape;2719;p17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0"/>
        <p:cNvGrpSpPr/>
        <p:nvPr/>
      </p:nvGrpSpPr>
      <p:grpSpPr>
        <a:xfrm>
          <a:off x="0" y="0"/>
          <a:ext cx="0" cy="0"/>
          <a:chOff x="0" y="0"/>
          <a:chExt cx="0" cy="0"/>
        </a:xfrm>
      </p:grpSpPr>
      <p:sp>
        <p:nvSpPr>
          <p:cNvPr id="2731" name="Google Shape;2731;p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2" name="Google Shape;2732;p1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3" name="Google Shape;2733;p1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7"/>
        <p:cNvGrpSpPr/>
        <p:nvPr/>
      </p:nvGrpSpPr>
      <p:grpSpPr>
        <a:xfrm>
          <a:off x="0" y="0"/>
          <a:ext cx="0" cy="0"/>
          <a:chOff x="0" y="0"/>
          <a:chExt cx="0" cy="0"/>
        </a:xfrm>
      </p:grpSpPr>
      <p:sp>
        <p:nvSpPr>
          <p:cNvPr id="2738" name="Google Shape;2738;p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9" name="Google Shape;2739;p1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0" name="Google Shape;2740;p1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4"/>
        <p:cNvGrpSpPr/>
        <p:nvPr/>
      </p:nvGrpSpPr>
      <p:grpSpPr>
        <a:xfrm>
          <a:off x="0" y="0"/>
          <a:ext cx="0" cy="0"/>
          <a:chOff x="0" y="0"/>
          <a:chExt cx="0" cy="0"/>
        </a:xfrm>
      </p:grpSpPr>
      <p:sp>
        <p:nvSpPr>
          <p:cNvPr id="2745" name="Google Shape;2745;p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6" name="Google Shape;2746;p1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7" name="Google Shape;2747;p17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9"/>
        <p:cNvGrpSpPr/>
        <p:nvPr/>
      </p:nvGrpSpPr>
      <p:grpSpPr>
        <a:xfrm>
          <a:off x="0" y="0"/>
          <a:ext cx="0" cy="0"/>
          <a:chOff x="0" y="0"/>
          <a:chExt cx="0" cy="0"/>
        </a:xfrm>
      </p:grpSpPr>
      <p:sp>
        <p:nvSpPr>
          <p:cNvPr id="2760" name="Google Shape;2760;p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1" name="Google Shape;2761;p1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2" name="Google Shape;2762;p18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7"/>
        <p:cNvGrpSpPr/>
        <p:nvPr/>
      </p:nvGrpSpPr>
      <p:grpSpPr>
        <a:xfrm>
          <a:off x="0" y="0"/>
          <a:ext cx="0" cy="0"/>
          <a:chOff x="0" y="0"/>
          <a:chExt cx="0" cy="0"/>
        </a:xfrm>
      </p:grpSpPr>
      <p:sp>
        <p:nvSpPr>
          <p:cNvPr id="2768" name="Google Shape;2768;p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9" name="Google Shape;2769;p1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0" name="Google Shape;2770;p1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4"/>
        <p:cNvGrpSpPr/>
        <p:nvPr/>
      </p:nvGrpSpPr>
      <p:grpSpPr>
        <a:xfrm>
          <a:off x="0" y="0"/>
          <a:ext cx="0" cy="0"/>
          <a:chOff x="0" y="0"/>
          <a:chExt cx="0" cy="0"/>
        </a:xfrm>
      </p:grpSpPr>
      <p:sp>
        <p:nvSpPr>
          <p:cNvPr id="2775" name="Google Shape;2775;p1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6" name="Google Shape;2776;p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2"/>
        <p:cNvGrpSpPr/>
        <p:nvPr/>
      </p:nvGrpSpPr>
      <p:grpSpPr>
        <a:xfrm>
          <a:off x="0" y="0"/>
          <a:ext cx="0" cy="0"/>
          <a:chOff x="0" y="0"/>
          <a:chExt cx="0" cy="0"/>
        </a:xfrm>
      </p:grpSpPr>
      <p:sp>
        <p:nvSpPr>
          <p:cNvPr id="2783" name="Google Shape;2783;p1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4" name="Google Shape;2784;p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7"/>
        <p:cNvGrpSpPr/>
        <p:nvPr/>
      </p:nvGrpSpPr>
      <p:grpSpPr>
        <a:xfrm>
          <a:off x="0" y="0"/>
          <a:ext cx="0" cy="0"/>
          <a:chOff x="0" y="0"/>
          <a:chExt cx="0" cy="0"/>
        </a:xfrm>
      </p:grpSpPr>
      <p:sp>
        <p:nvSpPr>
          <p:cNvPr id="2788" name="Google Shape;2788;p1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9" name="Google Shape;2789;p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3"/>
        <p:cNvGrpSpPr/>
        <p:nvPr/>
      </p:nvGrpSpPr>
      <p:grpSpPr>
        <a:xfrm>
          <a:off x="0" y="0"/>
          <a:ext cx="0" cy="0"/>
          <a:chOff x="0" y="0"/>
          <a:chExt cx="0" cy="0"/>
        </a:xfrm>
      </p:grpSpPr>
      <p:sp>
        <p:nvSpPr>
          <p:cNvPr id="2794" name="Google Shape;2794;p1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5" name="Google Shape;2795;p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2"/>
        <p:cNvGrpSpPr/>
        <p:nvPr/>
      </p:nvGrpSpPr>
      <p:grpSpPr>
        <a:xfrm>
          <a:off x="0" y="0"/>
          <a:ext cx="0" cy="0"/>
          <a:chOff x="0" y="0"/>
          <a:chExt cx="0" cy="0"/>
        </a:xfrm>
      </p:grpSpPr>
      <p:sp>
        <p:nvSpPr>
          <p:cNvPr id="2803" name="Google Shape;2803;p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4" name="Google Shape;2804;p1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5" name="Google Shape;2805;p18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153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9"/>
        <p:cNvGrpSpPr/>
        <p:nvPr/>
      </p:nvGrpSpPr>
      <p:grpSpPr>
        <a:xfrm>
          <a:off x="0" y="0"/>
          <a:ext cx="0" cy="0"/>
          <a:chOff x="0" y="0"/>
          <a:chExt cx="0" cy="0"/>
        </a:xfrm>
      </p:grpSpPr>
      <p:sp>
        <p:nvSpPr>
          <p:cNvPr id="2810" name="Google Shape;2810;p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1" name="Google Shape;2811;p1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2" name="Google Shape;2812;p1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154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6"/>
        <p:cNvGrpSpPr/>
        <p:nvPr/>
      </p:nvGrpSpPr>
      <p:grpSpPr>
        <a:xfrm>
          <a:off x="0" y="0"/>
          <a:ext cx="0" cy="0"/>
          <a:chOff x="0" y="0"/>
          <a:chExt cx="0" cy="0"/>
        </a:xfrm>
      </p:grpSpPr>
      <p:sp>
        <p:nvSpPr>
          <p:cNvPr id="2817" name="Google Shape;2817;p1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8" name="Google Shape;2818;p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5"/>
        <p:cNvGrpSpPr/>
        <p:nvPr/>
      </p:nvGrpSpPr>
      <p:grpSpPr>
        <a:xfrm>
          <a:off x="0" y="0"/>
          <a:ext cx="0" cy="0"/>
          <a:chOff x="0" y="0"/>
          <a:chExt cx="0" cy="0"/>
        </a:xfrm>
      </p:grpSpPr>
      <p:sp>
        <p:nvSpPr>
          <p:cNvPr id="2826" name="Google Shape;2826;p1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7" name="Google Shape;2827;p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6"/>
        <p:cNvGrpSpPr/>
        <p:nvPr/>
      </p:nvGrpSpPr>
      <p:grpSpPr>
        <a:xfrm>
          <a:off x="0" y="0"/>
          <a:ext cx="0" cy="0"/>
          <a:chOff x="0" y="0"/>
          <a:chExt cx="0" cy="0"/>
        </a:xfrm>
      </p:grpSpPr>
      <p:sp>
        <p:nvSpPr>
          <p:cNvPr id="2837" name="Google Shape;2837;p1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8" name="Google Shape;2838;p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2"/>
        <p:cNvGrpSpPr/>
        <p:nvPr/>
      </p:nvGrpSpPr>
      <p:grpSpPr>
        <a:xfrm>
          <a:off x="0" y="0"/>
          <a:ext cx="0" cy="0"/>
          <a:chOff x="0" y="0"/>
          <a:chExt cx="0" cy="0"/>
        </a:xfrm>
      </p:grpSpPr>
      <p:sp>
        <p:nvSpPr>
          <p:cNvPr id="2853" name="Google Shape;2853;p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4" name="Google Shape;2854;p1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5" name="Google Shape;2855;p19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158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9"/>
        <p:cNvGrpSpPr/>
        <p:nvPr/>
      </p:nvGrpSpPr>
      <p:grpSpPr>
        <a:xfrm>
          <a:off x="0" y="0"/>
          <a:ext cx="0" cy="0"/>
          <a:chOff x="0" y="0"/>
          <a:chExt cx="0" cy="0"/>
        </a:xfrm>
      </p:grpSpPr>
      <p:sp>
        <p:nvSpPr>
          <p:cNvPr id="2860" name="Google Shape;2860;p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1" name="Google Shape;2861;p1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2" name="Google Shape;2862;p19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159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6"/>
        <p:cNvGrpSpPr/>
        <p:nvPr/>
      </p:nvGrpSpPr>
      <p:grpSpPr>
        <a:xfrm>
          <a:off x="0" y="0"/>
          <a:ext cx="0" cy="0"/>
          <a:chOff x="0" y="0"/>
          <a:chExt cx="0" cy="0"/>
        </a:xfrm>
      </p:grpSpPr>
      <p:sp>
        <p:nvSpPr>
          <p:cNvPr id="2867" name="Google Shape;2867;p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8" name="Google Shape;2868;p19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9" name="Google Shape;2869;p19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3"/>
        <p:cNvGrpSpPr/>
        <p:nvPr/>
      </p:nvGrpSpPr>
      <p:grpSpPr>
        <a:xfrm>
          <a:off x="0" y="0"/>
          <a:ext cx="0" cy="0"/>
          <a:chOff x="0" y="0"/>
          <a:chExt cx="0" cy="0"/>
        </a:xfrm>
      </p:grpSpPr>
      <p:sp>
        <p:nvSpPr>
          <p:cNvPr id="2884" name="Google Shape;2884;p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5" name="Google Shape;2885;p19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6" name="Google Shape;2886;p19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0"/>
        <p:cNvGrpSpPr/>
        <p:nvPr/>
      </p:nvGrpSpPr>
      <p:grpSpPr>
        <a:xfrm>
          <a:off x="0" y="0"/>
          <a:ext cx="0" cy="0"/>
          <a:chOff x="0" y="0"/>
          <a:chExt cx="0" cy="0"/>
        </a:xfrm>
      </p:grpSpPr>
      <p:sp>
        <p:nvSpPr>
          <p:cNvPr id="2891" name="Google Shape;2891;p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2" name="Google Shape;2892;p19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3" name="Google Shape;2893;p19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4"/>
        <p:cNvGrpSpPr/>
        <p:nvPr/>
      </p:nvGrpSpPr>
      <p:grpSpPr>
        <a:xfrm>
          <a:off x="0" y="0"/>
          <a:ext cx="0" cy="0"/>
          <a:chOff x="0" y="0"/>
          <a:chExt cx="0" cy="0"/>
        </a:xfrm>
      </p:grpSpPr>
      <p:sp>
        <p:nvSpPr>
          <p:cNvPr id="2905" name="Google Shape;2905;p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6" name="Google Shape;2906;p1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7" name="Google Shape;2907;p1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2"/>
        <p:cNvGrpSpPr/>
        <p:nvPr/>
      </p:nvGrpSpPr>
      <p:grpSpPr>
        <a:xfrm>
          <a:off x="0" y="0"/>
          <a:ext cx="0" cy="0"/>
          <a:chOff x="0" y="0"/>
          <a:chExt cx="0" cy="0"/>
        </a:xfrm>
      </p:grpSpPr>
      <p:sp>
        <p:nvSpPr>
          <p:cNvPr id="2913" name="Google Shape;2913;p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4" name="Google Shape;2914;p2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5" name="Google Shape;2915;p20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9"/>
        <p:cNvGrpSpPr/>
        <p:nvPr/>
      </p:nvGrpSpPr>
      <p:grpSpPr>
        <a:xfrm>
          <a:off x="0" y="0"/>
          <a:ext cx="0" cy="0"/>
          <a:chOff x="0" y="0"/>
          <a:chExt cx="0" cy="0"/>
        </a:xfrm>
      </p:grpSpPr>
      <p:sp>
        <p:nvSpPr>
          <p:cNvPr id="2920" name="Google Shape;2920;p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1" name="Google Shape;2921;p20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2" name="Google Shape;2922;p20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0"/>
        <p:cNvGrpSpPr/>
        <p:nvPr/>
      </p:nvGrpSpPr>
      <p:grpSpPr>
        <a:xfrm>
          <a:off x="0" y="0"/>
          <a:ext cx="0" cy="0"/>
          <a:chOff x="0" y="0"/>
          <a:chExt cx="0" cy="0"/>
        </a:xfrm>
      </p:grpSpPr>
      <p:sp>
        <p:nvSpPr>
          <p:cNvPr id="2941" name="Google Shape;2941;p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2" name="Google Shape;2942;p20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3" name="Google Shape;2943;p20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8"/>
        <p:cNvGrpSpPr/>
        <p:nvPr/>
      </p:nvGrpSpPr>
      <p:grpSpPr>
        <a:xfrm>
          <a:off x="0" y="0"/>
          <a:ext cx="0" cy="0"/>
          <a:chOff x="0" y="0"/>
          <a:chExt cx="0" cy="0"/>
        </a:xfrm>
      </p:grpSpPr>
      <p:sp>
        <p:nvSpPr>
          <p:cNvPr id="2969" name="Google Shape;2969;p2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0" name="Google Shape;2970;p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7"/>
        <p:cNvGrpSpPr/>
        <p:nvPr/>
      </p:nvGrpSpPr>
      <p:grpSpPr>
        <a:xfrm>
          <a:off x="0" y="0"/>
          <a:ext cx="0" cy="0"/>
          <a:chOff x="0" y="0"/>
          <a:chExt cx="0" cy="0"/>
        </a:xfrm>
      </p:grpSpPr>
      <p:sp>
        <p:nvSpPr>
          <p:cNvPr id="2978" name="Google Shape;2978;p2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9" name="Google Shape;2979;p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6"/>
        <p:cNvGrpSpPr/>
        <p:nvPr/>
      </p:nvGrpSpPr>
      <p:grpSpPr>
        <a:xfrm>
          <a:off x="0" y="0"/>
          <a:ext cx="0" cy="0"/>
          <a:chOff x="0" y="0"/>
          <a:chExt cx="0" cy="0"/>
        </a:xfrm>
      </p:grpSpPr>
      <p:sp>
        <p:nvSpPr>
          <p:cNvPr id="2987" name="Google Shape;2987;p2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8" name="Google Shape;2988;p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15"/>
        <p:cNvGrpSpPr/>
        <p:nvPr/>
      </p:nvGrpSpPr>
      <p:grpSpPr>
        <a:xfrm>
          <a:off x="0" y="0"/>
          <a:ext cx="0" cy="0"/>
          <a:chOff x="0" y="0"/>
          <a:chExt cx="0" cy="0"/>
        </a:xfrm>
      </p:grpSpPr>
      <p:sp>
        <p:nvSpPr>
          <p:cNvPr id="16" name="Google Shape;16;p212"/>
          <p:cNvSpPr txBox="1">
            <a:spLocks noGrp="1"/>
          </p:cNvSpPr>
          <p:nvPr>
            <p:ph type="ctrTitle"/>
          </p:nvPr>
        </p:nvSpPr>
        <p:spPr>
          <a:xfrm>
            <a:off x="1053853" y="3571342"/>
            <a:ext cx="4608512" cy="1224971"/>
          </a:xfrm>
          <a:prstGeom prst="rect">
            <a:avLst/>
          </a:prstGeom>
          <a:noFill/>
          <a:ln>
            <a:noFill/>
          </a:ln>
        </p:spPr>
        <p:txBody>
          <a:bodyPr spcFirstLastPara="1" wrap="square" lIns="0" tIns="60925" rIns="0" bIns="60925" anchor="ctr" anchorCtr="0">
            <a:normAutofit/>
          </a:bodyPr>
          <a:lstStyle>
            <a:lvl1pPr lvl="0" algn="l">
              <a:spcBef>
                <a:spcPts val="0"/>
              </a:spcBef>
              <a:spcAft>
                <a:spcPts val="0"/>
              </a:spcAft>
              <a:buClr>
                <a:schemeClr val="accent1"/>
              </a:buClr>
              <a:buSzPts val="4000"/>
              <a:buFont typeface="Quattrocento Sans"/>
              <a:buNone/>
              <a:defRPr sz="4000">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12"/>
          <p:cNvSpPr txBox="1">
            <a:spLocks noGrp="1"/>
          </p:cNvSpPr>
          <p:nvPr>
            <p:ph type="subTitle" idx="1"/>
          </p:nvPr>
        </p:nvSpPr>
        <p:spPr>
          <a:xfrm>
            <a:off x="1053851" y="4796313"/>
            <a:ext cx="5760639" cy="610812"/>
          </a:xfrm>
          <a:prstGeom prst="rect">
            <a:avLst/>
          </a:prstGeom>
          <a:noFill/>
          <a:ln>
            <a:noFill/>
          </a:ln>
        </p:spPr>
        <p:txBody>
          <a:bodyPr spcFirstLastPara="1" wrap="square" lIns="0" tIns="60925" rIns="0" bIns="60925" anchor="t" anchorCtr="0">
            <a:normAutofit/>
          </a:bodyPr>
          <a:lstStyle>
            <a:lvl1pPr lvl="0" algn="l">
              <a:spcBef>
                <a:spcPts val="480"/>
              </a:spcBef>
              <a:spcAft>
                <a:spcPts val="0"/>
              </a:spcAft>
              <a:buClr>
                <a:schemeClr val="dk1"/>
              </a:buClr>
              <a:buSzPts val="2400"/>
              <a:buNone/>
              <a:defRPr sz="2400">
                <a:solidFill>
                  <a:schemeClr val="dk1"/>
                </a:solidFill>
                <a:latin typeface="Quattrocento Sans"/>
                <a:ea typeface="Quattrocento Sans"/>
                <a:cs typeface="Quattrocento Sans"/>
                <a:sym typeface="Quattrocento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8" name="Google Shape;18;p212"/>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12"/>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12"/>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 name="Google Shape;21;p212"/>
          <p:cNvSpPr>
            <a:spLocks noGrp="1"/>
          </p:cNvSpPr>
          <p:nvPr>
            <p:ph type="pic" idx="2"/>
          </p:nvPr>
        </p:nvSpPr>
        <p:spPr>
          <a:xfrm>
            <a:off x="0" y="0"/>
            <a:ext cx="12188825" cy="34290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Only" type="titleOnly">
  <p:cSld name="TITLE_ONLY">
    <p:spTree>
      <p:nvGrpSpPr>
        <p:cNvPr id="1" name="Shape 22"/>
        <p:cNvGrpSpPr/>
        <p:nvPr/>
      </p:nvGrpSpPr>
      <p:grpSpPr>
        <a:xfrm>
          <a:off x="0" y="0"/>
          <a:ext cx="0" cy="0"/>
          <a:chOff x="0" y="0"/>
          <a:chExt cx="0" cy="0"/>
        </a:xfrm>
      </p:grpSpPr>
      <p:sp>
        <p:nvSpPr>
          <p:cNvPr id="23" name="Google Shape;23;p213"/>
          <p:cNvSpPr txBox="1">
            <a:spLocks noGrp="1"/>
          </p:cNvSpPr>
          <p:nvPr>
            <p:ph type="title"/>
          </p:nvPr>
        </p:nvSpPr>
        <p:spPr>
          <a:xfrm>
            <a:off x="1053851" y="1995165"/>
            <a:ext cx="4968547" cy="1926089"/>
          </a:xfrm>
          <a:prstGeom prst="rect">
            <a:avLst/>
          </a:prstGeom>
          <a:noFill/>
          <a:ln>
            <a:noFill/>
          </a:ln>
        </p:spPr>
        <p:txBody>
          <a:bodyPr spcFirstLastPara="1" wrap="square" lIns="0" tIns="60925" rIns="0" bIns="60925" anchor="t" anchorCtr="0">
            <a:noAutofit/>
          </a:bodyPr>
          <a:lstStyle>
            <a:lvl1pPr lvl="0" algn="l">
              <a:spcBef>
                <a:spcPts val="0"/>
              </a:spcBef>
              <a:spcAft>
                <a:spcPts val="0"/>
              </a:spcAft>
              <a:buClr>
                <a:schemeClr val="accent1"/>
              </a:buClr>
              <a:buSzPts val="4400"/>
              <a:buFont typeface="Quattrocento Sans"/>
              <a:buNone/>
              <a:defRPr sz="4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213"/>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13"/>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13"/>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27"/>
        <p:cNvGrpSpPr/>
        <p:nvPr/>
      </p:nvGrpSpPr>
      <p:grpSpPr>
        <a:xfrm>
          <a:off x="0" y="0"/>
          <a:ext cx="0" cy="0"/>
          <a:chOff x="0" y="0"/>
          <a:chExt cx="0" cy="0"/>
        </a:xfrm>
      </p:grpSpPr>
      <p:sp>
        <p:nvSpPr>
          <p:cNvPr id="28" name="Google Shape;28;p220"/>
          <p:cNvSpPr txBox="1">
            <a:spLocks noGrp="1"/>
          </p:cNvSpPr>
          <p:nvPr>
            <p:ph type="title"/>
          </p:nvPr>
        </p:nvSpPr>
        <p:spPr>
          <a:xfrm>
            <a:off x="1053851" y="1995165"/>
            <a:ext cx="4968547" cy="1926089"/>
          </a:xfrm>
          <a:prstGeom prst="rect">
            <a:avLst/>
          </a:prstGeom>
          <a:noFill/>
          <a:ln>
            <a:noFill/>
          </a:ln>
        </p:spPr>
        <p:txBody>
          <a:bodyPr spcFirstLastPara="1" wrap="square" lIns="0" tIns="60925" rIns="0" bIns="60925" anchor="t" anchorCtr="0">
            <a:noAutofit/>
          </a:bodyPr>
          <a:lstStyle>
            <a:lvl1pPr lvl="0" algn="l">
              <a:spcBef>
                <a:spcPts val="0"/>
              </a:spcBef>
              <a:spcAft>
                <a:spcPts val="0"/>
              </a:spcAft>
              <a:buClr>
                <a:schemeClr val="accent1"/>
              </a:buClr>
              <a:buSzPts val="4000"/>
              <a:buFont typeface="Quattrocento Sans"/>
              <a:buNone/>
              <a:defRPr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20"/>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20"/>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0"/>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Only">
  <p:cSld name="2_Title Only">
    <p:spTree>
      <p:nvGrpSpPr>
        <p:cNvPr id="1" name="Shape 32"/>
        <p:cNvGrpSpPr/>
        <p:nvPr/>
      </p:nvGrpSpPr>
      <p:grpSpPr>
        <a:xfrm>
          <a:off x="0" y="0"/>
          <a:ext cx="0" cy="0"/>
          <a:chOff x="0" y="0"/>
          <a:chExt cx="0" cy="0"/>
        </a:xfrm>
      </p:grpSpPr>
      <p:sp>
        <p:nvSpPr>
          <p:cNvPr id="33" name="Google Shape;33;p221"/>
          <p:cNvSpPr txBox="1">
            <a:spLocks noGrp="1"/>
          </p:cNvSpPr>
          <p:nvPr>
            <p:ph type="title"/>
          </p:nvPr>
        </p:nvSpPr>
        <p:spPr>
          <a:xfrm>
            <a:off x="1053851" y="1340768"/>
            <a:ext cx="4968547" cy="1926089"/>
          </a:xfrm>
          <a:prstGeom prst="rect">
            <a:avLst/>
          </a:prstGeom>
          <a:noFill/>
          <a:ln>
            <a:noFill/>
          </a:ln>
        </p:spPr>
        <p:txBody>
          <a:bodyPr spcFirstLastPara="1" wrap="square" lIns="0" tIns="60925" rIns="0" bIns="60925" anchor="t" anchorCtr="0">
            <a:noAutofit/>
          </a:bodyPr>
          <a:lstStyle>
            <a:lvl1pPr lvl="0" algn="l">
              <a:spcBef>
                <a:spcPts val="0"/>
              </a:spcBef>
              <a:spcAft>
                <a:spcPts val="0"/>
              </a:spcAft>
              <a:buClr>
                <a:schemeClr val="accent1"/>
              </a:buClr>
              <a:buSzPts val="4000"/>
              <a:buFont typeface="Quattrocento Sans"/>
              <a:buNone/>
              <a:defRPr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21"/>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21"/>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21"/>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5_Title Only">
  <p:cSld name="5_Title Only">
    <p:spTree>
      <p:nvGrpSpPr>
        <p:cNvPr id="1" name="Shape 37"/>
        <p:cNvGrpSpPr/>
        <p:nvPr/>
      </p:nvGrpSpPr>
      <p:grpSpPr>
        <a:xfrm>
          <a:off x="0" y="0"/>
          <a:ext cx="0" cy="0"/>
          <a:chOff x="0" y="0"/>
          <a:chExt cx="0" cy="0"/>
        </a:xfrm>
      </p:grpSpPr>
      <p:sp>
        <p:nvSpPr>
          <p:cNvPr id="38" name="Google Shape;38;p222"/>
          <p:cNvSpPr>
            <a:spLocks noGrp="1"/>
          </p:cNvSpPr>
          <p:nvPr>
            <p:ph type="pic" idx="2"/>
          </p:nvPr>
        </p:nvSpPr>
        <p:spPr>
          <a:xfrm>
            <a:off x="1053851" y="3491413"/>
            <a:ext cx="5040561" cy="2304256"/>
          </a:xfrm>
          <a:prstGeom prst="rect">
            <a:avLst/>
          </a:prstGeom>
          <a:noFill/>
          <a:ln>
            <a:noFill/>
          </a:ln>
        </p:spPr>
      </p:sp>
      <p:sp>
        <p:nvSpPr>
          <p:cNvPr id="39" name="Google Shape;39;p222"/>
          <p:cNvSpPr txBox="1">
            <a:spLocks noGrp="1"/>
          </p:cNvSpPr>
          <p:nvPr>
            <p:ph type="title"/>
          </p:nvPr>
        </p:nvSpPr>
        <p:spPr>
          <a:xfrm>
            <a:off x="1053851" y="1995165"/>
            <a:ext cx="4968547" cy="1926089"/>
          </a:xfrm>
          <a:prstGeom prst="rect">
            <a:avLst/>
          </a:prstGeom>
          <a:noFill/>
          <a:ln>
            <a:noFill/>
          </a:ln>
        </p:spPr>
        <p:txBody>
          <a:bodyPr spcFirstLastPara="1" wrap="square" lIns="0" tIns="60925" rIns="0" bIns="60925" anchor="t" anchorCtr="0">
            <a:noAutofit/>
          </a:bodyPr>
          <a:lstStyle>
            <a:lvl1pPr lvl="0" algn="l">
              <a:spcBef>
                <a:spcPts val="0"/>
              </a:spcBef>
              <a:spcAft>
                <a:spcPts val="0"/>
              </a:spcAft>
              <a:buClr>
                <a:schemeClr val="accent1"/>
              </a:buClr>
              <a:buSzPts val="4000"/>
              <a:buFont typeface="Quattrocento Sans"/>
              <a:buNone/>
              <a:defRPr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22"/>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22"/>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22"/>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Title Only">
  <p:cSld name="4_Title Only">
    <p:spTree>
      <p:nvGrpSpPr>
        <p:cNvPr id="1" name="Shape 43"/>
        <p:cNvGrpSpPr/>
        <p:nvPr/>
      </p:nvGrpSpPr>
      <p:grpSpPr>
        <a:xfrm>
          <a:off x="0" y="0"/>
          <a:ext cx="0" cy="0"/>
          <a:chOff x="0" y="0"/>
          <a:chExt cx="0" cy="0"/>
        </a:xfrm>
      </p:grpSpPr>
      <p:sp>
        <p:nvSpPr>
          <p:cNvPr id="44" name="Google Shape;44;p234"/>
          <p:cNvSpPr txBox="1">
            <a:spLocks noGrp="1"/>
          </p:cNvSpPr>
          <p:nvPr>
            <p:ph type="title"/>
          </p:nvPr>
        </p:nvSpPr>
        <p:spPr>
          <a:xfrm>
            <a:off x="1053851" y="1995165"/>
            <a:ext cx="4968547" cy="1926089"/>
          </a:xfrm>
          <a:prstGeom prst="rect">
            <a:avLst/>
          </a:prstGeom>
          <a:noFill/>
          <a:ln>
            <a:noFill/>
          </a:ln>
        </p:spPr>
        <p:txBody>
          <a:bodyPr spcFirstLastPara="1" wrap="square" lIns="0" tIns="60925" rIns="0" bIns="60925" anchor="t" anchorCtr="0">
            <a:noAutofit/>
          </a:bodyPr>
          <a:lstStyle>
            <a:lvl1pPr lvl="0" algn="l">
              <a:spcBef>
                <a:spcPts val="0"/>
              </a:spcBef>
              <a:spcAft>
                <a:spcPts val="0"/>
              </a:spcAft>
              <a:buClr>
                <a:schemeClr val="accent1"/>
              </a:buClr>
              <a:buSzPts val="4000"/>
              <a:buFont typeface="Quattrocento Sans"/>
              <a:buNone/>
              <a:defRPr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34"/>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34"/>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34"/>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48"/>
        <p:cNvGrpSpPr/>
        <p:nvPr/>
      </p:nvGrpSpPr>
      <p:grpSpPr>
        <a:xfrm>
          <a:off x="0" y="0"/>
          <a:ext cx="0" cy="0"/>
          <a:chOff x="0" y="0"/>
          <a:chExt cx="0" cy="0"/>
        </a:xfrm>
      </p:grpSpPr>
      <p:sp>
        <p:nvSpPr>
          <p:cNvPr id="49" name="Google Shape;49;p235"/>
          <p:cNvSpPr txBox="1">
            <a:spLocks noGrp="1"/>
          </p:cNvSpPr>
          <p:nvPr>
            <p:ph type="ctrTitle"/>
          </p:nvPr>
        </p:nvSpPr>
        <p:spPr>
          <a:xfrm>
            <a:off x="914162" y="3887117"/>
            <a:ext cx="10360501" cy="610820"/>
          </a:xfrm>
          <a:prstGeom prst="rect">
            <a:avLst/>
          </a:prstGeom>
          <a:noFill/>
          <a:ln>
            <a:noFill/>
          </a:ln>
        </p:spPr>
        <p:txBody>
          <a:bodyPr spcFirstLastPara="1" wrap="square" lIns="0" tIns="60925" rIns="0" bIns="60925" anchor="ctr" anchorCtr="0">
            <a:normAutofit/>
          </a:bodyPr>
          <a:lstStyle>
            <a:lvl1pPr lvl="0" algn="ctr">
              <a:spcBef>
                <a:spcPts val="0"/>
              </a:spcBef>
              <a:spcAft>
                <a:spcPts val="0"/>
              </a:spcAft>
              <a:buClr>
                <a:srgbClr val="3F3F3F"/>
              </a:buClr>
              <a:buSzPts val="4000"/>
              <a:buFont typeface="Calibri"/>
              <a:buNone/>
              <a:defRPr sz="40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235"/>
          <p:cNvSpPr txBox="1">
            <a:spLocks noGrp="1"/>
          </p:cNvSpPr>
          <p:nvPr>
            <p:ph type="subTitle" idx="1"/>
          </p:nvPr>
        </p:nvSpPr>
        <p:spPr>
          <a:xfrm>
            <a:off x="1828324" y="4399020"/>
            <a:ext cx="8532178" cy="764440"/>
          </a:xfrm>
          <a:prstGeom prst="rect">
            <a:avLst/>
          </a:prstGeom>
          <a:noFill/>
          <a:ln>
            <a:noFill/>
          </a:ln>
        </p:spPr>
        <p:txBody>
          <a:bodyPr spcFirstLastPara="1" wrap="square" lIns="0" tIns="60925" rIns="0" bIns="60925" anchor="t" anchorCtr="0">
            <a:normAutofit/>
          </a:bodyPr>
          <a:lstStyle>
            <a:lvl1pPr lvl="0" algn="ctr">
              <a:spcBef>
                <a:spcPts val="480"/>
              </a:spcBef>
              <a:spcAft>
                <a:spcPts val="0"/>
              </a:spcAft>
              <a:buClr>
                <a:srgbClr val="595959"/>
              </a:buClr>
              <a:buSzPts val="2400"/>
              <a:buNone/>
              <a:defRPr sz="2400">
                <a:solidFill>
                  <a:srgbClr val="595959"/>
                </a:solidFill>
                <a:latin typeface="Calibri"/>
                <a:ea typeface="Calibri"/>
                <a:cs typeface="Calibri"/>
                <a:sym typeface="Calibri"/>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51" name="Google Shape;51;p235"/>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5"/>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5"/>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4"/>
        <p:cNvGrpSpPr/>
        <p:nvPr/>
      </p:nvGrpSpPr>
      <p:grpSpPr>
        <a:xfrm>
          <a:off x="0" y="0"/>
          <a:ext cx="0" cy="0"/>
          <a:chOff x="0" y="0"/>
          <a:chExt cx="0" cy="0"/>
        </a:xfrm>
      </p:grpSpPr>
      <p:sp>
        <p:nvSpPr>
          <p:cNvPr id="55" name="Google Shape;55;p236"/>
          <p:cNvSpPr txBox="1">
            <a:spLocks noGrp="1"/>
          </p:cNvSpPr>
          <p:nvPr>
            <p:ph type="title"/>
          </p:nvPr>
        </p:nvSpPr>
        <p:spPr>
          <a:xfrm>
            <a:off x="609441" y="566807"/>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6"/>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36"/>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36"/>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6_Title Only">
  <p:cSld name="6_Title Only">
    <p:spTree>
      <p:nvGrpSpPr>
        <p:cNvPr id="1" name="Shape 59"/>
        <p:cNvGrpSpPr/>
        <p:nvPr/>
      </p:nvGrpSpPr>
      <p:grpSpPr>
        <a:xfrm>
          <a:off x="0" y="0"/>
          <a:ext cx="0" cy="0"/>
          <a:chOff x="0" y="0"/>
          <a:chExt cx="0" cy="0"/>
        </a:xfrm>
      </p:grpSpPr>
      <p:sp>
        <p:nvSpPr>
          <p:cNvPr id="60" name="Google Shape;60;p237"/>
          <p:cNvSpPr>
            <a:spLocks noGrp="1"/>
          </p:cNvSpPr>
          <p:nvPr>
            <p:ph type="pic" idx="2"/>
          </p:nvPr>
        </p:nvSpPr>
        <p:spPr>
          <a:xfrm>
            <a:off x="5734372" y="0"/>
            <a:ext cx="6454453" cy="3429000"/>
          </a:xfrm>
          <a:prstGeom prst="rect">
            <a:avLst/>
          </a:prstGeom>
          <a:noFill/>
          <a:ln>
            <a:noFill/>
          </a:ln>
        </p:spPr>
      </p:sp>
      <p:sp>
        <p:nvSpPr>
          <p:cNvPr id="61" name="Google Shape;61;p237"/>
          <p:cNvSpPr txBox="1">
            <a:spLocks noGrp="1"/>
          </p:cNvSpPr>
          <p:nvPr>
            <p:ph type="title"/>
          </p:nvPr>
        </p:nvSpPr>
        <p:spPr>
          <a:xfrm>
            <a:off x="1053851" y="1340768"/>
            <a:ext cx="4968547" cy="1926089"/>
          </a:xfrm>
          <a:prstGeom prst="rect">
            <a:avLst/>
          </a:prstGeom>
          <a:noFill/>
          <a:ln>
            <a:noFill/>
          </a:ln>
        </p:spPr>
        <p:txBody>
          <a:bodyPr spcFirstLastPara="1" wrap="square" lIns="0" tIns="60925" rIns="0" bIns="60925" anchor="t" anchorCtr="0">
            <a:noAutofit/>
          </a:bodyPr>
          <a:lstStyle>
            <a:lvl1pPr lvl="0" algn="l">
              <a:spcBef>
                <a:spcPts val="0"/>
              </a:spcBef>
              <a:spcAft>
                <a:spcPts val="0"/>
              </a:spcAft>
              <a:buClr>
                <a:schemeClr val="accent1"/>
              </a:buClr>
              <a:buSzPts val="4000"/>
              <a:buFont typeface="Quattrocento Sans"/>
              <a:buNone/>
              <a:defRPr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237"/>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37"/>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37"/>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238"/>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8"/>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8"/>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1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1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Image">
  <p:cSld name="Cover Image">
    <p:spTree>
      <p:nvGrpSpPr>
        <p:cNvPr id="1" name="Shape 79"/>
        <p:cNvGrpSpPr/>
        <p:nvPr/>
      </p:nvGrpSpPr>
      <p:grpSpPr>
        <a:xfrm>
          <a:off x="0" y="0"/>
          <a:ext cx="0" cy="0"/>
          <a:chOff x="0" y="0"/>
          <a:chExt cx="0" cy="0"/>
        </a:xfrm>
      </p:grpSpPr>
      <p:sp>
        <p:nvSpPr>
          <p:cNvPr id="80" name="Google Shape;80;p216"/>
          <p:cNvSpPr>
            <a:spLocks noGrp="1"/>
          </p:cNvSpPr>
          <p:nvPr>
            <p:ph type="pic" idx="2"/>
          </p:nvPr>
        </p:nvSpPr>
        <p:spPr>
          <a:xfrm>
            <a:off x="0" y="0"/>
            <a:ext cx="12188825" cy="6858000"/>
          </a:xfrm>
          <a:prstGeom prst="rect">
            <a:avLst/>
          </a:prstGeom>
          <a:noFill/>
          <a:ln>
            <a:noFill/>
          </a:ln>
        </p:spPr>
      </p:sp>
      <p:sp>
        <p:nvSpPr>
          <p:cNvPr id="81" name="Google Shape;81;p21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1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1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4"/>
        <p:cNvGrpSpPr/>
        <p:nvPr/>
      </p:nvGrpSpPr>
      <p:grpSpPr>
        <a:xfrm>
          <a:off x="0" y="0"/>
          <a:ext cx="0" cy="0"/>
          <a:chOff x="0" y="0"/>
          <a:chExt cx="0" cy="0"/>
        </a:xfrm>
      </p:grpSpPr>
      <p:sp>
        <p:nvSpPr>
          <p:cNvPr id="85" name="Google Shape;85;p217"/>
          <p:cNvSpPr txBox="1">
            <a:spLocks noGrp="1"/>
          </p:cNvSpPr>
          <p:nvPr>
            <p:ph type="title"/>
          </p:nvPr>
        </p:nvSpPr>
        <p:spPr>
          <a:xfrm>
            <a:off x="609441" y="488392"/>
            <a:ext cx="10969943" cy="711081"/>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1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1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1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grpSp>
        <p:nvGrpSpPr>
          <p:cNvPr id="90" name="Google Shape;90;p239"/>
          <p:cNvGrpSpPr/>
          <p:nvPr/>
        </p:nvGrpSpPr>
        <p:grpSpPr>
          <a:xfrm rot="10800000">
            <a:off x="9586912" y="4027941"/>
            <a:ext cx="2601913" cy="2833688"/>
            <a:chOff x="0" y="0"/>
            <a:chExt cx="2601913" cy="2833688"/>
          </a:xfrm>
        </p:grpSpPr>
        <p:sp>
          <p:nvSpPr>
            <p:cNvPr id="91" name="Google Shape;91;p239"/>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92" name="Google Shape;92;p239"/>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93" name="Google Shape;93;p239"/>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94" name="Google Shape;94;p239"/>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95" name="Google Shape;95;p239"/>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96" name="Google Shape;96;p239"/>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97" name="Google Shape;97;p239"/>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98" name="Google Shape;98;p239"/>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99" name="Google Shape;99;p239"/>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00" name="Google Shape;100;p239"/>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01" name="Google Shape;101;p239"/>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02" name="Google Shape;102;p239"/>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03" name="Google Shape;103;p239"/>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04" name="Google Shape;104;p239"/>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05" name="Google Shape;105;p239"/>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06" name="Google Shape;106;p239"/>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07" name="Google Shape;107;p239"/>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08" name="Google Shape;108;p239"/>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09" name="Google Shape;109;p239"/>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0" name="Google Shape;110;p239"/>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1" name="Google Shape;111;p239"/>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12" name="Google Shape;112;p239"/>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13" name="Google Shape;113;p239"/>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14" name="Google Shape;114;p239"/>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239"/>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16" name="Google Shape;116;p23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3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3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19" name="Google Shape;119;p239"/>
          <p:cNvGrpSpPr/>
          <p:nvPr/>
        </p:nvGrpSpPr>
        <p:grpSpPr>
          <a:xfrm>
            <a:off x="0" y="0"/>
            <a:ext cx="3445202" cy="4727575"/>
            <a:chOff x="0" y="0"/>
            <a:chExt cx="3445202" cy="4727575"/>
          </a:xfrm>
        </p:grpSpPr>
        <p:grpSp>
          <p:nvGrpSpPr>
            <p:cNvPr id="120" name="Google Shape;120;p239"/>
            <p:cNvGrpSpPr/>
            <p:nvPr/>
          </p:nvGrpSpPr>
          <p:grpSpPr>
            <a:xfrm rot="10800000">
              <a:off x="0" y="0"/>
              <a:ext cx="2913063" cy="4727575"/>
              <a:chOff x="9275762" y="2130425"/>
              <a:chExt cx="2913063" cy="4727575"/>
            </a:xfrm>
          </p:grpSpPr>
          <p:sp>
            <p:nvSpPr>
              <p:cNvPr id="121" name="Google Shape;121;p239"/>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22" name="Google Shape;122;p239"/>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23" name="Google Shape;123;p239"/>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24" name="Google Shape;124;p239"/>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25" name="Google Shape;125;p239"/>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26" name="Google Shape;126;p239"/>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27" name="Google Shape;127;p239"/>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28" name="Google Shape;128;p239"/>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29" name="Google Shape;129;p239"/>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0" name="Google Shape;130;p239"/>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1" name="Google Shape;131;p239"/>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2" name="Google Shape;132;p239"/>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3" name="Google Shape;133;p239"/>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4" name="Google Shape;134;p239"/>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239"/>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239"/>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239"/>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239"/>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239"/>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239"/>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239"/>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239"/>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239"/>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239"/>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239"/>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239"/>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239"/>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239"/>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239"/>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239"/>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239"/>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239"/>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239"/>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239"/>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5" name="Google Shape;155;p239"/>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6" name="Google Shape;156;p239"/>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7" name="Google Shape;157;p239"/>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8" name="Google Shape;158;p239"/>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9" name="Google Shape;159;p239"/>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60" name="Google Shape;160;p239"/>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161"/>
        <p:cNvGrpSpPr/>
        <p:nvPr/>
      </p:nvGrpSpPr>
      <p:grpSpPr>
        <a:xfrm>
          <a:off x="0" y="0"/>
          <a:ext cx="0" cy="0"/>
          <a:chOff x="0" y="0"/>
          <a:chExt cx="0" cy="0"/>
        </a:xfrm>
      </p:grpSpPr>
      <p:sp>
        <p:nvSpPr>
          <p:cNvPr id="162" name="Google Shape;162;p24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24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24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5" name="Google Shape;165;p240"/>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66" name="Google Shape;166;p240"/>
          <p:cNvSpPr/>
          <p:nvPr/>
        </p:nvSpPr>
        <p:spPr>
          <a:xfrm>
            <a:off x="616764" y="1532063"/>
            <a:ext cx="10947963" cy="2880320"/>
          </a:xfrm>
          <a:prstGeom prst="rect">
            <a:avLst/>
          </a:prstGeom>
          <a:solidFill>
            <a:schemeClr val="lt1">
              <a:alpha val="5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67" name="Google Shape;167;p240"/>
          <p:cNvSpPr>
            <a:spLocks noGrp="1"/>
          </p:cNvSpPr>
          <p:nvPr>
            <p:ph type="pic" idx="2"/>
          </p:nvPr>
        </p:nvSpPr>
        <p:spPr>
          <a:xfrm>
            <a:off x="1295633" y="2078160"/>
            <a:ext cx="4458409" cy="1800225"/>
          </a:xfrm>
          <a:prstGeom prst="rect">
            <a:avLst/>
          </a:prstGeom>
          <a:solidFill>
            <a:srgbClr val="D8D8D8"/>
          </a:solidFill>
          <a:ln>
            <a:noFill/>
          </a:ln>
        </p:spPr>
      </p:sp>
      <p:sp>
        <p:nvSpPr>
          <p:cNvPr id="168" name="Google Shape;168;p240"/>
          <p:cNvSpPr>
            <a:spLocks noGrp="1"/>
          </p:cNvSpPr>
          <p:nvPr>
            <p:ph type="pic" idx="3"/>
          </p:nvPr>
        </p:nvSpPr>
        <p:spPr>
          <a:xfrm>
            <a:off x="6420125" y="2078160"/>
            <a:ext cx="4458409" cy="1800225"/>
          </a:xfrm>
          <a:prstGeom prst="rect">
            <a:avLst/>
          </a:prstGeom>
          <a:solidFill>
            <a:srgbClr val="D8D8D8"/>
          </a:solidFill>
          <a:ln>
            <a:noFill/>
          </a:ln>
        </p:spPr>
      </p:sp>
      <p:sp>
        <p:nvSpPr>
          <p:cNvPr id="169" name="Google Shape;169;p240"/>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0" name="Google Shape;170;p240"/>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1" name="Google Shape;171;p240"/>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2" name="Google Shape;172;p240"/>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3" name="Google Shape;173;p240"/>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174"/>
        <p:cNvGrpSpPr/>
        <p:nvPr/>
      </p:nvGrpSpPr>
      <p:grpSpPr>
        <a:xfrm>
          <a:off x="0" y="0"/>
          <a:ext cx="0" cy="0"/>
          <a:chOff x="0" y="0"/>
          <a:chExt cx="0" cy="0"/>
        </a:xfrm>
      </p:grpSpPr>
      <p:sp>
        <p:nvSpPr>
          <p:cNvPr id="175" name="Google Shape;175;p241"/>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76" name="Google Shape;176;p24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24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24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79" name="Google Shape;179;p241"/>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0" name="Google Shape;180;p241"/>
          <p:cNvSpPr>
            <a:spLocks noGrp="1"/>
          </p:cNvSpPr>
          <p:nvPr>
            <p:ph type="pic" idx="2"/>
          </p:nvPr>
        </p:nvSpPr>
        <p:spPr>
          <a:xfrm>
            <a:off x="4364494" y="2060843"/>
            <a:ext cx="1352103" cy="1352103"/>
          </a:xfrm>
          <a:prstGeom prst="rect">
            <a:avLst/>
          </a:prstGeom>
          <a:noFill/>
          <a:ln>
            <a:noFill/>
          </a:ln>
        </p:spPr>
      </p:sp>
      <p:sp>
        <p:nvSpPr>
          <p:cNvPr id="181" name="Google Shape;181;p241"/>
          <p:cNvSpPr>
            <a:spLocks noGrp="1"/>
          </p:cNvSpPr>
          <p:nvPr>
            <p:ph type="pic" idx="3"/>
          </p:nvPr>
        </p:nvSpPr>
        <p:spPr>
          <a:xfrm>
            <a:off x="5720105" y="2060843"/>
            <a:ext cx="1352103" cy="1352103"/>
          </a:xfrm>
          <a:prstGeom prst="rect">
            <a:avLst/>
          </a:prstGeom>
          <a:noFill/>
          <a:ln>
            <a:noFill/>
          </a:ln>
        </p:spPr>
      </p:sp>
      <p:sp>
        <p:nvSpPr>
          <p:cNvPr id="182" name="Google Shape;182;p241"/>
          <p:cNvSpPr>
            <a:spLocks noGrp="1"/>
          </p:cNvSpPr>
          <p:nvPr>
            <p:ph type="pic" idx="4"/>
          </p:nvPr>
        </p:nvSpPr>
        <p:spPr>
          <a:xfrm>
            <a:off x="8819301" y="724645"/>
            <a:ext cx="1352103" cy="1352103"/>
          </a:xfrm>
          <a:prstGeom prst="rect">
            <a:avLst/>
          </a:prstGeom>
          <a:noFill/>
          <a:ln>
            <a:noFill/>
          </a:ln>
        </p:spPr>
      </p:sp>
      <p:sp>
        <p:nvSpPr>
          <p:cNvPr id="183" name="Google Shape;183;p241"/>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184"/>
        <p:cNvGrpSpPr/>
        <p:nvPr/>
      </p:nvGrpSpPr>
      <p:grpSpPr>
        <a:xfrm>
          <a:off x="0" y="0"/>
          <a:ext cx="0" cy="0"/>
          <a:chOff x="0" y="0"/>
          <a:chExt cx="0" cy="0"/>
        </a:xfrm>
      </p:grpSpPr>
      <p:sp>
        <p:nvSpPr>
          <p:cNvPr id="185" name="Google Shape;185;p24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24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242"/>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8" name="Google Shape;188;p242"/>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9" name="Google Shape;189;p242"/>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0" name="Google Shape;190;p242"/>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191"/>
        <p:cNvGrpSpPr/>
        <p:nvPr/>
      </p:nvGrpSpPr>
      <p:grpSpPr>
        <a:xfrm>
          <a:off x="0" y="0"/>
          <a:ext cx="0" cy="0"/>
          <a:chOff x="0" y="0"/>
          <a:chExt cx="0" cy="0"/>
        </a:xfrm>
      </p:grpSpPr>
      <p:sp>
        <p:nvSpPr>
          <p:cNvPr id="192" name="Google Shape;192;p24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24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243"/>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5" name="Google Shape;195;p243"/>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96" name="Google Shape;196;p243"/>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7" name="Google Shape;197;p243"/>
          <p:cNvSpPr>
            <a:spLocks noGrp="1"/>
          </p:cNvSpPr>
          <p:nvPr>
            <p:ph type="pic" idx="2"/>
          </p:nvPr>
        </p:nvSpPr>
        <p:spPr>
          <a:xfrm>
            <a:off x="609599" y="1529909"/>
            <a:ext cx="5439509" cy="4419363"/>
          </a:xfrm>
          <a:prstGeom prst="rect">
            <a:avLst/>
          </a:prstGeom>
          <a:noFill/>
          <a:ln>
            <a:noFill/>
          </a:ln>
        </p:spPr>
      </p:sp>
      <p:sp>
        <p:nvSpPr>
          <p:cNvPr id="198" name="Google Shape;198;p243"/>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199"/>
        <p:cNvGrpSpPr/>
        <p:nvPr/>
      </p:nvGrpSpPr>
      <p:grpSpPr>
        <a:xfrm>
          <a:off x="0" y="0"/>
          <a:ext cx="0" cy="0"/>
          <a:chOff x="0" y="0"/>
          <a:chExt cx="0" cy="0"/>
        </a:xfrm>
      </p:grpSpPr>
      <p:sp>
        <p:nvSpPr>
          <p:cNvPr id="200" name="Google Shape;200;p24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24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244"/>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3" name="Google Shape;203;p244"/>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4" name="Google Shape;204;p244"/>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5" name="Google Shape;205;p244"/>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06"/>
        <p:cNvGrpSpPr/>
        <p:nvPr/>
      </p:nvGrpSpPr>
      <p:grpSpPr>
        <a:xfrm>
          <a:off x="0" y="0"/>
          <a:ext cx="0" cy="0"/>
          <a:chOff x="0" y="0"/>
          <a:chExt cx="0" cy="0"/>
        </a:xfrm>
      </p:grpSpPr>
      <p:sp>
        <p:nvSpPr>
          <p:cNvPr id="207" name="Google Shape;207;p24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24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245"/>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0" name="Google Shape;210;p245"/>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1" name="Google Shape;211;p245"/>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2" name="Google Shape;212;p245"/>
          <p:cNvSpPr>
            <a:spLocks noGrp="1"/>
          </p:cNvSpPr>
          <p:nvPr>
            <p:ph type="pic" idx="2"/>
          </p:nvPr>
        </p:nvSpPr>
        <p:spPr>
          <a:xfrm>
            <a:off x="609441" y="1529909"/>
            <a:ext cx="3605855" cy="4419363"/>
          </a:xfrm>
          <a:prstGeom prst="rect">
            <a:avLst/>
          </a:prstGeom>
          <a:noFill/>
          <a:ln>
            <a:noFill/>
          </a:ln>
        </p:spPr>
      </p:sp>
      <p:sp>
        <p:nvSpPr>
          <p:cNvPr id="213" name="Google Shape;213;p245"/>
          <p:cNvSpPr>
            <a:spLocks noGrp="1"/>
          </p:cNvSpPr>
          <p:nvPr>
            <p:ph type="pic" idx="3"/>
          </p:nvPr>
        </p:nvSpPr>
        <p:spPr>
          <a:xfrm>
            <a:off x="4298073" y="1529909"/>
            <a:ext cx="3605855" cy="4419363"/>
          </a:xfrm>
          <a:prstGeom prst="rect">
            <a:avLst/>
          </a:prstGeom>
          <a:noFill/>
          <a:ln>
            <a:noFill/>
          </a:ln>
        </p:spPr>
      </p:sp>
      <p:sp>
        <p:nvSpPr>
          <p:cNvPr id="214" name="Google Shape;214;p245"/>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5"/>
        <p:cNvGrpSpPr/>
        <p:nvPr/>
      </p:nvGrpSpPr>
      <p:grpSpPr>
        <a:xfrm>
          <a:off x="0" y="0"/>
          <a:ext cx="0" cy="0"/>
          <a:chOff x="0" y="0"/>
          <a:chExt cx="0" cy="0"/>
        </a:xfrm>
      </p:grpSpPr>
      <p:sp>
        <p:nvSpPr>
          <p:cNvPr id="216" name="Google Shape;216;p246"/>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7" name="Google Shape;217;p246"/>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18" name="Google Shape;218;p246"/>
          <p:cNvGrpSpPr/>
          <p:nvPr/>
        </p:nvGrpSpPr>
        <p:grpSpPr>
          <a:xfrm>
            <a:off x="1" y="0"/>
            <a:ext cx="2601913" cy="2833688"/>
            <a:chOff x="0" y="0"/>
            <a:chExt cx="2601913" cy="2833688"/>
          </a:xfrm>
        </p:grpSpPr>
        <p:sp>
          <p:nvSpPr>
            <p:cNvPr id="219" name="Google Shape;219;p246"/>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0" name="Google Shape;220;p246"/>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1" name="Google Shape;221;p246"/>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2" name="Google Shape;222;p246"/>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3" name="Google Shape;223;p246"/>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4" name="Google Shape;224;p246"/>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5" name="Google Shape;225;p246"/>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6" name="Google Shape;226;p246"/>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7" name="Google Shape;227;p246"/>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8" name="Google Shape;228;p246"/>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9" name="Google Shape;229;p246"/>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0" name="Google Shape;230;p246"/>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1" name="Google Shape;231;p246"/>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2" name="Google Shape;232;p246"/>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3" name="Google Shape;233;p246"/>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4" name="Google Shape;234;p246"/>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5" name="Google Shape;235;p246"/>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6" name="Google Shape;236;p246"/>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7" name="Google Shape;237;p246"/>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8" name="Google Shape;238;p246"/>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9" name="Google Shape;239;p246"/>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40" name="Google Shape;240;p24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24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2" name="Google Shape;242;p24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3" name="Google Shape;243;p246"/>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4" name="Google Shape;244;p246"/>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45"/>
        <p:cNvGrpSpPr/>
        <p:nvPr/>
      </p:nvGrpSpPr>
      <p:grpSpPr>
        <a:xfrm>
          <a:off x="0" y="0"/>
          <a:ext cx="0" cy="0"/>
          <a:chOff x="0" y="0"/>
          <a:chExt cx="0" cy="0"/>
        </a:xfrm>
      </p:grpSpPr>
      <p:sp>
        <p:nvSpPr>
          <p:cNvPr id="246" name="Google Shape;246;p247"/>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7" name="Google Shape;247;p24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24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9" name="Google Shape;249;p24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0"/>
        <p:cNvGrpSpPr/>
        <p:nvPr/>
      </p:nvGrpSpPr>
      <p:grpSpPr>
        <a:xfrm>
          <a:off x="0" y="0"/>
          <a:ext cx="0" cy="0"/>
          <a:chOff x="0" y="0"/>
          <a:chExt cx="0" cy="0"/>
        </a:xfrm>
      </p:grpSpPr>
      <p:sp>
        <p:nvSpPr>
          <p:cNvPr id="251" name="Google Shape;251;p248"/>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2" name="Google Shape;252;p248"/>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3" name="Google Shape;253;p24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24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5" name="Google Shape;255;p24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6"/>
        <p:cNvGrpSpPr/>
        <p:nvPr/>
      </p:nvGrpSpPr>
      <p:grpSpPr>
        <a:xfrm>
          <a:off x="0" y="0"/>
          <a:ext cx="0" cy="0"/>
          <a:chOff x="0" y="0"/>
          <a:chExt cx="0" cy="0"/>
        </a:xfrm>
      </p:grpSpPr>
      <p:sp>
        <p:nvSpPr>
          <p:cNvPr id="257" name="Google Shape;257;p249"/>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8" name="Google Shape;258;p249"/>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259" name="Google Shape;259;p249"/>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260" name="Google Shape;260;p24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1" name="Google Shape;261;p24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2" name="Google Shape;262;p24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63"/>
        <p:cNvGrpSpPr/>
        <p:nvPr/>
      </p:nvGrpSpPr>
      <p:grpSpPr>
        <a:xfrm>
          <a:off x="0" y="0"/>
          <a:ext cx="0" cy="0"/>
          <a:chOff x="0" y="0"/>
          <a:chExt cx="0" cy="0"/>
        </a:xfrm>
      </p:grpSpPr>
      <p:sp>
        <p:nvSpPr>
          <p:cNvPr id="264" name="Google Shape;264;p25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5" name="Google Shape;265;p250"/>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266" name="Google Shape;266;p250"/>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267" name="Google Shape;267;p250"/>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268" name="Google Shape;268;p250"/>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269" name="Google Shape;269;p25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0" name="Google Shape;270;p25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1" name="Google Shape;271;p25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72"/>
        <p:cNvGrpSpPr/>
        <p:nvPr/>
      </p:nvGrpSpPr>
      <p:grpSpPr>
        <a:xfrm>
          <a:off x="0" y="0"/>
          <a:ext cx="0" cy="0"/>
          <a:chOff x="0" y="0"/>
          <a:chExt cx="0" cy="0"/>
        </a:xfrm>
      </p:grpSpPr>
      <p:sp>
        <p:nvSpPr>
          <p:cNvPr id="273" name="Google Shape;273;p251"/>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251"/>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275" name="Google Shape;275;p251"/>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276" name="Google Shape;276;p25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7" name="Google Shape;277;p25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8" name="Google Shape;278;p25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79"/>
        <p:cNvGrpSpPr/>
        <p:nvPr/>
      </p:nvGrpSpPr>
      <p:grpSpPr>
        <a:xfrm>
          <a:off x="0" y="0"/>
          <a:ext cx="0" cy="0"/>
          <a:chOff x="0" y="0"/>
          <a:chExt cx="0" cy="0"/>
        </a:xfrm>
      </p:grpSpPr>
      <p:sp>
        <p:nvSpPr>
          <p:cNvPr id="280" name="Google Shape;280;p252"/>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1" name="Google Shape;281;p252"/>
          <p:cNvSpPr>
            <a:spLocks noGrp="1"/>
          </p:cNvSpPr>
          <p:nvPr>
            <p:ph type="pic" idx="2"/>
          </p:nvPr>
        </p:nvSpPr>
        <p:spPr>
          <a:xfrm>
            <a:off x="2389095" y="612775"/>
            <a:ext cx="7313295" cy="4114800"/>
          </a:xfrm>
          <a:prstGeom prst="rect">
            <a:avLst/>
          </a:prstGeom>
          <a:noFill/>
          <a:ln>
            <a:noFill/>
          </a:ln>
        </p:spPr>
      </p:sp>
      <p:sp>
        <p:nvSpPr>
          <p:cNvPr id="282" name="Google Shape;282;p252"/>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283" name="Google Shape;283;p25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25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25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86"/>
        <p:cNvGrpSpPr/>
        <p:nvPr/>
      </p:nvGrpSpPr>
      <p:grpSpPr>
        <a:xfrm>
          <a:off x="0" y="0"/>
          <a:ext cx="0" cy="0"/>
          <a:chOff x="0" y="0"/>
          <a:chExt cx="0" cy="0"/>
        </a:xfrm>
      </p:grpSpPr>
      <p:sp>
        <p:nvSpPr>
          <p:cNvPr id="287" name="Google Shape;287;p2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253"/>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9" name="Google Shape;289;p2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0" name="Google Shape;290;p2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2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92"/>
        <p:cNvGrpSpPr/>
        <p:nvPr/>
      </p:nvGrpSpPr>
      <p:grpSpPr>
        <a:xfrm>
          <a:off x="0" y="0"/>
          <a:ext cx="0" cy="0"/>
          <a:chOff x="0" y="0"/>
          <a:chExt cx="0" cy="0"/>
        </a:xfrm>
      </p:grpSpPr>
      <p:sp>
        <p:nvSpPr>
          <p:cNvPr id="293" name="Google Shape;293;p254"/>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4" name="Google Shape;294;p254"/>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5" name="Google Shape;295;p25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6" name="Google Shape;296;p25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25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298"/>
        <p:cNvGrpSpPr/>
        <p:nvPr/>
      </p:nvGrpSpPr>
      <p:grpSpPr>
        <a:xfrm>
          <a:off x="0" y="0"/>
          <a:ext cx="0" cy="0"/>
          <a:chOff x="0" y="0"/>
          <a:chExt cx="0" cy="0"/>
        </a:xfrm>
      </p:grpSpPr>
      <p:sp>
        <p:nvSpPr>
          <p:cNvPr id="299" name="Google Shape;299;p255"/>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00" name="Google Shape;300;p255"/>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01" name="Google Shape;301;p255"/>
          <p:cNvGrpSpPr/>
          <p:nvPr/>
        </p:nvGrpSpPr>
        <p:grpSpPr>
          <a:xfrm>
            <a:off x="531756" y="6037713"/>
            <a:ext cx="495031" cy="493336"/>
            <a:chOff x="5489575" y="1343025"/>
            <a:chExt cx="1724025" cy="1717676"/>
          </a:xfrm>
        </p:grpSpPr>
        <p:sp>
          <p:nvSpPr>
            <p:cNvPr id="302" name="Google Shape;302;p255"/>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03" name="Google Shape;303;p255"/>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04" name="Google Shape;304;p255"/>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05" name="Google Shape;305;p255"/>
          <p:cNvSpPr>
            <a:spLocks noGrp="1"/>
          </p:cNvSpPr>
          <p:nvPr>
            <p:ph type="pic" idx="2"/>
          </p:nvPr>
        </p:nvSpPr>
        <p:spPr>
          <a:xfrm>
            <a:off x="4148224" y="1443883"/>
            <a:ext cx="1398803" cy="1564773"/>
          </a:xfrm>
          <a:prstGeom prst="rect">
            <a:avLst/>
          </a:prstGeom>
          <a:noFill/>
          <a:ln>
            <a:noFill/>
          </a:ln>
        </p:spPr>
      </p:sp>
      <p:sp>
        <p:nvSpPr>
          <p:cNvPr id="306" name="Google Shape;306;p255"/>
          <p:cNvSpPr>
            <a:spLocks noGrp="1"/>
          </p:cNvSpPr>
          <p:nvPr>
            <p:ph type="pic" idx="3"/>
          </p:nvPr>
        </p:nvSpPr>
        <p:spPr>
          <a:xfrm>
            <a:off x="941890" y="3346175"/>
            <a:ext cx="752211" cy="841303"/>
          </a:xfrm>
          <a:prstGeom prst="rect">
            <a:avLst/>
          </a:prstGeom>
          <a:noFill/>
          <a:ln>
            <a:noFill/>
          </a:ln>
        </p:spPr>
      </p:sp>
      <p:sp>
        <p:nvSpPr>
          <p:cNvPr id="307" name="Google Shape;307;p255"/>
          <p:cNvSpPr>
            <a:spLocks noGrp="1"/>
          </p:cNvSpPr>
          <p:nvPr>
            <p:ph type="pic" idx="4"/>
          </p:nvPr>
        </p:nvSpPr>
        <p:spPr>
          <a:xfrm>
            <a:off x="2116623" y="2548677"/>
            <a:ext cx="2843864" cy="3181350"/>
          </a:xfrm>
          <a:prstGeom prst="rect">
            <a:avLst/>
          </a:prstGeom>
          <a:noFill/>
          <a:ln>
            <a:noFill/>
          </a:ln>
        </p:spPr>
      </p:sp>
      <p:grpSp>
        <p:nvGrpSpPr>
          <p:cNvPr id="308" name="Google Shape;308;p255"/>
          <p:cNvGrpSpPr/>
          <p:nvPr/>
        </p:nvGrpSpPr>
        <p:grpSpPr>
          <a:xfrm>
            <a:off x="0" y="6658753"/>
            <a:ext cx="12188825" cy="208124"/>
            <a:chOff x="0" y="6606540"/>
            <a:chExt cx="11430000" cy="251459"/>
          </a:xfrm>
        </p:grpSpPr>
        <p:sp>
          <p:nvSpPr>
            <p:cNvPr id="309" name="Google Shape;309;p255"/>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10" name="Google Shape;310;p255"/>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11" name="Google Shape;311;p255"/>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12" name="Google Shape;312;p255"/>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13" name="Google Shape;313;p255"/>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14"/>
        <p:cNvGrpSpPr/>
        <p:nvPr/>
      </p:nvGrpSpPr>
      <p:grpSpPr>
        <a:xfrm>
          <a:off x="0" y="0"/>
          <a:ext cx="0" cy="0"/>
          <a:chOff x="0" y="0"/>
          <a:chExt cx="0" cy="0"/>
        </a:xfrm>
      </p:grpSpPr>
      <p:sp>
        <p:nvSpPr>
          <p:cNvPr id="315" name="Google Shape;315;p256"/>
          <p:cNvSpPr/>
          <p:nvPr/>
        </p:nvSpPr>
        <p:spPr>
          <a:xfrm>
            <a:off x="262293" y="-15766"/>
            <a:ext cx="6065243" cy="6890306"/>
          </a:xfrm>
          <a:custGeom>
            <a:avLst/>
            <a:gdLst/>
            <a:ahLst/>
            <a:cxnLst/>
            <a:rect l="l" t="t" r="r" b="b"/>
            <a:pathLst>
              <a:path w="6065243" h="6890306" extrusionOk="0">
                <a:moveTo>
                  <a:pt x="2805601" y="0"/>
                </a:moveTo>
                <a:lnTo>
                  <a:pt x="6065243" y="0"/>
                </a:lnTo>
                <a:lnTo>
                  <a:pt x="3259642" y="6890306"/>
                </a:lnTo>
                <a:lnTo>
                  <a:pt x="0" y="6890306"/>
                </a:lnTo>
                <a:lnTo>
                  <a:pt x="2805601" y="0"/>
                </a:lnTo>
                <a:close/>
              </a:path>
            </a:pathLst>
          </a:custGeom>
          <a:solidFill>
            <a:srgbClr val="F2F2F2">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16" name="Google Shape;316;p256"/>
          <p:cNvSpPr/>
          <p:nvPr/>
        </p:nvSpPr>
        <p:spPr>
          <a:xfrm>
            <a:off x="11244627" y="4641750"/>
            <a:ext cx="944199" cy="2225205"/>
          </a:xfrm>
          <a:custGeom>
            <a:avLst/>
            <a:gdLst/>
            <a:ahLst/>
            <a:cxnLst/>
            <a:rect l="l" t="t" r="r" b="b"/>
            <a:pathLst>
              <a:path w="944199" h="2225205" extrusionOk="0">
                <a:moveTo>
                  <a:pt x="944199" y="0"/>
                </a:moveTo>
                <a:lnTo>
                  <a:pt x="944199" y="2225205"/>
                </a:lnTo>
                <a:lnTo>
                  <a:pt x="0" y="2225205"/>
                </a:lnTo>
                <a:lnTo>
                  <a:pt x="944199"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17" name="Google Shape;317;p256"/>
          <p:cNvSpPr txBox="1">
            <a:spLocks noGrp="1"/>
          </p:cNvSpPr>
          <p:nvPr>
            <p:ph type="title"/>
          </p:nvPr>
        </p:nvSpPr>
        <p:spPr>
          <a:xfrm>
            <a:off x="6096000" y="1124744"/>
            <a:ext cx="4318892" cy="1296144"/>
          </a:xfrm>
          <a:prstGeom prst="rect">
            <a:avLst/>
          </a:prstGeom>
          <a:noFill/>
          <a:ln>
            <a:noFill/>
          </a:ln>
        </p:spPr>
        <p:txBody>
          <a:bodyPr spcFirstLastPara="1" wrap="square" lIns="121875" tIns="60925" rIns="121875" bIns="60925" anchor="b" anchorCtr="0">
            <a:noAutofit/>
          </a:bodyPr>
          <a:lstStyle>
            <a:lvl1pPr lvl="0" algn="l">
              <a:spcBef>
                <a:spcPts val="0"/>
              </a:spcBef>
              <a:spcAft>
                <a:spcPts val="0"/>
              </a:spcAft>
              <a:buClr>
                <a:schemeClr val="accent2"/>
              </a:buClr>
              <a:buSzPts val="4000"/>
              <a:buFont typeface="Calibri"/>
              <a:buNone/>
              <a:defRPr sz="4000" b="1">
                <a:solidFill>
                  <a:schemeClr val="accent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8" name="Google Shape;318;p256"/>
          <p:cNvSpPr/>
          <p:nvPr/>
        </p:nvSpPr>
        <p:spPr>
          <a:xfrm>
            <a:off x="11047863" y="6231003"/>
            <a:ext cx="934541" cy="398360"/>
          </a:xfrm>
          <a:prstGeom prst="parallelogram">
            <a:avLst>
              <a:gd name="adj" fmla="val 40341"/>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19" name="Google Shape;319;p256"/>
          <p:cNvSpPr txBox="1">
            <a:spLocks noGrp="1"/>
          </p:cNvSpPr>
          <p:nvPr>
            <p:ph type="ftr" idx="11"/>
          </p:nvPr>
        </p:nvSpPr>
        <p:spPr>
          <a:xfrm>
            <a:off x="8110636" y="6233120"/>
            <a:ext cx="2677919" cy="365125"/>
          </a:xfrm>
          <a:prstGeom prst="rect">
            <a:avLst/>
          </a:prstGeom>
          <a:noFill/>
          <a:ln>
            <a:noFill/>
          </a:ln>
        </p:spPr>
        <p:txBody>
          <a:bodyPr spcFirstLastPara="1" wrap="square" lIns="121875" tIns="60925" rIns="121875" bIns="609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0" name="Google Shape;320;p256"/>
          <p:cNvSpPr txBox="1">
            <a:spLocks noGrp="1"/>
          </p:cNvSpPr>
          <p:nvPr>
            <p:ph type="sldNum" idx="12"/>
          </p:nvPr>
        </p:nvSpPr>
        <p:spPr>
          <a:xfrm>
            <a:off x="11259404" y="6245529"/>
            <a:ext cx="506804" cy="369310"/>
          </a:xfrm>
          <a:prstGeom prst="rect">
            <a:avLst/>
          </a:prstGeom>
          <a:noFill/>
          <a:ln>
            <a:noFill/>
          </a:ln>
        </p:spPr>
        <p:txBody>
          <a:bodyPr spcFirstLastPara="1" wrap="square" lIns="121875" tIns="0" rIns="121875" bIns="0" anchor="ctr" anchorCtr="0">
            <a:noAutofit/>
          </a:bodyPr>
          <a:lstStyle>
            <a:lvl1pPr marL="0" lvl="0" indent="0" algn="ctr">
              <a:spcBef>
                <a:spcPts val="0"/>
              </a:spcBef>
              <a:buNone/>
              <a:defRPr sz="2000" b="1">
                <a:solidFill>
                  <a:schemeClr val="lt1"/>
                </a:solidFill>
                <a:latin typeface="Calibri"/>
                <a:ea typeface="Calibri"/>
                <a:cs typeface="Calibri"/>
                <a:sym typeface="Calibri"/>
              </a:defRPr>
            </a:lvl1pPr>
            <a:lvl2pPr marL="0" lvl="1" indent="0" algn="ctr">
              <a:spcBef>
                <a:spcPts val="0"/>
              </a:spcBef>
              <a:buNone/>
              <a:defRPr sz="2000" b="1">
                <a:solidFill>
                  <a:schemeClr val="lt1"/>
                </a:solidFill>
                <a:latin typeface="Calibri"/>
                <a:ea typeface="Calibri"/>
                <a:cs typeface="Calibri"/>
                <a:sym typeface="Calibri"/>
              </a:defRPr>
            </a:lvl2pPr>
            <a:lvl3pPr marL="0" lvl="2" indent="0" algn="ctr">
              <a:spcBef>
                <a:spcPts val="0"/>
              </a:spcBef>
              <a:buNone/>
              <a:defRPr sz="2000" b="1">
                <a:solidFill>
                  <a:schemeClr val="lt1"/>
                </a:solidFill>
                <a:latin typeface="Calibri"/>
                <a:ea typeface="Calibri"/>
                <a:cs typeface="Calibri"/>
                <a:sym typeface="Calibri"/>
              </a:defRPr>
            </a:lvl3pPr>
            <a:lvl4pPr marL="0" lvl="3" indent="0" algn="ctr">
              <a:spcBef>
                <a:spcPts val="0"/>
              </a:spcBef>
              <a:buNone/>
              <a:defRPr sz="2000" b="1">
                <a:solidFill>
                  <a:schemeClr val="lt1"/>
                </a:solidFill>
                <a:latin typeface="Calibri"/>
                <a:ea typeface="Calibri"/>
                <a:cs typeface="Calibri"/>
                <a:sym typeface="Calibri"/>
              </a:defRPr>
            </a:lvl4pPr>
            <a:lvl5pPr marL="0" lvl="4" indent="0" algn="ctr">
              <a:spcBef>
                <a:spcPts val="0"/>
              </a:spcBef>
              <a:buNone/>
              <a:defRPr sz="2000" b="1">
                <a:solidFill>
                  <a:schemeClr val="lt1"/>
                </a:solidFill>
                <a:latin typeface="Calibri"/>
                <a:ea typeface="Calibri"/>
                <a:cs typeface="Calibri"/>
                <a:sym typeface="Calibri"/>
              </a:defRPr>
            </a:lvl5pPr>
            <a:lvl6pPr marL="0" lvl="5" indent="0" algn="ctr">
              <a:spcBef>
                <a:spcPts val="0"/>
              </a:spcBef>
              <a:buNone/>
              <a:defRPr sz="2000" b="1">
                <a:solidFill>
                  <a:schemeClr val="lt1"/>
                </a:solidFill>
                <a:latin typeface="Calibri"/>
                <a:ea typeface="Calibri"/>
                <a:cs typeface="Calibri"/>
                <a:sym typeface="Calibri"/>
              </a:defRPr>
            </a:lvl6pPr>
            <a:lvl7pPr marL="0" lvl="6" indent="0" algn="ctr">
              <a:spcBef>
                <a:spcPts val="0"/>
              </a:spcBef>
              <a:buNone/>
              <a:defRPr sz="2000" b="1">
                <a:solidFill>
                  <a:schemeClr val="lt1"/>
                </a:solidFill>
                <a:latin typeface="Calibri"/>
                <a:ea typeface="Calibri"/>
                <a:cs typeface="Calibri"/>
                <a:sym typeface="Calibri"/>
              </a:defRPr>
            </a:lvl7pPr>
            <a:lvl8pPr marL="0" lvl="7" indent="0" algn="ctr">
              <a:spcBef>
                <a:spcPts val="0"/>
              </a:spcBef>
              <a:buNone/>
              <a:defRPr sz="2000" b="1">
                <a:solidFill>
                  <a:schemeClr val="lt1"/>
                </a:solidFill>
                <a:latin typeface="Calibri"/>
                <a:ea typeface="Calibri"/>
                <a:cs typeface="Calibri"/>
                <a:sym typeface="Calibri"/>
              </a:defRPr>
            </a:lvl8pPr>
            <a:lvl9pPr marL="0" lvl="8" indent="0" algn="ctr">
              <a:spcBef>
                <a:spcPts val="0"/>
              </a:spcBef>
              <a:buNone/>
              <a:defRPr sz="2000" b="1">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321" name="Google Shape;321;p256"/>
          <p:cNvSpPr txBox="1">
            <a:spLocks noGrp="1"/>
          </p:cNvSpPr>
          <p:nvPr>
            <p:ph type="body" idx="1"/>
          </p:nvPr>
        </p:nvSpPr>
        <p:spPr>
          <a:xfrm>
            <a:off x="6094413" y="2529840"/>
            <a:ext cx="4329112" cy="3459480"/>
          </a:xfrm>
          <a:prstGeom prst="rect">
            <a:avLst/>
          </a:prstGeom>
          <a:noFill/>
          <a:ln>
            <a:noFill/>
          </a:ln>
        </p:spPr>
        <p:txBody>
          <a:bodyPr spcFirstLastPara="1" wrap="square" lIns="121875" tIns="60925" rIns="121875" bIns="60925" anchor="t" anchorCtr="0">
            <a:normAutofit/>
          </a:bodyPr>
          <a:lstStyle>
            <a:lvl1pPr marL="457200" lvl="0" indent="-381000" algn="l">
              <a:spcBef>
                <a:spcPts val="480"/>
              </a:spcBef>
              <a:spcAft>
                <a:spcPts val="0"/>
              </a:spcAft>
              <a:buClr>
                <a:srgbClr val="595959"/>
              </a:buClr>
              <a:buSzPts val="2400"/>
              <a:buFont typeface="Noto Sans Symbols"/>
              <a:buChar char="⮚"/>
              <a:defRPr sz="2400">
                <a:solidFill>
                  <a:srgbClr val="595959"/>
                </a:solidFill>
                <a:latin typeface="Calibri"/>
                <a:ea typeface="Calibri"/>
                <a:cs typeface="Calibri"/>
                <a:sym typeface="Calibri"/>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2" name="Google Shape;322;p256"/>
          <p:cNvSpPr>
            <a:spLocks noGrp="1"/>
          </p:cNvSpPr>
          <p:nvPr>
            <p:ph type="pic" idx="2"/>
          </p:nvPr>
        </p:nvSpPr>
        <p:spPr>
          <a:xfrm>
            <a:off x="0" y="476671"/>
            <a:ext cx="5103233" cy="5904656"/>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330"/>
        <p:cNvGrpSpPr/>
        <p:nvPr/>
      </p:nvGrpSpPr>
      <p:grpSpPr>
        <a:xfrm>
          <a:off x="0" y="0"/>
          <a:ext cx="0" cy="0"/>
          <a:chOff x="0" y="0"/>
          <a:chExt cx="0" cy="0"/>
        </a:xfrm>
      </p:grpSpPr>
      <p:sp>
        <p:nvSpPr>
          <p:cNvPr id="331" name="Google Shape;331;p273"/>
          <p:cNvSpPr txBox="1">
            <a:spLocks noGrp="1"/>
          </p:cNvSpPr>
          <p:nvPr>
            <p:ph type="body" idx="1"/>
          </p:nvPr>
        </p:nvSpPr>
        <p:spPr>
          <a:xfrm>
            <a:off x="695143" y="1619568"/>
            <a:ext cx="5399270" cy="553998"/>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1000"/>
              </a:spcBef>
              <a:spcAft>
                <a:spcPts val="0"/>
              </a:spcAft>
              <a:buClr>
                <a:schemeClr val="dk1"/>
              </a:buClr>
              <a:buSzPts val="3999"/>
              <a:buNone/>
              <a:defRPr sz="3999" b="1">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2" name="Google Shape;332;p273"/>
          <p:cNvSpPr>
            <a:spLocks noGrp="1"/>
          </p:cNvSpPr>
          <p:nvPr>
            <p:ph type="pic" idx="2"/>
          </p:nvPr>
        </p:nvSpPr>
        <p:spPr>
          <a:xfrm>
            <a:off x="8494087" y="0"/>
            <a:ext cx="3694738" cy="68580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333"/>
        <p:cNvGrpSpPr/>
        <p:nvPr/>
      </p:nvGrpSpPr>
      <p:grpSpPr>
        <a:xfrm>
          <a:off x="0" y="0"/>
          <a:ext cx="0" cy="0"/>
          <a:chOff x="0" y="0"/>
          <a:chExt cx="0" cy="0"/>
        </a:xfrm>
      </p:grpSpPr>
      <p:sp>
        <p:nvSpPr>
          <p:cNvPr id="334" name="Google Shape;334;p274"/>
          <p:cNvSpPr txBox="1">
            <a:spLocks noGrp="1"/>
          </p:cNvSpPr>
          <p:nvPr>
            <p:ph type="body" idx="1"/>
          </p:nvPr>
        </p:nvSpPr>
        <p:spPr>
          <a:xfrm>
            <a:off x="7352324" y="1276735"/>
            <a:ext cx="5399270" cy="498598"/>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1000"/>
              </a:spcBef>
              <a:spcAft>
                <a:spcPts val="0"/>
              </a:spcAft>
              <a:buClr>
                <a:schemeClr val="dk1"/>
              </a:buClr>
              <a:buSzPts val="3599"/>
              <a:buNone/>
              <a:defRPr sz="3599" b="1">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5" name="Google Shape;335;p274"/>
          <p:cNvSpPr>
            <a:spLocks noGrp="1"/>
          </p:cNvSpPr>
          <p:nvPr>
            <p:ph type="pic" idx="2"/>
          </p:nvPr>
        </p:nvSpPr>
        <p:spPr>
          <a:xfrm>
            <a:off x="7352324" y="3885680"/>
            <a:ext cx="4115200" cy="2972320"/>
          </a:xfrm>
          <a:prstGeom prst="rect">
            <a:avLst/>
          </a:prstGeom>
          <a:noFill/>
          <a:ln>
            <a:noFill/>
          </a:ln>
        </p:spPr>
      </p:sp>
      <p:sp>
        <p:nvSpPr>
          <p:cNvPr id="336" name="Google Shape;336;p274"/>
          <p:cNvSpPr>
            <a:spLocks noGrp="1"/>
          </p:cNvSpPr>
          <p:nvPr>
            <p:ph type="pic" idx="3"/>
          </p:nvPr>
        </p:nvSpPr>
        <p:spPr>
          <a:xfrm>
            <a:off x="-92573" y="1301753"/>
            <a:ext cx="3368320" cy="2081213"/>
          </a:xfrm>
          <a:prstGeom prst="rect">
            <a:avLst/>
          </a:prstGeom>
          <a:noFill/>
          <a:ln w="22225" cap="flat" cmpd="sng">
            <a:solidFill>
              <a:schemeClr val="accent1"/>
            </a:solidFill>
            <a:prstDash val="solid"/>
            <a:round/>
            <a:headEnd type="none" w="sm" len="sm"/>
            <a:tailEnd type="none" w="sm" len="sm"/>
          </a:ln>
        </p:spPr>
      </p:sp>
      <p:sp>
        <p:nvSpPr>
          <p:cNvPr id="337" name="Google Shape;337;p274"/>
          <p:cNvSpPr>
            <a:spLocks noGrp="1"/>
          </p:cNvSpPr>
          <p:nvPr>
            <p:ph type="pic" idx="4"/>
          </p:nvPr>
        </p:nvSpPr>
        <p:spPr>
          <a:xfrm>
            <a:off x="-92573" y="4108451"/>
            <a:ext cx="3368320" cy="2081213"/>
          </a:xfrm>
          <a:prstGeom prst="rect">
            <a:avLst/>
          </a:prstGeom>
          <a:noFill/>
          <a:ln w="22225" cap="flat" cmpd="sng">
            <a:solidFill>
              <a:schemeClr val="accent1"/>
            </a:solidFill>
            <a:prstDash val="solid"/>
            <a:round/>
            <a:headEnd type="none" w="sm" len="sm"/>
            <a:tailEnd type="none" w="sm" len="sm"/>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338"/>
        <p:cNvGrpSpPr/>
        <p:nvPr/>
      </p:nvGrpSpPr>
      <p:grpSpPr>
        <a:xfrm>
          <a:off x="0" y="0"/>
          <a:ext cx="0" cy="0"/>
          <a:chOff x="0" y="0"/>
          <a:chExt cx="0" cy="0"/>
        </a:xfrm>
      </p:grpSpPr>
      <p:sp>
        <p:nvSpPr>
          <p:cNvPr id="339" name="Google Shape;339;p275"/>
          <p:cNvSpPr txBox="1">
            <a:spLocks noGrp="1"/>
          </p:cNvSpPr>
          <p:nvPr>
            <p:ph type="body" idx="1"/>
          </p:nvPr>
        </p:nvSpPr>
        <p:spPr>
          <a:xfrm>
            <a:off x="695143" y="1380643"/>
            <a:ext cx="5399270" cy="553998"/>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1000"/>
              </a:spcBef>
              <a:spcAft>
                <a:spcPts val="0"/>
              </a:spcAft>
              <a:buClr>
                <a:schemeClr val="dk1"/>
              </a:buClr>
              <a:buSzPts val="3999"/>
              <a:buNone/>
              <a:defRPr sz="3999" b="1">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4_Title Slide">
  <p:cSld name="4_Title Slide">
    <p:spTree>
      <p:nvGrpSpPr>
        <p:cNvPr id="1" name="Shape 340"/>
        <p:cNvGrpSpPr/>
        <p:nvPr/>
      </p:nvGrpSpPr>
      <p:grpSpPr>
        <a:xfrm>
          <a:off x="0" y="0"/>
          <a:ext cx="0" cy="0"/>
          <a:chOff x="0" y="0"/>
          <a:chExt cx="0" cy="0"/>
        </a:xfrm>
      </p:grpSpPr>
      <p:sp>
        <p:nvSpPr>
          <p:cNvPr id="341" name="Google Shape;341;p276"/>
          <p:cNvSpPr>
            <a:spLocks noGrp="1"/>
          </p:cNvSpPr>
          <p:nvPr>
            <p:ph type="pic" idx="2"/>
          </p:nvPr>
        </p:nvSpPr>
        <p:spPr>
          <a:xfrm>
            <a:off x="1310245" y="2631581"/>
            <a:ext cx="2652897" cy="1719388"/>
          </a:xfrm>
          <a:prstGeom prst="rect">
            <a:avLst/>
          </a:prstGeom>
          <a:noFill/>
          <a:ln>
            <a:noFill/>
          </a:ln>
        </p:spPr>
      </p:sp>
      <p:sp>
        <p:nvSpPr>
          <p:cNvPr id="342" name="Google Shape;342;p276"/>
          <p:cNvSpPr txBox="1">
            <a:spLocks noGrp="1"/>
          </p:cNvSpPr>
          <p:nvPr>
            <p:ph type="body" idx="1"/>
          </p:nvPr>
        </p:nvSpPr>
        <p:spPr>
          <a:xfrm>
            <a:off x="695143" y="1380643"/>
            <a:ext cx="5399270" cy="553998"/>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1000"/>
              </a:spcBef>
              <a:spcAft>
                <a:spcPts val="0"/>
              </a:spcAft>
              <a:buClr>
                <a:schemeClr val="dk1"/>
              </a:buClr>
              <a:buSzPts val="3999"/>
              <a:buNone/>
              <a:defRPr sz="3999" b="1">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3" name="Google Shape;343;p276"/>
          <p:cNvSpPr>
            <a:spLocks noGrp="1"/>
          </p:cNvSpPr>
          <p:nvPr>
            <p:ph type="pic" idx="3"/>
          </p:nvPr>
        </p:nvSpPr>
        <p:spPr>
          <a:xfrm>
            <a:off x="4768024" y="2631581"/>
            <a:ext cx="2652897" cy="1719388"/>
          </a:xfrm>
          <a:prstGeom prst="rect">
            <a:avLst/>
          </a:prstGeom>
          <a:noFill/>
          <a:ln>
            <a:noFill/>
          </a:ln>
        </p:spPr>
      </p:sp>
      <p:sp>
        <p:nvSpPr>
          <p:cNvPr id="344" name="Google Shape;344;p276"/>
          <p:cNvSpPr>
            <a:spLocks noGrp="1"/>
          </p:cNvSpPr>
          <p:nvPr>
            <p:ph type="pic" idx="4"/>
          </p:nvPr>
        </p:nvSpPr>
        <p:spPr>
          <a:xfrm>
            <a:off x="8107960" y="2631581"/>
            <a:ext cx="2652897" cy="1719388"/>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5_Title Slide">
  <p:cSld name="5_Title Slide">
    <p:spTree>
      <p:nvGrpSpPr>
        <p:cNvPr id="1" name="Shape 345"/>
        <p:cNvGrpSpPr/>
        <p:nvPr/>
      </p:nvGrpSpPr>
      <p:grpSpPr>
        <a:xfrm>
          <a:off x="0" y="0"/>
          <a:ext cx="0" cy="0"/>
          <a:chOff x="0" y="0"/>
          <a:chExt cx="0" cy="0"/>
        </a:xfrm>
      </p:grpSpPr>
      <p:sp>
        <p:nvSpPr>
          <p:cNvPr id="346" name="Google Shape;346;p277"/>
          <p:cNvSpPr txBox="1">
            <a:spLocks noGrp="1"/>
          </p:cNvSpPr>
          <p:nvPr>
            <p:ph type="body" idx="1"/>
          </p:nvPr>
        </p:nvSpPr>
        <p:spPr>
          <a:xfrm>
            <a:off x="695143" y="984403"/>
            <a:ext cx="6333746" cy="498598"/>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1000"/>
              </a:spcBef>
              <a:spcAft>
                <a:spcPts val="0"/>
              </a:spcAft>
              <a:buClr>
                <a:schemeClr val="dk1"/>
              </a:buClr>
              <a:buSzPts val="3599"/>
              <a:buNone/>
              <a:defRPr sz="3599" b="1">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6_Title Slide">
  <p:cSld name="6_Title Slide">
    <p:spTree>
      <p:nvGrpSpPr>
        <p:cNvPr id="1" name="Shape 347"/>
        <p:cNvGrpSpPr/>
        <p:nvPr/>
      </p:nvGrpSpPr>
      <p:grpSpPr>
        <a:xfrm>
          <a:off x="0" y="0"/>
          <a:ext cx="0" cy="0"/>
          <a:chOff x="0" y="0"/>
          <a:chExt cx="0" cy="0"/>
        </a:xfrm>
      </p:grpSpPr>
      <p:sp>
        <p:nvSpPr>
          <p:cNvPr id="348" name="Google Shape;348;p278"/>
          <p:cNvSpPr txBox="1">
            <a:spLocks noGrp="1"/>
          </p:cNvSpPr>
          <p:nvPr>
            <p:ph type="body" idx="1"/>
          </p:nvPr>
        </p:nvSpPr>
        <p:spPr>
          <a:xfrm>
            <a:off x="695143" y="984403"/>
            <a:ext cx="6333746" cy="498598"/>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1000"/>
              </a:spcBef>
              <a:spcAft>
                <a:spcPts val="0"/>
              </a:spcAft>
              <a:buClr>
                <a:schemeClr val="dk1"/>
              </a:buClr>
              <a:buSzPts val="3599"/>
              <a:buNone/>
              <a:defRPr sz="3599" b="1">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9" name="Google Shape;349;p278"/>
          <p:cNvSpPr>
            <a:spLocks noGrp="1"/>
          </p:cNvSpPr>
          <p:nvPr>
            <p:ph type="pic" idx="2"/>
          </p:nvPr>
        </p:nvSpPr>
        <p:spPr>
          <a:xfrm>
            <a:off x="8212517" y="1923915"/>
            <a:ext cx="3181571" cy="2887293"/>
          </a:xfrm>
          <a:prstGeom prst="rect">
            <a:avLst/>
          </a:prstGeom>
          <a:noFill/>
          <a:ln>
            <a:noFill/>
          </a:ln>
        </p:spPr>
      </p:sp>
      <p:sp>
        <p:nvSpPr>
          <p:cNvPr id="350" name="Google Shape;350;p278"/>
          <p:cNvSpPr>
            <a:spLocks noGrp="1"/>
          </p:cNvSpPr>
          <p:nvPr>
            <p:ph type="pic" idx="3"/>
          </p:nvPr>
        </p:nvSpPr>
        <p:spPr>
          <a:xfrm>
            <a:off x="6800645" y="2650247"/>
            <a:ext cx="2657387" cy="2472732"/>
          </a:xfrm>
          <a:prstGeom prst="rect">
            <a:avLst/>
          </a:prstGeom>
          <a:noFill/>
          <a:ln>
            <a:noFill/>
          </a:ln>
        </p:spPr>
      </p:sp>
      <p:sp>
        <p:nvSpPr>
          <p:cNvPr id="351" name="Google Shape;351;p278"/>
          <p:cNvSpPr>
            <a:spLocks noGrp="1"/>
          </p:cNvSpPr>
          <p:nvPr>
            <p:ph type="pic" idx="4"/>
          </p:nvPr>
        </p:nvSpPr>
        <p:spPr>
          <a:xfrm>
            <a:off x="6957469" y="774382"/>
            <a:ext cx="1913385" cy="1736408"/>
          </a:xfrm>
          <a:prstGeom prst="rect">
            <a:avLst/>
          </a:prstGeom>
          <a:noFill/>
          <a:ln>
            <a:noFill/>
          </a:ln>
        </p:spPr>
      </p:sp>
      <p:sp>
        <p:nvSpPr>
          <p:cNvPr id="352" name="Google Shape;352;p278"/>
          <p:cNvSpPr>
            <a:spLocks noGrp="1"/>
          </p:cNvSpPr>
          <p:nvPr>
            <p:ph type="pic" idx="5"/>
          </p:nvPr>
        </p:nvSpPr>
        <p:spPr>
          <a:xfrm>
            <a:off x="8991960" y="4349909"/>
            <a:ext cx="1913385" cy="1736408"/>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353"/>
        <p:cNvGrpSpPr/>
        <p:nvPr/>
      </p:nvGrpSpPr>
      <p:grpSpPr>
        <a:xfrm>
          <a:off x="0" y="0"/>
          <a:ext cx="0" cy="0"/>
          <a:chOff x="0" y="0"/>
          <a:chExt cx="0" cy="0"/>
        </a:xfrm>
      </p:grpSpPr>
      <p:sp>
        <p:nvSpPr>
          <p:cNvPr id="354" name="Google Shape;354;p279"/>
          <p:cNvSpPr txBox="1">
            <a:spLocks noGrp="1"/>
          </p:cNvSpPr>
          <p:nvPr>
            <p:ph type="body" idx="1"/>
          </p:nvPr>
        </p:nvSpPr>
        <p:spPr>
          <a:xfrm>
            <a:off x="766250" y="4923877"/>
            <a:ext cx="6333746" cy="498598"/>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1000"/>
              </a:spcBef>
              <a:spcAft>
                <a:spcPts val="0"/>
              </a:spcAft>
              <a:buClr>
                <a:schemeClr val="dk1"/>
              </a:buClr>
              <a:buSzPts val="3599"/>
              <a:buNone/>
              <a:defRPr sz="3599" b="1">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5" name="Google Shape;355;p279"/>
          <p:cNvSpPr>
            <a:spLocks noGrp="1"/>
          </p:cNvSpPr>
          <p:nvPr>
            <p:ph type="pic" idx="2"/>
          </p:nvPr>
        </p:nvSpPr>
        <p:spPr>
          <a:xfrm>
            <a:off x="4818587" y="3757576"/>
            <a:ext cx="4241155" cy="2659098"/>
          </a:xfrm>
          <a:prstGeom prst="roundRect">
            <a:avLst>
              <a:gd name="adj" fmla="val 3756"/>
            </a:avLst>
          </a:prstGeom>
          <a:solidFill>
            <a:srgbClr val="D8D8D8"/>
          </a:solid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8_Title Slide">
  <p:cSld name="8_Title Slide">
    <p:spTree>
      <p:nvGrpSpPr>
        <p:cNvPr id="1" name="Shape 356"/>
        <p:cNvGrpSpPr/>
        <p:nvPr/>
      </p:nvGrpSpPr>
      <p:grpSpPr>
        <a:xfrm>
          <a:off x="0" y="0"/>
          <a:ext cx="0" cy="0"/>
          <a:chOff x="0" y="0"/>
          <a:chExt cx="0" cy="0"/>
        </a:xfrm>
      </p:grpSpPr>
      <p:sp>
        <p:nvSpPr>
          <p:cNvPr id="357" name="Google Shape;357;p280"/>
          <p:cNvSpPr txBox="1">
            <a:spLocks noGrp="1"/>
          </p:cNvSpPr>
          <p:nvPr>
            <p:ph type="body" idx="1"/>
          </p:nvPr>
        </p:nvSpPr>
        <p:spPr>
          <a:xfrm>
            <a:off x="695143" y="984403"/>
            <a:ext cx="6333746" cy="498598"/>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1000"/>
              </a:spcBef>
              <a:spcAft>
                <a:spcPts val="0"/>
              </a:spcAft>
              <a:buClr>
                <a:schemeClr val="dk1"/>
              </a:buClr>
              <a:buSzPts val="3599"/>
              <a:buNone/>
              <a:defRPr sz="3599" b="1">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9_Title Slide">
  <p:cSld name="9_Title Slide">
    <p:spTree>
      <p:nvGrpSpPr>
        <p:cNvPr id="1" name="Shape 358"/>
        <p:cNvGrpSpPr/>
        <p:nvPr/>
      </p:nvGrpSpPr>
      <p:grpSpPr>
        <a:xfrm>
          <a:off x="0" y="0"/>
          <a:ext cx="0" cy="0"/>
          <a:chOff x="0" y="0"/>
          <a:chExt cx="0" cy="0"/>
        </a:xfrm>
      </p:grpSpPr>
      <p:sp>
        <p:nvSpPr>
          <p:cNvPr id="359" name="Google Shape;359;p281"/>
          <p:cNvSpPr txBox="1">
            <a:spLocks noGrp="1"/>
          </p:cNvSpPr>
          <p:nvPr>
            <p:ph type="body" idx="1"/>
          </p:nvPr>
        </p:nvSpPr>
        <p:spPr>
          <a:xfrm>
            <a:off x="7452862" y="984403"/>
            <a:ext cx="6333746" cy="498598"/>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1000"/>
              </a:spcBef>
              <a:spcAft>
                <a:spcPts val="0"/>
              </a:spcAft>
              <a:buClr>
                <a:schemeClr val="dk1"/>
              </a:buClr>
              <a:buSzPts val="3599"/>
              <a:buNone/>
              <a:defRPr sz="3599" b="1">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0" name="Google Shape;360;p281"/>
          <p:cNvSpPr>
            <a:spLocks noGrp="1"/>
          </p:cNvSpPr>
          <p:nvPr>
            <p:ph type="pic" idx="2"/>
          </p:nvPr>
        </p:nvSpPr>
        <p:spPr>
          <a:xfrm>
            <a:off x="0" y="1"/>
            <a:ext cx="5879584" cy="6171795"/>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lidemodel2">
  <p:cSld name="slidemodel2">
    <p:bg>
      <p:bgPr>
        <a:solidFill>
          <a:srgbClr val="3F3F3F"/>
        </a:solidFill>
        <a:effectLst/>
      </p:bgPr>
    </p:bg>
    <p:spTree>
      <p:nvGrpSpPr>
        <p:cNvPr id="1" name="Shape 361"/>
        <p:cNvGrpSpPr/>
        <p:nvPr/>
      </p:nvGrpSpPr>
      <p:grpSpPr>
        <a:xfrm>
          <a:off x="0" y="0"/>
          <a:ext cx="0" cy="0"/>
          <a:chOff x="0" y="0"/>
          <a:chExt cx="0" cy="0"/>
        </a:xfrm>
      </p:grpSpPr>
      <p:sp>
        <p:nvSpPr>
          <p:cNvPr id="362" name="Google Shape;362;p282"/>
          <p:cNvSpPr txBox="1">
            <a:spLocks noGrp="1"/>
          </p:cNvSpPr>
          <p:nvPr>
            <p:ph type="title"/>
          </p:nvPr>
        </p:nvSpPr>
        <p:spPr>
          <a:xfrm>
            <a:off x="3217834" y="2870635"/>
            <a:ext cx="5930678" cy="711081"/>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599"/>
              <a:buFont typeface="Quattrocento Sans"/>
              <a:buNone/>
              <a:defRPr sz="3599" b="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3" name="Google Shape;363;p282"/>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4" name="Google Shape;364;p282"/>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5" name="Google Shape;365;p282"/>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372"/>
        <p:cNvGrpSpPr/>
        <p:nvPr/>
      </p:nvGrpSpPr>
      <p:grpSpPr>
        <a:xfrm>
          <a:off x="0" y="0"/>
          <a:ext cx="0" cy="0"/>
          <a:chOff x="0" y="0"/>
          <a:chExt cx="0" cy="0"/>
        </a:xfrm>
      </p:grpSpPr>
      <p:sp>
        <p:nvSpPr>
          <p:cNvPr id="373" name="Google Shape;373;p224"/>
          <p:cNvSpPr txBox="1">
            <a:spLocks noGrp="1"/>
          </p:cNvSpPr>
          <p:nvPr>
            <p:ph type="title"/>
          </p:nvPr>
        </p:nvSpPr>
        <p:spPr>
          <a:xfrm>
            <a:off x="190128" y="0"/>
            <a:ext cx="9733444"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6"/>
              </a:buClr>
              <a:buSzPts val="3600"/>
              <a:buFont typeface="Corben"/>
              <a:buNone/>
              <a:defRPr sz="3600" b="0">
                <a:solidFill>
                  <a:schemeClr val="accent6"/>
                </a:solidFill>
                <a:latin typeface="Corben"/>
                <a:ea typeface="Corben"/>
                <a:cs typeface="Corben"/>
                <a:sym typeface="Corbe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4" name="Google Shape;374;p224"/>
          <p:cNvSpPr txBox="1"/>
          <p:nvPr/>
        </p:nvSpPr>
        <p:spPr>
          <a:xfrm>
            <a:off x="8974732" y="6381328"/>
            <a:ext cx="309634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17E07D"/>
                </a:solidFill>
                <a:latin typeface="Quattrocento Sans"/>
                <a:ea typeface="Quattrocento Sans"/>
                <a:cs typeface="Quattrocento Sans"/>
                <a:sym typeface="Quattrocento Sans"/>
              </a:rPr>
              <a:t>www.anubhavtrainings.com</a:t>
            </a:r>
            <a:endParaRPr/>
          </a:p>
        </p:txBody>
      </p:sp>
      <p:pic>
        <p:nvPicPr>
          <p:cNvPr id="375" name="Google Shape;375;p224"/>
          <p:cNvPicPr preferRelativeResize="0"/>
          <p:nvPr/>
        </p:nvPicPr>
        <p:blipFill rotWithShape="1">
          <a:blip r:embed="rId2">
            <a:alphaModFix/>
          </a:blip>
          <a:srcRect/>
          <a:stretch/>
        </p:blipFill>
        <p:spPr>
          <a:xfrm>
            <a:off x="11089108" y="40947"/>
            <a:ext cx="801948" cy="792088"/>
          </a:xfrm>
          <a:prstGeom prst="rect">
            <a:avLst/>
          </a:prstGeom>
          <a:noFill/>
          <a:ln>
            <a:noFill/>
          </a:ln>
          <a:effectLst>
            <a:reflection endPos="0" dist="50800" dir="5400000" sy="-100000" algn="bl" rotWithShape="0"/>
          </a:effectLst>
        </p:spPr>
      </p:pic>
      <p:sp>
        <p:nvSpPr>
          <p:cNvPr id="376" name="Google Shape;376;p22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lvl1pPr marL="457200" lvl="0" indent="-228600" algn="l">
              <a:spcBef>
                <a:spcPts val="400"/>
              </a:spcBef>
              <a:spcAft>
                <a:spcPts val="0"/>
              </a:spcAft>
              <a:buClr>
                <a:schemeClr val="dk1"/>
              </a:buClr>
              <a:buSzPts val="2000"/>
              <a:buNone/>
              <a:defRPr sz="2000">
                <a:solidFill>
                  <a:schemeClr val="dk1"/>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7"/>
        <p:cNvGrpSpPr/>
        <p:nvPr/>
      </p:nvGrpSpPr>
      <p:grpSpPr>
        <a:xfrm>
          <a:off x="0" y="0"/>
          <a:ext cx="0" cy="0"/>
          <a:chOff x="0" y="0"/>
          <a:chExt cx="0" cy="0"/>
        </a:xfrm>
      </p:grpSpPr>
      <p:sp>
        <p:nvSpPr>
          <p:cNvPr id="378" name="Google Shape;378;p23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9" name="Google Shape;379;p23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0" name="Google Shape;380;p23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381"/>
        <p:cNvGrpSpPr/>
        <p:nvPr/>
      </p:nvGrpSpPr>
      <p:grpSpPr>
        <a:xfrm>
          <a:off x="0" y="0"/>
          <a:ext cx="0" cy="0"/>
          <a:chOff x="0" y="0"/>
          <a:chExt cx="0" cy="0"/>
        </a:xfrm>
      </p:grpSpPr>
      <p:sp>
        <p:nvSpPr>
          <p:cNvPr id="382" name="Google Shape;382;p231"/>
          <p:cNvSpPr>
            <a:spLocks noGrp="1"/>
          </p:cNvSpPr>
          <p:nvPr>
            <p:ph type="pic" idx="2"/>
          </p:nvPr>
        </p:nvSpPr>
        <p:spPr>
          <a:xfrm>
            <a:off x="1343" y="0"/>
            <a:ext cx="12186138" cy="68580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383"/>
        <p:cNvGrpSpPr/>
        <p:nvPr/>
      </p:nvGrpSpPr>
      <p:grpSpPr>
        <a:xfrm>
          <a:off x="0" y="0"/>
          <a:ext cx="0" cy="0"/>
          <a:chOff x="0" y="0"/>
          <a:chExt cx="0" cy="0"/>
        </a:xfrm>
      </p:grpSpPr>
      <p:sp>
        <p:nvSpPr>
          <p:cNvPr id="384" name="Google Shape;384;p26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5" name="Google Shape;385;p26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6" name="Google Shape;386;p26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87" name="Google Shape;387;p265"/>
          <p:cNvSpPr txBox="1">
            <a:spLocks noGrp="1"/>
          </p:cNvSpPr>
          <p:nvPr>
            <p:ph type="ctrTitle"/>
          </p:nvPr>
        </p:nvSpPr>
        <p:spPr>
          <a:xfrm>
            <a:off x="765821" y="4172482"/>
            <a:ext cx="5256584" cy="1560774"/>
          </a:xfrm>
          <a:prstGeom prst="rect">
            <a:avLst/>
          </a:prstGeom>
          <a:noFill/>
          <a:ln>
            <a:noFill/>
          </a:ln>
        </p:spPr>
        <p:txBody>
          <a:bodyPr spcFirstLastPara="1" wrap="square" lIns="0" tIns="60925" rIns="0" bIns="60925" anchor="t" anchorCtr="0">
            <a:noAutofit/>
          </a:bodyPr>
          <a:lstStyle>
            <a:lvl1pPr lvl="0" algn="l">
              <a:spcBef>
                <a:spcPts val="0"/>
              </a:spcBef>
              <a:spcAft>
                <a:spcPts val="0"/>
              </a:spcAft>
              <a:buClr>
                <a:srgbClr val="0C0C0C"/>
              </a:buClr>
              <a:buSzPts val="4800"/>
              <a:buFont typeface="Quattrocento Sans"/>
              <a:buNone/>
              <a:defRPr sz="4800">
                <a:solidFill>
                  <a:srgbClr val="0C0C0C"/>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88"/>
        <p:cNvGrpSpPr/>
        <p:nvPr/>
      </p:nvGrpSpPr>
      <p:grpSpPr>
        <a:xfrm>
          <a:off x="0" y="0"/>
          <a:ext cx="0" cy="0"/>
          <a:chOff x="0" y="0"/>
          <a:chExt cx="0" cy="0"/>
        </a:xfrm>
      </p:grpSpPr>
      <p:sp>
        <p:nvSpPr>
          <p:cNvPr id="389" name="Google Shape;389;p266"/>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p266"/>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1" name="Google Shape;391;p26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2" name="Google Shape;392;p26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3" name="Google Shape;393;p26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4"/>
        <p:cNvGrpSpPr/>
        <p:nvPr/>
      </p:nvGrpSpPr>
      <p:grpSpPr>
        <a:xfrm>
          <a:off x="0" y="0"/>
          <a:ext cx="0" cy="0"/>
          <a:chOff x="0" y="0"/>
          <a:chExt cx="0" cy="0"/>
        </a:xfrm>
      </p:grpSpPr>
      <p:sp>
        <p:nvSpPr>
          <p:cNvPr id="395" name="Google Shape;395;p267"/>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Corben"/>
              <a:buNone/>
              <a:defRPr sz="3600">
                <a:latin typeface="Corben"/>
                <a:ea typeface="Corben"/>
                <a:cs typeface="Corben"/>
                <a:sym typeface="Corbe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6" name="Google Shape;396;p267"/>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7" name="Google Shape;397;p267"/>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8" name="Google Shape;398;p267"/>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99"/>
        <p:cNvGrpSpPr/>
        <p:nvPr/>
      </p:nvGrpSpPr>
      <p:grpSpPr>
        <a:xfrm>
          <a:off x="0" y="0"/>
          <a:ext cx="0" cy="0"/>
          <a:chOff x="0" y="0"/>
          <a:chExt cx="0" cy="0"/>
        </a:xfrm>
      </p:grpSpPr>
      <p:sp>
        <p:nvSpPr>
          <p:cNvPr id="400" name="Google Shape;400;p268"/>
          <p:cNvSpPr>
            <a:spLocks noGrp="1"/>
          </p:cNvSpPr>
          <p:nvPr>
            <p:ph type="pic" idx="2"/>
          </p:nvPr>
        </p:nvSpPr>
        <p:spPr>
          <a:xfrm>
            <a:off x="1583825" y="1922288"/>
            <a:ext cx="3303993" cy="3304854"/>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01"/>
        <p:cNvGrpSpPr/>
        <p:nvPr/>
      </p:nvGrpSpPr>
      <p:grpSpPr>
        <a:xfrm>
          <a:off x="0" y="0"/>
          <a:ext cx="0" cy="0"/>
          <a:chOff x="0" y="0"/>
          <a:chExt cx="0" cy="0"/>
        </a:xfrm>
      </p:grpSpPr>
      <p:sp>
        <p:nvSpPr>
          <p:cNvPr id="402" name="Google Shape;402;p269"/>
          <p:cNvSpPr>
            <a:spLocks noGrp="1"/>
          </p:cNvSpPr>
          <p:nvPr>
            <p:ph type="pic" idx="2"/>
          </p:nvPr>
        </p:nvSpPr>
        <p:spPr>
          <a:xfrm>
            <a:off x="6334518" y="1721219"/>
            <a:ext cx="3706027" cy="3706992"/>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403"/>
        <p:cNvGrpSpPr/>
        <p:nvPr/>
      </p:nvGrpSpPr>
      <p:grpSpPr>
        <a:xfrm>
          <a:off x="0" y="0"/>
          <a:ext cx="0" cy="0"/>
          <a:chOff x="0" y="0"/>
          <a:chExt cx="0" cy="0"/>
        </a:xfrm>
      </p:grpSpPr>
      <p:sp>
        <p:nvSpPr>
          <p:cNvPr id="404" name="Google Shape;404;p270"/>
          <p:cNvSpPr>
            <a:spLocks noGrp="1"/>
          </p:cNvSpPr>
          <p:nvPr>
            <p:ph type="pic" idx="2"/>
          </p:nvPr>
        </p:nvSpPr>
        <p:spPr>
          <a:xfrm>
            <a:off x="7803737" y="1748799"/>
            <a:ext cx="3247160" cy="3248006"/>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405"/>
        <p:cNvGrpSpPr/>
        <p:nvPr/>
      </p:nvGrpSpPr>
      <p:grpSpPr>
        <a:xfrm>
          <a:off x="0" y="0"/>
          <a:ext cx="0" cy="0"/>
          <a:chOff x="0" y="0"/>
          <a:chExt cx="0" cy="0"/>
        </a:xfrm>
      </p:grpSpPr>
      <p:sp>
        <p:nvSpPr>
          <p:cNvPr id="406" name="Google Shape;406;p271"/>
          <p:cNvSpPr>
            <a:spLocks noGrp="1"/>
          </p:cNvSpPr>
          <p:nvPr>
            <p:ph type="pic" idx="2"/>
          </p:nvPr>
        </p:nvSpPr>
        <p:spPr>
          <a:xfrm>
            <a:off x="7027592" y="3020745"/>
            <a:ext cx="4715880" cy="2944148"/>
          </a:xfrm>
          <a:prstGeom prst="rect">
            <a:avLst/>
          </a:prstGeom>
          <a:solidFill>
            <a:schemeClr val="lt1"/>
          </a:solid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07"/>
        <p:cNvGrpSpPr/>
        <p:nvPr/>
      </p:nvGrpSpPr>
      <p:grpSpPr>
        <a:xfrm>
          <a:off x="0" y="0"/>
          <a:ext cx="0" cy="0"/>
          <a:chOff x="0" y="0"/>
          <a:chExt cx="0" cy="0"/>
        </a:xfrm>
      </p:grpSpPr>
      <p:sp>
        <p:nvSpPr>
          <p:cNvPr id="408" name="Google Shape;408;p272"/>
          <p:cNvSpPr>
            <a:spLocks noGrp="1"/>
          </p:cNvSpPr>
          <p:nvPr>
            <p:ph type="pic" idx="2"/>
          </p:nvPr>
        </p:nvSpPr>
        <p:spPr>
          <a:xfrm>
            <a:off x="8794487" y="-644779"/>
            <a:ext cx="4505509" cy="4506683"/>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5"/>
        <p:cNvGrpSpPr/>
        <p:nvPr/>
      </p:nvGrpSpPr>
      <p:grpSpPr>
        <a:xfrm>
          <a:off x="0" y="0"/>
          <a:ext cx="0" cy="0"/>
          <a:chOff x="0" y="0"/>
          <a:chExt cx="0" cy="0"/>
        </a:xfrm>
      </p:grpSpPr>
      <p:sp>
        <p:nvSpPr>
          <p:cNvPr id="416" name="Google Shape;416;p226"/>
          <p:cNvSpPr txBox="1">
            <a:spLocks noGrp="1"/>
          </p:cNvSpPr>
          <p:nvPr>
            <p:ph type="title"/>
          </p:nvPr>
        </p:nvSpPr>
        <p:spPr>
          <a:xfrm>
            <a:off x="609442" y="274641"/>
            <a:ext cx="10969943" cy="711081"/>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Clr>
                <a:schemeClr val="dk1"/>
              </a:buClr>
              <a:buSzPts val="3599"/>
              <a:buFont typeface="Calibri"/>
              <a:buNone/>
              <a:defRPr sz="35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7" name="Google Shape;417;p226"/>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8" name="Google Shape;418;p226"/>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9" name="Google Shape;419;p226"/>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420"/>
        <p:cNvGrpSpPr/>
        <p:nvPr/>
      </p:nvGrpSpPr>
      <p:grpSpPr>
        <a:xfrm>
          <a:off x="0" y="0"/>
          <a:ext cx="0" cy="0"/>
          <a:chOff x="0" y="0"/>
          <a:chExt cx="0" cy="0"/>
        </a:xfrm>
      </p:grpSpPr>
      <p:sp>
        <p:nvSpPr>
          <p:cNvPr id="421" name="Google Shape;421;p229"/>
          <p:cNvSpPr txBox="1">
            <a:spLocks noGrp="1"/>
          </p:cNvSpPr>
          <p:nvPr>
            <p:ph type="title"/>
          </p:nvPr>
        </p:nvSpPr>
        <p:spPr>
          <a:xfrm>
            <a:off x="609441" y="76201"/>
            <a:ext cx="10969943" cy="81280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2" name="Google Shape;422;p229"/>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3" name="Google Shape;423;p229"/>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24" name="Google Shape;424;p229"/>
          <p:cNvSpPr txBox="1">
            <a:spLocks noGrp="1"/>
          </p:cNvSpPr>
          <p:nvPr>
            <p:ph type="body" idx="1"/>
          </p:nvPr>
        </p:nvSpPr>
        <p:spPr>
          <a:xfrm>
            <a:off x="609441" y="1295400"/>
            <a:ext cx="5383398" cy="4876800"/>
          </a:xfrm>
          <a:prstGeom prst="rect">
            <a:avLst/>
          </a:prstGeom>
          <a:noFill/>
          <a:ln>
            <a:noFill/>
          </a:ln>
        </p:spPr>
        <p:txBody>
          <a:bodyPr spcFirstLastPara="1" wrap="square" lIns="121875" tIns="60925" rIns="121875" bIns="60925" anchor="t" anchorCtr="0">
            <a:normAutofit/>
          </a:bodyPr>
          <a:lstStyle>
            <a:lvl1pPr marL="457200" lvl="0" indent="-228600" algn="l">
              <a:spcBef>
                <a:spcPts val="373"/>
              </a:spcBef>
              <a:spcAft>
                <a:spcPts val="0"/>
              </a:spcAft>
              <a:buClr>
                <a:schemeClr val="dk1"/>
              </a:buClr>
              <a:buSzPts val="1866"/>
              <a:buFont typeface="Arial"/>
              <a:buNone/>
              <a:defRPr sz="1866"/>
            </a:lvl1pPr>
            <a:lvl2pPr marL="914400" lvl="1" indent="-330200" algn="l">
              <a:spcBef>
                <a:spcPts val="320"/>
              </a:spcBef>
              <a:spcAft>
                <a:spcPts val="0"/>
              </a:spcAft>
              <a:buClr>
                <a:schemeClr val="dk1"/>
              </a:buClr>
              <a:buSzPts val="1600"/>
              <a:buChar char="–"/>
              <a:defRPr sz="1600"/>
            </a:lvl2pPr>
            <a:lvl3pPr marL="1371600" lvl="2" indent="-321691" algn="l">
              <a:spcBef>
                <a:spcPts val="293"/>
              </a:spcBef>
              <a:spcAft>
                <a:spcPts val="0"/>
              </a:spcAft>
              <a:buClr>
                <a:schemeClr val="dk1"/>
              </a:buClr>
              <a:buSzPts val="1466"/>
              <a:buChar char="•"/>
              <a:defRPr sz="1466"/>
            </a:lvl3pPr>
            <a:lvl4pPr marL="1828800" lvl="3" indent="-321691" algn="l">
              <a:spcBef>
                <a:spcPts val="293"/>
              </a:spcBef>
              <a:spcAft>
                <a:spcPts val="0"/>
              </a:spcAft>
              <a:buClr>
                <a:schemeClr val="dk1"/>
              </a:buClr>
              <a:buSzPts val="1466"/>
              <a:buChar char="–"/>
              <a:defRPr sz="1466"/>
            </a:lvl4pPr>
            <a:lvl5pPr marL="2286000" lvl="4" indent="-321691" algn="l">
              <a:spcBef>
                <a:spcPts val="293"/>
              </a:spcBef>
              <a:spcAft>
                <a:spcPts val="0"/>
              </a:spcAft>
              <a:buClr>
                <a:schemeClr val="dk1"/>
              </a:buClr>
              <a:buSzPts val="1466"/>
              <a:buChar char="»"/>
              <a:defRPr sz="1466"/>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25" name="Google Shape;425;p229"/>
          <p:cNvSpPr txBox="1">
            <a:spLocks noGrp="1"/>
          </p:cNvSpPr>
          <p:nvPr>
            <p:ph type="body" idx="2"/>
          </p:nvPr>
        </p:nvSpPr>
        <p:spPr>
          <a:xfrm>
            <a:off x="6195986" y="1295400"/>
            <a:ext cx="5383398" cy="4876800"/>
          </a:xfrm>
          <a:prstGeom prst="rect">
            <a:avLst/>
          </a:prstGeom>
          <a:noFill/>
          <a:ln>
            <a:noFill/>
          </a:ln>
        </p:spPr>
        <p:txBody>
          <a:bodyPr spcFirstLastPara="1" wrap="square" lIns="121875" tIns="60925" rIns="121875" bIns="60925" anchor="t" anchorCtr="0">
            <a:normAutofit/>
          </a:bodyPr>
          <a:lstStyle>
            <a:lvl1pPr marL="457200" lvl="0" indent="-228600" algn="l">
              <a:spcBef>
                <a:spcPts val="373"/>
              </a:spcBef>
              <a:spcAft>
                <a:spcPts val="0"/>
              </a:spcAft>
              <a:buClr>
                <a:schemeClr val="dk1"/>
              </a:buClr>
              <a:buSzPts val="1866"/>
              <a:buNone/>
              <a:defRPr sz="1866"/>
            </a:lvl1pPr>
            <a:lvl2pPr marL="914400" lvl="1" indent="-330200" algn="l">
              <a:spcBef>
                <a:spcPts val="320"/>
              </a:spcBef>
              <a:spcAft>
                <a:spcPts val="0"/>
              </a:spcAft>
              <a:buClr>
                <a:schemeClr val="dk1"/>
              </a:buClr>
              <a:buSzPts val="1600"/>
              <a:buChar char="–"/>
              <a:defRPr sz="1600"/>
            </a:lvl2pPr>
            <a:lvl3pPr marL="1371600" lvl="2" indent="-321691" algn="l">
              <a:spcBef>
                <a:spcPts val="293"/>
              </a:spcBef>
              <a:spcAft>
                <a:spcPts val="0"/>
              </a:spcAft>
              <a:buClr>
                <a:schemeClr val="dk1"/>
              </a:buClr>
              <a:buSzPts val="1466"/>
              <a:buChar char="•"/>
              <a:defRPr sz="1466"/>
            </a:lvl3pPr>
            <a:lvl4pPr marL="1828800" lvl="3" indent="-321691" algn="l">
              <a:spcBef>
                <a:spcPts val="293"/>
              </a:spcBef>
              <a:spcAft>
                <a:spcPts val="0"/>
              </a:spcAft>
              <a:buClr>
                <a:schemeClr val="dk1"/>
              </a:buClr>
              <a:buSzPts val="1466"/>
              <a:buChar char="–"/>
              <a:defRPr sz="1466"/>
            </a:lvl4pPr>
            <a:lvl5pPr marL="2286000" lvl="4" indent="-321691" algn="l">
              <a:spcBef>
                <a:spcPts val="293"/>
              </a:spcBef>
              <a:spcAft>
                <a:spcPts val="0"/>
              </a:spcAft>
              <a:buClr>
                <a:schemeClr val="dk1"/>
              </a:buClr>
              <a:buSzPts val="1466"/>
              <a:buChar char="»"/>
              <a:defRPr sz="1466"/>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26" name="Google Shape;426;p229" descr="A yellow circle with black letters and a black background&#10;&#10;Description automatically generated"/>
          <p:cNvPicPr preferRelativeResize="0"/>
          <p:nvPr/>
        </p:nvPicPr>
        <p:blipFill rotWithShape="1">
          <a:blip r:embed="rId2">
            <a:alphaModFix/>
          </a:blip>
          <a:srcRect/>
          <a:stretch/>
        </p:blipFill>
        <p:spPr>
          <a:xfrm>
            <a:off x="11376238" y="177800"/>
            <a:ext cx="731437" cy="722632"/>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427"/>
        <p:cNvGrpSpPr/>
        <p:nvPr/>
      </p:nvGrpSpPr>
      <p:grpSpPr>
        <a:xfrm>
          <a:off x="0" y="0"/>
          <a:ext cx="0" cy="0"/>
          <a:chOff x="0" y="0"/>
          <a:chExt cx="0" cy="0"/>
        </a:xfrm>
      </p:grpSpPr>
      <p:sp>
        <p:nvSpPr>
          <p:cNvPr id="428" name="Google Shape;428;p283"/>
          <p:cNvSpPr/>
          <p:nvPr/>
        </p:nvSpPr>
        <p:spPr>
          <a:xfrm>
            <a:off x="1" y="3886200"/>
            <a:ext cx="12188825" cy="2971800"/>
          </a:xfrm>
          <a:prstGeom prst="rect">
            <a:avLst/>
          </a:prstGeom>
          <a:gradFill>
            <a:gsLst>
              <a:gs pos="0">
                <a:srgbClr val="F2F2F2"/>
              </a:gs>
              <a:gs pos="100000">
                <a:srgbClr val="A5A5A5">
                  <a:alpha val="52941"/>
                </a:srgbClr>
              </a:gs>
            </a:gsLst>
            <a:path path="circle">
              <a:fillToRect l="50000" t="50000" r="50000" b="50000"/>
            </a:path>
            <a:tileRect/>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799">
              <a:solidFill>
                <a:srgbClr val="FFFFFF"/>
              </a:solidFill>
              <a:latin typeface="Calibri"/>
              <a:ea typeface="Calibri"/>
              <a:cs typeface="Calibri"/>
              <a:sym typeface="Calibri"/>
            </a:endParaRPr>
          </a:p>
        </p:txBody>
      </p:sp>
      <p:sp>
        <p:nvSpPr>
          <p:cNvPr id="429" name="Google Shape;429;p283"/>
          <p:cNvSpPr txBox="1">
            <a:spLocks noGrp="1"/>
          </p:cNvSpPr>
          <p:nvPr>
            <p:ph type="ctrTitle"/>
          </p:nvPr>
        </p:nvSpPr>
        <p:spPr>
          <a:xfrm>
            <a:off x="914163" y="3887117"/>
            <a:ext cx="10360501" cy="610820"/>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F3F3F"/>
              </a:buClr>
              <a:buSzPts val="3999"/>
              <a:buFont typeface="Calibri"/>
              <a:buNone/>
              <a:defRPr sz="3999">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0" name="Google Shape;430;p283"/>
          <p:cNvSpPr txBox="1">
            <a:spLocks noGrp="1"/>
          </p:cNvSpPr>
          <p:nvPr>
            <p:ph type="subTitle" idx="1"/>
          </p:nvPr>
        </p:nvSpPr>
        <p:spPr>
          <a:xfrm>
            <a:off x="1828324" y="4399020"/>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399"/>
              <a:buNone/>
              <a:defRPr sz="2399">
                <a:solidFill>
                  <a:srgbClr val="595959"/>
                </a:solidFill>
                <a:latin typeface="Calibri"/>
                <a:ea typeface="Calibri"/>
                <a:cs typeface="Calibri"/>
                <a:sym typeface="Calibri"/>
              </a:defRPr>
            </a:lvl1pPr>
            <a:lvl2pPr lvl="1" algn="ctr">
              <a:spcBef>
                <a:spcPts val="640"/>
              </a:spcBef>
              <a:spcAft>
                <a:spcPts val="0"/>
              </a:spcAft>
              <a:buClr>
                <a:srgbClr val="888888"/>
              </a:buClr>
              <a:buSzPts val="3199"/>
              <a:buNone/>
              <a:defRPr>
                <a:solidFill>
                  <a:srgbClr val="888888"/>
                </a:solidFill>
              </a:defRPr>
            </a:lvl2pPr>
            <a:lvl3pPr lvl="2" algn="ctr">
              <a:spcBef>
                <a:spcPts val="480"/>
              </a:spcBef>
              <a:spcAft>
                <a:spcPts val="0"/>
              </a:spcAft>
              <a:buClr>
                <a:srgbClr val="888888"/>
              </a:buClr>
              <a:buSzPts val="2399"/>
              <a:buNone/>
              <a:defRPr>
                <a:solidFill>
                  <a:srgbClr val="888888"/>
                </a:solidFill>
              </a:defRPr>
            </a:lvl3pPr>
            <a:lvl4pPr lvl="3" algn="ctr">
              <a:spcBef>
                <a:spcPts val="400"/>
              </a:spcBef>
              <a:spcAft>
                <a:spcPts val="0"/>
              </a:spcAft>
              <a:buClr>
                <a:srgbClr val="888888"/>
              </a:buClr>
              <a:buSzPts val="1999"/>
              <a:buNone/>
              <a:defRPr>
                <a:solidFill>
                  <a:srgbClr val="888888"/>
                </a:solidFill>
              </a:defRPr>
            </a:lvl4pPr>
            <a:lvl5pPr lvl="4" algn="ctr">
              <a:spcBef>
                <a:spcPts val="400"/>
              </a:spcBef>
              <a:spcAft>
                <a:spcPts val="0"/>
              </a:spcAft>
              <a:buClr>
                <a:srgbClr val="888888"/>
              </a:buClr>
              <a:buSzPts val="1999"/>
              <a:buNone/>
              <a:defRPr>
                <a:solidFill>
                  <a:srgbClr val="888888"/>
                </a:solidFill>
              </a:defRPr>
            </a:lvl5pPr>
            <a:lvl6pPr lvl="5" algn="ctr">
              <a:spcBef>
                <a:spcPts val="540"/>
              </a:spcBef>
              <a:spcAft>
                <a:spcPts val="0"/>
              </a:spcAft>
              <a:buClr>
                <a:srgbClr val="888888"/>
              </a:buClr>
              <a:buSzPts val="2699"/>
              <a:buNone/>
              <a:defRPr>
                <a:solidFill>
                  <a:srgbClr val="888888"/>
                </a:solidFill>
              </a:defRPr>
            </a:lvl6pPr>
            <a:lvl7pPr lvl="6" algn="ctr">
              <a:spcBef>
                <a:spcPts val="540"/>
              </a:spcBef>
              <a:spcAft>
                <a:spcPts val="0"/>
              </a:spcAft>
              <a:buClr>
                <a:srgbClr val="888888"/>
              </a:buClr>
              <a:buSzPts val="2699"/>
              <a:buNone/>
              <a:defRPr>
                <a:solidFill>
                  <a:srgbClr val="888888"/>
                </a:solidFill>
              </a:defRPr>
            </a:lvl7pPr>
            <a:lvl8pPr lvl="7" algn="ctr">
              <a:spcBef>
                <a:spcPts val="540"/>
              </a:spcBef>
              <a:spcAft>
                <a:spcPts val="0"/>
              </a:spcAft>
              <a:buClr>
                <a:srgbClr val="888888"/>
              </a:buClr>
              <a:buSzPts val="2699"/>
              <a:buNone/>
              <a:defRPr>
                <a:solidFill>
                  <a:srgbClr val="888888"/>
                </a:solidFill>
              </a:defRPr>
            </a:lvl8pPr>
            <a:lvl9pPr lvl="8" algn="ctr">
              <a:spcBef>
                <a:spcPts val="540"/>
              </a:spcBef>
              <a:spcAft>
                <a:spcPts val="0"/>
              </a:spcAft>
              <a:buClr>
                <a:srgbClr val="888888"/>
              </a:buClr>
              <a:buSzPts val="2699"/>
              <a:buNone/>
              <a:defRPr>
                <a:solidFill>
                  <a:srgbClr val="888888"/>
                </a:solidFill>
              </a:defRPr>
            </a:lvl9pPr>
          </a:lstStyle>
          <a:p>
            <a:endParaRPr/>
          </a:p>
        </p:txBody>
      </p:sp>
      <p:sp>
        <p:nvSpPr>
          <p:cNvPr id="431" name="Google Shape;431;p283"/>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2" name="Google Shape;432;p283"/>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3" name="Google Shape;433;p283"/>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34"/>
        <p:cNvGrpSpPr/>
        <p:nvPr/>
      </p:nvGrpSpPr>
      <p:grpSpPr>
        <a:xfrm>
          <a:off x="0" y="0"/>
          <a:ext cx="0" cy="0"/>
          <a:chOff x="0" y="0"/>
          <a:chExt cx="0" cy="0"/>
        </a:xfrm>
      </p:grpSpPr>
      <p:sp>
        <p:nvSpPr>
          <p:cNvPr id="435" name="Google Shape;435;p284"/>
          <p:cNvSpPr txBox="1">
            <a:spLocks noGrp="1"/>
          </p:cNvSpPr>
          <p:nvPr>
            <p:ph type="ctrTitle"/>
          </p:nvPr>
        </p:nvSpPr>
        <p:spPr>
          <a:xfrm>
            <a:off x="914163" y="2130428"/>
            <a:ext cx="10360501" cy="1470025"/>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6" name="Google Shape;436;p284"/>
          <p:cNvSpPr txBox="1">
            <a:spLocks noGrp="1"/>
          </p:cNvSpPr>
          <p:nvPr>
            <p:ph type="subTitle" idx="1"/>
          </p:nvPr>
        </p:nvSpPr>
        <p:spPr>
          <a:xfrm>
            <a:off x="1828324" y="3886200"/>
            <a:ext cx="8532178" cy="1752600"/>
          </a:xfrm>
          <a:prstGeom prst="rect">
            <a:avLst/>
          </a:prstGeom>
          <a:noFill/>
          <a:ln>
            <a:noFill/>
          </a:ln>
        </p:spPr>
        <p:txBody>
          <a:bodyPr spcFirstLastPara="1" wrap="square" lIns="121875" tIns="60925" rIns="121875" bIns="60925" anchor="t" anchorCtr="0">
            <a:normAutofit/>
          </a:bodyPr>
          <a:lstStyle>
            <a:lvl1pPr lvl="0" algn="ctr">
              <a:spcBef>
                <a:spcPts val="720"/>
              </a:spcBef>
              <a:spcAft>
                <a:spcPts val="0"/>
              </a:spcAft>
              <a:buClr>
                <a:srgbClr val="888888"/>
              </a:buClr>
              <a:buSzPts val="3599"/>
              <a:buNone/>
              <a:defRPr>
                <a:solidFill>
                  <a:srgbClr val="888888"/>
                </a:solidFill>
              </a:defRPr>
            </a:lvl1pPr>
            <a:lvl2pPr lvl="1" algn="ctr">
              <a:spcBef>
                <a:spcPts val="640"/>
              </a:spcBef>
              <a:spcAft>
                <a:spcPts val="0"/>
              </a:spcAft>
              <a:buClr>
                <a:srgbClr val="888888"/>
              </a:buClr>
              <a:buSzPts val="3199"/>
              <a:buNone/>
              <a:defRPr>
                <a:solidFill>
                  <a:srgbClr val="888888"/>
                </a:solidFill>
              </a:defRPr>
            </a:lvl2pPr>
            <a:lvl3pPr lvl="2" algn="ctr">
              <a:spcBef>
                <a:spcPts val="480"/>
              </a:spcBef>
              <a:spcAft>
                <a:spcPts val="0"/>
              </a:spcAft>
              <a:buClr>
                <a:srgbClr val="888888"/>
              </a:buClr>
              <a:buSzPts val="2399"/>
              <a:buNone/>
              <a:defRPr>
                <a:solidFill>
                  <a:srgbClr val="888888"/>
                </a:solidFill>
              </a:defRPr>
            </a:lvl3pPr>
            <a:lvl4pPr lvl="3" algn="ctr">
              <a:spcBef>
                <a:spcPts val="400"/>
              </a:spcBef>
              <a:spcAft>
                <a:spcPts val="0"/>
              </a:spcAft>
              <a:buClr>
                <a:srgbClr val="888888"/>
              </a:buClr>
              <a:buSzPts val="1999"/>
              <a:buNone/>
              <a:defRPr>
                <a:solidFill>
                  <a:srgbClr val="888888"/>
                </a:solidFill>
              </a:defRPr>
            </a:lvl4pPr>
            <a:lvl5pPr lvl="4" algn="ctr">
              <a:spcBef>
                <a:spcPts val="400"/>
              </a:spcBef>
              <a:spcAft>
                <a:spcPts val="0"/>
              </a:spcAft>
              <a:buClr>
                <a:srgbClr val="888888"/>
              </a:buClr>
              <a:buSzPts val="1999"/>
              <a:buNone/>
              <a:defRPr>
                <a:solidFill>
                  <a:srgbClr val="888888"/>
                </a:solidFill>
              </a:defRPr>
            </a:lvl5pPr>
            <a:lvl6pPr lvl="5" algn="ctr">
              <a:spcBef>
                <a:spcPts val="540"/>
              </a:spcBef>
              <a:spcAft>
                <a:spcPts val="0"/>
              </a:spcAft>
              <a:buClr>
                <a:srgbClr val="888888"/>
              </a:buClr>
              <a:buSzPts val="2699"/>
              <a:buNone/>
              <a:defRPr>
                <a:solidFill>
                  <a:srgbClr val="888888"/>
                </a:solidFill>
              </a:defRPr>
            </a:lvl6pPr>
            <a:lvl7pPr lvl="6" algn="ctr">
              <a:spcBef>
                <a:spcPts val="540"/>
              </a:spcBef>
              <a:spcAft>
                <a:spcPts val="0"/>
              </a:spcAft>
              <a:buClr>
                <a:srgbClr val="888888"/>
              </a:buClr>
              <a:buSzPts val="2699"/>
              <a:buNone/>
              <a:defRPr>
                <a:solidFill>
                  <a:srgbClr val="888888"/>
                </a:solidFill>
              </a:defRPr>
            </a:lvl7pPr>
            <a:lvl8pPr lvl="7" algn="ctr">
              <a:spcBef>
                <a:spcPts val="540"/>
              </a:spcBef>
              <a:spcAft>
                <a:spcPts val="0"/>
              </a:spcAft>
              <a:buClr>
                <a:srgbClr val="888888"/>
              </a:buClr>
              <a:buSzPts val="2699"/>
              <a:buNone/>
              <a:defRPr>
                <a:solidFill>
                  <a:srgbClr val="888888"/>
                </a:solidFill>
              </a:defRPr>
            </a:lvl8pPr>
            <a:lvl9pPr lvl="8" algn="ctr">
              <a:spcBef>
                <a:spcPts val="540"/>
              </a:spcBef>
              <a:spcAft>
                <a:spcPts val="0"/>
              </a:spcAft>
              <a:buClr>
                <a:srgbClr val="888888"/>
              </a:buClr>
              <a:buSzPts val="2699"/>
              <a:buNone/>
              <a:defRPr>
                <a:solidFill>
                  <a:srgbClr val="888888"/>
                </a:solidFill>
              </a:defRPr>
            </a:lvl9pPr>
          </a:lstStyle>
          <a:p>
            <a:endParaRPr/>
          </a:p>
        </p:txBody>
      </p:sp>
      <p:sp>
        <p:nvSpPr>
          <p:cNvPr id="437" name="Google Shape;437;p284"/>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8" name="Google Shape;438;p284"/>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9" name="Google Shape;439;p284"/>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40"/>
        <p:cNvGrpSpPr/>
        <p:nvPr/>
      </p:nvGrpSpPr>
      <p:grpSpPr>
        <a:xfrm>
          <a:off x="0" y="0"/>
          <a:ext cx="0" cy="0"/>
          <a:chOff x="0" y="0"/>
          <a:chExt cx="0" cy="0"/>
        </a:xfrm>
      </p:grpSpPr>
      <p:sp>
        <p:nvSpPr>
          <p:cNvPr id="441" name="Google Shape;441;p285"/>
          <p:cNvSpPr txBox="1">
            <a:spLocks noGrp="1"/>
          </p:cNvSpPr>
          <p:nvPr>
            <p:ph type="title"/>
          </p:nvPr>
        </p:nvSpPr>
        <p:spPr>
          <a:xfrm>
            <a:off x="609442" y="274641"/>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2" name="Google Shape;442;p285"/>
          <p:cNvSpPr txBox="1">
            <a:spLocks noGrp="1"/>
          </p:cNvSpPr>
          <p:nvPr>
            <p:ph type="body" idx="1"/>
          </p:nvPr>
        </p:nvSpPr>
        <p:spPr>
          <a:xfrm>
            <a:off x="609442" y="1138426"/>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43" name="Google Shape;443;p285"/>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4" name="Google Shape;444;p285"/>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5" name="Google Shape;445;p285"/>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6"/>
        <p:cNvGrpSpPr/>
        <p:nvPr/>
      </p:nvGrpSpPr>
      <p:grpSpPr>
        <a:xfrm>
          <a:off x="0" y="0"/>
          <a:ext cx="0" cy="0"/>
          <a:chOff x="0" y="0"/>
          <a:chExt cx="0" cy="0"/>
        </a:xfrm>
      </p:grpSpPr>
      <p:sp>
        <p:nvSpPr>
          <p:cNvPr id="447" name="Google Shape;447;p286"/>
          <p:cNvSpPr txBox="1">
            <a:spLocks noGrp="1"/>
          </p:cNvSpPr>
          <p:nvPr>
            <p:ph type="title"/>
          </p:nvPr>
        </p:nvSpPr>
        <p:spPr>
          <a:xfrm>
            <a:off x="962833" y="4406903"/>
            <a:ext cx="10360501" cy="1362075"/>
          </a:xfrm>
          <a:prstGeom prst="rect">
            <a:avLst/>
          </a:prstGeom>
          <a:noFill/>
          <a:ln>
            <a:noFill/>
          </a:ln>
        </p:spPr>
        <p:txBody>
          <a:bodyPr spcFirstLastPara="1" wrap="square" lIns="121875" tIns="60925" rIns="121875" bIns="60925" anchor="t" anchorCtr="0">
            <a:normAutofit/>
          </a:bodyPr>
          <a:lstStyle>
            <a:lvl1pPr lvl="0" algn="l">
              <a:spcBef>
                <a:spcPts val="0"/>
              </a:spcBef>
              <a:spcAft>
                <a:spcPts val="0"/>
              </a:spcAft>
              <a:buClr>
                <a:schemeClr val="dk1"/>
              </a:buClr>
              <a:buSzPts val="5298"/>
              <a:buFont typeface="Calibri"/>
              <a:buNone/>
              <a:defRPr sz="5298"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8" name="Google Shape;448;p286"/>
          <p:cNvSpPr txBox="1">
            <a:spLocks noGrp="1"/>
          </p:cNvSpPr>
          <p:nvPr>
            <p:ph type="body" idx="1"/>
          </p:nvPr>
        </p:nvSpPr>
        <p:spPr>
          <a:xfrm>
            <a:off x="962833" y="2906713"/>
            <a:ext cx="10360501" cy="1500187"/>
          </a:xfrm>
          <a:prstGeom prst="rect">
            <a:avLst/>
          </a:prstGeom>
          <a:noFill/>
          <a:ln>
            <a:noFill/>
          </a:ln>
        </p:spPr>
        <p:txBody>
          <a:bodyPr spcFirstLastPara="1" wrap="square" lIns="121875" tIns="60925" rIns="121875" bIns="60925" anchor="b" anchorCtr="0">
            <a:normAutofit/>
          </a:bodyPr>
          <a:lstStyle>
            <a:lvl1pPr marL="457200" lvl="0" indent="-228600" algn="l">
              <a:spcBef>
                <a:spcPts val="540"/>
              </a:spcBef>
              <a:spcAft>
                <a:spcPts val="0"/>
              </a:spcAft>
              <a:buClr>
                <a:srgbClr val="888888"/>
              </a:buClr>
              <a:buSzPts val="2699"/>
              <a:buNone/>
              <a:defRPr sz="2699">
                <a:solidFill>
                  <a:srgbClr val="888888"/>
                </a:solidFill>
              </a:defRPr>
            </a:lvl1pPr>
            <a:lvl2pPr marL="914400" lvl="1" indent="-228600" algn="l">
              <a:spcBef>
                <a:spcPts val="480"/>
              </a:spcBef>
              <a:spcAft>
                <a:spcPts val="0"/>
              </a:spcAft>
              <a:buClr>
                <a:srgbClr val="888888"/>
              </a:buClr>
              <a:buSzPts val="2399"/>
              <a:buNone/>
              <a:defRPr sz="2399">
                <a:solidFill>
                  <a:srgbClr val="888888"/>
                </a:solidFill>
              </a:defRPr>
            </a:lvl2pPr>
            <a:lvl3pPr marL="1371600" lvl="2" indent="-228600" algn="l">
              <a:spcBef>
                <a:spcPts val="420"/>
              </a:spcBef>
              <a:spcAft>
                <a:spcPts val="0"/>
              </a:spcAft>
              <a:buClr>
                <a:srgbClr val="888888"/>
              </a:buClr>
              <a:buSzPts val="2099"/>
              <a:buNone/>
              <a:defRPr sz="2099">
                <a:solidFill>
                  <a:srgbClr val="888888"/>
                </a:solidFill>
              </a:defRPr>
            </a:lvl3pPr>
            <a:lvl4pPr marL="1828800" lvl="3" indent="-228600" algn="l">
              <a:spcBef>
                <a:spcPts val="380"/>
              </a:spcBef>
              <a:spcAft>
                <a:spcPts val="0"/>
              </a:spcAft>
              <a:buClr>
                <a:srgbClr val="888888"/>
              </a:buClr>
              <a:buSzPts val="1899"/>
              <a:buNone/>
              <a:defRPr sz="1899">
                <a:solidFill>
                  <a:srgbClr val="888888"/>
                </a:solidFill>
              </a:defRPr>
            </a:lvl4pPr>
            <a:lvl5pPr marL="2286000" lvl="4" indent="-228600" algn="l">
              <a:spcBef>
                <a:spcPts val="380"/>
              </a:spcBef>
              <a:spcAft>
                <a:spcPts val="0"/>
              </a:spcAft>
              <a:buClr>
                <a:srgbClr val="888888"/>
              </a:buClr>
              <a:buSzPts val="1899"/>
              <a:buNone/>
              <a:defRPr sz="1899">
                <a:solidFill>
                  <a:srgbClr val="888888"/>
                </a:solidFill>
              </a:defRPr>
            </a:lvl5pPr>
            <a:lvl6pPr marL="2743200" lvl="5" indent="-228600" algn="l">
              <a:spcBef>
                <a:spcPts val="380"/>
              </a:spcBef>
              <a:spcAft>
                <a:spcPts val="0"/>
              </a:spcAft>
              <a:buClr>
                <a:srgbClr val="888888"/>
              </a:buClr>
              <a:buSzPts val="1899"/>
              <a:buNone/>
              <a:defRPr sz="1899">
                <a:solidFill>
                  <a:srgbClr val="888888"/>
                </a:solidFill>
              </a:defRPr>
            </a:lvl6pPr>
            <a:lvl7pPr marL="3200400" lvl="6" indent="-228600" algn="l">
              <a:spcBef>
                <a:spcPts val="380"/>
              </a:spcBef>
              <a:spcAft>
                <a:spcPts val="0"/>
              </a:spcAft>
              <a:buClr>
                <a:srgbClr val="888888"/>
              </a:buClr>
              <a:buSzPts val="1899"/>
              <a:buNone/>
              <a:defRPr sz="1899">
                <a:solidFill>
                  <a:srgbClr val="888888"/>
                </a:solidFill>
              </a:defRPr>
            </a:lvl7pPr>
            <a:lvl8pPr marL="3657600" lvl="7" indent="-228600" algn="l">
              <a:spcBef>
                <a:spcPts val="380"/>
              </a:spcBef>
              <a:spcAft>
                <a:spcPts val="0"/>
              </a:spcAft>
              <a:buClr>
                <a:srgbClr val="888888"/>
              </a:buClr>
              <a:buSzPts val="1899"/>
              <a:buNone/>
              <a:defRPr sz="1899">
                <a:solidFill>
                  <a:srgbClr val="888888"/>
                </a:solidFill>
              </a:defRPr>
            </a:lvl8pPr>
            <a:lvl9pPr marL="4114800" lvl="8" indent="-228600" algn="l">
              <a:spcBef>
                <a:spcPts val="380"/>
              </a:spcBef>
              <a:spcAft>
                <a:spcPts val="0"/>
              </a:spcAft>
              <a:buClr>
                <a:srgbClr val="888888"/>
              </a:buClr>
              <a:buSzPts val="1899"/>
              <a:buNone/>
              <a:defRPr sz="1899">
                <a:solidFill>
                  <a:srgbClr val="888888"/>
                </a:solidFill>
              </a:defRPr>
            </a:lvl9pPr>
          </a:lstStyle>
          <a:p>
            <a:endParaRPr/>
          </a:p>
        </p:txBody>
      </p:sp>
      <p:sp>
        <p:nvSpPr>
          <p:cNvPr id="449" name="Google Shape;449;p286"/>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0" name="Google Shape;450;p286"/>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1" name="Google Shape;451;p286"/>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2"/>
        <p:cNvGrpSpPr/>
        <p:nvPr/>
      </p:nvGrpSpPr>
      <p:grpSpPr>
        <a:xfrm>
          <a:off x="0" y="0"/>
          <a:ext cx="0" cy="0"/>
          <a:chOff x="0" y="0"/>
          <a:chExt cx="0" cy="0"/>
        </a:xfrm>
      </p:grpSpPr>
      <p:sp>
        <p:nvSpPr>
          <p:cNvPr id="453" name="Google Shape;453;p287"/>
          <p:cNvSpPr txBox="1">
            <a:spLocks noGrp="1"/>
          </p:cNvSpPr>
          <p:nvPr>
            <p:ph type="title"/>
          </p:nvPr>
        </p:nvSpPr>
        <p:spPr>
          <a:xfrm>
            <a:off x="609442" y="274641"/>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4" name="Google Shape;454;p287"/>
          <p:cNvSpPr txBox="1">
            <a:spLocks noGrp="1"/>
          </p:cNvSpPr>
          <p:nvPr>
            <p:ph type="body" idx="1"/>
          </p:nvPr>
        </p:nvSpPr>
        <p:spPr>
          <a:xfrm>
            <a:off x="609441" y="1600203"/>
            <a:ext cx="5383398" cy="4525963"/>
          </a:xfrm>
          <a:prstGeom prst="rect">
            <a:avLst/>
          </a:prstGeom>
          <a:noFill/>
          <a:ln>
            <a:noFill/>
          </a:ln>
        </p:spPr>
        <p:txBody>
          <a:bodyPr spcFirstLastPara="1" wrap="square" lIns="121875" tIns="60925" rIns="121875" bIns="60925" anchor="t" anchorCtr="0">
            <a:normAutofit/>
          </a:bodyPr>
          <a:lstStyle>
            <a:lvl1pPr marL="457200" lvl="0" indent="-463487" algn="l">
              <a:spcBef>
                <a:spcPts val="740"/>
              </a:spcBef>
              <a:spcAft>
                <a:spcPts val="0"/>
              </a:spcAft>
              <a:buClr>
                <a:schemeClr val="dk1"/>
              </a:buClr>
              <a:buSzPts val="3699"/>
              <a:buChar char="•"/>
              <a:defRPr sz="3699"/>
            </a:lvl1pPr>
            <a:lvl2pPr marL="914400" lvl="1" indent="-431737" algn="l">
              <a:spcBef>
                <a:spcPts val="640"/>
              </a:spcBef>
              <a:spcAft>
                <a:spcPts val="0"/>
              </a:spcAft>
              <a:buClr>
                <a:schemeClr val="dk1"/>
              </a:buClr>
              <a:buSzPts val="3199"/>
              <a:buChar char="–"/>
              <a:defRPr sz="3199"/>
            </a:lvl2pPr>
            <a:lvl3pPr marL="1371600" lvl="2" indent="-399987" algn="l">
              <a:spcBef>
                <a:spcPts val="540"/>
              </a:spcBef>
              <a:spcAft>
                <a:spcPts val="0"/>
              </a:spcAft>
              <a:buClr>
                <a:schemeClr val="dk1"/>
              </a:buClr>
              <a:buSzPts val="2699"/>
              <a:buChar char="•"/>
              <a:defRPr sz="2699"/>
            </a:lvl3pPr>
            <a:lvl4pPr marL="1828800" lvl="3" indent="-380937" algn="l">
              <a:spcBef>
                <a:spcPts val="480"/>
              </a:spcBef>
              <a:spcAft>
                <a:spcPts val="0"/>
              </a:spcAft>
              <a:buClr>
                <a:schemeClr val="dk1"/>
              </a:buClr>
              <a:buSzPts val="2399"/>
              <a:buChar char="–"/>
              <a:defRPr sz="2399"/>
            </a:lvl4pPr>
            <a:lvl5pPr marL="2286000" lvl="4" indent="-380936" algn="l">
              <a:spcBef>
                <a:spcPts val="480"/>
              </a:spcBef>
              <a:spcAft>
                <a:spcPts val="0"/>
              </a:spcAft>
              <a:buClr>
                <a:schemeClr val="dk1"/>
              </a:buClr>
              <a:buSzPts val="2399"/>
              <a:buChar char="»"/>
              <a:defRPr sz="2399"/>
            </a:lvl5pPr>
            <a:lvl6pPr marL="2743200" lvl="5" indent="-380936" algn="l">
              <a:spcBef>
                <a:spcPts val="480"/>
              </a:spcBef>
              <a:spcAft>
                <a:spcPts val="0"/>
              </a:spcAft>
              <a:buClr>
                <a:schemeClr val="dk1"/>
              </a:buClr>
              <a:buSzPts val="2399"/>
              <a:buChar char="•"/>
              <a:defRPr sz="2399"/>
            </a:lvl6pPr>
            <a:lvl7pPr marL="3200400" lvl="6" indent="-380936" algn="l">
              <a:spcBef>
                <a:spcPts val="480"/>
              </a:spcBef>
              <a:spcAft>
                <a:spcPts val="0"/>
              </a:spcAft>
              <a:buClr>
                <a:schemeClr val="dk1"/>
              </a:buClr>
              <a:buSzPts val="2399"/>
              <a:buChar char="•"/>
              <a:defRPr sz="2399"/>
            </a:lvl7pPr>
            <a:lvl8pPr marL="3657600" lvl="7" indent="-380936" algn="l">
              <a:spcBef>
                <a:spcPts val="480"/>
              </a:spcBef>
              <a:spcAft>
                <a:spcPts val="0"/>
              </a:spcAft>
              <a:buClr>
                <a:schemeClr val="dk1"/>
              </a:buClr>
              <a:buSzPts val="2399"/>
              <a:buChar char="•"/>
              <a:defRPr sz="2399"/>
            </a:lvl8pPr>
            <a:lvl9pPr marL="4114800" lvl="8" indent="-380936" algn="l">
              <a:spcBef>
                <a:spcPts val="480"/>
              </a:spcBef>
              <a:spcAft>
                <a:spcPts val="0"/>
              </a:spcAft>
              <a:buClr>
                <a:schemeClr val="dk1"/>
              </a:buClr>
              <a:buSzPts val="2399"/>
              <a:buChar char="•"/>
              <a:defRPr sz="2399"/>
            </a:lvl9pPr>
          </a:lstStyle>
          <a:p>
            <a:endParaRPr/>
          </a:p>
        </p:txBody>
      </p:sp>
      <p:sp>
        <p:nvSpPr>
          <p:cNvPr id="455" name="Google Shape;455;p287"/>
          <p:cNvSpPr txBox="1">
            <a:spLocks noGrp="1"/>
          </p:cNvSpPr>
          <p:nvPr>
            <p:ph type="body" idx="2"/>
          </p:nvPr>
        </p:nvSpPr>
        <p:spPr>
          <a:xfrm>
            <a:off x="6195986" y="1600203"/>
            <a:ext cx="5383398" cy="4525963"/>
          </a:xfrm>
          <a:prstGeom prst="rect">
            <a:avLst/>
          </a:prstGeom>
          <a:noFill/>
          <a:ln>
            <a:noFill/>
          </a:ln>
        </p:spPr>
        <p:txBody>
          <a:bodyPr spcFirstLastPara="1" wrap="square" lIns="121875" tIns="60925" rIns="121875" bIns="60925" anchor="t" anchorCtr="0">
            <a:normAutofit/>
          </a:bodyPr>
          <a:lstStyle>
            <a:lvl1pPr marL="457200" lvl="0" indent="-463487" algn="l">
              <a:spcBef>
                <a:spcPts val="740"/>
              </a:spcBef>
              <a:spcAft>
                <a:spcPts val="0"/>
              </a:spcAft>
              <a:buClr>
                <a:schemeClr val="dk1"/>
              </a:buClr>
              <a:buSzPts val="3699"/>
              <a:buChar char="•"/>
              <a:defRPr sz="3699"/>
            </a:lvl1pPr>
            <a:lvl2pPr marL="914400" lvl="1" indent="-431737" algn="l">
              <a:spcBef>
                <a:spcPts val="640"/>
              </a:spcBef>
              <a:spcAft>
                <a:spcPts val="0"/>
              </a:spcAft>
              <a:buClr>
                <a:schemeClr val="dk1"/>
              </a:buClr>
              <a:buSzPts val="3199"/>
              <a:buChar char="–"/>
              <a:defRPr sz="3199"/>
            </a:lvl2pPr>
            <a:lvl3pPr marL="1371600" lvl="2" indent="-399987" algn="l">
              <a:spcBef>
                <a:spcPts val="540"/>
              </a:spcBef>
              <a:spcAft>
                <a:spcPts val="0"/>
              </a:spcAft>
              <a:buClr>
                <a:schemeClr val="dk1"/>
              </a:buClr>
              <a:buSzPts val="2699"/>
              <a:buChar char="•"/>
              <a:defRPr sz="2699"/>
            </a:lvl3pPr>
            <a:lvl4pPr marL="1828800" lvl="3" indent="-380937" algn="l">
              <a:spcBef>
                <a:spcPts val="480"/>
              </a:spcBef>
              <a:spcAft>
                <a:spcPts val="0"/>
              </a:spcAft>
              <a:buClr>
                <a:schemeClr val="dk1"/>
              </a:buClr>
              <a:buSzPts val="2399"/>
              <a:buChar char="–"/>
              <a:defRPr sz="2399"/>
            </a:lvl4pPr>
            <a:lvl5pPr marL="2286000" lvl="4" indent="-380936" algn="l">
              <a:spcBef>
                <a:spcPts val="480"/>
              </a:spcBef>
              <a:spcAft>
                <a:spcPts val="0"/>
              </a:spcAft>
              <a:buClr>
                <a:schemeClr val="dk1"/>
              </a:buClr>
              <a:buSzPts val="2399"/>
              <a:buChar char="»"/>
              <a:defRPr sz="2399"/>
            </a:lvl5pPr>
            <a:lvl6pPr marL="2743200" lvl="5" indent="-380936" algn="l">
              <a:spcBef>
                <a:spcPts val="480"/>
              </a:spcBef>
              <a:spcAft>
                <a:spcPts val="0"/>
              </a:spcAft>
              <a:buClr>
                <a:schemeClr val="dk1"/>
              </a:buClr>
              <a:buSzPts val="2399"/>
              <a:buChar char="•"/>
              <a:defRPr sz="2399"/>
            </a:lvl6pPr>
            <a:lvl7pPr marL="3200400" lvl="6" indent="-380936" algn="l">
              <a:spcBef>
                <a:spcPts val="480"/>
              </a:spcBef>
              <a:spcAft>
                <a:spcPts val="0"/>
              </a:spcAft>
              <a:buClr>
                <a:schemeClr val="dk1"/>
              </a:buClr>
              <a:buSzPts val="2399"/>
              <a:buChar char="•"/>
              <a:defRPr sz="2399"/>
            </a:lvl7pPr>
            <a:lvl8pPr marL="3657600" lvl="7" indent="-380936" algn="l">
              <a:spcBef>
                <a:spcPts val="480"/>
              </a:spcBef>
              <a:spcAft>
                <a:spcPts val="0"/>
              </a:spcAft>
              <a:buClr>
                <a:schemeClr val="dk1"/>
              </a:buClr>
              <a:buSzPts val="2399"/>
              <a:buChar char="•"/>
              <a:defRPr sz="2399"/>
            </a:lvl8pPr>
            <a:lvl9pPr marL="4114800" lvl="8" indent="-380936" algn="l">
              <a:spcBef>
                <a:spcPts val="480"/>
              </a:spcBef>
              <a:spcAft>
                <a:spcPts val="0"/>
              </a:spcAft>
              <a:buClr>
                <a:schemeClr val="dk1"/>
              </a:buClr>
              <a:buSzPts val="2399"/>
              <a:buChar char="•"/>
              <a:defRPr sz="2399"/>
            </a:lvl9pPr>
          </a:lstStyle>
          <a:p>
            <a:endParaRPr/>
          </a:p>
        </p:txBody>
      </p:sp>
      <p:sp>
        <p:nvSpPr>
          <p:cNvPr id="456" name="Google Shape;456;p287"/>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7" name="Google Shape;457;p287"/>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8" name="Google Shape;458;p287"/>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9"/>
        <p:cNvGrpSpPr/>
        <p:nvPr/>
      </p:nvGrpSpPr>
      <p:grpSpPr>
        <a:xfrm>
          <a:off x="0" y="0"/>
          <a:ext cx="0" cy="0"/>
          <a:chOff x="0" y="0"/>
          <a:chExt cx="0" cy="0"/>
        </a:xfrm>
      </p:grpSpPr>
      <p:sp>
        <p:nvSpPr>
          <p:cNvPr id="460" name="Google Shape;460;p288"/>
          <p:cNvSpPr txBox="1">
            <a:spLocks noGrp="1"/>
          </p:cNvSpPr>
          <p:nvPr>
            <p:ph type="title"/>
          </p:nvPr>
        </p:nvSpPr>
        <p:spPr>
          <a:xfrm>
            <a:off x="609442" y="274641"/>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599"/>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1" name="Google Shape;461;p288"/>
          <p:cNvSpPr txBox="1">
            <a:spLocks noGrp="1"/>
          </p:cNvSpPr>
          <p:nvPr>
            <p:ph type="body" idx="1"/>
          </p:nvPr>
        </p:nvSpPr>
        <p:spPr>
          <a:xfrm>
            <a:off x="609442" y="1535115"/>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199"/>
              <a:buNone/>
              <a:defRPr sz="3199" b="1"/>
            </a:lvl1pPr>
            <a:lvl2pPr marL="914400" lvl="1" indent="-228600" algn="l">
              <a:spcBef>
                <a:spcPts val="540"/>
              </a:spcBef>
              <a:spcAft>
                <a:spcPts val="0"/>
              </a:spcAft>
              <a:buClr>
                <a:schemeClr val="dk1"/>
              </a:buClr>
              <a:buSzPts val="2699"/>
              <a:buNone/>
              <a:defRPr sz="2699" b="1"/>
            </a:lvl2pPr>
            <a:lvl3pPr marL="1371600" lvl="2" indent="-228600" algn="l">
              <a:spcBef>
                <a:spcPts val="480"/>
              </a:spcBef>
              <a:spcAft>
                <a:spcPts val="0"/>
              </a:spcAft>
              <a:buClr>
                <a:schemeClr val="dk1"/>
              </a:buClr>
              <a:buSzPts val="2399"/>
              <a:buNone/>
              <a:defRPr sz="2399" b="1"/>
            </a:lvl3pPr>
            <a:lvl4pPr marL="1828800" lvl="3" indent="-228600" algn="l">
              <a:spcBef>
                <a:spcPts val="420"/>
              </a:spcBef>
              <a:spcAft>
                <a:spcPts val="0"/>
              </a:spcAft>
              <a:buClr>
                <a:schemeClr val="dk1"/>
              </a:buClr>
              <a:buSzPts val="2099"/>
              <a:buNone/>
              <a:defRPr sz="2099" b="1"/>
            </a:lvl4pPr>
            <a:lvl5pPr marL="2286000" lvl="4" indent="-228600" algn="l">
              <a:spcBef>
                <a:spcPts val="420"/>
              </a:spcBef>
              <a:spcAft>
                <a:spcPts val="0"/>
              </a:spcAft>
              <a:buClr>
                <a:schemeClr val="dk1"/>
              </a:buClr>
              <a:buSzPts val="2099"/>
              <a:buNone/>
              <a:defRPr sz="2099" b="1"/>
            </a:lvl5pPr>
            <a:lvl6pPr marL="2743200" lvl="5" indent="-228600" algn="l">
              <a:spcBef>
                <a:spcPts val="420"/>
              </a:spcBef>
              <a:spcAft>
                <a:spcPts val="0"/>
              </a:spcAft>
              <a:buClr>
                <a:schemeClr val="dk1"/>
              </a:buClr>
              <a:buSzPts val="2099"/>
              <a:buNone/>
              <a:defRPr sz="2099" b="1"/>
            </a:lvl6pPr>
            <a:lvl7pPr marL="3200400" lvl="6" indent="-228600" algn="l">
              <a:spcBef>
                <a:spcPts val="420"/>
              </a:spcBef>
              <a:spcAft>
                <a:spcPts val="0"/>
              </a:spcAft>
              <a:buClr>
                <a:schemeClr val="dk1"/>
              </a:buClr>
              <a:buSzPts val="2099"/>
              <a:buNone/>
              <a:defRPr sz="2099" b="1"/>
            </a:lvl7pPr>
            <a:lvl8pPr marL="3657600" lvl="7" indent="-228600" algn="l">
              <a:spcBef>
                <a:spcPts val="420"/>
              </a:spcBef>
              <a:spcAft>
                <a:spcPts val="0"/>
              </a:spcAft>
              <a:buClr>
                <a:schemeClr val="dk1"/>
              </a:buClr>
              <a:buSzPts val="2099"/>
              <a:buNone/>
              <a:defRPr sz="2099" b="1"/>
            </a:lvl8pPr>
            <a:lvl9pPr marL="4114800" lvl="8" indent="-228600" algn="l">
              <a:spcBef>
                <a:spcPts val="420"/>
              </a:spcBef>
              <a:spcAft>
                <a:spcPts val="0"/>
              </a:spcAft>
              <a:buClr>
                <a:schemeClr val="dk1"/>
              </a:buClr>
              <a:buSzPts val="2099"/>
              <a:buNone/>
              <a:defRPr sz="2099" b="1"/>
            </a:lvl9pPr>
          </a:lstStyle>
          <a:p>
            <a:endParaRPr/>
          </a:p>
        </p:txBody>
      </p:sp>
      <p:sp>
        <p:nvSpPr>
          <p:cNvPr id="462" name="Google Shape;462;p288"/>
          <p:cNvSpPr txBox="1">
            <a:spLocks noGrp="1"/>
          </p:cNvSpPr>
          <p:nvPr>
            <p:ph type="body" idx="2"/>
          </p:nvPr>
        </p:nvSpPr>
        <p:spPr>
          <a:xfrm>
            <a:off x="609442" y="2174875"/>
            <a:ext cx="5385514" cy="3951288"/>
          </a:xfrm>
          <a:prstGeom prst="rect">
            <a:avLst/>
          </a:prstGeom>
          <a:noFill/>
          <a:ln>
            <a:noFill/>
          </a:ln>
        </p:spPr>
        <p:txBody>
          <a:bodyPr spcFirstLastPara="1" wrap="square" lIns="121875" tIns="60925" rIns="121875" bIns="60925" anchor="t" anchorCtr="0">
            <a:normAutofit/>
          </a:bodyPr>
          <a:lstStyle>
            <a:lvl1pPr marL="457200" lvl="0" indent="-431737" algn="l">
              <a:spcBef>
                <a:spcPts val="640"/>
              </a:spcBef>
              <a:spcAft>
                <a:spcPts val="0"/>
              </a:spcAft>
              <a:buClr>
                <a:schemeClr val="dk1"/>
              </a:buClr>
              <a:buSzPts val="3199"/>
              <a:buChar char="•"/>
              <a:defRPr sz="3199"/>
            </a:lvl1pPr>
            <a:lvl2pPr marL="914400" lvl="1" indent="-399986" algn="l">
              <a:spcBef>
                <a:spcPts val="540"/>
              </a:spcBef>
              <a:spcAft>
                <a:spcPts val="0"/>
              </a:spcAft>
              <a:buClr>
                <a:schemeClr val="dk1"/>
              </a:buClr>
              <a:buSzPts val="2699"/>
              <a:buChar char="–"/>
              <a:defRPr sz="2699"/>
            </a:lvl2pPr>
            <a:lvl3pPr marL="1371600" lvl="2" indent="-380937" algn="l">
              <a:spcBef>
                <a:spcPts val="480"/>
              </a:spcBef>
              <a:spcAft>
                <a:spcPts val="0"/>
              </a:spcAft>
              <a:buClr>
                <a:schemeClr val="dk1"/>
              </a:buClr>
              <a:buSzPts val="2399"/>
              <a:buChar char="•"/>
              <a:defRPr sz="2399"/>
            </a:lvl3pPr>
            <a:lvl4pPr marL="1828800" lvl="3" indent="-361887" algn="l">
              <a:spcBef>
                <a:spcPts val="420"/>
              </a:spcBef>
              <a:spcAft>
                <a:spcPts val="0"/>
              </a:spcAft>
              <a:buClr>
                <a:schemeClr val="dk1"/>
              </a:buClr>
              <a:buSzPts val="2099"/>
              <a:buChar char="–"/>
              <a:defRPr sz="2099"/>
            </a:lvl4pPr>
            <a:lvl5pPr marL="2286000" lvl="4" indent="-361886" algn="l">
              <a:spcBef>
                <a:spcPts val="420"/>
              </a:spcBef>
              <a:spcAft>
                <a:spcPts val="0"/>
              </a:spcAft>
              <a:buClr>
                <a:schemeClr val="dk1"/>
              </a:buClr>
              <a:buSzPts val="2099"/>
              <a:buChar char="»"/>
              <a:defRPr sz="2099"/>
            </a:lvl5pPr>
            <a:lvl6pPr marL="2743200" lvl="5" indent="-361886" algn="l">
              <a:spcBef>
                <a:spcPts val="420"/>
              </a:spcBef>
              <a:spcAft>
                <a:spcPts val="0"/>
              </a:spcAft>
              <a:buClr>
                <a:schemeClr val="dk1"/>
              </a:buClr>
              <a:buSzPts val="2099"/>
              <a:buChar char="•"/>
              <a:defRPr sz="2099"/>
            </a:lvl6pPr>
            <a:lvl7pPr marL="3200400" lvl="6" indent="-361886" algn="l">
              <a:spcBef>
                <a:spcPts val="420"/>
              </a:spcBef>
              <a:spcAft>
                <a:spcPts val="0"/>
              </a:spcAft>
              <a:buClr>
                <a:schemeClr val="dk1"/>
              </a:buClr>
              <a:buSzPts val="2099"/>
              <a:buChar char="•"/>
              <a:defRPr sz="2099"/>
            </a:lvl7pPr>
            <a:lvl8pPr marL="3657600" lvl="7" indent="-361886" algn="l">
              <a:spcBef>
                <a:spcPts val="420"/>
              </a:spcBef>
              <a:spcAft>
                <a:spcPts val="0"/>
              </a:spcAft>
              <a:buClr>
                <a:schemeClr val="dk1"/>
              </a:buClr>
              <a:buSzPts val="2099"/>
              <a:buChar char="•"/>
              <a:defRPr sz="2099"/>
            </a:lvl8pPr>
            <a:lvl9pPr marL="4114800" lvl="8" indent="-361886" algn="l">
              <a:spcBef>
                <a:spcPts val="420"/>
              </a:spcBef>
              <a:spcAft>
                <a:spcPts val="0"/>
              </a:spcAft>
              <a:buClr>
                <a:schemeClr val="dk1"/>
              </a:buClr>
              <a:buSzPts val="2099"/>
              <a:buChar char="•"/>
              <a:defRPr sz="2099"/>
            </a:lvl9pPr>
          </a:lstStyle>
          <a:p>
            <a:endParaRPr/>
          </a:p>
        </p:txBody>
      </p:sp>
      <p:sp>
        <p:nvSpPr>
          <p:cNvPr id="463" name="Google Shape;463;p288"/>
          <p:cNvSpPr txBox="1">
            <a:spLocks noGrp="1"/>
          </p:cNvSpPr>
          <p:nvPr>
            <p:ph type="body" idx="3"/>
          </p:nvPr>
        </p:nvSpPr>
        <p:spPr>
          <a:xfrm>
            <a:off x="6191756" y="1535115"/>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199"/>
              <a:buNone/>
              <a:defRPr sz="3199" b="1"/>
            </a:lvl1pPr>
            <a:lvl2pPr marL="914400" lvl="1" indent="-228600" algn="l">
              <a:spcBef>
                <a:spcPts val="540"/>
              </a:spcBef>
              <a:spcAft>
                <a:spcPts val="0"/>
              </a:spcAft>
              <a:buClr>
                <a:schemeClr val="dk1"/>
              </a:buClr>
              <a:buSzPts val="2699"/>
              <a:buNone/>
              <a:defRPr sz="2699" b="1"/>
            </a:lvl2pPr>
            <a:lvl3pPr marL="1371600" lvl="2" indent="-228600" algn="l">
              <a:spcBef>
                <a:spcPts val="480"/>
              </a:spcBef>
              <a:spcAft>
                <a:spcPts val="0"/>
              </a:spcAft>
              <a:buClr>
                <a:schemeClr val="dk1"/>
              </a:buClr>
              <a:buSzPts val="2399"/>
              <a:buNone/>
              <a:defRPr sz="2399" b="1"/>
            </a:lvl3pPr>
            <a:lvl4pPr marL="1828800" lvl="3" indent="-228600" algn="l">
              <a:spcBef>
                <a:spcPts val="420"/>
              </a:spcBef>
              <a:spcAft>
                <a:spcPts val="0"/>
              </a:spcAft>
              <a:buClr>
                <a:schemeClr val="dk1"/>
              </a:buClr>
              <a:buSzPts val="2099"/>
              <a:buNone/>
              <a:defRPr sz="2099" b="1"/>
            </a:lvl4pPr>
            <a:lvl5pPr marL="2286000" lvl="4" indent="-228600" algn="l">
              <a:spcBef>
                <a:spcPts val="420"/>
              </a:spcBef>
              <a:spcAft>
                <a:spcPts val="0"/>
              </a:spcAft>
              <a:buClr>
                <a:schemeClr val="dk1"/>
              </a:buClr>
              <a:buSzPts val="2099"/>
              <a:buNone/>
              <a:defRPr sz="2099" b="1"/>
            </a:lvl5pPr>
            <a:lvl6pPr marL="2743200" lvl="5" indent="-228600" algn="l">
              <a:spcBef>
                <a:spcPts val="420"/>
              </a:spcBef>
              <a:spcAft>
                <a:spcPts val="0"/>
              </a:spcAft>
              <a:buClr>
                <a:schemeClr val="dk1"/>
              </a:buClr>
              <a:buSzPts val="2099"/>
              <a:buNone/>
              <a:defRPr sz="2099" b="1"/>
            </a:lvl6pPr>
            <a:lvl7pPr marL="3200400" lvl="6" indent="-228600" algn="l">
              <a:spcBef>
                <a:spcPts val="420"/>
              </a:spcBef>
              <a:spcAft>
                <a:spcPts val="0"/>
              </a:spcAft>
              <a:buClr>
                <a:schemeClr val="dk1"/>
              </a:buClr>
              <a:buSzPts val="2099"/>
              <a:buNone/>
              <a:defRPr sz="2099" b="1"/>
            </a:lvl7pPr>
            <a:lvl8pPr marL="3657600" lvl="7" indent="-228600" algn="l">
              <a:spcBef>
                <a:spcPts val="420"/>
              </a:spcBef>
              <a:spcAft>
                <a:spcPts val="0"/>
              </a:spcAft>
              <a:buClr>
                <a:schemeClr val="dk1"/>
              </a:buClr>
              <a:buSzPts val="2099"/>
              <a:buNone/>
              <a:defRPr sz="2099" b="1"/>
            </a:lvl8pPr>
            <a:lvl9pPr marL="4114800" lvl="8" indent="-228600" algn="l">
              <a:spcBef>
                <a:spcPts val="420"/>
              </a:spcBef>
              <a:spcAft>
                <a:spcPts val="0"/>
              </a:spcAft>
              <a:buClr>
                <a:schemeClr val="dk1"/>
              </a:buClr>
              <a:buSzPts val="2099"/>
              <a:buNone/>
              <a:defRPr sz="2099" b="1"/>
            </a:lvl9pPr>
          </a:lstStyle>
          <a:p>
            <a:endParaRPr/>
          </a:p>
        </p:txBody>
      </p:sp>
      <p:sp>
        <p:nvSpPr>
          <p:cNvPr id="464" name="Google Shape;464;p288"/>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737" algn="l">
              <a:spcBef>
                <a:spcPts val="640"/>
              </a:spcBef>
              <a:spcAft>
                <a:spcPts val="0"/>
              </a:spcAft>
              <a:buClr>
                <a:schemeClr val="dk1"/>
              </a:buClr>
              <a:buSzPts val="3199"/>
              <a:buChar char="•"/>
              <a:defRPr sz="3199"/>
            </a:lvl1pPr>
            <a:lvl2pPr marL="914400" lvl="1" indent="-399986" algn="l">
              <a:spcBef>
                <a:spcPts val="540"/>
              </a:spcBef>
              <a:spcAft>
                <a:spcPts val="0"/>
              </a:spcAft>
              <a:buClr>
                <a:schemeClr val="dk1"/>
              </a:buClr>
              <a:buSzPts val="2699"/>
              <a:buChar char="–"/>
              <a:defRPr sz="2699"/>
            </a:lvl2pPr>
            <a:lvl3pPr marL="1371600" lvl="2" indent="-380937" algn="l">
              <a:spcBef>
                <a:spcPts val="480"/>
              </a:spcBef>
              <a:spcAft>
                <a:spcPts val="0"/>
              </a:spcAft>
              <a:buClr>
                <a:schemeClr val="dk1"/>
              </a:buClr>
              <a:buSzPts val="2399"/>
              <a:buChar char="•"/>
              <a:defRPr sz="2399"/>
            </a:lvl3pPr>
            <a:lvl4pPr marL="1828800" lvl="3" indent="-361887" algn="l">
              <a:spcBef>
                <a:spcPts val="420"/>
              </a:spcBef>
              <a:spcAft>
                <a:spcPts val="0"/>
              </a:spcAft>
              <a:buClr>
                <a:schemeClr val="dk1"/>
              </a:buClr>
              <a:buSzPts val="2099"/>
              <a:buChar char="–"/>
              <a:defRPr sz="2099"/>
            </a:lvl4pPr>
            <a:lvl5pPr marL="2286000" lvl="4" indent="-361886" algn="l">
              <a:spcBef>
                <a:spcPts val="420"/>
              </a:spcBef>
              <a:spcAft>
                <a:spcPts val="0"/>
              </a:spcAft>
              <a:buClr>
                <a:schemeClr val="dk1"/>
              </a:buClr>
              <a:buSzPts val="2099"/>
              <a:buChar char="»"/>
              <a:defRPr sz="2099"/>
            </a:lvl5pPr>
            <a:lvl6pPr marL="2743200" lvl="5" indent="-361886" algn="l">
              <a:spcBef>
                <a:spcPts val="420"/>
              </a:spcBef>
              <a:spcAft>
                <a:spcPts val="0"/>
              </a:spcAft>
              <a:buClr>
                <a:schemeClr val="dk1"/>
              </a:buClr>
              <a:buSzPts val="2099"/>
              <a:buChar char="•"/>
              <a:defRPr sz="2099"/>
            </a:lvl6pPr>
            <a:lvl7pPr marL="3200400" lvl="6" indent="-361886" algn="l">
              <a:spcBef>
                <a:spcPts val="420"/>
              </a:spcBef>
              <a:spcAft>
                <a:spcPts val="0"/>
              </a:spcAft>
              <a:buClr>
                <a:schemeClr val="dk1"/>
              </a:buClr>
              <a:buSzPts val="2099"/>
              <a:buChar char="•"/>
              <a:defRPr sz="2099"/>
            </a:lvl7pPr>
            <a:lvl8pPr marL="3657600" lvl="7" indent="-361886" algn="l">
              <a:spcBef>
                <a:spcPts val="420"/>
              </a:spcBef>
              <a:spcAft>
                <a:spcPts val="0"/>
              </a:spcAft>
              <a:buClr>
                <a:schemeClr val="dk1"/>
              </a:buClr>
              <a:buSzPts val="2099"/>
              <a:buChar char="•"/>
              <a:defRPr sz="2099"/>
            </a:lvl8pPr>
            <a:lvl9pPr marL="4114800" lvl="8" indent="-361886" algn="l">
              <a:spcBef>
                <a:spcPts val="420"/>
              </a:spcBef>
              <a:spcAft>
                <a:spcPts val="0"/>
              </a:spcAft>
              <a:buClr>
                <a:schemeClr val="dk1"/>
              </a:buClr>
              <a:buSzPts val="2099"/>
              <a:buChar char="•"/>
              <a:defRPr sz="2099"/>
            </a:lvl9pPr>
          </a:lstStyle>
          <a:p>
            <a:endParaRPr/>
          </a:p>
        </p:txBody>
      </p:sp>
      <p:sp>
        <p:nvSpPr>
          <p:cNvPr id="465" name="Google Shape;465;p288"/>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6" name="Google Shape;466;p288"/>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7" name="Google Shape;467;p288"/>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rgbClr val="262626"/>
        </a:solidFill>
        <a:effectLst/>
      </p:bgPr>
    </p:bg>
    <p:spTree>
      <p:nvGrpSpPr>
        <p:cNvPr id="1" name="Shape 468"/>
        <p:cNvGrpSpPr/>
        <p:nvPr/>
      </p:nvGrpSpPr>
      <p:grpSpPr>
        <a:xfrm>
          <a:off x="0" y="0"/>
          <a:ext cx="0" cy="0"/>
          <a:chOff x="0" y="0"/>
          <a:chExt cx="0" cy="0"/>
        </a:xfrm>
      </p:grpSpPr>
      <p:sp>
        <p:nvSpPr>
          <p:cNvPr id="469" name="Google Shape;469;p289"/>
          <p:cNvSpPr txBox="1">
            <a:spLocks noGrp="1"/>
          </p:cNvSpPr>
          <p:nvPr>
            <p:ph type="title"/>
          </p:nvPr>
        </p:nvSpPr>
        <p:spPr>
          <a:xfrm>
            <a:off x="609442" y="274641"/>
            <a:ext cx="10969943" cy="711081"/>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Clr>
                <a:schemeClr val="dk1"/>
              </a:buClr>
              <a:buSzPts val="3599"/>
              <a:buFont typeface="Calibri"/>
              <a:buNone/>
              <a:defRPr sz="35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0" name="Google Shape;470;p289"/>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1" name="Google Shape;471;p289"/>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2" name="Google Shape;472;p289"/>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3"/>
        <p:cNvGrpSpPr/>
        <p:nvPr/>
      </p:nvGrpSpPr>
      <p:grpSpPr>
        <a:xfrm>
          <a:off x="0" y="0"/>
          <a:ext cx="0" cy="0"/>
          <a:chOff x="0" y="0"/>
          <a:chExt cx="0" cy="0"/>
        </a:xfrm>
      </p:grpSpPr>
      <p:sp>
        <p:nvSpPr>
          <p:cNvPr id="474" name="Google Shape;474;p290"/>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290"/>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6" name="Google Shape;476;p290"/>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7"/>
        <p:cNvGrpSpPr/>
        <p:nvPr/>
      </p:nvGrpSpPr>
      <p:grpSpPr>
        <a:xfrm>
          <a:off x="0" y="0"/>
          <a:ext cx="0" cy="0"/>
          <a:chOff x="0" y="0"/>
          <a:chExt cx="0" cy="0"/>
        </a:xfrm>
      </p:grpSpPr>
      <p:sp>
        <p:nvSpPr>
          <p:cNvPr id="478" name="Google Shape;478;p291"/>
          <p:cNvSpPr txBox="1">
            <a:spLocks noGrp="1"/>
          </p:cNvSpPr>
          <p:nvPr>
            <p:ph type="title"/>
          </p:nvPr>
        </p:nvSpPr>
        <p:spPr>
          <a:xfrm>
            <a:off x="609443" y="273051"/>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699"/>
              <a:buFont typeface="Calibri"/>
              <a:buNone/>
              <a:defRPr sz="2699"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9" name="Google Shape;479;p291"/>
          <p:cNvSpPr txBox="1">
            <a:spLocks noGrp="1"/>
          </p:cNvSpPr>
          <p:nvPr>
            <p:ph type="body" idx="1"/>
          </p:nvPr>
        </p:nvSpPr>
        <p:spPr>
          <a:xfrm>
            <a:off x="4765492" y="273054"/>
            <a:ext cx="6813892" cy="5853113"/>
          </a:xfrm>
          <a:prstGeom prst="rect">
            <a:avLst/>
          </a:prstGeom>
          <a:noFill/>
          <a:ln>
            <a:noFill/>
          </a:ln>
        </p:spPr>
        <p:txBody>
          <a:bodyPr spcFirstLastPara="1" wrap="square" lIns="121875" tIns="60925" rIns="121875" bIns="60925" anchor="t" anchorCtr="0">
            <a:normAutofit/>
          </a:bodyPr>
          <a:lstStyle>
            <a:lvl1pPr marL="457200" lvl="0" indent="-501587" algn="l">
              <a:spcBef>
                <a:spcPts val="860"/>
              </a:spcBef>
              <a:spcAft>
                <a:spcPts val="0"/>
              </a:spcAft>
              <a:buClr>
                <a:schemeClr val="dk1"/>
              </a:buClr>
              <a:buSzPts val="4299"/>
              <a:buChar char="•"/>
              <a:defRPr sz="4299"/>
            </a:lvl1pPr>
            <a:lvl2pPr marL="914400" lvl="1" indent="-463487" algn="l">
              <a:spcBef>
                <a:spcPts val="740"/>
              </a:spcBef>
              <a:spcAft>
                <a:spcPts val="0"/>
              </a:spcAft>
              <a:buClr>
                <a:schemeClr val="dk1"/>
              </a:buClr>
              <a:buSzPts val="3699"/>
              <a:buChar char="–"/>
              <a:defRPr sz="3699"/>
            </a:lvl2pPr>
            <a:lvl3pPr marL="1371600" lvl="2" indent="-431737" algn="l">
              <a:spcBef>
                <a:spcPts val="640"/>
              </a:spcBef>
              <a:spcAft>
                <a:spcPts val="0"/>
              </a:spcAft>
              <a:buClr>
                <a:schemeClr val="dk1"/>
              </a:buClr>
              <a:buSzPts val="3199"/>
              <a:buChar char="•"/>
              <a:defRPr sz="3199"/>
            </a:lvl3pPr>
            <a:lvl4pPr marL="1828800" lvl="3" indent="-399987" algn="l">
              <a:spcBef>
                <a:spcPts val="540"/>
              </a:spcBef>
              <a:spcAft>
                <a:spcPts val="0"/>
              </a:spcAft>
              <a:buClr>
                <a:schemeClr val="dk1"/>
              </a:buClr>
              <a:buSzPts val="2699"/>
              <a:buChar char="–"/>
              <a:defRPr sz="2699"/>
            </a:lvl4pPr>
            <a:lvl5pPr marL="2286000" lvl="4" indent="-399986" algn="l">
              <a:spcBef>
                <a:spcPts val="540"/>
              </a:spcBef>
              <a:spcAft>
                <a:spcPts val="0"/>
              </a:spcAft>
              <a:buClr>
                <a:schemeClr val="dk1"/>
              </a:buClr>
              <a:buSzPts val="2699"/>
              <a:buChar char="»"/>
              <a:defRPr sz="2699"/>
            </a:lvl5pPr>
            <a:lvl6pPr marL="2743200" lvl="5" indent="-399986" algn="l">
              <a:spcBef>
                <a:spcPts val="540"/>
              </a:spcBef>
              <a:spcAft>
                <a:spcPts val="0"/>
              </a:spcAft>
              <a:buClr>
                <a:schemeClr val="dk1"/>
              </a:buClr>
              <a:buSzPts val="2699"/>
              <a:buChar char="•"/>
              <a:defRPr sz="2699"/>
            </a:lvl6pPr>
            <a:lvl7pPr marL="3200400" lvl="6" indent="-399986" algn="l">
              <a:spcBef>
                <a:spcPts val="540"/>
              </a:spcBef>
              <a:spcAft>
                <a:spcPts val="0"/>
              </a:spcAft>
              <a:buClr>
                <a:schemeClr val="dk1"/>
              </a:buClr>
              <a:buSzPts val="2699"/>
              <a:buChar char="•"/>
              <a:defRPr sz="2699"/>
            </a:lvl7pPr>
            <a:lvl8pPr marL="3657600" lvl="7" indent="-399986" algn="l">
              <a:spcBef>
                <a:spcPts val="540"/>
              </a:spcBef>
              <a:spcAft>
                <a:spcPts val="0"/>
              </a:spcAft>
              <a:buClr>
                <a:schemeClr val="dk1"/>
              </a:buClr>
              <a:buSzPts val="2699"/>
              <a:buChar char="•"/>
              <a:defRPr sz="2699"/>
            </a:lvl8pPr>
            <a:lvl9pPr marL="4114800" lvl="8" indent="-399986" algn="l">
              <a:spcBef>
                <a:spcPts val="540"/>
              </a:spcBef>
              <a:spcAft>
                <a:spcPts val="0"/>
              </a:spcAft>
              <a:buClr>
                <a:schemeClr val="dk1"/>
              </a:buClr>
              <a:buSzPts val="2699"/>
              <a:buChar char="•"/>
              <a:defRPr sz="2699"/>
            </a:lvl9pPr>
          </a:lstStyle>
          <a:p>
            <a:endParaRPr/>
          </a:p>
        </p:txBody>
      </p:sp>
      <p:sp>
        <p:nvSpPr>
          <p:cNvPr id="480" name="Google Shape;480;p291"/>
          <p:cNvSpPr txBox="1">
            <a:spLocks noGrp="1"/>
          </p:cNvSpPr>
          <p:nvPr>
            <p:ph type="body" idx="2"/>
          </p:nvPr>
        </p:nvSpPr>
        <p:spPr>
          <a:xfrm>
            <a:off x="609443" y="1435103"/>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899"/>
              <a:buNone/>
              <a:defRPr sz="1899"/>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481" name="Google Shape;481;p291"/>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2" name="Google Shape;482;p291"/>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3" name="Google Shape;483;p291"/>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4"/>
        <p:cNvGrpSpPr/>
        <p:nvPr/>
      </p:nvGrpSpPr>
      <p:grpSpPr>
        <a:xfrm>
          <a:off x="0" y="0"/>
          <a:ext cx="0" cy="0"/>
          <a:chOff x="0" y="0"/>
          <a:chExt cx="0" cy="0"/>
        </a:xfrm>
      </p:grpSpPr>
      <p:sp>
        <p:nvSpPr>
          <p:cNvPr id="485" name="Google Shape;485;p292"/>
          <p:cNvSpPr txBox="1">
            <a:spLocks noGrp="1"/>
          </p:cNvSpPr>
          <p:nvPr>
            <p:ph type="title"/>
          </p:nvPr>
        </p:nvSpPr>
        <p:spPr>
          <a:xfrm>
            <a:off x="2389096" y="4800602"/>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699"/>
              <a:buFont typeface="Calibri"/>
              <a:buNone/>
              <a:defRPr sz="2699"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6" name="Google Shape;486;p292"/>
          <p:cNvSpPr>
            <a:spLocks noGrp="1"/>
          </p:cNvSpPr>
          <p:nvPr>
            <p:ph type="pic" idx="2"/>
          </p:nvPr>
        </p:nvSpPr>
        <p:spPr>
          <a:xfrm>
            <a:off x="2389096" y="612775"/>
            <a:ext cx="7313295" cy="4114800"/>
          </a:xfrm>
          <a:prstGeom prst="rect">
            <a:avLst/>
          </a:prstGeom>
          <a:noFill/>
          <a:ln>
            <a:noFill/>
          </a:ln>
        </p:spPr>
      </p:sp>
      <p:sp>
        <p:nvSpPr>
          <p:cNvPr id="487" name="Google Shape;487;p292"/>
          <p:cNvSpPr txBox="1">
            <a:spLocks noGrp="1"/>
          </p:cNvSpPr>
          <p:nvPr>
            <p:ph type="body" idx="1"/>
          </p:nvPr>
        </p:nvSpPr>
        <p:spPr>
          <a:xfrm>
            <a:off x="2389096" y="5367340"/>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899"/>
              <a:buNone/>
              <a:defRPr sz="1899"/>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488" name="Google Shape;488;p292"/>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9" name="Google Shape;489;p292"/>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0" name="Google Shape;490;p292"/>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91"/>
        <p:cNvGrpSpPr/>
        <p:nvPr/>
      </p:nvGrpSpPr>
      <p:grpSpPr>
        <a:xfrm>
          <a:off x="0" y="0"/>
          <a:ext cx="0" cy="0"/>
          <a:chOff x="0" y="0"/>
          <a:chExt cx="0" cy="0"/>
        </a:xfrm>
      </p:grpSpPr>
      <p:sp>
        <p:nvSpPr>
          <p:cNvPr id="492" name="Google Shape;492;p293"/>
          <p:cNvSpPr txBox="1">
            <a:spLocks noGrp="1"/>
          </p:cNvSpPr>
          <p:nvPr>
            <p:ph type="title"/>
          </p:nvPr>
        </p:nvSpPr>
        <p:spPr>
          <a:xfrm>
            <a:off x="609442" y="274641"/>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3" name="Google Shape;493;p293"/>
          <p:cNvSpPr txBox="1">
            <a:spLocks noGrp="1"/>
          </p:cNvSpPr>
          <p:nvPr>
            <p:ph type="body" idx="1"/>
          </p:nvPr>
        </p:nvSpPr>
        <p:spPr>
          <a:xfrm rot="5400000">
            <a:off x="3600544" y="-1852676"/>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94" name="Google Shape;494;p293"/>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5" name="Google Shape;495;p293"/>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6" name="Google Shape;496;p293"/>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7"/>
        <p:cNvGrpSpPr/>
        <p:nvPr/>
      </p:nvGrpSpPr>
      <p:grpSpPr>
        <a:xfrm>
          <a:off x="0" y="0"/>
          <a:ext cx="0" cy="0"/>
          <a:chOff x="0" y="0"/>
          <a:chExt cx="0" cy="0"/>
        </a:xfrm>
      </p:grpSpPr>
      <p:sp>
        <p:nvSpPr>
          <p:cNvPr id="498" name="Google Shape;498;p294"/>
          <p:cNvSpPr txBox="1">
            <a:spLocks noGrp="1"/>
          </p:cNvSpPr>
          <p:nvPr>
            <p:ph type="title"/>
          </p:nvPr>
        </p:nvSpPr>
        <p:spPr>
          <a:xfrm rot="5400000">
            <a:off x="7282379" y="1829161"/>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9" name="Google Shape;499;p294"/>
          <p:cNvSpPr txBox="1">
            <a:spLocks noGrp="1"/>
          </p:cNvSpPr>
          <p:nvPr>
            <p:ph type="body" idx="1"/>
          </p:nvPr>
        </p:nvSpPr>
        <p:spPr>
          <a:xfrm rot="5400000">
            <a:off x="1695834" y="-811752"/>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00" name="Google Shape;500;p294"/>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1" name="Google Shape;501;p294"/>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2" name="Google Shape;502;p294"/>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lidemodel2">
  <p:cSld name="slidemodel2">
    <p:bg>
      <p:bgPr>
        <a:gradFill>
          <a:gsLst>
            <a:gs pos="0">
              <a:srgbClr val="1181AE"/>
            </a:gs>
            <a:gs pos="55000">
              <a:srgbClr val="1181AE"/>
            </a:gs>
            <a:gs pos="100000">
              <a:srgbClr val="095474"/>
            </a:gs>
          </a:gsLst>
          <a:path path="circle">
            <a:fillToRect l="50000" t="50000" r="50000" b="50000"/>
          </a:path>
          <a:tileRect/>
        </a:gradFill>
        <a:effectLst/>
      </p:bgPr>
    </p:bg>
    <p:spTree>
      <p:nvGrpSpPr>
        <p:cNvPr id="1" name="Shape 503"/>
        <p:cNvGrpSpPr/>
        <p:nvPr/>
      </p:nvGrpSpPr>
      <p:grpSpPr>
        <a:xfrm>
          <a:off x="0" y="0"/>
          <a:ext cx="0" cy="0"/>
          <a:chOff x="0" y="0"/>
          <a:chExt cx="0" cy="0"/>
        </a:xfrm>
      </p:grpSpPr>
      <p:sp>
        <p:nvSpPr>
          <p:cNvPr id="504" name="Google Shape;504;p295"/>
          <p:cNvSpPr txBox="1">
            <a:spLocks noGrp="1"/>
          </p:cNvSpPr>
          <p:nvPr>
            <p:ph type="title"/>
          </p:nvPr>
        </p:nvSpPr>
        <p:spPr>
          <a:xfrm>
            <a:off x="3217834" y="2870635"/>
            <a:ext cx="5930678" cy="711081"/>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chemeClr val="lt1"/>
              </a:buClr>
              <a:buSzPts val="3599"/>
              <a:buFont typeface="Calibri"/>
              <a:buNone/>
              <a:defRPr sz="3599" b="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5" name="Google Shape;505;p295"/>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6" name="Google Shape;506;p295"/>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7" name="Google Shape;507;p295"/>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4"/>
        <p:cNvGrpSpPr/>
        <p:nvPr/>
      </p:nvGrpSpPr>
      <p:grpSpPr>
        <a:xfrm>
          <a:off x="0" y="0"/>
          <a:ext cx="0" cy="0"/>
          <a:chOff x="0" y="0"/>
          <a:chExt cx="0" cy="0"/>
        </a:xfrm>
      </p:grpSpPr>
      <p:sp>
        <p:nvSpPr>
          <p:cNvPr id="515" name="Google Shape;515;p22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6" name="Google Shape;516;p22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7" name="Google Shape;517;p22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518"/>
        <p:cNvGrpSpPr/>
        <p:nvPr/>
      </p:nvGrpSpPr>
      <p:grpSpPr>
        <a:xfrm>
          <a:off x="0" y="0"/>
          <a:ext cx="0" cy="0"/>
          <a:chOff x="0" y="0"/>
          <a:chExt cx="0" cy="0"/>
        </a:xfrm>
      </p:grpSpPr>
      <p:sp>
        <p:nvSpPr>
          <p:cNvPr id="519" name="Google Shape;519;p296"/>
          <p:cNvSpPr>
            <a:spLocks noGrp="1"/>
          </p:cNvSpPr>
          <p:nvPr>
            <p:ph type="pic" idx="2"/>
          </p:nvPr>
        </p:nvSpPr>
        <p:spPr>
          <a:xfrm>
            <a:off x="1343" y="0"/>
            <a:ext cx="12186138" cy="6858000"/>
          </a:xfrm>
          <a:prstGeom prst="rect">
            <a:avLst/>
          </a:prstGeom>
          <a:noFill/>
          <a:ln>
            <a:noFill/>
          </a:ln>
        </p:spPr>
      </p:sp>
      <p:sp>
        <p:nvSpPr>
          <p:cNvPr id="520" name="Google Shape;520;p296"/>
          <p:cNvSpPr>
            <a:spLocks noGrp="1"/>
          </p:cNvSpPr>
          <p:nvPr>
            <p:ph type="pic" idx="3"/>
          </p:nvPr>
        </p:nvSpPr>
        <p:spPr>
          <a:xfrm>
            <a:off x="1349932" y="1999312"/>
            <a:ext cx="1712246" cy="1712244"/>
          </a:xfrm>
          <a:prstGeom prst="ellipse">
            <a:avLst/>
          </a:prstGeom>
          <a:solidFill>
            <a:schemeClr val="accent3"/>
          </a:solidFill>
          <a:ln>
            <a:noFill/>
          </a:ln>
        </p:spPr>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21"/>
        <p:cNvGrpSpPr/>
        <p:nvPr/>
      </p:nvGrpSpPr>
      <p:grpSpPr>
        <a:xfrm>
          <a:off x="0" y="0"/>
          <a:ext cx="0" cy="0"/>
          <a:chOff x="0" y="0"/>
          <a:chExt cx="0" cy="0"/>
        </a:xfrm>
      </p:grpSpPr>
      <p:sp>
        <p:nvSpPr>
          <p:cNvPr id="522" name="Google Shape;522;p297"/>
          <p:cNvSpPr txBox="1">
            <a:spLocks noGrp="1"/>
          </p:cNvSpPr>
          <p:nvPr>
            <p:ph type="ctrTitle"/>
          </p:nvPr>
        </p:nvSpPr>
        <p:spPr>
          <a:xfrm>
            <a:off x="914162" y="2130426"/>
            <a:ext cx="10360501" cy="1470025"/>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3" name="Google Shape;523;p297"/>
          <p:cNvSpPr txBox="1">
            <a:spLocks noGrp="1"/>
          </p:cNvSpPr>
          <p:nvPr>
            <p:ph type="subTitle" idx="1"/>
          </p:nvPr>
        </p:nvSpPr>
        <p:spPr>
          <a:xfrm>
            <a:off x="1828324" y="3886200"/>
            <a:ext cx="8532178" cy="1752600"/>
          </a:xfrm>
          <a:prstGeom prst="rect">
            <a:avLst/>
          </a:prstGeom>
          <a:noFill/>
          <a:ln>
            <a:noFill/>
          </a:ln>
        </p:spPr>
        <p:txBody>
          <a:bodyPr spcFirstLastPara="1" wrap="square" lIns="121875" tIns="60925" rIns="121875" bIns="60925" anchor="t" anchorCtr="0">
            <a:normAutofit/>
          </a:bodyPr>
          <a:lstStyle>
            <a:lvl1pPr lvl="0" algn="ctr">
              <a:spcBef>
                <a:spcPts val="720"/>
              </a:spcBef>
              <a:spcAft>
                <a:spcPts val="0"/>
              </a:spcAft>
              <a:buClr>
                <a:srgbClr val="888888"/>
              </a:buClr>
              <a:buSzPts val="3600"/>
              <a:buNone/>
              <a:defRPr>
                <a:solidFill>
                  <a:srgbClr val="888888"/>
                </a:solidFill>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524" name="Google Shape;524;p2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5" name="Google Shape;525;p2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6" name="Google Shape;526;p2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27"/>
        <p:cNvGrpSpPr/>
        <p:nvPr/>
      </p:nvGrpSpPr>
      <p:grpSpPr>
        <a:xfrm>
          <a:off x="0" y="0"/>
          <a:ext cx="0" cy="0"/>
          <a:chOff x="0" y="0"/>
          <a:chExt cx="0" cy="0"/>
        </a:xfrm>
      </p:grpSpPr>
      <p:sp>
        <p:nvSpPr>
          <p:cNvPr id="528" name="Google Shape;528;p298"/>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9" name="Google Shape;529;p298"/>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30" name="Google Shape;530;p2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1" name="Google Shape;531;p2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2" name="Google Shape;532;p2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3"/>
        <p:cNvGrpSpPr/>
        <p:nvPr/>
      </p:nvGrpSpPr>
      <p:grpSpPr>
        <a:xfrm>
          <a:off x="0" y="0"/>
          <a:ext cx="0" cy="0"/>
          <a:chOff x="0" y="0"/>
          <a:chExt cx="0" cy="0"/>
        </a:xfrm>
      </p:grpSpPr>
      <p:sp>
        <p:nvSpPr>
          <p:cNvPr id="534" name="Google Shape;534;p299"/>
          <p:cNvSpPr txBox="1">
            <a:spLocks noGrp="1"/>
          </p:cNvSpPr>
          <p:nvPr>
            <p:ph type="title"/>
          </p:nvPr>
        </p:nvSpPr>
        <p:spPr>
          <a:xfrm>
            <a:off x="962833" y="4406901"/>
            <a:ext cx="10360501" cy="1362075"/>
          </a:xfrm>
          <a:prstGeom prst="rect">
            <a:avLst/>
          </a:prstGeom>
          <a:noFill/>
          <a:ln>
            <a:noFill/>
          </a:ln>
        </p:spPr>
        <p:txBody>
          <a:bodyPr spcFirstLastPara="1" wrap="square" lIns="121875" tIns="60925" rIns="121875" bIns="60925" anchor="t" anchorCtr="0">
            <a:normAutofit/>
          </a:bodyPr>
          <a:lstStyle>
            <a:lvl1pPr lvl="0" algn="l">
              <a:spcBef>
                <a:spcPts val="0"/>
              </a:spcBef>
              <a:spcAft>
                <a:spcPts val="0"/>
              </a:spcAft>
              <a:buClr>
                <a:schemeClr val="dk1"/>
              </a:buClr>
              <a:buSzPts val="5300"/>
              <a:buFont typeface="Calibri"/>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5" name="Google Shape;535;p299"/>
          <p:cNvSpPr txBox="1">
            <a:spLocks noGrp="1"/>
          </p:cNvSpPr>
          <p:nvPr>
            <p:ph type="body" idx="1"/>
          </p:nvPr>
        </p:nvSpPr>
        <p:spPr>
          <a:xfrm>
            <a:off x="962833" y="2906713"/>
            <a:ext cx="10360501" cy="1500187"/>
          </a:xfrm>
          <a:prstGeom prst="rect">
            <a:avLst/>
          </a:prstGeom>
          <a:noFill/>
          <a:ln>
            <a:noFill/>
          </a:ln>
        </p:spPr>
        <p:txBody>
          <a:bodyPr spcFirstLastPara="1" wrap="square" lIns="121875" tIns="60925" rIns="121875" bIns="60925" anchor="b" anchorCtr="0">
            <a:normAutofit/>
          </a:bodyPr>
          <a:lstStyle>
            <a:lvl1pPr marL="457200" lvl="0" indent="-228600" algn="l">
              <a:spcBef>
                <a:spcPts val="540"/>
              </a:spcBef>
              <a:spcAft>
                <a:spcPts val="0"/>
              </a:spcAft>
              <a:buClr>
                <a:srgbClr val="888888"/>
              </a:buClr>
              <a:buSzPts val="2700"/>
              <a:buNone/>
              <a:defRPr sz="2700">
                <a:solidFill>
                  <a:srgbClr val="888888"/>
                </a:solidFill>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
        <p:nvSpPr>
          <p:cNvPr id="536" name="Google Shape;536;p2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7" name="Google Shape;537;p2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8" name="Google Shape;538;p2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39"/>
        <p:cNvGrpSpPr/>
        <p:nvPr/>
      </p:nvGrpSpPr>
      <p:grpSpPr>
        <a:xfrm>
          <a:off x="0" y="0"/>
          <a:ext cx="0" cy="0"/>
          <a:chOff x="0" y="0"/>
          <a:chExt cx="0" cy="0"/>
        </a:xfrm>
      </p:grpSpPr>
      <p:sp>
        <p:nvSpPr>
          <p:cNvPr id="540" name="Google Shape;540;p3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1" name="Google Shape;541;p300"/>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542" name="Google Shape;542;p300"/>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543" name="Google Shape;543;p3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4" name="Google Shape;544;p3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5" name="Google Shape;545;p3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6"/>
        <p:cNvGrpSpPr/>
        <p:nvPr/>
      </p:nvGrpSpPr>
      <p:grpSpPr>
        <a:xfrm>
          <a:off x="0" y="0"/>
          <a:ext cx="0" cy="0"/>
          <a:chOff x="0" y="0"/>
          <a:chExt cx="0" cy="0"/>
        </a:xfrm>
      </p:grpSpPr>
      <p:sp>
        <p:nvSpPr>
          <p:cNvPr id="547" name="Google Shape;547;p301"/>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8" name="Google Shape;548;p301"/>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549" name="Google Shape;549;p301"/>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550" name="Google Shape;550;p301"/>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551" name="Google Shape;551;p301"/>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552" name="Google Shape;552;p3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3" name="Google Shape;553;p3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4" name="Google Shape;554;p3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55"/>
        <p:cNvGrpSpPr/>
        <p:nvPr/>
      </p:nvGrpSpPr>
      <p:grpSpPr>
        <a:xfrm>
          <a:off x="0" y="0"/>
          <a:ext cx="0" cy="0"/>
          <a:chOff x="0" y="0"/>
          <a:chExt cx="0" cy="0"/>
        </a:xfrm>
      </p:grpSpPr>
      <p:sp>
        <p:nvSpPr>
          <p:cNvPr id="556" name="Google Shape;556;p302"/>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Clr>
                <a:srgbClr val="595959"/>
              </a:buClr>
              <a:buSzPts val="3600"/>
              <a:buFont typeface="Calibri"/>
              <a:buNone/>
              <a:defRPr sz="3600">
                <a:solidFill>
                  <a:srgbClr val="5959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7" name="Google Shape;557;p30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8" name="Google Shape;558;p302"/>
          <p:cNvSpPr txBox="1">
            <a:spLocks noGrp="1"/>
          </p:cNvSpPr>
          <p:nvPr>
            <p:ph type="ftr" idx="11"/>
          </p:nvPr>
        </p:nvSpPr>
        <p:spPr>
          <a:xfrm>
            <a:off x="7719589" y="6356351"/>
            <a:ext cx="3859795" cy="365125"/>
          </a:xfrm>
          <a:prstGeom prst="rect">
            <a:avLst/>
          </a:prstGeom>
          <a:noFill/>
          <a:ln>
            <a:noFill/>
          </a:ln>
        </p:spPr>
        <p:txBody>
          <a:bodyPr spcFirstLastPara="1" wrap="square" lIns="121875" tIns="60925" rIns="121875" bIns="60925" anchor="ctr" anchorCtr="0">
            <a:noAutofit/>
          </a:bodyPr>
          <a:lstStyle>
            <a:lvl1pPr lvl="0" algn="r">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9" name="Google Shape;559;p302"/>
          <p:cNvSpPr txBox="1">
            <a:spLocks noGrp="1"/>
          </p:cNvSpPr>
          <p:nvPr>
            <p:ph type="sldNum" idx="12"/>
          </p:nvPr>
        </p:nvSpPr>
        <p:spPr>
          <a:xfrm>
            <a:off x="11711354" y="404446"/>
            <a:ext cx="477470" cy="451468"/>
          </a:xfrm>
          <a:prstGeom prst="rect">
            <a:avLst/>
          </a:prstGeom>
          <a:solidFill>
            <a:schemeClr val="accent4"/>
          </a:solidFill>
          <a:ln>
            <a:noFill/>
          </a:ln>
        </p:spPr>
        <p:txBody>
          <a:bodyPr spcFirstLastPara="1" wrap="square" lIns="121875" tIns="60925" rIns="121875" bIns="60925" anchor="ctr" anchorCtr="0">
            <a:noAutofit/>
          </a:bodyPr>
          <a:lstStyle>
            <a:lvl1pPr marL="0" lvl="0" indent="0" algn="ctr">
              <a:spcBef>
                <a:spcPts val="0"/>
              </a:spcBef>
              <a:buNone/>
              <a:defRPr sz="1400">
                <a:solidFill>
                  <a:schemeClr val="lt1"/>
                </a:solidFill>
                <a:latin typeface="Open Sans"/>
                <a:ea typeface="Open Sans"/>
                <a:cs typeface="Open Sans"/>
                <a:sym typeface="Open Sans"/>
              </a:defRPr>
            </a:lvl1pPr>
            <a:lvl2pPr marL="0" lvl="1" indent="0" algn="ctr">
              <a:spcBef>
                <a:spcPts val="0"/>
              </a:spcBef>
              <a:buNone/>
              <a:defRPr sz="1400">
                <a:solidFill>
                  <a:schemeClr val="lt1"/>
                </a:solidFill>
                <a:latin typeface="Open Sans"/>
                <a:ea typeface="Open Sans"/>
                <a:cs typeface="Open Sans"/>
                <a:sym typeface="Open Sans"/>
              </a:defRPr>
            </a:lvl2pPr>
            <a:lvl3pPr marL="0" lvl="2" indent="0" algn="ctr">
              <a:spcBef>
                <a:spcPts val="0"/>
              </a:spcBef>
              <a:buNone/>
              <a:defRPr sz="1400">
                <a:solidFill>
                  <a:schemeClr val="lt1"/>
                </a:solidFill>
                <a:latin typeface="Open Sans"/>
                <a:ea typeface="Open Sans"/>
                <a:cs typeface="Open Sans"/>
                <a:sym typeface="Open Sans"/>
              </a:defRPr>
            </a:lvl3pPr>
            <a:lvl4pPr marL="0" lvl="3" indent="0" algn="ctr">
              <a:spcBef>
                <a:spcPts val="0"/>
              </a:spcBef>
              <a:buNone/>
              <a:defRPr sz="1400">
                <a:solidFill>
                  <a:schemeClr val="lt1"/>
                </a:solidFill>
                <a:latin typeface="Open Sans"/>
                <a:ea typeface="Open Sans"/>
                <a:cs typeface="Open Sans"/>
                <a:sym typeface="Open Sans"/>
              </a:defRPr>
            </a:lvl4pPr>
            <a:lvl5pPr marL="0" lvl="4" indent="0" algn="ctr">
              <a:spcBef>
                <a:spcPts val="0"/>
              </a:spcBef>
              <a:buNone/>
              <a:defRPr sz="1400">
                <a:solidFill>
                  <a:schemeClr val="lt1"/>
                </a:solidFill>
                <a:latin typeface="Open Sans"/>
                <a:ea typeface="Open Sans"/>
                <a:cs typeface="Open Sans"/>
                <a:sym typeface="Open Sans"/>
              </a:defRPr>
            </a:lvl5pPr>
            <a:lvl6pPr marL="0" lvl="5" indent="0" algn="ctr">
              <a:spcBef>
                <a:spcPts val="0"/>
              </a:spcBef>
              <a:buNone/>
              <a:defRPr sz="1400">
                <a:solidFill>
                  <a:schemeClr val="lt1"/>
                </a:solidFill>
                <a:latin typeface="Open Sans"/>
                <a:ea typeface="Open Sans"/>
                <a:cs typeface="Open Sans"/>
                <a:sym typeface="Open Sans"/>
              </a:defRPr>
            </a:lvl6pPr>
            <a:lvl7pPr marL="0" lvl="6" indent="0" algn="ctr">
              <a:spcBef>
                <a:spcPts val="0"/>
              </a:spcBef>
              <a:buNone/>
              <a:defRPr sz="1400">
                <a:solidFill>
                  <a:schemeClr val="lt1"/>
                </a:solidFill>
                <a:latin typeface="Open Sans"/>
                <a:ea typeface="Open Sans"/>
                <a:cs typeface="Open Sans"/>
                <a:sym typeface="Open Sans"/>
              </a:defRPr>
            </a:lvl7pPr>
            <a:lvl8pPr marL="0" lvl="7" indent="0" algn="ctr">
              <a:spcBef>
                <a:spcPts val="0"/>
              </a:spcBef>
              <a:buNone/>
              <a:defRPr sz="1400">
                <a:solidFill>
                  <a:schemeClr val="lt1"/>
                </a:solidFill>
                <a:latin typeface="Open Sans"/>
                <a:ea typeface="Open Sans"/>
                <a:cs typeface="Open Sans"/>
                <a:sym typeface="Open Sans"/>
              </a:defRPr>
            </a:lvl8pPr>
            <a:lvl9pPr marL="0" lvl="8" indent="0" algn="ctr">
              <a:spcBef>
                <a:spcPts val="0"/>
              </a:spcBef>
              <a:buNone/>
              <a:defRPr sz="1400">
                <a:solidFill>
                  <a:schemeClr val="lt1"/>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560" name="Google Shape;560;p302"/>
          <p:cNvSpPr/>
          <p:nvPr/>
        </p:nvSpPr>
        <p:spPr>
          <a:xfrm>
            <a:off x="1" y="404446"/>
            <a:ext cx="167054" cy="45146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trengths And Weaknesses">
  <p:cSld name="Strengths And Weaknesses">
    <p:spTree>
      <p:nvGrpSpPr>
        <p:cNvPr id="1" name="Shape 561"/>
        <p:cNvGrpSpPr/>
        <p:nvPr/>
      </p:nvGrpSpPr>
      <p:grpSpPr>
        <a:xfrm>
          <a:off x="0" y="0"/>
          <a:ext cx="0" cy="0"/>
          <a:chOff x="0" y="0"/>
          <a:chExt cx="0" cy="0"/>
        </a:xfrm>
      </p:grpSpPr>
      <p:sp>
        <p:nvSpPr>
          <p:cNvPr id="562" name="Google Shape;562;p30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Clr>
                <a:srgbClr val="595959"/>
              </a:buClr>
              <a:buSzPts val="3600"/>
              <a:buFont typeface="Calibri"/>
              <a:buNone/>
              <a:defRPr sz="3600">
                <a:solidFill>
                  <a:srgbClr val="5959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3" name="Google Shape;563;p30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4" name="Google Shape;564;p303"/>
          <p:cNvSpPr txBox="1">
            <a:spLocks noGrp="1"/>
          </p:cNvSpPr>
          <p:nvPr>
            <p:ph type="ftr" idx="11"/>
          </p:nvPr>
        </p:nvSpPr>
        <p:spPr>
          <a:xfrm>
            <a:off x="7719589" y="6356351"/>
            <a:ext cx="3859795" cy="365125"/>
          </a:xfrm>
          <a:prstGeom prst="rect">
            <a:avLst/>
          </a:prstGeom>
          <a:noFill/>
          <a:ln>
            <a:noFill/>
          </a:ln>
        </p:spPr>
        <p:txBody>
          <a:bodyPr spcFirstLastPara="1" wrap="square" lIns="121875" tIns="60925" rIns="121875" bIns="60925" anchor="ctr" anchorCtr="0">
            <a:noAutofit/>
          </a:bodyPr>
          <a:lstStyle>
            <a:lvl1pPr lvl="0" algn="r">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5" name="Google Shape;565;p303"/>
          <p:cNvSpPr txBox="1">
            <a:spLocks noGrp="1"/>
          </p:cNvSpPr>
          <p:nvPr>
            <p:ph type="sldNum" idx="12"/>
          </p:nvPr>
        </p:nvSpPr>
        <p:spPr>
          <a:xfrm>
            <a:off x="11711354" y="404446"/>
            <a:ext cx="477470" cy="451468"/>
          </a:xfrm>
          <a:prstGeom prst="rect">
            <a:avLst/>
          </a:prstGeom>
          <a:solidFill>
            <a:schemeClr val="accent4"/>
          </a:solidFill>
          <a:ln>
            <a:noFill/>
          </a:ln>
        </p:spPr>
        <p:txBody>
          <a:bodyPr spcFirstLastPara="1" wrap="square" lIns="121875" tIns="60925" rIns="121875" bIns="60925" anchor="ctr" anchorCtr="0">
            <a:noAutofit/>
          </a:bodyPr>
          <a:lstStyle>
            <a:lvl1pPr marL="0" lvl="0" indent="0" algn="ctr">
              <a:spcBef>
                <a:spcPts val="0"/>
              </a:spcBef>
              <a:buNone/>
              <a:defRPr sz="1400">
                <a:solidFill>
                  <a:schemeClr val="lt1"/>
                </a:solidFill>
                <a:latin typeface="Open Sans"/>
                <a:ea typeface="Open Sans"/>
                <a:cs typeface="Open Sans"/>
                <a:sym typeface="Open Sans"/>
              </a:defRPr>
            </a:lvl1pPr>
            <a:lvl2pPr marL="0" lvl="1" indent="0" algn="ctr">
              <a:spcBef>
                <a:spcPts val="0"/>
              </a:spcBef>
              <a:buNone/>
              <a:defRPr sz="1400">
                <a:solidFill>
                  <a:schemeClr val="lt1"/>
                </a:solidFill>
                <a:latin typeface="Open Sans"/>
                <a:ea typeface="Open Sans"/>
                <a:cs typeface="Open Sans"/>
                <a:sym typeface="Open Sans"/>
              </a:defRPr>
            </a:lvl2pPr>
            <a:lvl3pPr marL="0" lvl="2" indent="0" algn="ctr">
              <a:spcBef>
                <a:spcPts val="0"/>
              </a:spcBef>
              <a:buNone/>
              <a:defRPr sz="1400">
                <a:solidFill>
                  <a:schemeClr val="lt1"/>
                </a:solidFill>
                <a:latin typeface="Open Sans"/>
                <a:ea typeface="Open Sans"/>
                <a:cs typeface="Open Sans"/>
                <a:sym typeface="Open Sans"/>
              </a:defRPr>
            </a:lvl3pPr>
            <a:lvl4pPr marL="0" lvl="3" indent="0" algn="ctr">
              <a:spcBef>
                <a:spcPts val="0"/>
              </a:spcBef>
              <a:buNone/>
              <a:defRPr sz="1400">
                <a:solidFill>
                  <a:schemeClr val="lt1"/>
                </a:solidFill>
                <a:latin typeface="Open Sans"/>
                <a:ea typeface="Open Sans"/>
                <a:cs typeface="Open Sans"/>
                <a:sym typeface="Open Sans"/>
              </a:defRPr>
            </a:lvl4pPr>
            <a:lvl5pPr marL="0" lvl="4" indent="0" algn="ctr">
              <a:spcBef>
                <a:spcPts val="0"/>
              </a:spcBef>
              <a:buNone/>
              <a:defRPr sz="1400">
                <a:solidFill>
                  <a:schemeClr val="lt1"/>
                </a:solidFill>
                <a:latin typeface="Open Sans"/>
                <a:ea typeface="Open Sans"/>
                <a:cs typeface="Open Sans"/>
                <a:sym typeface="Open Sans"/>
              </a:defRPr>
            </a:lvl5pPr>
            <a:lvl6pPr marL="0" lvl="5" indent="0" algn="ctr">
              <a:spcBef>
                <a:spcPts val="0"/>
              </a:spcBef>
              <a:buNone/>
              <a:defRPr sz="1400">
                <a:solidFill>
                  <a:schemeClr val="lt1"/>
                </a:solidFill>
                <a:latin typeface="Open Sans"/>
                <a:ea typeface="Open Sans"/>
                <a:cs typeface="Open Sans"/>
                <a:sym typeface="Open Sans"/>
              </a:defRPr>
            </a:lvl6pPr>
            <a:lvl7pPr marL="0" lvl="6" indent="0" algn="ctr">
              <a:spcBef>
                <a:spcPts val="0"/>
              </a:spcBef>
              <a:buNone/>
              <a:defRPr sz="1400">
                <a:solidFill>
                  <a:schemeClr val="lt1"/>
                </a:solidFill>
                <a:latin typeface="Open Sans"/>
                <a:ea typeface="Open Sans"/>
                <a:cs typeface="Open Sans"/>
                <a:sym typeface="Open Sans"/>
              </a:defRPr>
            </a:lvl7pPr>
            <a:lvl8pPr marL="0" lvl="7" indent="0" algn="ctr">
              <a:spcBef>
                <a:spcPts val="0"/>
              </a:spcBef>
              <a:buNone/>
              <a:defRPr sz="1400">
                <a:solidFill>
                  <a:schemeClr val="lt1"/>
                </a:solidFill>
                <a:latin typeface="Open Sans"/>
                <a:ea typeface="Open Sans"/>
                <a:cs typeface="Open Sans"/>
                <a:sym typeface="Open Sans"/>
              </a:defRPr>
            </a:lvl8pPr>
            <a:lvl9pPr marL="0" lvl="8" indent="0" algn="ctr">
              <a:spcBef>
                <a:spcPts val="0"/>
              </a:spcBef>
              <a:buNone/>
              <a:defRPr sz="1400">
                <a:solidFill>
                  <a:schemeClr val="lt1"/>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566" name="Google Shape;566;p303"/>
          <p:cNvSpPr/>
          <p:nvPr/>
        </p:nvSpPr>
        <p:spPr>
          <a:xfrm>
            <a:off x="1" y="404446"/>
            <a:ext cx="167054" cy="45146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67" name="Google Shape;567;p303"/>
          <p:cNvSpPr>
            <a:spLocks noGrp="1"/>
          </p:cNvSpPr>
          <p:nvPr>
            <p:ph type="pic" idx="2"/>
          </p:nvPr>
        </p:nvSpPr>
        <p:spPr>
          <a:xfrm>
            <a:off x="810168" y="1476074"/>
            <a:ext cx="5082086" cy="3024336"/>
          </a:xfrm>
          <a:prstGeom prst="rect">
            <a:avLst/>
          </a:prstGeom>
          <a:noFill/>
          <a:ln>
            <a:noFill/>
          </a:ln>
        </p:spPr>
      </p:sp>
      <p:sp>
        <p:nvSpPr>
          <p:cNvPr id="568" name="Google Shape;568;p303"/>
          <p:cNvSpPr>
            <a:spLocks noGrp="1"/>
          </p:cNvSpPr>
          <p:nvPr>
            <p:ph type="pic" idx="3"/>
          </p:nvPr>
        </p:nvSpPr>
        <p:spPr>
          <a:xfrm>
            <a:off x="6285936" y="1476074"/>
            <a:ext cx="5082086" cy="3024336"/>
          </a:xfrm>
          <a:prstGeom prst="rect">
            <a:avLst/>
          </a:prstGeom>
          <a:no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Portfolio Design">
  <p:cSld name="Portfolio Design">
    <p:spTree>
      <p:nvGrpSpPr>
        <p:cNvPr id="1" name="Shape 569"/>
        <p:cNvGrpSpPr/>
        <p:nvPr/>
      </p:nvGrpSpPr>
      <p:grpSpPr>
        <a:xfrm>
          <a:off x="0" y="0"/>
          <a:ext cx="0" cy="0"/>
          <a:chOff x="0" y="0"/>
          <a:chExt cx="0" cy="0"/>
        </a:xfrm>
      </p:grpSpPr>
      <p:sp>
        <p:nvSpPr>
          <p:cNvPr id="570" name="Google Shape;570;p30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Clr>
                <a:srgbClr val="595959"/>
              </a:buClr>
              <a:buSzPts val="3600"/>
              <a:buFont typeface="Calibri"/>
              <a:buNone/>
              <a:defRPr sz="3600">
                <a:solidFill>
                  <a:srgbClr val="5959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1" name="Google Shape;571;p30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2" name="Google Shape;572;p304"/>
          <p:cNvSpPr txBox="1">
            <a:spLocks noGrp="1"/>
          </p:cNvSpPr>
          <p:nvPr>
            <p:ph type="ftr" idx="11"/>
          </p:nvPr>
        </p:nvSpPr>
        <p:spPr>
          <a:xfrm>
            <a:off x="7719589" y="6356351"/>
            <a:ext cx="3859795" cy="365125"/>
          </a:xfrm>
          <a:prstGeom prst="rect">
            <a:avLst/>
          </a:prstGeom>
          <a:noFill/>
          <a:ln>
            <a:noFill/>
          </a:ln>
        </p:spPr>
        <p:txBody>
          <a:bodyPr spcFirstLastPara="1" wrap="square" lIns="121875" tIns="60925" rIns="121875" bIns="60925" anchor="ctr" anchorCtr="0">
            <a:noAutofit/>
          </a:bodyPr>
          <a:lstStyle>
            <a:lvl1pPr lvl="0" algn="r">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3" name="Google Shape;573;p304"/>
          <p:cNvSpPr txBox="1">
            <a:spLocks noGrp="1"/>
          </p:cNvSpPr>
          <p:nvPr>
            <p:ph type="sldNum" idx="12"/>
          </p:nvPr>
        </p:nvSpPr>
        <p:spPr>
          <a:xfrm>
            <a:off x="11711354" y="404446"/>
            <a:ext cx="477470" cy="451468"/>
          </a:xfrm>
          <a:prstGeom prst="rect">
            <a:avLst/>
          </a:prstGeom>
          <a:solidFill>
            <a:schemeClr val="accent4"/>
          </a:solidFill>
          <a:ln>
            <a:noFill/>
          </a:ln>
        </p:spPr>
        <p:txBody>
          <a:bodyPr spcFirstLastPara="1" wrap="square" lIns="121875" tIns="60925" rIns="121875" bIns="60925" anchor="ctr" anchorCtr="0">
            <a:noAutofit/>
          </a:bodyPr>
          <a:lstStyle>
            <a:lvl1pPr marL="0" lvl="0" indent="0" algn="ctr">
              <a:spcBef>
                <a:spcPts val="0"/>
              </a:spcBef>
              <a:buNone/>
              <a:defRPr sz="1400">
                <a:solidFill>
                  <a:schemeClr val="lt1"/>
                </a:solidFill>
                <a:latin typeface="Open Sans"/>
                <a:ea typeface="Open Sans"/>
                <a:cs typeface="Open Sans"/>
                <a:sym typeface="Open Sans"/>
              </a:defRPr>
            </a:lvl1pPr>
            <a:lvl2pPr marL="0" lvl="1" indent="0" algn="ctr">
              <a:spcBef>
                <a:spcPts val="0"/>
              </a:spcBef>
              <a:buNone/>
              <a:defRPr sz="1400">
                <a:solidFill>
                  <a:schemeClr val="lt1"/>
                </a:solidFill>
                <a:latin typeface="Open Sans"/>
                <a:ea typeface="Open Sans"/>
                <a:cs typeface="Open Sans"/>
                <a:sym typeface="Open Sans"/>
              </a:defRPr>
            </a:lvl2pPr>
            <a:lvl3pPr marL="0" lvl="2" indent="0" algn="ctr">
              <a:spcBef>
                <a:spcPts val="0"/>
              </a:spcBef>
              <a:buNone/>
              <a:defRPr sz="1400">
                <a:solidFill>
                  <a:schemeClr val="lt1"/>
                </a:solidFill>
                <a:latin typeface="Open Sans"/>
                <a:ea typeface="Open Sans"/>
                <a:cs typeface="Open Sans"/>
                <a:sym typeface="Open Sans"/>
              </a:defRPr>
            </a:lvl3pPr>
            <a:lvl4pPr marL="0" lvl="3" indent="0" algn="ctr">
              <a:spcBef>
                <a:spcPts val="0"/>
              </a:spcBef>
              <a:buNone/>
              <a:defRPr sz="1400">
                <a:solidFill>
                  <a:schemeClr val="lt1"/>
                </a:solidFill>
                <a:latin typeface="Open Sans"/>
                <a:ea typeface="Open Sans"/>
                <a:cs typeface="Open Sans"/>
                <a:sym typeface="Open Sans"/>
              </a:defRPr>
            </a:lvl4pPr>
            <a:lvl5pPr marL="0" lvl="4" indent="0" algn="ctr">
              <a:spcBef>
                <a:spcPts val="0"/>
              </a:spcBef>
              <a:buNone/>
              <a:defRPr sz="1400">
                <a:solidFill>
                  <a:schemeClr val="lt1"/>
                </a:solidFill>
                <a:latin typeface="Open Sans"/>
                <a:ea typeface="Open Sans"/>
                <a:cs typeface="Open Sans"/>
                <a:sym typeface="Open Sans"/>
              </a:defRPr>
            </a:lvl5pPr>
            <a:lvl6pPr marL="0" lvl="5" indent="0" algn="ctr">
              <a:spcBef>
                <a:spcPts val="0"/>
              </a:spcBef>
              <a:buNone/>
              <a:defRPr sz="1400">
                <a:solidFill>
                  <a:schemeClr val="lt1"/>
                </a:solidFill>
                <a:latin typeface="Open Sans"/>
                <a:ea typeface="Open Sans"/>
                <a:cs typeface="Open Sans"/>
                <a:sym typeface="Open Sans"/>
              </a:defRPr>
            </a:lvl6pPr>
            <a:lvl7pPr marL="0" lvl="6" indent="0" algn="ctr">
              <a:spcBef>
                <a:spcPts val="0"/>
              </a:spcBef>
              <a:buNone/>
              <a:defRPr sz="1400">
                <a:solidFill>
                  <a:schemeClr val="lt1"/>
                </a:solidFill>
                <a:latin typeface="Open Sans"/>
                <a:ea typeface="Open Sans"/>
                <a:cs typeface="Open Sans"/>
                <a:sym typeface="Open Sans"/>
              </a:defRPr>
            </a:lvl7pPr>
            <a:lvl8pPr marL="0" lvl="7" indent="0" algn="ctr">
              <a:spcBef>
                <a:spcPts val="0"/>
              </a:spcBef>
              <a:buNone/>
              <a:defRPr sz="1400">
                <a:solidFill>
                  <a:schemeClr val="lt1"/>
                </a:solidFill>
                <a:latin typeface="Open Sans"/>
                <a:ea typeface="Open Sans"/>
                <a:cs typeface="Open Sans"/>
                <a:sym typeface="Open Sans"/>
              </a:defRPr>
            </a:lvl8pPr>
            <a:lvl9pPr marL="0" lvl="8" indent="0" algn="ctr">
              <a:spcBef>
                <a:spcPts val="0"/>
              </a:spcBef>
              <a:buNone/>
              <a:defRPr sz="1400">
                <a:solidFill>
                  <a:schemeClr val="lt1"/>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574" name="Google Shape;574;p304"/>
          <p:cNvSpPr/>
          <p:nvPr/>
        </p:nvSpPr>
        <p:spPr>
          <a:xfrm>
            <a:off x="1" y="404446"/>
            <a:ext cx="167054" cy="45146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75" name="Google Shape;575;p304"/>
          <p:cNvSpPr>
            <a:spLocks noGrp="1"/>
          </p:cNvSpPr>
          <p:nvPr>
            <p:ph type="pic" idx="2"/>
          </p:nvPr>
        </p:nvSpPr>
        <p:spPr>
          <a:xfrm>
            <a:off x="609600" y="1355572"/>
            <a:ext cx="3336475" cy="4704432"/>
          </a:xfrm>
          <a:prstGeom prst="rect">
            <a:avLst/>
          </a:prstGeom>
          <a:noFill/>
          <a:ln>
            <a:noFill/>
          </a:ln>
        </p:spPr>
      </p:sp>
      <p:sp>
        <p:nvSpPr>
          <p:cNvPr id="576" name="Google Shape;576;p304"/>
          <p:cNvSpPr>
            <a:spLocks noGrp="1"/>
          </p:cNvSpPr>
          <p:nvPr>
            <p:ph type="pic" idx="3"/>
          </p:nvPr>
        </p:nvSpPr>
        <p:spPr>
          <a:xfrm>
            <a:off x="4018725" y="1355574"/>
            <a:ext cx="2465628" cy="2333558"/>
          </a:xfrm>
          <a:prstGeom prst="rect">
            <a:avLst/>
          </a:prstGeom>
          <a:noFill/>
          <a:ln>
            <a:noFill/>
          </a:ln>
        </p:spPr>
      </p:sp>
      <p:sp>
        <p:nvSpPr>
          <p:cNvPr id="577" name="Google Shape;577;p304"/>
          <p:cNvSpPr>
            <a:spLocks noGrp="1"/>
          </p:cNvSpPr>
          <p:nvPr>
            <p:ph type="pic" idx="4"/>
          </p:nvPr>
        </p:nvSpPr>
        <p:spPr>
          <a:xfrm>
            <a:off x="9095282" y="1355574"/>
            <a:ext cx="2465628" cy="2333558"/>
          </a:xfrm>
          <a:prstGeom prst="rect">
            <a:avLst/>
          </a:prstGeom>
          <a:noFill/>
          <a:ln>
            <a:noFill/>
          </a:ln>
        </p:spPr>
      </p:sp>
      <p:sp>
        <p:nvSpPr>
          <p:cNvPr id="578" name="Google Shape;578;p304"/>
          <p:cNvSpPr>
            <a:spLocks noGrp="1"/>
          </p:cNvSpPr>
          <p:nvPr>
            <p:ph type="pic" idx="5"/>
          </p:nvPr>
        </p:nvSpPr>
        <p:spPr>
          <a:xfrm>
            <a:off x="6557003" y="3752193"/>
            <a:ext cx="2465628" cy="2307811"/>
          </a:xfrm>
          <a:prstGeom prst="rect">
            <a:avLst/>
          </a:prstGeom>
          <a:noFill/>
          <a:ln>
            <a:noFill/>
          </a:ln>
        </p:spPr>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Case Study">
  <p:cSld name="Case Study">
    <p:spTree>
      <p:nvGrpSpPr>
        <p:cNvPr id="1" name="Shape 579"/>
        <p:cNvGrpSpPr/>
        <p:nvPr/>
      </p:nvGrpSpPr>
      <p:grpSpPr>
        <a:xfrm>
          <a:off x="0" y="0"/>
          <a:ext cx="0" cy="0"/>
          <a:chOff x="0" y="0"/>
          <a:chExt cx="0" cy="0"/>
        </a:xfrm>
      </p:grpSpPr>
      <p:sp>
        <p:nvSpPr>
          <p:cNvPr id="580" name="Google Shape;580;p30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Clr>
                <a:srgbClr val="595959"/>
              </a:buClr>
              <a:buSzPts val="3600"/>
              <a:buFont typeface="Calibri"/>
              <a:buNone/>
              <a:defRPr sz="3600">
                <a:solidFill>
                  <a:srgbClr val="5959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1" name="Google Shape;581;p30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2" name="Google Shape;582;p305"/>
          <p:cNvSpPr txBox="1">
            <a:spLocks noGrp="1"/>
          </p:cNvSpPr>
          <p:nvPr>
            <p:ph type="ftr" idx="11"/>
          </p:nvPr>
        </p:nvSpPr>
        <p:spPr>
          <a:xfrm>
            <a:off x="7719589" y="6356351"/>
            <a:ext cx="3859795" cy="365125"/>
          </a:xfrm>
          <a:prstGeom prst="rect">
            <a:avLst/>
          </a:prstGeom>
          <a:noFill/>
          <a:ln>
            <a:noFill/>
          </a:ln>
        </p:spPr>
        <p:txBody>
          <a:bodyPr spcFirstLastPara="1" wrap="square" lIns="121875" tIns="60925" rIns="121875" bIns="60925" anchor="ctr" anchorCtr="0">
            <a:noAutofit/>
          </a:bodyPr>
          <a:lstStyle>
            <a:lvl1pPr lvl="0" algn="r">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3" name="Google Shape;583;p305"/>
          <p:cNvSpPr txBox="1">
            <a:spLocks noGrp="1"/>
          </p:cNvSpPr>
          <p:nvPr>
            <p:ph type="sldNum" idx="12"/>
          </p:nvPr>
        </p:nvSpPr>
        <p:spPr>
          <a:xfrm>
            <a:off x="11711354" y="404446"/>
            <a:ext cx="477470" cy="451468"/>
          </a:xfrm>
          <a:prstGeom prst="rect">
            <a:avLst/>
          </a:prstGeom>
          <a:solidFill>
            <a:schemeClr val="accent4"/>
          </a:solidFill>
          <a:ln>
            <a:noFill/>
          </a:ln>
        </p:spPr>
        <p:txBody>
          <a:bodyPr spcFirstLastPara="1" wrap="square" lIns="121875" tIns="60925" rIns="121875" bIns="60925" anchor="ctr" anchorCtr="0">
            <a:noAutofit/>
          </a:bodyPr>
          <a:lstStyle>
            <a:lvl1pPr marL="0" lvl="0" indent="0" algn="ctr">
              <a:spcBef>
                <a:spcPts val="0"/>
              </a:spcBef>
              <a:buNone/>
              <a:defRPr sz="1400">
                <a:solidFill>
                  <a:schemeClr val="lt1"/>
                </a:solidFill>
                <a:latin typeface="Open Sans"/>
                <a:ea typeface="Open Sans"/>
                <a:cs typeface="Open Sans"/>
                <a:sym typeface="Open Sans"/>
              </a:defRPr>
            </a:lvl1pPr>
            <a:lvl2pPr marL="0" lvl="1" indent="0" algn="ctr">
              <a:spcBef>
                <a:spcPts val="0"/>
              </a:spcBef>
              <a:buNone/>
              <a:defRPr sz="1400">
                <a:solidFill>
                  <a:schemeClr val="lt1"/>
                </a:solidFill>
                <a:latin typeface="Open Sans"/>
                <a:ea typeface="Open Sans"/>
                <a:cs typeface="Open Sans"/>
                <a:sym typeface="Open Sans"/>
              </a:defRPr>
            </a:lvl2pPr>
            <a:lvl3pPr marL="0" lvl="2" indent="0" algn="ctr">
              <a:spcBef>
                <a:spcPts val="0"/>
              </a:spcBef>
              <a:buNone/>
              <a:defRPr sz="1400">
                <a:solidFill>
                  <a:schemeClr val="lt1"/>
                </a:solidFill>
                <a:latin typeface="Open Sans"/>
                <a:ea typeface="Open Sans"/>
                <a:cs typeface="Open Sans"/>
                <a:sym typeface="Open Sans"/>
              </a:defRPr>
            </a:lvl3pPr>
            <a:lvl4pPr marL="0" lvl="3" indent="0" algn="ctr">
              <a:spcBef>
                <a:spcPts val="0"/>
              </a:spcBef>
              <a:buNone/>
              <a:defRPr sz="1400">
                <a:solidFill>
                  <a:schemeClr val="lt1"/>
                </a:solidFill>
                <a:latin typeface="Open Sans"/>
                <a:ea typeface="Open Sans"/>
                <a:cs typeface="Open Sans"/>
                <a:sym typeface="Open Sans"/>
              </a:defRPr>
            </a:lvl4pPr>
            <a:lvl5pPr marL="0" lvl="4" indent="0" algn="ctr">
              <a:spcBef>
                <a:spcPts val="0"/>
              </a:spcBef>
              <a:buNone/>
              <a:defRPr sz="1400">
                <a:solidFill>
                  <a:schemeClr val="lt1"/>
                </a:solidFill>
                <a:latin typeface="Open Sans"/>
                <a:ea typeface="Open Sans"/>
                <a:cs typeface="Open Sans"/>
                <a:sym typeface="Open Sans"/>
              </a:defRPr>
            </a:lvl5pPr>
            <a:lvl6pPr marL="0" lvl="5" indent="0" algn="ctr">
              <a:spcBef>
                <a:spcPts val="0"/>
              </a:spcBef>
              <a:buNone/>
              <a:defRPr sz="1400">
                <a:solidFill>
                  <a:schemeClr val="lt1"/>
                </a:solidFill>
                <a:latin typeface="Open Sans"/>
                <a:ea typeface="Open Sans"/>
                <a:cs typeface="Open Sans"/>
                <a:sym typeface="Open Sans"/>
              </a:defRPr>
            </a:lvl6pPr>
            <a:lvl7pPr marL="0" lvl="6" indent="0" algn="ctr">
              <a:spcBef>
                <a:spcPts val="0"/>
              </a:spcBef>
              <a:buNone/>
              <a:defRPr sz="1400">
                <a:solidFill>
                  <a:schemeClr val="lt1"/>
                </a:solidFill>
                <a:latin typeface="Open Sans"/>
                <a:ea typeface="Open Sans"/>
                <a:cs typeface="Open Sans"/>
                <a:sym typeface="Open Sans"/>
              </a:defRPr>
            </a:lvl7pPr>
            <a:lvl8pPr marL="0" lvl="7" indent="0" algn="ctr">
              <a:spcBef>
                <a:spcPts val="0"/>
              </a:spcBef>
              <a:buNone/>
              <a:defRPr sz="1400">
                <a:solidFill>
                  <a:schemeClr val="lt1"/>
                </a:solidFill>
                <a:latin typeface="Open Sans"/>
                <a:ea typeface="Open Sans"/>
                <a:cs typeface="Open Sans"/>
                <a:sym typeface="Open Sans"/>
              </a:defRPr>
            </a:lvl8pPr>
            <a:lvl9pPr marL="0" lvl="8" indent="0" algn="ctr">
              <a:spcBef>
                <a:spcPts val="0"/>
              </a:spcBef>
              <a:buNone/>
              <a:defRPr sz="1400">
                <a:solidFill>
                  <a:schemeClr val="lt1"/>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584" name="Google Shape;584;p305"/>
          <p:cNvSpPr/>
          <p:nvPr/>
        </p:nvSpPr>
        <p:spPr>
          <a:xfrm>
            <a:off x="1" y="404446"/>
            <a:ext cx="167054" cy="45146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85" name="Google Shape;585;p305"/>
          <p:cNvSpPr>
            <a:spLocks noGrp="1"/>
          </p:cNvSpPr>
          <p:nvPr>
            <p:ph type="pic" idx="2"/>
          </p:nvPr>
        </p:nvSpPr>
        <p:spPr>
          <a:xfrm>
            <a:off x="765820" y="1556792"/>
            <a:ext cx="4092092" cy="4090386"/>
          </a:xfrm>
          <a:prstGeom prst="ellipse">
            <a:avLst/>
          </a:prstGeom>
          <a:solidFill>
            <a:srgbClr val="F2F2F2"/>
          </a:solidFill>
          <a:ln>
            <a:noFill/>
          </a:ln>
        </p:spPr>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BIO">
  <p:cSld name="BIO">
    <p:bg>
      <p:bgPr>
        <a:solidFill>
          <a:schemeClr val="accent1"/>
        </a:solidFill>
        <a:effectLst/>
      </p:bgPr>
    </p:bg>
    <p:spTree>
      <p:nvGrpSpPr>
        <p:cNvPr id="1" name="Shape 586"/>
        <p:cNvGrpSpPr/>
        <p:nvPr/>
      </p:nvGrpSpPr>
      <p:grpSpPr>
        <a:xfrm>
          <a:off x="0" y="0"/>
          <a:ext cx="0" cy="0"/>
          <a:chOff x="0" y="0"/>
          <a:chExt cx="0" cy="0"/>
        </a:xfrm>
      </p:grpSpPr>
      <p:sp>
        <p:nvSpPr>
          <p:cNvPr id="587" name="Google Shape;587;p306"/>
          <p:cNvSpPr/>
          <p:nvPr/>
        </p:nvSpPr>
        <p:spPr>
          <a:xfrm>
            <a:off x="5446340" y="0"/>
            <a:ext cx="6742485"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88" name="Google Shape;588;p30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9" name="Google Shape;589;p30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0" name="Google Shape;590;p306"/>
          <p:cNvSpPr txBox="1">
            <a:spLocks noGrp="1"/>
          </p:cNvSpPr>
          <p:nvPr>
            <p:ph type="ftr" idx="11"/>
          </p:nvPr>
        </p:nvSpPr>
        <p:spPr>
          <a:xfrm>
            <a:off x="7719589" y="6356351"/>
            <a:ext cx="3859795" cy="365125"/>
          </a:xfrm>
          <a:prstGeom prst="rect">
            <a:avLst/>
          </a:prstGeom>
          <a:noFill/>
          <a:ln>
            <a:noFill/>
          </a:ln>
        </p:spPr>
        <p:txBody>
          <a:bodyPr spcFirstLastPara="1" wrap="square" lIns="121875" tIns="60925" rIns="121875" bIns="60925" anchor="ctr" anchorCtr="0">
            <a:noAutofit/>
          </a:bodyPr>
          <a:lstStyle>
            <a:lvl1pPr lvl="0" algn="r">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1" name="Google Shape;591;p306"/>
          <p:cNvSpPr txBox="1">
            <a:spLocks noGrp="1"/>
          </p:cNvSpPr>
          <p:nvPr>
            <p:ph type="sldNum" idx="12"/>
          </p:nvPr>
        </p:nvSpPr>
        <p:spPr>
          <a:xfrm>
            <a:off x="11711354" y="404446"/>
            <a:ext cx="477470" cy="451468"/>
          </a:xfrm>
          <a:prstGeom prst="rect">
            <a:avLst/>
          </a:prstGeom>
          <a:solidFill>
            <a:schemeClr val="accent5"/>
          </a:solidFill>
          <a:ln>
            <a:noFill/>
          </a:ln>
        </p:spPr>
        <p:txBody>
          <a:bodyPr spcFirstLastPara="1" wrap="square" lIns="121875" tIns="60925" rIns="121875" bIns="60925" anchor="ctr" anchorCtr="0">
            <a:noAutofit/>
          </a:bodyPr>
          <a:lstStyle>
            <a:lvl1pPr marL="0" lvl="0" indent="0" algn="ctr">
              <a:spcBef>
                <a:spcPts val="0"/>
              </a:spcBef>
              <a:buNone/>
              <a:defRPr sz="1400">
                <a:solidFill>
                  <a:schemeClr val="lt1"/>
                </a:solidFill>
                <a:latin typeface="Open Sans"/>
                <a:ea typeface="Open Sans"/>
                <a:cs typeface="Open Sans"/>
                <a:sym typeface="Open Sans"/>
              </a:defRPr>
            </a:lvl1pPr>
            <a:lvl2pPr marL="0" lvl="1" indent="0" algn="ctr">
              <a:spcBef>
                <a:spcPts val="0"/>
              </a:spcBef>
              <a:buNone/>
              <a:defRPr sz="1400">
                <a:solidFill>
                  <a:schemeClr val="lt1"/>
                </a:solidFill>
                <a:latin typeface="Open Sans"/>
                <a:ea typeface="Open Sans"/>
                <a:cs typeface="Open Sans"/>
                <a:sym typeface="Open Sans"/>
              </a:defRPr>
            </a:lvl2pPr>
            <a:lvl3pPr marL="0" lvl="2" indent="0" algn="ctr">
              <a:spcBef>
                <a:spcPts val="0"/>
              </a:spcBef>
              <a:buNone/>
              <a:defRPr sz="1400">
                <a:solidFill>
                  <a:schemeClr val="lt1"/>
                </a:solidFill>
                <a:latin typeface="Open Sans"/>
                <a:ea typeface="Open Sans"/>
                <a:cs typeface="Open Sans"/>
                <a:sym typeface="Open Sans"/>
              </a:defRPr>
            </a:lvl3pPr>
            <a:lvl4pPr marL="0" lvl="3" indent="0" algn="ctr">
              <a:spcBef>
                <a:spcPts val="0"/>
              </a:spcBef>
              <a:buNone/>
              <a:defRPr sz="1400">
                <a:solidFill>
                  <a:schemeClr val="lt1"/>
                </a:solidFill>
                <a:latin typeface="Open Sans"/>
                <a:ea typeface="Open Sans"/>
                <a:cs typeface="Open Sans"/>
                <a:sym typeface="Open Sans"/>
              </a:defRPr>
            </a:lvl4pPr>
            <a:lvl5pPr marL="0" lvl="4" indent="0" algn="ctr">
              <a:spcBef>
                <a:spcPts val="0"/>
              </a:spcBef>
              <a:buNone/>
              <a:defRPr sz="1400">
                <a:solidFill>
                  <a:schemeClr val="lt1"/>
                </a:solidFill>
                <a:latin typeface="Open Sans"/>
                <a:ea typeface="Open Sans"/>
                <a:cs typeface="Open Sans"/>
                <a:sym typeface="Open Sans"/>
              </a:defRPr>
            </a:lvl5pPr>
            <a:lvl6pPr marL="0" lvl="5" indent="0" algn="ctr">
              <a:spcBef>
                <a:spcPts val="0"/>
              </a:spcBef>
              <a:buNone/>
              <a:defRPr sz="1400">
                <a:solidFill>
                  <a:schemeClr val="lt1"/>
                </a:solidFill>
                <a:latin typeface="Open Sans"/>
                <a:ea typeface="Open Sans"/>
                <a:cs typeface="Open Sans"/>
                <a:sym typeface="Open Sans"/>
              </a:defRPr>
            </a:lvl6pPr>
            <a:lvl7pPr marL="0" lvl="6" indent="0" algn="ctr">
              <a:spcBef>
                <a:spcPts val="0"/>
              </a:spcBef>
              <a:buNone/>
              <a:defRPr sz="1400">
                <a:solidFill>
                  <a:schemeClr val="lt1"/>
                </a:solidFill>
                <a:latin typeface="Open Sans"/>
                <a:ea typeface="Open Sans"/>
                <a:cs typeface="Open Sans"/>
                <a:sym typeface="Open Sans"/>
              </a:defRPr>
            </a:lvl7pPr>
            <a:lvl8pPr marL="0" lvl="7" indent="0" algn="ctr">
              <a:spcBef>
                <a:spcPts val="0"/>
              </a:spcBef>
              <a:buNone/>
              <a:defRPr sz="1400">
                <a:solidFill>
                  <a:schemeClr val="lt1"/>
                </a:solidFill>
                <a:latin typeface="Open Sans"/>
                <a:ea typeface="Open Sans"/>
                <a:cs typeface="Open Sans"/>
                <a:sym typeface="Open Sans"/>
              </a:defRPr>
            </a:lvl8pPr>
            <a:lvl9pPr marL="0" lvl="8" indent="0" algn="ctr">
              <a:spcBef>
                <a:spcPts val="0"/>
              </a:spcBef>
              <a:buNone/>
              <a:defRPr sz="1400">
                <a:solidFill>
                  <a:schemeClr val="lt1"/>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592" name="Google Shape;592;p306"/>
          <p:cNvSpPr/>
          <p:nvPr/>
        </p:nvSpPr>
        <p:spPr>
          <a:xfrm>
            <a:off x="1" y="404446"/>
            <a:ext cx="167054" cy="45146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93" name="Google Shape;593;p306"/>
          <p:cNvSpPr>
            <a:spLocks noGrp="1"/>
          </p:cNvSpPr>
          <p:nvPr>
            <p:ph type="pic" idx="2"/>
          </p:nvPr>
        </p:nvSpPr>
        <p:spPr>
          <a:xfrm>
            <a:off x="1435656" y="1676534"/>
            <a:ext cx="2449990" cy="2449990"/>
          </a:xfrm>
          <a:prstGeom prst="ellipse">
            <a:avLst/>
          </a:prstGeom>
          <a:noFill/>
          <a:ln w="38100" cap="flat" cmpd="sng">
            <a:solidFill>
              <a:schemeClr val="accent6"/>
            </a:solidFill>
            <a:prstDash val="solid"/>
            <a:round/>
            <a:headEnd type="none" w="sm" len="sm"/>
            <a:tailEnd type="none" w="sm" len="sm"/>
          </a:ln>
        </p:spPr>
      </p:sp>
      <p:sp>
        <p:nvSpPr>
          <p:cNvPr id="594" name="Google Shape;594;p306"/>
          <p:cNvSpPr txBox="1">
            <a:spLocks noGrp="1"/>
          </p:cNvSpPr>
          <p:nvPr>
            <p:ph type="body" idx="1"/>
          </p:nvPr>
        </p:nvSpPr>
        <p:spPr>
          <a:xfrm>
            <a:off x="6094413" y="2290717"/>
            <a:ext cx="5484812" cy="3671614"/>
          </a:xfrm>
          <a:prstGeom prst="rect">
            <a:avLst/>
          </a:prstGeom>
          <a:noFill/>
          <a:ln>
            <a:noFill/>
          </a:ln>
        </p:spPr>
        <p:txBody>
          <a:bodyPr spcFirstLastPara="1" wrap="square" lIns="121875" tIns="60925" rIns="121875" bIns="60925" anchor="t" anchorCtr="0">
            <a:normAutofit/>
          </a:bodyPr>
          <a:lstStyle>
            <a:lvl1pPr marL="457200" lvl="0" indent="-228600" algn="l">
              <a:spcBef>
                <a:spcPts val="320"/>
              </a:spcBef>
              <a:spcAft>
                <a:spcPts val="0"/>
              </a:spcAft>
              <a:buClr>
                <a:schemeClr val="lt1"/>
              </a:buClr>
              <a:buSzPts val="1600"/>
              <a:buFont typeface="Calibri"/>
              <a:buNone/>
              <a:defRPr sz="1600">
                <a:solidFill>
                  <a:schemeClr val="lt1"/>
                </a:solidFill>
              </a:defRPr>
            </a:lvl1pPr>
            <a:lvl2pPr marL="914400" lvl="1" indent="-228600" algn="l">
              <a:spcBef>
                <a:spcPts val="640"/>
              </a:spcBef>
              <a:spcAft>
                <a:spcPts val="0"/>
              </a:spcAft>
              <a:buClr>
                <a:schemeClr val="lt1"/>
              </a:buClr>
              <a:buSzPts val="3200"/>
              <a:buFont typeface="Calibri"/>
              <a:buNone/>
              <a:defRPr>
                <a:solidFill>
                  <a:schemeClr val="lt1"/>
                </a:solidFill>
              </a:defRPr>
            </a:lvl2pPr>
            <a:lvl3pPr marL="1371600" lvl="2" indent="-228600" algn="l">
              <a:spcBef>
                <a:spcPts val="480"/>
              </a:spcBef>
              <a:spcAft>
                <a:spcPts val="0"/>
              </a:spcAft>
              <a:buClr>
                <a:schemeClr val="lt1"/>
              </a:buClr>
              <a:buSzPts val="2400"/>
              <a:buFont typeface="Calibri"/>
              <a:buNone/>
              <a:defRPr>
                <a:solidFill>
                  <a:schemeClr val="lt1"/>
                </a:solidFill>
              </a:defRPr>
            </a:lvl3pPr>
            <a:lvl4pPr marL="1828800" lvl="3" indent="-228600" algn="l">
              <a:spcBef>
                <a:spcPts val="400"/>
              </a:spcBef>
              <a:spcAft>
                <a:spcPts val="0"/>
              </a:spcAft>
              <a:buClr>
                <a:schemeClr val="lt1"/>
              </a:buClr>
              <a:buSzPts val="2000"/>
              <a:buFont typeface="Calibri"/>
              <a:buNone/>
              <a:defRPr>
                <a:solidFill>
                  <a:schemeClr val="lt1"/>
                </a:solidFill>
              </a:defRPr>
            </a:lvl4pPr>
            <a:lvl5pPr marL="2286000" lvl="4" indent="-228600" algn="l">
              <a:spcBef>
                <a:spcPts val="400"/>
              </a:spcBef>
              <a:spcAft>
                <a:spcPts val="0"/>
              </a:spcAft>
              <a:buClr>
                <a:schemeClr val="lt1"/>
              </a:buClr>
              <a:buSzPts val="2000"/>
              <a:buFont typeface="Calibri"/>
              <a:buNone/>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95" name="Google Shape;595;p306"/>
          <p:cNvSpPr txBox="1">
            <a:spLocks noGrp="1"/>
          </p:cNvSpPr>
          <p:nvPr>
            <p:ph type="body" idx="3"/>
          </p:nvPr>
        </p:nvSpPr>
        <p:spPr>
          <a:xfrm>
            <a:off x="6094413" y="1212194"/>
            <a:ext cx="5484812" cy="942000"/>
          </a:xfrm>
          <a:prstGeom prst="rect">
            <a:avLst/>
          </a:prstGeom>
          <a:noFill/>
          <a:ln>
            <a:noFill/>
          </a:ln>
        </p:spPr>
        <p:txBody>
          <a:bodyPr spcFirstLastPara="1" wrap="square" lIns="121875" tIns="60925" rIns="121875" bIns="60925" anchor="b" anchorCtr="0">
            <a:noAutofit/>
          </a:bodyPr>
          <a:lstStyle>
            <a:lvl1pPr marL="457200" lvl="0" indent="-228600" algn="l">
              <a:spcBef>
                <a:spcPts val="960"/>
              </a:spcBef>
              <a:spcAft>
                <a:spcPts val="0"/>
              </a:spcAft>
              <a:buClr>
                <a:schemeClr val="lt1"/>
              </a:buClr>
              <a:buSzPts val="4800"/>
              <a:buFont typeface="Calibri"/>
              <a:buNone/>
              <a:defRPr sz="4800" b="1">
                <a:solidFill>
                  <a:schemeClr val="lt1"/>
                </a:solidFill>
              </a:defRPr>
            </a:lvl1pPr>
            <a:lvl2pPr marL="914400" lvl="1" indent="-228600" algn="l">
              <a:spcBef>
                <a:spcPts val="640"/>
              </a:spcBef>
              <a:spcAft>
                <a:spcPts val="0"/>
              </a:spcAft>
              <a:buClr>
                <a:schemeClr val="lt1"/>
              </a:buClr>
              <a:buSzPts val="3200"/>
              <a:buFont typeface="Calibri"/>
              <a:buNone/>
              <a:defRPr>
                <a:solidFill>
                  <a:schemeClr val="lt1"/>
                </a:solidFill>
              </a:defRPr>
            </a:lvl2pPr>
            <a:lvl3pPr marL="1371600" lvl="2" indent="-228600" algn="l">
              <a:spcBef>
                <a:spcPts val="480"/>
              </a:spcBef>
              <a:spcAft>
                <a:spcPts val="0"/>
              </a:spcAft>
              <a:buClr>
                <a:schemeClr val="lt1"/>
              </a:buClr>
              <a:buSzPts val="2400"/>
              <a:buFont typeface="Calibri"/>
              <a:buNone/>
              <a:defRPr>
                <a:solidFill>
                  <a:schemeClr val="lt1"/>
                </a:solidFill>
              </a:defRPr>
            </a:lvl3pPr>
            <a:lvl4pPr marL="1828800" lvl="3" indent="-228600" algn="l">
              <a:spcBef>
                <a:spcPts val="400"/>
              </a:spcBef>
              <a:spcAft>
                <a:spcPts val="0"/>
              </a:spcAft>
              <a:buClr>
                <a:schemeClr val="lt1"/>
              </a:buClr>
              <a:buSzPts val="2000"/>
              <a:buFont typeface="Calibri"/>
              <a:buNone/>
              <a:defRPr>
                <a:solidFill>
                  <a:schemeClr val="lt1"/>
                </a:solidFill>
              </a:defRPr>
            </a:lvl4pPr>
            <a:lvl5pPr marL="2286000" lvl="4" indent="-228600" algn="l">
              <a:spcBef>
                <a:spcPts val="400"/>
              </a:spcBef>
              <a:spcAft>
                <a:spcPts val="0"/>
              </a:spcAft>
              <a:buClr>
                <a:schemeClr val="lt1"/>
              </a:buClr>
              <a:buSzPts val="2000"/>
              <a:buFont typeface="Calibri"/>
              <a:buNone/>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Title Only" type="titleOnly">
  <p:cSld name="TITLE_ONLY">
    <p:bg>
      <p:bgPr>
        <a:solidFill>
          <a:schemeClr val="accent1"/>
        </a:solidFill>
        <a:effectLst/>
      </p:bgPr>
    </p:bg>
    <p:spTree>
      <p:nvGrpSpPr>
        <p:cNvPr id="1" name="Shape 596"/>
        <p:cNvGrpSpPr/>
        <p:nvPr/>
      </p:nvGrpSpPr>
      <p:grpSpPr>
        <a:xfrm>
          <a:off x="0" y="0"/>
          <a:ext cx="0" cy="0"/>
          <a:chOff x="0" y="0"/>
          <a:chExt cx="0" cy="0"/>
        </a:xfrm>
      </p:grpSpPr>
      <p:sp>
        <p:nvSpPr>
          <p:cNvPr id="597" name="Google Shape;597;p307"/>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8" name="Google Shape;598;p30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9" name="Google Shape;599;p307"/>
          <p:cNvSpPr txBox="1">
            <a:spLocks noGrp="1"/>
          </p:cNvSpPr>
          <p:nvPr>
            <p:ph type="ftr" idx="11"/>
          </p:nvPr>
        </p:nvSpPr>
        <p:spPr>
          <a:xfrm>
            <a:off x="7719589" y="6356351"/>
            <a:ext cx="3859795" cy="365125"/>
          </a:xfrm>
          <a:prstGeom prst="rect">
            <a:avLst/>
          </a:prstGeom>
          <a:noFill/>
          <a:ln>
            <a:noFill/>
          </a:ln>
        </p:spPr>
        <p:txBody>
          <a:bodyPr spcFirstLastPara="1" wrap="square" lIns="121875" tIns="60925" rIns="121875" bIns="60925" anchor="ctr" anchorCtr="0">
            <a:noAutofit/>
          </a:bodyPr>
          <a:lstStyle>
            <a:lvl1pPr lvl="0" algn="r">
              <a:spcBef>
                <a:spcPts val="0"/>
              </a:spcBef>
              <a:spcAft>
                <a:spcPts val="0"/>
              </a:spcAft>
              <a:buSzPts val="1400"/>
              <a:buNone/>
              <a:defRPr sz="1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0" name="Google Shape;600;p307"/>
          <p:cNvSpPr txBox="1">
            <a:spLocks noGrp="1"/>
          </p:cNvSpPr>
          <p:nvPr>
            <p:ph type="sldNum" idx="12"/>
          </p:nvPr>
        </p:nvSpPr>
        <p:spPr>
          <a:xfrm>
            <a:off x="11711354" y="404446"/>
            <a:ext cx="477470" cy="451468"/>
          </a:xfrm>
          <a:prstGeom prst="rect">
            <a:avLst/>
          </a:prstGeom>
          <a:solidFill>
            <a:schemeClr val="accent4"/>
          </a:solidFill>
          <a:ln>
            <a:noFill/>
          </a:ln>
        </p:spPr>
        <p:txBody>
          <a:bodyPr spcFirstLastPara="1" wrap="square" lIns="121875" tIns="60925" rIns="121875" bIns="60925" anchor="ctr" anchorCtr="0">
            <a:noAutofit/>
          </a:bodyPr>
          <a:lstStyle>
            <a:lvl1pPr marL="0" lvl="0" indent="0" algn="ctr">
              <a:spcBef>
                <a:spcPts val="0"/>
              </a:spcBef>
              <a:buNone/>
              <a:defRPr sz="1400">
                <a:solidFill>
                  <a:schemeClr val="lt1"/>
                </a:solidFill>
                <a:latin typeface="Open Sans"/>
                <a:ea typeface="Open Sans"/>
                <a:cs typeface="Open Sans"/>
                <a:sym typeface="Open Sans"/>
              </a:defRPr>
            </a:lvl1pPr>
            <a:lvl2pPr marL="0" lvl="1" indent="0" algn="ctr">
              <a:spcBef>
                <a:spcPts val="0"/>
              </a:spcBef>
              <a:buNone/>
              <a:defRPr sz="1400">
                <a:solidFill>
                  <a:schemeClr val="lt1"/>
                </a:solidFill>
                <a:latin typeface="Open Sans"/>
                <a:ea typeface="Open Sans"/>
                <a:cs typeface="Open Sans"/>
                <a:sym typeface="Open Sans"/>
              </a:defRPr>
            </a:lvl2pPr>
            <a:lvl3pPr marL="0" lvl="2" indent="0" algn="ctr">
              <a:spcBef>
                <a:spcPts val="0"/>
              </a:spcBef>
              <a:buNone/>
              <a:defRPr sz="1400">
                <a:solidFill>
                  <a:schemeClr val="lt1"/>
                </a:solidFill>
                <a:latin typeface="Open Sans"/>
                <a:ea typeface="Open Sans"/>
                <a:cs typeface="Open Sans"/>
                <a:sym typeface="Open Sans"/>
              </a:defRPr>
            </a:lvl3pPr>
            <a:lvl4pPr marL="0" lvl="3" indent="0" algn="ctr">
              <a:spcBef>
                <a:spcPts val="0"/>
              </a:spcBef>
              <a:buNone/>
              <a:defRPr sz="1400">
                <a:solidFill>
                  <a:schemeClr val="lt1"/>
                </a:solidFill>
                <a:latin typeface="Open Sans"/>
                <a:ea typeface="Open Sans"/>
                <a:cs typeface="Open Sans"/>
                <a:sym typeface="Open Sans"/>
              </a:defRPr>
            </a:lvl4pPr>
            <a:lvl5pPr marL="0" lvl="4" indent="0" algn="ctr">
              <a:spcBef>
                <a:spcPts val="0"/>
              </a:spcBef>
              <a:buNone/>
              <a:defRPr sz="1400">
                <a:solidFill>
                  <a:schemeClr val="lt1"/>
                </a:solidFill>
                <a:latin typeface="Open Sans"/>
                <a:ea typeface="Open Sans"/>
                <a:cs typeface="Open Sans"/>
                <a:sym typeface="Open Sans"/>
              </a:defRPr>
            </a:lvl5pPr>
            <a:lvl6pPr marL="0" lvl="5" indent="0" algn="ctr">
              <a:spcBef>
                <a:spcPts val="0"/>
              </a:spcBef>
              <a:buNone/>
              <a:defRPr sz="1400">
                <a:solidFill>
                  <a:schemeClr val="lt1"/>
                </a:solidFill>
                <a:latin typeface="Open Sans"/>
                <a:ea typeface="Open Sans"/>
                <a:cs typeface="Open Sans"/>
                <a:sym typeface="Open Sans"/>
              </a:defRPr>
            </a:lvl6pPr>
            <a:lvl7pPr marL="0" lvl="6" indent="0" algn="ctr">
              <a:spcBef>
                <a:spcPts val="0"/>
              </a:spcBef>
              <a:buNone/>
              <a:defRPr sz="1400">
                <a:solidFill>
                  <a:schemeClr val="lt1"/>
                </a:solidFill>
                <a:latin typeface="Open Sans"/>
                <a:ea typeface="Open Sans"/>
                <a:cs typeface="Open Sans"/>
                <a:sym typeface="Open Sans"/>
              </a:defRPr>
            </a:lvl7pPr>
            <a:lvl8pPr marL="0" lvl="7" indent="0" algn="ctr">
              <a:spcBef>
                <a:spcPts val="0"/>
              </a:spcBef>
              <a:buNone/>
              <a:defRPr sz="1400">
                <a:solidFill>
                  <a:schemeClr val="lt1"/>
                </a:solidFill>
                <a:latin typeface="Open Sans"/>
                <a:ea typeface="Open Sans"/>
                <a:cs typeface="Open Sans"/>
                <a:sym typeface="Open Sans"/>
              </a:defRPr>
            </a:lvl8pPr>
            <a:lvl9pPr marL="0" lvl="8" indent="0" algn="ctr">
              <a:spcBef>
                <a:spcPts val="0"/>
              </a:spcBef>
              <a:buNone/>
              <a:defRPr sz="1400">
                <a:solidFill>
                  <a:schemeClr val="lt1"/>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601" name="Google Shape;601;p307"/>
          <p:cNvSpPr/>
          <p:nvPr/>
        </p:nvSpPr>
        <p:spPr>
          <a:xfrm>
            <a:off x="1" y="404446"/>
            <a:ext cx="167054" cy="45146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602"/>
        <p:cNvGrpSpPr/>
        <p:nvPr/>
      </p:nvGrpSpPr>
      <p:grpSpPr>
        <a:xfrm>
          <a:off x="0" y="0"/>
          <a:ext cx="0" cy="0"/>
          <a:chOff x="0" y="0"/>
          <a:chExt cx="0" cy="0"/>
        </a:xfrm>
      </p:grpSpPr>
      <p:sp>
        <p:nvSpPr>
          <p:cNvPr id="603" name="Google Shape;603;p308"/>
          <p:cNvSpPr>
            <a:spLocks noGrp="1"/>
          </p:cNvSpPr>
          <p:nvPr>
            <p:ph type="pic" idx="2"/>
          </p:nvPr>
        </p:nvSpPr>
        <p:spPr>
          <a:xfrm>
            <a:off x="1343" y="0"/>
            <a:ext cx="12186138" cy="6858000"/>
          </a:xfrm>
          <a:prstGeom prst="rect">
            <a:avLst/>
          </a:prstGeom>
          <a:noFill/>
          <a:ln>
            <a:noFill/>
          </a:ln>
        </p:spPr>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Mission">
  <p:cSld name="Mission">
    <p:spTree>
      <p:nvGrpSpPr>
        <p:cNvPr id="1" name="Shape 604"/>
        <p:cNvGrpSpPr/>
        <p:nvPr/>
      </p:nvGrpSpPr>
      <p:grpSpPr>
        <a:xfrm>
          <a:off x="0" y="0"/>
          <a:ext cx="0" cy="0"/>
          <a:chOff x="0" y="0"/>
          <a:chExt cx="0" cy="0"/>
        </a:xfrm>
      </p:grpSpPr>
      <p:sp>
        <p:nvSpPr>
          <p:cNvPr id="605" name="Google Shape;605;p309"/>
          <p:cNvSpPr>
            <a:spLocks noGrp="1"/>
          </p:cNvSpPr>
          <p:nvPr>
            <p:ph type="pic" idx="2"/>
          </p:nvPr>
        </p:nvSpPr>
        <p:spPr>
          <a:xfrm>
            <a:off x="0" y="0"/>
            <a:ext cx="6094413" cy="3429000"/>
          </a:xfrm>
          <a:prstGeom prst="rect">
            <a:avLst/>
          </a:prstGeom>
          <a:noFill/>
          <a:ln>
            <a:noFill/>
          </a:ln>
        </p:spPr>
      </p:sp>
      <p:sp>
        <p:nvSpPr>
          <p:cNvPr id="606" name="Google Shape;606;p309"/>
          <p:cNvSpPr>
            <a:spLocks noGrp="1"/>
          </p:cNvSpPr>
          <p:nvPr>
            <p:ph type="pic" idx="3"/>
          </p:nvPr>
        </p:nvSpPr>
        <p:spPr>
          <a:xfrm>
            <a:off x="6094412" y="3429000"/>
            <a:ext cx="6094413" cy="3429000"/>
          </a:xfrm>
          <a:prstGeom prst="rect">
            <a:avLst/>
          </a:prstGeom>
          <a:noFill/>
          <a:ln>
            <a:noFill/>
          </a:ln>
        </p:spPr>
      </p:sp>
      <p:sp>
        <p:nvSpPr>
          <p:cNvPr id="607" name="Google Shape;607;p30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8" name="Google Shape;608;p30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9" name="Google Shape;609;p30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0"/>
        <p:cNvGrpSpPr/>
        <p:nvPr/>
      </p:nvGrpSpPr>
      <p:grpSpPr>
        <a:xfrm>
          <a:off x="0" y="0"/>
          <a:ext cx="0" cy="0"/>
          <a:chOff x="0" y="0"/>
          <a:chExt cx="0" cy="0"/>
        </a:xfrm>
      </p:grpSpPr>
      <p:sp>
        <p:nvSpPr>
          <p:cNvPr id="611" name="Google Shape;611;p310"/>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2" name="Google Shape;612;p310"/>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613" name="Google Shape;613;p310"/>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614" name="Google Shape;614;p31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5" name="Google Shape;615;p31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6" name="Google Shape;616;p31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7"/>
        <p:cNvGrpSpPr/>
        <p:nvPr/>
      </p:nvGrpSpPr>
      <p:grpSpPr>
        <a:xfrm>
          <a:off x="0" y="0"/>
          <a:ext cx="0" cy="0"/>
          <a:chOff x="0" y="0"/>
          <a:chExt cx="0" cy="0"/>
        </a:xfrm>
      </p:grpSpPr>
      <p:sp>
        <p:nvSpPr>
          <p:cNvPr id="618" name="Google Shape;618;p311"/>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9" name="Google Shape;619;p311"/>
          <p:cNvSpPr>
            <a:spLocks noGrp="1"/>
          </p:cNvSpPr>
          <p:nvPr>
            <p:ph type="pic" idx="2"/>
          </p:nvPr>
        </p:nvSpPr>
        <p:spPr>
          <a:xfrm>
            <a:off x="2389095" y="612775"/>
            <a:ext cx="7313295" cy="4114800"/>
          </a:xfrm>
          <a:prstGeom prst="rect">
            <a:avLst/>
          </a:prstGeom>
          <a:noFill/>
          <a:ln>
            <a:noFill/>
          </a:ln>
        </p:spPr>
      </p:sp>
      <p:sp>
        <p:nvSpPr>
          <p:cNvPr id="620" name="Google Shape;620;p311"/>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621" name="Google Shape;621;p31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2" name="Google Shape;622;p31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3" name="Google Shape;623;p31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4"/>
        <p:cNvGrpSpPr/>
        <p:nvPr/>
      </p:nvGrpSpPr>
      <p:grpSpPr>
        <a:xfrm>
          <a:off x="0" y="0"/>
          <a:ext cx="0" cy="0"/>
          <a:chOff x="0" y="0"/>
          <a:chExt cx="0" cy="0"/>
        </a:xfrm>
      </p:grpSpPr>
      <p:sp>
        <p:nvSpPr>
          <p:cNvPr id="625" name="Google Shape;625;p312"/>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6" name="Google Shape;626;p312"/>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27" name="Google Shape;627;p31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8" name="Google Shape;628;p31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9" name="Google Shape;629;p31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30"/>
        <p:cNvGrpSpPr/>
        <p:nvPr/>
      </p:nvGrpSpPr>
      <p:grpSpPr>
        <a:xfrm>
          <a:off x="0" y="0"/>
          <a:ext cx="0" cy="0"/>
          <a:chOff x="0" y="0"/>
          <a:chExt cx="0" cy="0"/>
        </a:xfrm>
      </p:grpSpPr>
      <p:sp>
        <p:nvSpPr>
          <p:cNvPr id="631" name="Google Shape;631;p313"/>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2" name="Google Shape;632;p313"/>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3" name="Google Shape;633;p31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4" name="Google Shape;634;p31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5" name="Google Shape;635;p31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42"/>
        <p:cNvGrpSpPr/>
        <p:nvPr/>
      </p:nvGrpSpPr>
      <p:grpSpPr>
        <a:xfrm>
          <a:off x="0" y="0"/>
          <a:ext cx="0" cy="0"/>
          <a:chOff x="0" y="0"/>
          <a:chExt cx="0" cy="0"/>
        </a:xfrm>
      </p:grpSpPr>
      <p:sp>
        <p:nvSpPr>
          <p:cNvPr id="643" name="Google Shape;643;p233"/>
          <p:cNvSpPr txBox="1">
            <a:spLocks noGrp="1"/>
          </p:cNvSpPr>
          <p:nvPr>
            <p:ph type="ftr" idx="11"/>
          </p:nvPr>
        </p:nvSpPr>
        <p:spPr>
          <a:xfrm>
            <a:off x="765820" y="6356351"/>
            <a:ext cx="3859795"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4" name="Google Shape;644;p233"/>
          <p:cNvSpPr txBox="1">
            <a:spLocks noGrp="1"/>
          </p:cNvSpPr>
          <p:nvPr>
            <p:ph type="sldNum" idx="12"/>
          </p:nvPr>
        </p:nvSpPr>
        <p:spPr>
          <a:xfrm>
            <a:off x="0" y="6356351"/>
            <a:ext cx="588428" cy="365125"/>
          </a:xfrm>
          <a:prstGeom prst="rect">
            <a:avLst/>
          </a:prstGeom>
          <a:noFill/>
          <a:ln>
            <a:noFill/>
          </a:ln>
        </p:spPr>
        <p:txBody>
          <a:bodyPr spcFirstLastPara="1" wrap="square" lIns="0" tIns="60925" rIns="0" bIns="60925" anchor="ctr" anchorCtr="0">
            <a:noAutofit/>
          </a:bodyPr>
          <a:lstStyle>
            <a:lvl1pPr marL="0" lvl="0" indent="0" algn="ctr">
              <a:spcBef>
                <a:spcPts val="0"/>
              </a:spcBef>
              <a:buNone/>
              <a:defRPr sz="2400" b="1">
                <a:solidFill>
                  <a:schemeClr val="lt1"/>
                </a:solidFill>
                <a:latin typeface="Quattrocento Sans"/>
                <a:ea typeface="Quattrocento Sans"/>
                <a:cs typeface="Quattrocento Sans"/>
                <a:sym typeface="Quattrocento Sans"/>
              </a:defRPr>
            </a:lvl1pPr>
            <a:lvl2pPr marL="0" lvl="1" indent="0" algn="ctr">
              <a:spcBef>
                <a:spcPts val="0"/>
              </a:spcBef>
              <a:buNone/>
              <a:defRPr sz="2400" b="1">
                <a:solidFill>
                  <a:schemeClr val="lt1"/>
                </a:solidFill>
                <a:latin typeface="Quattrocento Sans"/>
                <a:ea typeface="Quattrocento Sans"/>
                <a:cs typeface="Quattrocento Sans"/>
                <a:sym typeface="Quattrocento Sans"/>
              </a:defRPr>
            </a:lvl2pPr>
            <a:lvl3pPr marL="0" lvl="2" indent="0" algn="ctr">
              <a:spcBef>
                <a:spcPts val="0"/>
              </a:spcBef>
              <a:buNone/>
              <a:defRPr sz="2400" b="1">
                <a:solidFill>
                  <a:schemeClr val="lt1"/>
                </a:solidFill>
                <a:latin typeface="Quattrocento Sans"/>
                <a:ea typeface="Quattrocento Sans"/>
                <a:cs typeface="Quattrocento Sans"/>
                <a:sym typeface="Quattrocento Sans"/>
              </a:defRPr>
            </a:lvl3pPr>
            <a:lvl4pPr marL="0" lvl="3" indent="0" algn="ctr">
              <a:spcBef>
                <a:spcPts val="0"/>
              </a:spcBef>
              <a:buNone/>
              <a:defRPr sz="2400" b="1">
                <a:solidFill>
                  <a:schemeClr val="lt1"/>
                </a:solidFill>
                <a:latin typeface="Quattrocento Sans"/>
                <a:ea typeface="Quattrocento Sans"/>
                <a:cs typeface="Quattrocento Sans"/>
                <a:sym typeface="Quattrocento Sans"/>
              </a:defRPr>
            </a:lvl4pPr>
            <a:lvl5pPr marL="0" lvl="4" indent="0" algn="ctr">
              <a:spcBef>
                <a:spcPts val="0"/>
              </a:spcBef>
              <a:buNone/>
              <a:defRPr sz="2400" b="1">
                <a:solidFill>
                  <a:schemeClr val="lt1"/>
                </a:solidFill>
                <a:latin typeface="Quattrocento Sans"/>
                <a:ea typeface="Quattrocento Sans"/>
                <a:cs typeface="Quattrocento Sans"/>
                <a:sym typeface="Quattrocento Sans"/>
              </a:defRPr>
            </a:lvl5pPr>
            <a:lvl6pPr marL="0" lvl="5" indent="0" algn="ctr">
              <a:spcBef>
                <a:spcPts val="0"/>
              </a:spcBef>
              <a:buNone/>
              <a:defRPr sz="2400" b="1">
                <a:solidFill>
                  <a:schemeClr val="lt1"/>
                </a:solidFill>
                <a:latin typeface="Quattrocento Sans"/>
                <a:ea typeface="Quattrocento Sans"/>
                <a:cs typeface="Quattrocento Sans"/>
                <a:sym typeface="Quattrocento Sans"/>
              </a:defRPr>
            </a:lvl6pPr>
            <a:lvl7pPr marL="0" lvl="6" indent="0" algn="ctr">
              <a:spcBef>
                <a:spcPts val="0"/>
              </a:spcBef>
              <a:buNone/>
              <a:defRPr sz="2400" b="1">
                <a:solidFill>
                  <a:schemeClr val="lt1"/>
                </a:solidFill>
                <a:latin typeface="Quattrocento Sans"/>
                <a:ea typeface="Quattrocento Sans"/>
                <a:cs typeface="Quattrocento Sans"/>
                <a:sym typeface="Quattrocento Sans"/>
              </a:defRPr>
            </a:lvl7pPr>
            <a:lvl8pPr marL="0" lvl="7" indent="0" algn="ctr">
              <a:spcBef>
                <a:spcPts val="0"/>
              </a:spcBef>
              <a:buNone/>
              <a:defRPr sz="2400" b="1">
                <a:solidFill>
                  <a:schemeClr val="lt1"/>
                </a:solidFill>
                <a:latin typeface="Quattrocento Sans"/>
                <a:ea typeface="Quattrocento Sans"/>
                <a:cs typeface="Quattrocento Sans"/>
                <a:sym typeface="Quattrocento Sans"/>
              </a:defRPr>
            </a:lvl8pPr>
            <a:lvl9pPr marL="0" lvl="8" indent="0" algn="ctr">
              <a:spcBef>
                <a:spcPts val="0"/>
              </a:spcBef>
              <a:buNone/>
              <a:defRPr sz="2400" b="1">
                <a:solidFill>
                  <a:schemeClr val="lt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645"/>
        <p:cNvGrpSpPr/>
        <p:nvPr/>
      </p:nvGrpSpPr>
      <p:grpSpPr>
        <a:xfrm>
          <a:off x="0" y="0"/>
          <a:ext cx="0" cy="0"/>
          <a:chOff x="0" y="0"/>
          <a:chExt cx="0" cy="0"/>
        </a:xfrm>
      </p:grpSpPr>
      <p:sp>
        <p:nvSpPr>
          <p:cNvPr id="646" name="Google Shape;646;p257"/>
          <p:cNvSpPr txBox="1">
            <a:spLocks noGrp="1"/>
          </p:cNvSpPr>
          <p:nvPr>
            <p:ph type="ctrTitle"/>
          </p:nvPr>
        </p:nvSpPr>
        <p:spPr>
          <a:xfrm>
            <a:off x="914162" y="3887117"/>
            <a:ext cx="10360501" cy="610820"/>
          </a:xfrm>
          <a:prstGeom prst="rect">
            <a:avLst/>
          </a:prstGeom>
          <a:noFill/>
          <a:ln>
            <a:noFill/>
          </a:ln>
        </p:spPr>
        <p:txBody>
          <a:bodyPr spcFirstLastPara="1" wrap="square" lIns="0" tIns="60925" rIns="0" bIns="60925" anchor="ctr" anchorCtr="0">
            <a:normAutofit/>
          </a:bodyPr>
          <a:lstStyle>
            <a:lvl1pPr lvl="0" algn="ctr">
              <a:spcBef>
                <a:spcPts val="0"/>
              </a:spcBef>
              <a:spcAft>
                <a:spcPts val="0"/>
              </a:spcAft>
              <a:buClr>
                <a:srgbClr val="3F3F3F"/>
              </a:buClr>
              <a:buSzPts val="4000"/>
              <a:buFont typeface="Calibri"/>
              <a:buNone/>
              <a:defRPr sz="40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7" name="Google Shape;647;p257"/>
          <p:cNvSpPr txBox="1">
            <a:spLocks noGrp="1"/>
          </p:cNvSpPr>
          <p:nvPr>
            <p:ph type="subTitle" idx="1"/>
          </p:nvPr>
        </p:nvSpPr>
        <p:spPr>
          <a:xfrm>
            <a:off x="1828324" y="4399020"/>
            <a:ext cx="8532178" cy="764440"/>
          </a:xfrm>
          <a:prstGeom prst="rect">
            <a:avLst/>
          </a:prstGeom>
          <a:noFill/>
          <a:ln>
            <a:noFill/>
          </a:ln>
        </p:spPr>
        <p:txBody>
          <a:bodyPr spcFirstLastPara="1" wrap="square" lIns="0" tIns="60925" rIns="0" bIns="60925" anchor="t" anchorCtr="0">
            <a:normAutofit/>
          </a:bodyPr>
          <a:lstStyle>
            <a:lvl1pPr lvl="0" algn="ctr">
              <a:spcBef>
                <a:spcPts val="480"/>
              </a:spcBef>
              <a:spcAft>
                <a:spcPts val="0"/>
              </a:spcAft>
              <a:buClr>
                <a:srgbClr val="595959"/>
              </a:buClr>
              <a:buSzPts val="2400"/>
              <a:buNone/>
              <a:defRPr sz="2400">
                <a:solidFill>
                  <a:srgbClr val="595959"/>
                </a:solidFill>
                <a:latin typeface="Calibri"/>
                <a:ea typeface="Calibri"/>
                <a:cs typeface="Calibri"/>
                <a:sym typeface="Calibri"/>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648" name="Google Shape;648;p257"/>
          <p:cNvSpPr txBox="1">
            <a:spLocks noGrp="1"/>
          </p:cNvSpPr>
          <p:nvPr>
            <p:ph type="ftr" idx="11"/>
          </p:nvPr>
        </p:nvSpPr>
        <p:spPr>
          <a:xfrm>
            <a:off x="765820" y="6356351"/>
            <a:ext cx="3859795"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9" name="Google Shape;649;p257"/>
          <p:cNvSpPr txBox="1">
            <a:spLocks noGrp="1"/>
          </p:cNvSpPr>
          <p:nvPr>
            <p:ph type="sldNum" idx="12"/>
          </p:nvPr>
        </p:nvSpPr>
        <p:spPr>
          <a:xfrm>
            <a:off x="0" y="6356351"/>
            <a:ext cx="588428" cy="365125"/>
          </a:xfrm>
          <a:prstGeom prst="rect">
            <a:avLst/>
          </a:prstGeom>
          <a:noFill/>
          <a:ln>
            <a:noFill/>
          </a:ln>
        </p:spPr>
        <p:txBody>
          <a:bodyPr spcFirstLastPara="1" wrap="square" lIns="0" tIns="60925" rIns="0" bIns="60925" anchor="ctr" anchorCtr="0">
            <a:noAutofit/>
          </a:bodyPr>
          <a:lstStyle>
            <a:lvl1pPr marL="0" lvl="0" indent="0" algn="ctr">
              <a:spcBef>
                <a:spcPts val="0"/>
              </a:spcBef>
              <a:buNone/>
              <a:defRPr sz="2400" b="1">
                <a:solidFill>
                  <a:schemeClr val="lt1"/>
                </a:solidFill>
                <a:latin typeface="Quattrocento Sans"/>
                <a:ea typeface="Quattrocento Sans"/>
                <a:cs typeface="Quattrocento Sans"/>
                <a:sym typeface="Quattrocento Sans"/>
              </a:defRPr>
            </a:lvl1pPr>
            <a:lvl2pPr marL="0" lvl="1" indent="0" algn="ctr">
              <a:spcBef>
                <a:spcPts val="0"/>
              </a:spcBef>
              <a:buNone/>
              <a:defRPr sz="2400" b="1">
                <a:solidFill>
                  <a:schemeClr val="lt1"/>
                </a:solidFill>
                <a:latin typeface="Quattrocento Sans"/>
                <a:ea typeface="Quattrocento Sans"/>
                <a:cs typeface="Quattrocento Sans"/>
                <a:sym typeface="Quattrocento Sans"/>
              </a:defRPr>
            </a:lvl2pPr>
            <a:lvl3pPr marL="0" lvl="2" indent="0" algn="ctr">
              <a:spcBef>
                <a:spcPts val="0"/>
              </a:spcBef>
              <a:buNone/>
              <a:defRPr sz="2400" b="1">
                <a:solidFill>
                  <a:schemeClr val="lt1"/>
                </a:solidFill>
                <a:latin typeface="Quattrocento Sans"/>
                <a:ea typeface="Quattrocento Sans"/>
                <a:cs typeface="Quattrocento Sans"/>
                <a:sym typeface="Quattrocento Sans"/>
              </a:defRPr>
            </a:lvl3pPr>
            <a:lvl4pPr marL="0" lvl="3" indent="0" algn="ctr">
              <a:spcBef>
                <a:spcPts val="0"/>
              </a:spcBef>
              <a:buNone/>
              <a:defRPr sz="2400" b="1">
                <a:solidFill>
                  <a:schemeClr val="lt1"/>
                </a:solidFill>
                <a:latin typeface="Quattrocento Sans"/>
                <a:ea typeface="Quattrocento Sans"/>
                <a:cs typeface="Quattrocento Sans"/>
                <a:sym typeface="Quattrocento Sans"/>
              </a:defRPr>
            </a:lvl4pPr>
            <a:lvl5pPr marL="0" lvl="4" indent="0" algn="ctr">
              <a:spcBef>
                <a:spcPts val="0"/>
              </a:spcBef>
              <a:buNone/>
              <a:defRPr sz="2400" b="1">
                <a:solidFill>
                  <a:schemeClr val="lt1"/>
                </a:solidFill>
                <a:latin typeface="Quattrocento Sans"/>
                <a:ea typeface="Quattrocento Sans"/>
                <a:cs typeface="Quattrocento Sans"/>
                <a:sym typeface="Quattrocento Sans"/>
              </a:defRPr>
            </a:lvl5pPr>
            <a:lvl6pPr marL="0" lvl="5" indent="0" algn="ctr">
              <a:spcBef>
                <a:spcPts val="0"/>
              </a:spcBef>
              <a:buNone/>
              <a:defRPr sz="2400" b="1">
                <a:solidFill>
                  <a:schemeClr val="lt1"/>
                </a:solidFill>
                <a:latin typeface="Quattrocento Sans"/>
                <a:ea typeface="Quattrocento Sans"/>
                <a:cs typeface="Quattrocento Sans"/>
                <a:sym typeface="Quattrocento Sans"/>
              </a:defRPr>
            </a:lvl6pPr>
            <a:lvl7pPr marL="0" lvl="6" indent="0" algn="ctr">
              <a:spcBef>
                <a:spcPts val="0"/>
              </a:spcBef>
              <a:buNone/>
              <a:defRPr sz="2400" b="1">
                <a:solidFill>
                  <a:schemeClr val="lt1"/>
                </a:solidFill>
                <a:latin typeface="Quattrocento Sans"/>
                <a:ea typeface="Quattrocento Sans"/>
                <a:cs typeface="Quattrocento Sans"/>
                <a:sym typeface="Quattrocento Sans"/>
              </a:defRPr>
            </a:lvl7pPr>
            <a:lvl8pPr marL="0" lvl="7" indent="0" algn="ctr">
              <a:spcBef>
                <a:spcPts val="0"/>
              </a:spcBef>
              <a:buNone/>
              <a:defRPr sz="2400" b="1">
                <a:solidFill>
                  <a:schemeClr val="lt1"/>
                </a:solidFill>
                <a:latin typeface="Quattrocento Sans"/>
                <a:ea typeface="Quattrocento Sans"/>
                <a:cs typeface="Quattrocento Sans"/>
                <a:sym typeface="Quattrocento Sans"/>
              </a:defRPr>
            </a:lvl8pPr>
            <a:lvl9pPr marL="0" lvl="8" indent="0" algn="ctr">
              <a:spcBef>
                <a:spcPts val="0"/>
              </a:spcBef>
              <a:buNone/>
              <a:defRPr sz="2400" b="1">
                <a:solidFill>
                  <a:schemeClr val="lt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50"/>
        <p:cNvGrpSpPr/>
        <p:nvPr/>
      </p:nvGrpSpPr>
      <p:grpSpPr>
        <a:xfrm>
          <a:off x="0" y="0"/>
          <a:ext cx="0" cy="0"/>
          <a:chOff x="0" y="0"/>
          <a:chExt cx="0" cy="0"/>
        </a:xfrm>
      </p:grpSpPr>
      <p:sp>
        <p:nvSpPr>
          <p:cNvPr id="651" name="Google Shape;651;p258"/>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2" name="Google Shape;652;p258"/>
          <p:cNvSpPr txBox="1">
            <a:spLocks noGrp="1"/>
          </p:cNvSpPr>
          <p:nvPr>
            <p:ph type="ftr" idx="11"/>
          </p:nvPr>
        </p:nvSpPr>
        <p:spPr>
          <a:xfrm>
            <a:off x="765820" y="6356351"/>
            <a:ext cx="3859795"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3" name="Google Shape;653;p258"/>
          <p:cNvSpPr txBox="1">
            <a:spLocks noGrp="1"/>
          </p:cNvSpPr>
          <p:nvPr>
            <p:ph type="sldNum" idx="12"/>
          </p:nvPr>
        </p:nvSpPr>
        <p:spPr>
          <a:xfrm>
            <a:off x="0" y="6356351"/>
            <a:ext cx="588428" cy="365125"/>
          </a:xfrm>
          <a:prstGeom prst="rect">
            <a:avLst/>
          </a:prstGeom>
          <a:noFill/>
          <a:ln>
            <a:noFill/>
          </a:ln>
        </p:spPr>
        <p:txBody>
          <a:bodyPr spcFirstLastPara="1" wrap="square" lIns="0" tIns="60925" rIns="0" bIns="60925" anchor="ctr" anchorCtr="0">
            <a:noAutofit/>
          </a:bodyPr>
          <a:lstStyle>
            <a:lvl1pPr marL="0" lvl="0" indent="0" algn="ctr">
              <a:spcBef>
                <a:spcPts val="0"/>
              </a:spcBef>
              <a:buNone/>
              <a:defRPr sz="2400" b="1">
                <a:solidFill>
                  <a:schemeClr val="lt1"/>
                </a:solidFill>
                <a:latin typeface="Quattrocento Sans"/>
                <a:ea typeface="Quattrocento Sans"/>
                <a:cs typeface="Quattrocento Sans"/>
                <a:sym typeface="Quattrocento Sans"/>
              </a:defRPr>
            </a:lvl1pPr>
            <a:lvl2pPr marL="0" lvl="1" indent="0" algn="ctr">
              <a:spcBef>
                <a:spcPts val="0"/>
              </a:spcBef>
              <a:buNone/>
              <a:defRPr sz="2400" b="1">
                <a:solidFill>
                  <a:schemeClr val="lt1"/>
                </a:solidFill>
                <a:latin typeface="Quattrocento Sans"/>
                <a:ea typeface="Quattrocento Sans"/>
                <a:cs typeface="Quattrocento Sans"/>
                <a:sym typeface="Quattrocento Sans"/>
              </a:defRPr>
            </a:lvl2pPr>
            <a:lvl3pPr marL="0" lvl="2" indent="0" algn="ctr">
              <a:spcBef>
                <a:spcPts val="0"/>
              </a:spcBef>
              <a:buNone/>
              <a:defRPr sz="2400" b="1">
                <a:solidFill>
                  <a:schemeClr val="lt1"/>
                </a:solidFill>
                <a:latin typeface="Quattrocento Sans"/>
                <a:ea typeface="Quattrocento Sans"/>
                <a:cs typeface="Quattrocento Sans"/>
                <a:sym typeface="Quattrocento Sans"/>
              </a:defRPr>
            </a:lvl3pPr>
            <a:lvl4pPr marL="0" lvl="3" indent="0" algn="ctr">
              <a:spcBef>
                <a:spcPts val="0"/>
              </a:spcBef>
              <a:buNone/>
              <a:defRPr sz="2400" b="1">
                <a:solidFill>
                  <a:schemeClr val="lt1"/>
                </a:solidFill>
                <a:latin typeface="Quattrocento Sans"/>
                <a:ea typeface="Quattrocento Sans"/>
                <a:cs typeface="Quattrocento Sans"/>
                <a:sym typeface="Quattrocento Sans"/>
              </a:defRPr>
            </a:lvl4pPr>
            <a:lvl5pPr marL="0" lvl="4" indent="0" algn="ctr">
              <a:spcBef>
                <a:spcPts val="0"/>
              </a:spcBef>
              <a:buNone/>
              <a:defRPr sz="2400" b="1">
                <a:solidFill>
                  <a:schemeClr val="lt1"/>
                </a:solidFill>
                <a:latin typeface="Quattrocento Sans"/>
                <a:ea typeface="Quattrocento Sans"/>
                <a:cs typeface="Quattrocento Sans"/>
                <a:sym typeface="Quattrocento Sans"/>
              </a:defRPr>
            </a:lvl5pPr>
            <a:lvl6pPr marL="0" lvl="5" indent="0" algn="ctr">
              <a:spcBef>
                <a:spcPts val="0"/>
              </a:spcBef>
              <a:buNone/>
              <a:defRPr sz="2400" b="1">
                <a:solidFill>
                  <a:schemeClr val="lt1"/>
                </a:solidFill>
                <a:latin typeface="Quattrocento Sans"/>
                <a:ea typeface="Quattrocento Sans"/>
                <a:cs typeface="Quattrocento Sans"/>
                <a:sym typeface="Quattrocento Sans"/>
              </a:defRPr>
            </a:lvl6pPr>
            <a:lvl7pPr marL="0" lvl="6" indent="0" algn="ctr">
              <a:spcBef>
                <a:spcPts val="0"/>
              </a:spcBef>
              <a:buNone/>
              <a:defRPr sz="2400" b="1">
                <a:solidFill>
                  <a:schemeClr val="lt1"/>
                </a:solidFill>
                <a:latin typeface="Quattrocento Sans"/>
                <a:ea typeface="Quattrocento Sans"/>
                <a:cs typeface="Quattrocento Sans"/>
                <a:sym typeface="Quattrocento Sans"/>
              </a:defRPr>
            </a:lvl7pPr>
            <a:lvl8pPr marL="0" lvl="7" indent="0" algn="ctr">
              <a:spcBef>
                <a:spcPts val="0"/>
              </a:spcBef>
              <a:buNone/>
              <a:defRPr sz="2400" b="1">
                <a:solidFill>
                  <a:schemeClr val="lt1"/>
                </a:solidFill>
                <a:latin typeface="Quattrocento Sans"/>
                <a:ea typeface="Quattrocento Sans"/>
                <a:cs typeface="Quattrocento Sans"/>
                <a:sym typeface="Quattrocento Sans"/>
              </a:defRPr>
            </a:lvl8pPr>
            <a:lvl9pPr marL="0" lvl="8" indent="0" algn="ctr">
              <a:spcBef>
                <a:spcPts val="0"/>
              </a:spcBef>
              <a:buNone/>
              <a:defRPr sz="2400" b="1">
                <a:solidFill>
                  <a:schemeClr val="lt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Proposal">
  <p:cSld name="Proposal">
    <p:spTree>
      <p:nvGrpSpPr>
        <p:cNvPr id="1" name="Shape 654"/>
        <p:cNvGrpSpPr/>
        <p:nvPr/>
      </p:nvGrpSpPr>
      <p:grpSpPr>
        <a:xfrm>
          <a:off x="0" y="0"/>
          <a:ext cx="0" cy="0"/>
          <a:chOff x="0" y="0"/>
          <a:chExt cx="0" cy="0"/>
        </a:xfrm>
      </p:grpSpPr>
      <p:sp>
        <p:nvSpPr>
          <p:cNvPr id="655" name="Google Shape;655;p259"/>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6" name="Google Shape;656;p259"/>
          <p:cNvSpPr txBox="1">
            <a:spLocks noGrp="1"/>
          </p:cNvSpPr>
          <p:nvPr>
            <p:ph type="ftr" idx="11"/>
          </p:nvPr>
        </p:nvSpPr>
        <p:spPr>
          <a:xfrm>
            <a:off x="765820" y="6356351"/>
            <a:ext cx="3859795"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7" name="Google Shape;657;p259"/>
          <p:cNvSpPr txBox="1">
            <a:spLocks noGrp="1"/>
          </p:cNvSpPr>
          <p:nvPr>
            <p:ph type="sldNum" idx="12"/>
          </p:nvPr>
        </p:nvSpPr>
        <p:spPr>
          <a:xfrm>
            <a:off x="0" y="6356351"/>
            <a:ext cx="588428" cy="365125"/>
          </a:xfrm>
          <a:prstGeom prst="rect">
            <a:avLst/>
          </a:prstGeom>
          <a:noFill/>
          <a:ln>
            <a:noFill/>
          </a:ln>
        </p:spPr>
        <p:txBody>
          <a:bodyPr spcFirstLastPara="1" wrap="square" lIns="0" tIns="60925" rIns="0" bIns="60925" anchor="ctr" anchorCtr="0">
            <a:noAutofit/>
          </a:bodyPr>
          <a:lstStyle>
            <a:lvl1pPr marL="0" lvl="0" indent="0" algn="ctr">
              <a:spcBef>
                <a:spcPts val="0"/>
              </a:spcBef>
              <a:buNone/>
              <a:defRPr sz="2400" b="1">
                <a:solidFill>
                  <a:schemeClr val="lt1"/>
                </a:solidFill>
                <a:latin typeface="Quattrocento Sans"/>
                <a:ea typeface="Quattrocento Sans"/>
                <a:cs typeface="Quattrocento Sans"/>
                <a:sym typeface="Quattrocento Sans"/>
              </a:defRPr>
            </a:lvl1pPr>
            <a:lvl2pPr marL="0" lvl="1" indent="0" algn="ctr">
              <a:spcBef>
                <a:spcPts val="0"/>
              </a:spcBef>
              <a:buNone/>
              <a:defRPr sz="2400" b="1">
                <a:solidFill>
                  <a:schemeClr val="lt1"/>
                </a:solidFill>
                <a:latin typeface="Quattrocento Sans"/>
                <a:ea typeface="Quattrocento Sans"/>
                <a:cs typeface="Quattrocento Sans"/>
                <a:sym typeface="Quattrocento Sans"/>
              </a:defRPr>
            </a:lvl2pPr>
            <a:lvl3pPr marL="0" lvl="2" indent="0" algn="ctr">
              <a:spcBef>
                <a:spcPts val="0"/>
              </a:spcBef>
              <a:buNone/>
              <a:defRPr sz="2400" b="1">
                <a:solidFill>
                  <a:schemeClr val="lt1"/>
                </a:solidFill>
                <a:latin typeface="Quattrocento Sans"/>
                <a:ea typeface="Quattrocento Sans"/>
                <a:cs typeface="Quattrocento Sans"/>
                <a:sym typeface="Quattrocento Sans"/>
              </a:defRPr>
            </a:lvl3pPr>
            <a:lvl4pPr marL="0" lvl="3" indent="0" algn="ctr">
              <a:spcBef>
                <a:spcPts val="0"/>
              </a:spcBef>
              <a:buNone/>
              <a:defRPr sz="2400" b="1">
                <a:solidFill>
                  <a:schemeClr val="lt1"/>
                </a:solidFill>
                <a:latin typeface="Quattrocento Sans"/>
                <a:ea typeface="Quattrocento Sans"/>
                <a:cs typeface="Quattrocento Sans"/>
                <a:sym typeface="Quattrocento Sans"/>
              </a:defRPr>
            </a:lvl4pPr>
            <a:lvl5pPr marL="0" lvl="4" indent="0" algn="ctr">
              <a:spcBef>
                <a:spcPts val="0"/>
              </a:spcBef>
              <a:buNone/>
              <a:defRPr sz="2400" b="1">
                <a:solidFill>
                  <a:schemeClr val="lt1"/>
                </a:solidFill>
                <a:latin typeface="Quattrocento Sans"/>
                <a:ea typeface="Quattrocento Sans"/>
                <a:cs typeface="Quattrocento Sans"/>
                <a:sym typeface="Quattrocento Sans"/>
              </a:defRPr>
            </a:lvl5pPr>
            <a:lvl6pPr marL="0" lvl="5" indent="0" algn="ctr">
              <a:spcBef>
                <a:spcPts val="0"/>
              </a:spcBef>
              <a:buNone/>
              <a:defRPr sz="2400" b="1">
                <a:solidFill>
                  <a:schemeClr val="lt1"/>
                </a:solidFill>
                <a:latin typeface="Quattrocento Sans"/>
                <a:ea typeface="Quattrocento Sans"/>
                <a:cs typeface="Quattrocento Sans"/>
                <a:sym typeface="Quattrocento Sans"/>
              </a:defRPr>
            </a:lvl6pPr>
            <a:lvl7pPr marL="0" lvl="6" indent="0" algn="ctr">
              <a:spcBef>
                <a:spcPts val="0"/>
              </a:spcBef>
              <a:buNone/>
              <a:defRPr sz="2400" b="1">
                <a:solidFill>
                  <a:schemeClr val="lt1"/>
                </a:solidFill>
                <a:latin typeface="Quattrocento Sans"/>
                <a:ea typeface="Quattrocento Sans"/>
                <a:cs typeface="Quattrocento Sans"/>
                <a:sym typeface="Quattrocento Sans"/>
              </a:defRPr>
            </a:lvl7pPr>
            <a:lvl8pPr marL="0" lvl="7" indent="0" algn="ctr">
              <a:spcBef>
                <a:spcPts val="0"/>
              </a:spcBef>
              <a:buNone/>
              <a:defRPr sz="2400" b="1">
                <a:solidFill>
                  <a:schemeClr val="lt1"/>
                </a:solidFill>
                <a:latin typeface="Quattrocento Sans"/>
                <a:ea typeface="Quattrocento Sans"/>
                <a:cs typeface="Quattrocento Sans"/>
                <a:sym typeface="Quattrocento Sans"/>
              </a:defRPr>
            </a:lvl8pPr>
            <a:lvl9pPr marL="0" lvl="8" indent="0" algn="ctr">
              <a:spcBef>
                <a:spcPts val="0"/>
              </a:spcBef>
              <a:buNone/>
              <a:defRPr sz="2400" b="1">
                <a:solidFill>
                  <a:schemeClr val="lt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658" name="Google Shape;658;p259"/>
          <p:cNvSpPr>
            <a:spLocks noGrp="1"/>
          </p:cNvSpPr>
          <p:nvPr>
            <p:ph type="pic" idx="2"/>
          </p:nvPr>
        </p:nvSpPr>
        <p:spPr>
          <a:xfrm>
            <a:off x="621803" y="1268760"/>
            <a:ext cx="4104456" cy="4572352"/>
          </a:xfrm>
          <a:prstGeom prst="rect">
            <a:avLst/>
          </a:prstGeom>
          <a:noFill/>
          <a:ln>
            <a:noFill/>
          </a:ln>
        </p:spPr>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Mission">
  <p:cSld name="Mission">
    <p:spTree>
      <p:nvGrpSpPr>
        <p:cNvPr id="1" name="Shape 659"/>
        <p:cNvGrpSpPr/>
        <p:nvPr/>
      </p:nvGrpSpPr>
      <p:grpSpPr>
        <a:xfrm>
          <a:off x="0" y="0"/>
          <a:ext cx="0" cy="0"/>
          <a:chOff x="0" y="0"/>
          <a:chExt cx="0" cy="0"/>
        </a:xfrm>
      </p:grpSpPr>
      <p:sp>
        <p:nvSpPr>
          <p:cNvPr id="660" name="Google Shape;660;p260"/>
          <p:cNvSpPr>
            <a:spLocks noGrp="1"/>
          </p:cNvSpPr>
          <p:nvPr>
            <p:ph type="pic" idx="2"/>
          </p:nvPr>
        </p:nvSpPr>
        <p:spPr>
          <a:xfrm>
            <a:off x="0" y="0"/>
            <a:ext cx="4150196" cy="6858000"/>
          </a:xfrm>
          <a:prstGeom prst="rect">
            <a:avLst/>
          </a:prstGeom>
          <a:noFill/>
          <a:ln>
            <a:noFill/>
          </a:ln>
        </p:spPr>
      </p:sp>
      <p:sp>
        <p:nvSpPr>
          <p:cNvPr id="661" name="Google Shape;661;p260"/>
          <p:cNvSpPr txBox="1">
            <a:spLocks noGrp="1"/>
          </p:cNvSpPr>
          <p:nvPr>
            <p:ph type="ftr" idx="11"/>
          </p:nvPr>
        </p:nvSpPr>
        <p:spPr>
          <a:xfrm>
            <a:off x="765820" y="6356351"/>
            <a:ext cx="3859795"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2" name="Google Shape;662;p260"/>
          <p:cNvSpPr txBox="1">
            <a:spLocks noGrp="1"/>
          </p:cNvSpPr>
          <p:nvPr>
            <p:ph type="sldNum" idx="12"/>
          </p:nvPr>
        </p:nvSpPr>
        <p:spPr>
          <a:xfrm>
            <a:off x="0" y="6356351"/>
            <a:ext cx="588428" cy="365125"/>
          </a:xfrm>
          <a:prstGeom prst="rect">
            <a:avLst/>
          </a:prstGeom>
          <a:noFill/>
          <a:ln>
            <a:noFill/>
          </a:ln>
        </p:spPr>
        <p:txBody>
          <a:bodyPr spcFirstLastPara="1" wrap="square" lIns="0" tIns="60925" rIns="0" bIns="60925" anchor="ctr" anchorCtr="0">
            <a:noAutofit/>
          </a:bodyPr>
          <a:lstStyle>
            <a:lvl1pPr marL="0" lvl="0" indent="0" algn="ctr">
              <a:spcBef>
                <a:spcPts val="0"/>
              </a:spcBef>
              <a:buNone/>
              <a:defRPr sz="2400" b="1">
                <a:solidFill>
                  <a:schemeClr val="lt1"/>
                </a:solidFill>
                <a:latin typeface="Quattrocento Sans"/>
                <a:ea typeface="Quattrocento Sans"/>
                <a:cs typeface="Quattrocento Sans"/>
                <a:sym typeface="Quattrocento Sans"/>
              </a:defRPr>
            </a:lvl1pPr>
            <a:lvl2pPr marL="0" lvl="1" indent="0" algn="ctr">
              <a:spcBef>
                <a:spcPts val="0"/>
              </a:spcBef>
              <a:buNone/>
              <a:defRPr sz="2400" b="1">
                <a:solidFill>
                  <a:schemeClr val="lt1"/>
                </a:solidFill>
                <a:latin typeface="Quattrocento Sans"/>
                <a:ea typeface="Quattrocento Sans"/>
                <a:cs typeface="Quattrocento Sans"/>
                <a:sym typeface="Quattrocento Sans"/>
              </a:defRPr>
            </a:lvl2pPr>
            <a:lvl3pPr marL="0" lvl="2" indent="0" algn="ctr">
              <a:spcBef>
                <a:spcPts val="0"/>
              </a:spcBef>
              <a:buNone/>
              <a:defRPr sz="2400" b="1">
                <a:solidFill>
                  <a:schemeClr val="lt1"/>
                </a:solidFill>
                <a:latin typeface="Quattrocento Sans"/>
                <a:ea typeface="Quattrocento Sans"/>
                <a:cs typeface="Quattrocento Sans"/>
                <a:sym typeface="Quattrocento Sans"/>
              </a:defRPr>
            </a:lvl3pPr>
            <a:lvl4pPr marL="0" lvl="3" indent="0" algn="ctr">
              <a:spcBef>
                <a:spcPts val="0"/>
              </a:spcBef>
              <a:buNone/>
              <a:defRPr sz="2400" b="1">
                <a:solidFill>
                  <a:schemeClr val="lt1"/>
                </a:solidFill>
                <a:latin typeface="Quattrocento Sans"/>
                <a:ea typeface="Quattrocento Sans"/>
                <a:cs typeface="Quattrocento Sans"/>
                <a:sym typeface="Quattrocento Sans"/>
              </a:defRPr>
            </a:lvl4pPr>
            <a:lvl5pPr marL="0" lvl="4" indent="0" algn="ctr">
              <a:spcBef>
                <a:spcPts val="0"/>
              </a:spcBef>
              <a:buNone/>
              <a:defRPr sz="2400" b="1">
                <a:solidFill>
                  <a:schemeClr val="lt1"/>
                </a:solidFill>
                <a:latin typeface="Quattrocento Sans"/>
                <a:ea typeface="Quattrocento Sans"/>
                <a:cs typeface="Quattrocento Sans"/>
                <a:sym typeface="Quattrocento Sans"/>
              </a:defRPr>
            </a:lvl5pPr>
            <a:lvl6pPr marL="0" lvl="5" indent="0" algn="ctr">
              <a:spcBef>
                <a:spcPts val="0"/>
              </a:spcBef>
              <a:buNone/>
              <a:defRPr sz="2400" b="1">
                <a:solidFill>
                  <a:schemeClr val="lt1"/>
                </a:solidFill>
                <a:latin typeface="Quattrocento Sans"/>
                <a:ea typeface="Quattrocento Sans"/>
                <a:cs typeface="Quattrocento Sans"/>
                <a:sym typeface="Quattrocento Sans"/>
              </a:defRPr>
            </a:lvl6pPr>
            <a:lvl7pPr marL="0" lvl="6" indent="0" algn="ctr">
              <a:spcBef>
                <a:spcPts val="0"/>
              </a:spcBef>
              <a:buNone/>
              <a:defRPr sz="2400" b="1">
                <a:solidFill>
                  <a:schemeClr val="lt1"/>
                </a:solidFill>
                <a:latin typeface="Quattrocento Sans"/>
                <a:ea typeface="Quattrocento Sans"/>
                <a:cs typeface="Quattrocento Sans"/>
                <a:sym typeface="Quattrocento Sans"/>
              </a:defRPr>
            </a:lvl7pPr>
            <a:lvl8pPr marL="0" lvl="7" indent="0" algn="ctr">
              <a:spcBef>
                <a:spcPts val="0"/>
              </a:spcBef>
              <a:buNone/>
              <a:defRPr sz="2400" b="1">
                <a:solidFill>
                  <a:schemeClr val="lt1"/>
                </a:solidFill>
                <a:latin typeface="Quattrocento Sans"/>
                <a:ea typeface="Quattrocento Sans"/>
                <a:cs typeface="Quattrocento Sans"/>
                <a:sym typeface="Quattrocento Sans"/>
              </a:defRPr>
            </a:lvl8pPr>
            <a:lvl9pPr marL="0" lvl="8" indent="0" algn="ctr">
              <a:spcBef>
                <a:spcPts val="0"/>
              </a:spcBef>
              <a:buNone/>
              <a:defRPr sz="2400" b="1">
                <a:solidFill>
                  <a:schemeClr val="lt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Dark Blank" type="blank">
  <p:cSld name="BLANK">
    <p:bg>
      <p:bgPr>
        <a:solidFill>
          <a:schemeClr val="accent1"/>
        </a:solidFill>
        <a:effectLst/>
      </p:bgPr>
    </p:bg>
    <p:spTree>
      <p:nvGrpSpPr>
        <p:cNvPr id="1" name="Shape 663"/>
        <p:cNvGrpSpPr/>
        <p:nvPr/>
      </p:nvGrpSpPr>
      <p:grpSpPr>
        <a:xfrm>
          <a:off x="0" y="0"/>
          <a:ext cx="0" cy="0"/>
          <a:chOff x="0" y="0"/>
          <a:chExt cx="0" cy="0"/>
        </a:xfrm>
      </p:grpSpPr>
      <p:sp>
        <p:nvSpPr>
          <p:cNvPr id="664" name="Google Shape;664;p261"/>
          <p:cNvSpPr txBox="1">
            <a:spLocks noGrp="1"/>
          </p:cNvSpPr>
          <p:nvPr>
            <p:ph type="ftr" idx="11"/>
          </p:nvPr>
        </p:nvSpPr>
        <p:spPr>
          <a:xfrm>
            <a:off x="765820" y="6356351"/>
            <a:ext cx="3859795"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sz="1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5" name="Google Shape;665;p261"/>
          <p:cNvSpPr txBox="1">
            <a:spLocks noGrp="1"/>
          </p:cNvSpPr>
          <p:nvPr>
            <p:ph type="sldNum" idx="12"/>
          </p:nvPr>
        </p:nvSpPr>
        <p:spPr>
          <a:xfrm>
            <a:off x="0" y="6356351"/>
            <a:ext cx="588428" cy="365125"/>
          </a:xfrm>
          <a:prstGeom prst="rect">
            <a:avLst/>
          </a:prstGeom>
          <a:noFill/>
          <a:ln>
            <a:noFill/>
          </a:ln>
        </p:spPr>
        <p:txBody>
          <a:bodyPr spcFirstLastPara="1" wrap="square" lIns="0" tIns="60925" rIns="0" bIns="60925" anchor="ctr" anchorCtr="0">
            <a:noAutofit/>
          </a:bodyPr>
          <a:lstStyle>
            <a:lvl1pPr marL="0" lvl="0" indent="0" algn="ctr">
              <a:spcBef>
                <a:spcPts val="0"/>
              </a:spcBef>
              <a:buNone/>
              <a:defRPr sz="2400" b="1">
                <a:solidFill>
                  <a:schemeClr val="accent1"/>
                </a:solidFill>
                <a:latin typeface="Quattrocento Sans"/>
                <a:ea typeface="Quattrocento Sans"/>
                <a:cs typeface="Quattrocento Sans"/>
                <a:sym typeface="Quattrocento Sans"/>
              </a:defRPr>
            </a:lvl1pPr>
            <a:lvl2pPr marL="0" lvl="1" indent="0" algn="ctr">
              <a:spcBef>
                <a:spcPts val="0"/>
              </a:spcBef>
              <a:buNone/>
              <a:defRPr sz="2400" b="1">
                <a:solidFill>
                  <a:schemeClr val="accent1"/>
                </a:solidFill>
                <a:latin typeface="Quattrocento Sans"/>
                <a:ea typeface="Quattrocento Sans"/>
                <a:cs typeface="Quattrocento Sans"/>
                <a:sym typeface="Quattrocento Sans"/>
              </a:defRPr>
            </a:lvl2pPr>
            <a:lvl3pPr marL="0" lvl="2" indent="0" algn="ctr">
              <a:spcBef>
                <a:spcPts val="0"/>
              </a:spcBef>
              <a:buNone/>
              <a:defRPr sz="2400" b="1">
                <a:solidFill>
                  <a:schemeClr val="accent1"/>
                </a:solidFill>
                <a:latin typeface="Quattrocento Sans"/>
                <a:ea typeface="Quattrocento Sans"/>
                <a:cs typeface="Quattrocento Sans"/>
                <a:sym typeface="Quattrocento Sans"/>
              </a:defRPr>
            </a:lvl3pPr>
            <a:lvl4pPr marL="0" lvl="3" indent="0" algn="ctr">
              <a:spcBef>
                <a:spcPts val="0"/>
              </a:spcBef>
              <a:buNone/>
              <a:defRPr sz="2400" b="1">
                <a:solidFill>
                  <a:schemeClr val="accent1"/>
                </a:solidFill>
                <a:latin typeface="Quattrocento Sans"/>
                <a:ea typeface="Quattrocento Sans"/>
                <a:cs typeface="Quattrocento Sans"/>
                <a:sym typeface="Quattrocento Sans"/>
              </a:defRPr>
            </a:lvl4pPr>
            <a:lvl5pPr marL="0" lvl="4" indent="0" algn="ctr">
              <a:spcBef>
                <a:spcPts val="0"/>
              </a:spcBef>
              <a:buNone/>
              <a:defRPr sz="2400" b="1">
                <a:solidFill>
                  <a:schemeClr val="accent1"/>
                </a:solidFill>
                <a:latin typeface="Quattrocento Sans"/>
                <a:ea typeface="Quattrocento Sans"/>
                <a:cs typeface="Quattrocento Sans"/>
                <a:sym typeface="Quattrocento Sans"/>
              </a:defRPr>
            </a:lvl5pPr>
            <a:lvl6pPr marL="0" lvl="5" indent="0" algn="ctr">
              <a:spcBef>
                <a:spcPts val="0"/>
              </a:spcBef>
              <a:buNone/>
              <a:defRPr sz="2400" b="1">
                <a:solidFill>
                  <a:schemeClr val="accent1"/>
                </a:solidFill>
                <a:latin typeface="Quattrocento Sans"/>
                <a:ea typeface="Quattrocento Sans"/>
                <a:cs typeface="Quattrocento Sans"/>
                <a:sym typeface="Quattrocento Sans"/>
              </a:defRPr>
            </a:lvl6pPr>
            <a:lvl7pPr marL="0" lvl="6" indent="0" algn="ctr">
              <a:spcBef>
                <a:spcPts val="0"/>
              </a:spcBef>
              <a:buNone/>
              <a:defRPr sz="2400" b="1">
                <a:solidFill>
                  <a:schemeClr val="accent1"/>
                </a:solidFill>
                <a:latin typeface="Quattrocento Sans"/>
                <a:ea typeface="Quattrocento Sans"/>
                <a:cs typeface="Quattrocento Sans"/>
                <a:sym typeface="Quattrocento Sans"/>
              </a:defRPr>
            </a:lvl7pPr>
            <a:lvl8pPr marL="0" lvl="7" indent="0" algn="ctr">
              <a:spcBef>
                <a:spcPts val="0"/>
              </a:spcBef>
              <a:buNone/>
              <a:defRPr sz="2400" b="1">
                <a:solidFill>
                  <a:schemeClr val="accent1"/>
                </a:solidFill>
                <a:latin typeface="Quattrocento Sans"/>
                <a:ea typeface="Quattrocento Sans"/>
                <a:cs typeface="Quattrocento Sans"/>
                <a:sym typeface="Quattrocento Sans"/>
              </a:defRPr>
            </a:lvl8pPr>
            <a:lvl9pPr marL="0" lvl="8" indent="0" algn="ctr">
              <a:spcBef>
                <a:spcPts val="0"/>
              </a:spcBef>
              <a:buNone/>
              <a:defRPr sz="2400" b="1">
                <a:solidFill>
                  <a:schemeClr val="accent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estimonial">
  <p:cSld name="Testimonial">
    <p:bg>
      <p:bgPr>
        <a:solidFill>
          <a:schemeClr val="accent1"/>
        </a:solidFill>
        <a:effectLst/>
      </p:bgPr>
    </p:bg>
    <p:spTree>
      <p:nvGrpSpPr>
        <p:cNvPr id="1" name="Shape 666"/>
        <p:cNvGrpSpPr/>
        <p:nvPr/>
      </p:nvGrpSpPr>
      <p:grpSpPr>
        <a:xfrm>
          <a:off x="0" y="0"/>
          <a:ext cx="0" cy="0"/>
          <a:chOff x="0" y="0"/>
          <a:chExt cx="0" cy="0"/>
        </a:xfrm>
      </p:grpSpPr>
      <p:sp>
        <p:nvSpPr>
          <p:cNvPr id="667" name="Google Shape;667;p262"/>
          <p:cNvSpPr txBox="1">
            <a:spLocks noGrp="1"/>
          </p:cNvSpPr>
          <p:nvPr>
            <p:ph type="ftr" idx="11"/>
          </p:nvPr>
        </p:nvSpPr>
        <p:spPr>
          <a:xfrm>
            <a:off x="765820" y="6356351"/>
            <a:ext cx="3859795"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sz="1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8" name="Google Shape;668;p262"/>
          <p:cNvSpPr txBox="1">
            <a:spLocks noGrp="1"/>
          </p:cNvSpPr>
          <p:nvPr>
            <p:ph type="sldNum" idx="12"/>
          </p:nvPr>
        </p:nvSpPr>
        <p:spPr>
          <a:xfrm>
            <a:off x="0" y="6356351"/>
            <a:ext cx="588428" cy="365125"/>
          </a:xfrm>
          <a:prstGeom prst="rect">
            <a:avLst/>
          </a:prstGeom>
          <a:noFill/>
          <a:ln>
            <a:noFill/>
          </a:ln>
        </p:spPr>
        <p:txBody>
          <a:bodyPr spcFirstLastPara="1" wrap="square" lIns="0" tIns="60925" rIns="0" bIns="60925" anchor="ctr" anchorCtr="0">
            <a:noAutofit/>
          </a:bodyPr>
          <a:lstStyle>
            <a:lvl1pPr marL="0" lvl="0" indent="0" algn="ctr">
              <a:spcBef>
                <a:spcPts val="0"/>
              </a:spcBef>
              <a:buNone/>
              <a:defRPr sz="2400" b="1">
                <a:solidFill>
                  <a:schemeClr val="accent1"/>
                </a:solidFill>
                <a:latin typeface="Quattrocento Sans"/>
                <a:ea typeface="Quattrocento Sans"/>
                <a:cs typeface="Quattrocento Sans"/>
                <a:sym typeface="Quattrocento Sans"/>
              </a:defRPr>
            </a:lvl1pPr>
            <a:lvl2pPr marL="0" lvl="1" indent="0" algn="ctr">
              <a:spcBef>
                <a:spcPts val="0"/>
              </a:spcBef>
              <a:buNone/>
              <a:defRPr sz="2400" b="1">
                <a:solidFill>
                  <a:schemeClr val="accent1"/>
                </a:solidFill>
                <a:latin typeface="Quattrocento Sans"/>
                <a:ea typeface="Quattrocento Sans"/>
                <a:cs typeface="Quattrocento Sans"/>
                <a:sym typeface="Quattrocento Sans"/>
              </a:defRPr>
            </a:lvl2pPr>
            <a:lvl3pPr marL="0" lvl="2" indent="0" algn="ctr">
              <a:spcBef>
                <a:spcPts val="0"/>
              </a:spcBef>
              <a:buNone/>
              <a:defRPr sz="2400" b="1">
                <a:solidFill>
                  <a:schemeClr val="accent1"/>
                </a:solidFill>
                <a:latin typeface="Quattrocento Sans"/>
                <a:ea typeface="Quattrocento Sans"/>
                <a:cs typeface="Quattrocento Sans"/>
                <a:sym typeface="Quattrocento Sans"/>
              </a:defRPr>
            </a:lvl3pPr>
            <a:lvl4pPr marL="0" lvl="3" indent="0" algn="ctr">
              <a:spcBef>
                <a:spcPts val="0"/>
              </a:spcBef>
              <a:buNone/>
              <a:defRPr sz="2400" b="1">
                <a:solidFill>
                  <a:schemeClr val="accent1"/>
                </a:solidFill>
                <a:latin typeface="Quattrocento Sans"/>
                <a:ea typeface="Quattrocento Sans"/>
                <a:cs typeface="Quattrocento Sans"/>
                <a:sym typeface="Quattrocento Sans"/>
              </a:defRPr>
            </a:lvl4pPr>
            <a:lvl5pPr marL="0" lvl="4" indent="0" algn="ctr">
              <a:spcBef>
                <a:spcPts val="0"/>
              </a:spcBef>
              <a:buNone/>
              <a:defRPr sz="2400" b="1">
                <a:solidFill>
                  <a:schemeClr val="accent1"/>
                </a:solidFill>
                <a:latin typeface="Quattrocento Sans"/>
                <a:ea typeface="Quattrocento Sans"/>
                <a:cs typeface="Quattrocento Sans"/>
                <a:sym typeface="Quattrocento Sans"/>
              </a:defRPr>
            </a:lvl5pPr>
            <a:lvl6pPr marL="0" lvl="5" indent="0" algn="ctr">
              <a:spcBef>
                <a:spcPts val="0"/>
              </a:spcBef>
              <a:buNone/>
              <a:defRPr sz="2400" b="1">
                <a:solidFill>
                  <a:schemeClr val="accent1"/>
                </a:solidFill>
                <a:latin typeface="Quattrocento Sans"/>
                <a:ea typeface="Quattrocento Sans"/>
                <a:cs typeface="Quattrocento Sans"/>
                <a:sym typeface="Quattrocento Sans"/>
              </a:defRPr>
            </a:lvl6pPr>
            <a:lvl7pPr marL="0" lvl="6" indent="0" algn="ctr">
              <a:spcBef>
                <a:spcPts val="0"/>
              </a:spcBef>
              <a:buNone/>
              <a:defRPr sz="2400" b="1">
                <a:solidFill>
                  <a:schemeClr val="accent1"/>
                </a:solidFill>
                <a:latin typeface="Quattrocento Sans"/>
                <a:ea typeface="Quattrocento Sans"/>
                <a:cs typeface="Quattrocento Sans"/>
                <a:sym typeface="Quattrocento Sans"/>
              </a:defRPr>
            </a:lvl7pPr>
            <a:lvl8pPr marL="0" lvl="7" indent="0" algn="ctr">
              <a:spcBef>
                <a:spcPts val="0"/>
              </a:spcBef>
              <a:buNone/>
              <a:defRPr sz="2400" b="1">
                <a:solidFill>
                  <a:schemeClr val="accent1"/>
                </a:solidFill>
                <a:latin typeface="Quattrocento Sans"/>
                <a:ea typeface="Quattrocento Sans"/>
                <a:cs typeface="Quattrocento Sans"/>
                <a:sym typeface="Quattrocento Sans"/>
              </a:defRPr>
            </a:lvl8pPr>
            <a:lvl9pPr marL="0" lvl="8" indent="0" algn="ctr">
              <a:spcBef>
                <a:spcPts val="0"/>
              </a:spcBef>
              <a:buNone/>
              <a:defRPr sz="2400" b="1">
                <a:solidFill>
                  <a:schemeClr val="accent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669" name="Google Shape;669;p262"/>
          <p:cNvSpPr>
            <a:spLocks noGrp="1"/>
          </p:cNvSpPr>
          <p:nvPr>
            <p:ph type="pic" idx="2"/>
          </p:nvPr>
        </p:nvSpPr>
        <p:spPr>
          <a:xfrm>
            <a:off x="5245326" y="1410789"/>
            <a:ext cx="1698170" cy="1698170"/>
          </a:xfrm>
          <a:prstGeom prst="rect">
            <a:avLst/>
          </a:prstGeom>
          <a:noFill/>
          <a:ln>
            <a:noFill/>
          </a:ln>
        </p:spPr>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670"/>
        <p:cNvGrpSpPr/>
        <p:nvPr/>
      </p:nvGrpSpPr>
      <p:grpSpPr>
        <a:xfrm>
          <a:off x="0" y="0"/>
          <a:ext cx="0" cy="0"/>
          <a:chOff x="0" y="0"/>
          <a:chExt cx="0" cy="0"/>
        </a:xfrm>
      </p:grpSpPr>
      <p:sp>
        <p:nvSpPr>
          <p:cNvPr id="671" name="Google Shape;671;p26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2" name="Google Shape;672;p263"/>
          <p:cNvSpPr>
            <a:spLocks noGrp="1"/>
          </p:cNvSpPr>
          <p:nvPr>
            <p:ph type="pic" idx="2"/>
          </p:nvPr>
        </p:nvSpPr>
        <p:spPr>
          <a:xfrm>
            <a:off x="637308" y="1196752"/>
            <a:ext cx="3055390" cy="2232248"/>
          </a:xfrm>
          <a:prstGeom prst="rect">
            <a:avLst/>
          </a:prstGeom>
          <a:noFill/>
          <a:ln>
            <a:noFill/>
          </a:ln>
        </p:spPr>
      </p:sp>
      <p:sp>
        <p:nvSpPr>
          <p:cNvPr id="673" name="Google Shape;673;p263"/>
          <p:cNvSpPr>
            <a:spLocks noGrp="1"/>
          </p:cNvSpPr>
          <p:nvPr>
            <p:ph type="pic" idx="3"/>
          </p:nvPr>
        </p:nvSpPr>
        <p:spPr>
          <a:xfrm>
            <a:off x="3791459" y="1196752"/>
            <a:ext cx="3055390" cy="4564841"/>
          </a:xfrm>
          <a:prstGeom prst="rect">
            <a:avLst/>
          </a:prstGeom>
          <a:noFill/>
          <a:ln>
            <a:noFill/>
          </a:ln>
        </p:spPr>
      </p:sp>
      <p:sp>
        <p:nvSpPr>
          <p:cNvPr id="674" name="Google Shape;674;p263"/>
          <p:cNvSpPr>
            <a:spLocks noGrp="1"/>
          </p:cNvSpPr>
          <p:nvPr>
            <p:ph type="pic" idx="4"/>
          </p:nvPr>
        </p:nvSpPr>
        <p:spPr>
          <a:xfrm>
            <a:off x="637308" y="3510462"/>
            <a:ext cx="3055390" cy="2247558"/>
          </a:xfrm>
          <a:prstGeom prst="rect">
            <a:avLst/>
          </a:prstGeom>
          <a:noFill/>
          <a:ln>
            <a:noFill/>
          </a:ln>
        </p:spPr>
      </p:sp>
      <p:sp>
        <p:nvSpPr>
          <p:cNvPr id="675" name="Google Shape;675;p263"/>
          <p:cNvSpPr txBox="1">
            <a:spLocks noGrp="1"/>
          </p:cNvSpPr>
          <p:nvPr>
            <p:ph type="ftr" idx="11"/>
          </p:nvPr>
        </p:nvSpPr>
        <p:spPr>
          <a:xfrm>
            <a:off x="765820" y="6356351"/>
            <a:ext cx="3859795"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6" name="Google Shape;676;p263"/>
          <p:cNvSpPr txBox="1">
            <a:spLocks noGrp="1"/>
          </p:cNvSpPr>
          <p:nvPr>
            <p:ph type="sldNum" idx="12"/>
          </p:nvPr>
        </p:nvSpPr>
        <p:spPr>
          <a:xfrm>
            <a:off x="0" y="6356351"/>
            <a:ext cx="588428" cy="365125"/>
          </a:xfrm>
          <a:prstGeom prst="rect">
            <a:avLst/>
          </a:prstGeom>
          <a:noFill/>
          <a:ln>
            <a:noFill/>
          </a:ln>
        </p:spPr>
        <p:txBody>
          <a:bodyPr spcFirstLastPara="1" wrap="square" lIns="0" tIns="60925" rIns="0" bIns="60925" anchor="ctr" anchorCtr="0">
            <a:noAutofit/>
          </a:bodyPr>
          <a:lstStyle>
            <a:lvl1pPr marL="0" lvl="0" indent="0" algn="ctr">
              <a:spcBef>
                <a:spcPts val="0"/>
              </a:spcBef>
              <a:buNone/>
              <a:defRPr sz="2400" b="1">
                <a:solidFill>
                  <a:schemeClr val="lt1"/>
                </a:solidFill>
                <a:latin typeface="Quattrocento Sans"/>
                <a:ea typeface="Quattrocento Sans"/>
                <a:cs typeface="Quattrocento Sans"/>
                <a:sym typeface="Quattrocento Sans"/>
              </a:defRPr>
            </a:lvl1pPr>
            <a:lvl2pPr marL="0" lvl="1" indent="0" algn="ctr">
              <a:spcBef>
                <a:spcPts val="0"/>
              </a:spcBef>
              <a:buNone/>
              <a:defRPr sz="2400" b="1">
                <a:solidFill>
                  <a:schemeClr val="lt1"/>
                </a:solidFill>
                <a:latin typeface="Quattrocento Sans"/>
                <a:ea typeface="Quattrocento Sans"/>
                <a:cs typeface="Quattrocento Sans"/>
                <a:sym typeface="Quattrocento Sans"/>
              </a:defRPr>
            </a:lvl2pPr>
            <a:lvl3pPr marL="0" lvl="2" indent="0" algn="ctr">
              <a:spcBef>
                <a:spcPts val="0"/>
              </a:spcBef>
              <a:buNone/>
              <a:defRPr sz="2400" b="1">
                <a:solidFill>
                  <a:schemeClr val="lt1"/>
                </a:solidFill>
                <a:latin typeface="Quattrocento Sans"/>
                <a:ea typeface="Quattrocento Sans"/>
                <a:cs typeface="Quattrocento Sans"/>
                <a:sym typeface="Quattrocento Sans"/>
              </a:defRPr>
            </a:lvl3pPr>
            <a:lvl4pPr marL="0" lvl="3" indent="0" algn="ctr">
              <a:spcBef>
                <a:spcPts val="0"/>
              </a:spcBef>
              <a:buNone/>
              <a:defRPr sz="2400" b="1">
                <a:solidFill>
                  <a:schemeClr val="lt1"/>
                </a:solidFill>
                <a:latin typeface="Quattrocento Sans"/>
                <a:ea typeface="Quattrocento Sans"/>
                <a:cs typeface="Quattrocento Sans"/>
                <a:sym typeface="Quattrocento Sans"/>
              </a:defRPr>
            </a:lvl4pPr>
            <a:lvl5pPr marL="0" lvl="4" indent="0" algn="ctr">
              <a:spcBef>
                <a:spcPts val="0"/>
              </a:spcBef>
              <a:buNone/>
              <a:defRPr sz="2400" b="1">
                <a:solidFill>
                  <a:schemeClr val="lt1"/>
                </a:solidFill>
                <a:latin typeface="Quattrocento Sans"/>
                <a:ea typeface="Quattrocento Sans"/>
                <a:cs typeface="Quattrocento Sans"/>
                <a:sym typeface="Quattrocento Sans"/>
              </a:defRPr>
            </a:lvl5pPr>
            <a:lvl6pPr marL="0" lvl="5" indent="0" algn="ctr">
              <a:spcBef>
                <a:spcPts val="0"/>
              </a:spcBef>
              <a:buNone/>
              <a:defRPr sz="2400" b="1">
                <a:solidFill>
                  <a:schemeClr val="lt1"/>
                </a:solidFill>
                <a:latin typeface="Quattrocento Sans"/>
                <a:ea typeface="Quattrocento Sans"/>
                <a:cs typeface="Quattrocento Sans"/>
                <a:sym typeface="Quattrocento Sans"/>
              </a:defRPr>
            </a:lvl6pPr>
            <a:lvl7pPr marL="0" lvl="6" indent="0" algn="ctr">
              <a:spcBef>
                <a:spcPts val="0"/>
              </a:spcBef>
              <a:buNone/>
              <a:defRPr sz="2400" b="1">
                <a:solidFill>
                  <a:schemeClr val="lt1"/>
                </a:solidFill>
                <a:latin typeface="Quattrocento Sans"/>
                <a:ea typeface="Quattrocento Sans"/>
                <a:cs typeface="Quattrocento Sans"/>
                <a:sym typeface="Quattrocento Sans"/>
              </a:defRPr>
            </a:lvl7pPr>
            <a:lvl8pPr marL="0" lvl="7" indent="0" algn="ctr">
              <a:spcBef>
                <a:spcPts val="0"/>
              </a:spcBef>
              <a:buNone/>
              <a:defRPr sz="2400" b="1">
                <a:solidFill>
                  <a:schemeClr val="lt1"/>
                </a:solidFill>
                <a:latin typeface="Quattrocento Sans"/>
                <a:ea typeface="Quattrocento Sans"/>
                <a:cs typeface="Quattrocento Sans"/>
                <a:sym typeface="Quattrocento Sans"/>
              </a:defRPr>
            </a:lvl8pPr>
            <a:lvl9pPr marL="0" lvl="8" indent="0" algn="ctr">
              <a:spcBef>
                <a:spcPts val="0"/>
              </a:spcBef>
              <a:buNone/>
              <a:defRPr sz="2400" b="1">
                <a:solidFill>
                  <a:schemeClr val="lt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77"/>
        <p:cNvGrpSpPr/>
        <p:nvPr/>
      </p:nvGrpSpPr>
      <p:grpSpPr>
        <a:xfrm>
          <a:off x="0" y="0"/>
          <a:ext cx="0" cy="0"/>
          <a:chOff x="0" y="0"/>
          <a:chExt cx="0" cy="0"/>
        </a:xfrm>
      </p:grpSpPr>
      <p:sp>
        <p:nvSpPr>
          <p:cNvPr id="678" name="Google Shape;678;p264"/>
          <p:cNvSpPr/>
          <p:nvPr/>
        </p:nvSpPr>
        <p:spPr>
          <a:xfrm>
            <a:off x="262293" y="-15766"/>
            <a:ext cx="6065243" cy="6890306"/>
          </a:xfrm>
          <a:custGeom>
            <a:avLst/>
            <a:gdLst/>
            <a:ahLst/>
            <a:cxnLst/>
            <a:rect l="l" t="t" r="r" b="b"/>
            <a:pathLst>
              <a:path w="6065243" h="6890306" extrusionOk="0">
                <a:moveTo>
                  <a:pt x="2805601" y="0"/>
                </a:moveTo>
                <a:lnTo>
                  <a:pt x="6065243" y="0"/>
                </a:lnTo>
                <a:lnTo>
                  <a:pt x="3259642" y="6890306"/>
                </a:lnTo>
                <a:lnTo>
                  <a:pt x="0" y="6890306"/>
                </a:lnTo>
                <a:lnTo>
                  <a:pt x="2805601" y="0"/>
                </a:lnTo>
                <a:close/>
              </a:path>
            </a:pathLst>
          </a:custGeom>
          <a:solidFill>
            <a:srgbClr val="F2F2F2">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79" name="Google Shape;679;p264"/>
          <p:cNvSpPr/>
          <p:nvPr/>
        </p:nvSpPr>
        <p:spPr>
          <a:xfrm>
            <a:off x="11244627" y="4641750"/>
            <a:ext cx="944199" cy="2225205"/>
          </a:xfrm>
          <a:custGeom>
            <a:avLst/>
            <a:gdLst/>
            <a:ahLst/>
            <a:cxnLst/>
            <a:rect l="l" t="t" r="r" b="b"/>
            <a:pathLst>
              <a:path w="944199" h="2225205" extrusionOk="0">
                <a:moveTo>
                  <a:pt x="944199" y="0"/>
                </a:moveTo>
                <a:lnTo>
                  <a:pt x="944199" y="2225205"/>
                </a:lnTo>
                <a:lnTo>
                  <a:pt x="0" y="2225205"/>
                </a:lnTo>
                <a:lnTo>
                  <a:pt x="944199"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80" name="Google Shape;680;p264"/>
          <p:cNvSpPr txBox="1">
            <a:spLocks noGrp="1"/>
          </p:cNvSpPr>
          <p:nvPr>
            <p:ph type="title"/>
          </p:nvPr>
        </p:nvSpPr>
        <p:spPr>
          <a:xfrm>
            <a:off x="6096000" y="1124744"/>
            <a:ext cx="4318892" cy="1296144"/>
          </a:xfrm>
          <a:prstGeom prst="rect">
            <a:avLst/>
          </a:prstGeom>
          <a:noFill/>
          <a:ln>
            <a:noFill/>
          </a:ln>
        </p:spPr>
        <p:txBody>
          <a:bodyPr spcFirstLastPara="1" wrap="square" lIns="0" tIns="60925" rIns="0" bIns="60925" anchor="b" anchorCtr="0">
            <a:noAutofit/>
          </a:bodyPr>
          <a:lstStyle>
            <a:lvl1pPr lvl="0" algn="l">
              <a:spcBef>
                <a:spcPts val="0"/>
              </a:spcBef>
              <a:spcAft>
                <a:spcPts val="0"/>
              </a:spcAft>
              <a:buClr>
                <a:schemeClr val="accent2"/>
              </a:buClr>
              <a:buSzPts val="4000"/>
              <a:buFont typeface="Quattrocento Sans"/>
              <a:buNone/>
              <a:defRPr sz="4000" b="1">
                <a:solidFill>
                  <a:schemeClr val="accent2"/>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1" name="Google Shape;681;p264"/>
          <p:cNvSpPr/>
          <p:nvPr/>
        </p:nvSpPr>
        <p:spPr>
          <a:xfrm>
            <a:off x="11047863" y="6231003"/>
            <a:ext cx="934541" cy="398360"/>
          </a:xfrm>
          <a:prstGeom prst="parallelogram">
            <a:avLst>
              <a:gd name="adj" fmla="val 40341"/>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82" name="Google Shape;682;p264"/>
          <p:cNvSpPr txBox="1">
            <a:spLocks noGrp="1"/>
          </p:cNvSpPr>
          <p:nvPr>
            <p:ph type="ftr" idx="11"/>
          </p:nvPr>
        </p:nvSpPr>
        <p:spPr>
          <a:xfrm>
            <a:off x="8110636" y="6233120"/>
            <a:ext cx="2677919" cy="365125"/>
          </a:xfrm>
          <a:prstGeom prst="rect">
            <a:avLst/>
          </a:prstGeom>
          <a:noFill/>
          <a:ln>
            <a:noFill/>
          </a:ln>
        </p:spPr>
        <p:txBody>
          <a:bodyPr spcFirstLastPara="1" wrap="square" lIns="0" tIns="60925" rIns="0" bIns="609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3" name="Google Shape;683;p264"/>
          <p:cNvSpPr txBox="1">
            <a:spLocks noGrp="1"/>
          </p:cNvSpPr>
          <p:nvPr>
            <p:ph type="sldNum" idx="12"/>
          </p:nvPr>
        </p:nvSpPr>
        <p:spPr>
          <a:xfrm>
            <a:off x="11259404" y="6245529"/>
            <a:ext cx="506804" cy="369310"/>
          </a:xfrm>
          <a:prstGeom prst="rect">
            <a:avLst/>
          </a:prstGeom>
          <a:noFill/>
          <a:ln>
            <a:noFill/>
          </a:ln>
        </p:spPr>
        <p:txBody>
          <a:bodyPr spcFirstLastPara="1" wrap="square" lIns="0" tIns="0" rIns="0" bIns="0" anchor="ctr" anchorCtr="0">
            <a:noAutofit/>
          </a:bodyPr>
          <a:lstStyle>
            <a:lvl1pPr marL="0" lvl="0" indent="0" algn="ctr">
              <a:spcBef>
                <a:spcPts val="0"/>
              </a:spcBef>
              <a:buNone/>
              <a:defRPr sz="2000" b="1">
                <a:solidFill>
                  <a:schemeClr val="lt1"/>
                </a:solidFill>
                <a:latin typeface="Quattrocento Sans"/>
                <a:ea typeface="Quattrocento Sans"/>
                <a:cs typeface="Quattrocento Sans"/>
                <a:sym typeface="Quattrocento Sans"/>
              </a:defRPr>
            </a:lvl1pPr>
            <a:lvl2pPr marL="0" lvl="1" indent="0" algn="ctr">
              <a:spcBef>
                <a:spcPts val="0"/>
              </a:spcBef>
              <a:buNone/>
              <a:defRPr sz="2000" b="1">
                <a:solidFill>
                  <a:schemeClr val="lt1"/>
                </a:solidFill>
                <a:latin typeface="Quattrocento Sans"/>
                <a:ea typeface="Quattrocento Sans"/>
                <a:cs typeface="Quattrocento Sans"/>
                <a:sym typeface="Quattrocento Sans"/>
              </a:defRPr>
            </a:lvl2pPr>
            <a:lvl3pPr marL="0" lvl="2" indent="0" algn="ctr">
              <a:spcBef>
                <a:spcPts val="0"/>
              </a:spcBef>
              <a:buNone/>
              <a:defRPr sz="2000" b="1">
                <a:solidFill>
                  <a:schemeClr val="lt1"/>
                </a:solidFill>
                <a:latin typeface="Quattrocento Sans"/>
                <a:ea typeface="Quattrocento Sans"/>
                <a:cs typeface="Quattrocento Sans"/>
                <a:sym typeface="Quattrocento Sans"/>
              </a:defRPr>
            </a:lvl3pPr>
            <a:lvl4pPr marL="0" lvl="3" indent="0" algn="ctr">
              <a:spcBef>
                <a:spcPts val="0"/>
              </a:spcBef>
              <a:buNone/>
              <a:defRPr sz="2000" b="1">
                <a:solidFill>
                  <a:schemeClr val="lt1"/>
                </a:solidFill>
                <a:latin typeface="Quattrocento Sans"/>
                <a:ea typeface="Quattrocento Sans"/>
                <a:cs typeface="Quattrocento Sans"/>
                <a:sym typeface="Quattrocento Sans"/>
              </a:defRPr>
            </a:lvl4pPr>
            <a:lvl5pPr marL="0" lvl="4" indent="0" algn="ctr">
              <a:spcBef>
                <a:spcPts val="0"/>
              </a:spcBef>
              <a:buNone/>
              <a:defRPr sz="2000" b="1">
                <a:solidFill>
                  <a:schemeClr val="lt1"/>
                </a:solidFill>
                <a:latin typeface="Quattrocento Sans"/>
                <a:ea typeface="Quattrocento Sans"/>
                <a:cs typeface="Quattrocento Sans"/>
                <a:sym typeface="Quattrocento Sans"/>
              </a:defRPr>
            </a:lvl5pPr>
            <a:lvl6pPr marL="0" lvl="5" indent="0" algn="ctr">
              <a:spcBef>
                <a:spcPts val="0"/>
              </a:spcBef>
              <a:buNone/>
              <a:defRPr sz="2000" b="1">
                <a:solidFill>
                  <a:schemeClr val="lt1"/>
                </a:solidFill>
                <a:latin typeface="Quattrocento Sans"/>
                <a:ea typeface="Quattrocento Sans"/>
                <a:cs typeface="Quattrocento Sans"/>
                <a:sym typeface="Quattrocento Sans"/>
              </a:defRPr>
            </a:lvl6pPr>
            <a:lvl7pPr marL="0" lvl="6" indent="0" algn="ctr">
              <a:spcBef>
                <a:spcPts val="0"/>
              </a:spcBef>
              <a:buNone/>
              <a:defRPr sz="2000" b="1">
                <a:solidFill>
                  <a:schemeClr val="lt1"/>
                </a:solidFill>
                <a:latin typeface="Quattrocento Sans"/>
                <a:ea typeface="Quattrocento Sans"/>
                <a:cs typeface="Quattrocento Sans"/>
                <a:sym typeface="Quattrocento Sans"/>
              </a:defRPr>
            </a:lvl7pPr>
            <a:lvl8pPr marL="0" lvl="7" indent="0" algn="ctr">
              <a:spcBef>
                <a:spcPts val="0"/>
              </a:spcBef>
              <a:buNone/>
              <a:defRPr sz="2000" b="1">
                <a:solidFill>
                  <a:schemeClr val="lt1"/>
                </a:solidFill>
                <a:latin typeface="Quattrocento Sans"/>
                <a:ea typeface="Quattrocento Sans"/>
                <a:cs typeface="Quattrocento Sans"/>
                <a:sym typeface="Quattrocento Sans"/>
              </a:defRPr>
            </a:lvl8pPr>
            <a:lvl9pPr marL="0" lvl="8" indent="0" algn="ctr">
              <a:spcBef>
                <a:spcPts val="0"/>
              </a:spcBef>
              <a:buNone/>
              <a:defRPr sz="2000" b="1">
                <a:solidFill>
                  <a:schemeClr val="lt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684" name="Google Shape;684;p264"/>
          <p:cNvSpPr txBox="1">
            <a:spLocks noGrp="1"/>
          </p:cNvSpPr>
          <p:nvPr>
            <p:ph type="body" idx="1"/>
          </p:nvPr>
        </p:nvSpPr>
        <p:spPr>
          <a:xfrm>
            <a:off x="6094413" y="2529840"/>
            <a:ext cx="4329112" cy="3459480"/>
          </a:xfrm>
          <a:prstGeom prst="rect">
            <a:avLst/>
          </a:prstGeom>
          <a:noFill/>
          <a:ln>
            <a:noFill/>
          </a:ln>
        </p:spPr>
        <p:txBody>
          <a:bodyPr spcFirstLastPara="1" wrap="square" lIns="0" tIns="60925" rIns="0" bIns="60925" anchor="t" anchorCtr="0">
            <a:normAutofit/>
          </a:bodyPr>
          <a:lstStyle>
            <a:lvl1pPr marL="457200" lvl="0" indent="-381000" algn="l">
              <a:spcBef>
                <a:spcPts val="480"/>
              </a:spcBef>
              <a:spcAft>
                <a:spcPts val="0"/>
              </a:spcAft>
              <a:buClr>
                <a:srgbClr val="595959"/>
              </a:buClr>
              <a:buSzPts val="2400"/>
              <a:buFont typeface="Noto Sans Symbols"/>
              <a:buChar char="⮚"/>
              <a:defRPr sz="2400">
                <a:solidFill>
                  <a:srgbClr val="595959"/>
                </a:solidFill>
                <a:latin typeface="Quattrocento Sans"/>
                <a:ea typeface="Quattrocento Sans"/>
                <a:cs typeface="Quattrocento Sans"/>
                <a:sym typeface="Quattrocento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85" name="Google Shape;685;p264"/>
          <p:cNvSpPr>
            <a:spLocks noGrp="1"/>
          </p:cNvSpPr>
          <p:nvPr>
            <p:ph type="pic" idx="2"/>
          </p:nvPr>
        </p:nvSpPr>
        <p:spPr>
          <a:xfrm>
            <a:off x="0" y="476671"/>
            <a:ext cx="5103233" cy="5904656"/>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theme" Target="../theme/theme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6" Type="http://schemas.openxmlformats.org/officeDocument/2006/relationships/theme" Target="../theme/theme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0" Type="http://schemas.openxmlformats.org/officeDocument/2006/relationships/theme" Target="../theme/theme6.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5" Type="http://schemas.openxmlformats.org/officeDocument/2006/relationships/slideLayout" Target="../slideLayouts/slideLayout83.xml"/><Relationship Id="rId10" Type="http://schemas.openxmlformats.org/officeDocument/2006/relationships/slideLayout" Target="../slideLayouts/slideLayout78.xml"/><Relationship Id="rId19" Type="http://schemas.openxmlformats.org/officeDocument/2006/relationships/slideLayout" Target="../slideLayouts/slideLayout87.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5.xml"/><Relationship Id="rId3" Type="http://schemas.openxmlformats.org/officeDocument/2006/relationships/slideLayout" Target="../slideLayouts/slideLayout90.xml"/><Relationship Id="rId7" Type="http://schemas.openxmlformats.org/officeDocument/2006/relationships/slideLayout" Target="../slideLayouts/slideLayout94.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5" Type="http://schemas.openxmlformats.org/officeDocument/2006/relationships/slideLayout" Target="../slideLayouts/slideLayout92.xml"/><Relationship Id="rId10" Type="http://schemas.openxmlformats.org/officeDocument/2006/relationships/theme" Target="../theme/theme7.xml"/><Relationship Id="rId4" Type="http://schemas.openxmlformats.org/officeDocument/2006/relationships/slideLayout" Target="../slideLayouts/slideLayout91.xml"/><Relationship Id="rId9" Type="http://schemas.openxmlformats.org/officeDocument/2006/relationships/slideLayout" Target="../slideLayouts/slideLayout9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1"/>
          <p:cNvSpPr txBox="1">
            <a:spLocks noGrp="1"/>
          </p:cNvSpPr>
          <p:nvPr>
            <p:ph type="title"/>
          </p:nvPr>
        </p:nvSpPr>
        <p:spPr>
          <a:xfrm>
            <a:off x="609441" y="566807"/>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dk1"/>
              </a:buClr>
              <a:buSzPts val="3600"/>
              <a:buFont typeface="Quattrocento Sans"/>
              <a:buNone/>
              <a:defRPr sz="3600" b="1"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1"/>
          <p:cNvSpPr txBox="1">
            <a:spLocks noGrp="1"/>
          </p:cNvSpPr>
          <p:nvPr>
            <p:ph type="body" idx="1"/>
          </p:nvPr>
        </p:nvSpPr>
        <p:spPr>
          <a:xfrm>
            <a:off x="609441" y="1340458"/>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211"/>
          <p:cNvSpPr txBox="1">
            <a:spLocks noGrp="1"/>
          </p:cNvSpPr>
          <p:nvPr>
            <p:ph type="dt" idx="10"/>
          </p:nvPr>
        </p:nvSpPr>
        <p:spPr>
          <a:xfrm>
            <a:off x="609441" y="6453336"/>
            <a:ext cx="2844059" cy="268140"/>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211"/>
          <p:cNvSpPr txBox="1">
            <a:spLocks noGrp="1"/>
          </p:cNvSpPr>
          <p:nvPr>
            <p:ph type="ftr" idx="11"/>
          </p:nvPr>
        </p:nvSpPr>
        <p:spPr>
          <a:xfrm>
            <a:off x="4164515" y="6453336"/>
            <a:ext cx="3859795" cy="268140"/>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211"/>
          <p:cNvSpPr txBox="1">
            <a:spLocks noGrp="1"/>
          </p:cNvSpPr>
          <p:nvPr>
            <p:ph type="sldNum" idx="12"/>
          </p:nvPr>
        </p:nvSpPr>
        <p:spPr>
          <a:xfrm>
            <a:off x="8735325" y="6453336"/>
            <a:ext cx="2844059" cy="268140"/>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1pPr>
            <a:lvl2pPr marL="0" marR="0" lvl="1"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2pPr>
            <a:lvl3pPr marL="0" marR="0" lvl="2"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3pPr>
            <a:lvl4pPr marL="0" marR="0" lvl="3"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4pPr>
            <a:lvl5pPr marL="0" marR="0" lvl="4"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5pPr>
            <a:lvl6pPr marL="0" marR="0" lvl="5"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6pPr>
            <a:lvl7pPr marL="0" marR="0" lvl="6"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7pPr>
            <a:lvl8pPr marL="0" marR="0" lvl="7"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8pPr>
            <a:lvl9pPr marL="0" marR="0" lvl="8"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69"/>
        <p:cNvGrpSpPr/>
        <p:nvPr/>
      </p:nvGrpSpPr>
      <p:grpSpPr>
        <a:xfrm>
          <a:off x="0" y="0"/>
          <a:ext cx="0" cy="0"/>
          <a:chOff x="0" y="0"/>
          <a:chExt cx="0" cy="0"/>
        </a:xfrm>
      </p:grpSpPr>
      <p:sp>
        <p:nvSpPr>
          <p:cNvPr id="70" name="Google Shape;70;p21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 name="Google Shape;71;p21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72" name="Google Shape;72;p21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73" name="Google Shape;73;p21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74" name="Google Shape;74;p21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3"/>
        <p:cNvGrpSpPr/>
        <p:nvPr/>
      </p:nvGrpSpPr>
      <p:grpSpPr>
        <a:xfrm>
          <a:off x="0" y="0"/>
          <a:ext cx="0" cy="0"/>
          <a:chOff x="0" y="0"/>
          <a:chExt cx="0" cy="0"/>
        </a:xfrm>
      </p:grpSpPr>
      <p:sp>
        <p:nvSpPr>
          <p:cNvPr id="324" name="Google Shape;324;p218"/>
          <p:cNvSpPr txBox="1">
            <a:spLocks noGrp="1"/>
          </p:cNvSpPr>
          <p:nvPr>
            <p:ph type="title"/>
          </p:nvPr>
        </p:nvSpPr>
        <p:spPr>
          <a:xfrm>
            <a:off x="837982" y="365126"/>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5" name="Google Shape;325;p218"/>
          <p:cNvSpPr txBox="1">
            <a:spLocks noGrp="1"/>
          </p:cNvSpPr>
          <p:nvPr>
            <p:ph type="body" idx="1"/>
          </p:nvPr>
        </p:nvSpPr>
        <p:spPr>
          <a:xfrm>
            <a:off x="837982" y="1825625"/>
            <a:ext cx="10512862" cy="4351338"/>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537"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Calibri"/>
                <a:ea typeface="Calibri"/>
                <a:cs typeface="Calibri"/>
                <a:sym typeface="Calibri"/>
              </a:defRPr>
            </a:lvl3pPr>
            <a:lvl4pPr marL="1828800" marR="0" lvl="3" indent="-342837"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Calibri"/>
                <a:ea typeface="Calibri"/>
                <a:cs typeface="Calibri"/>
                <a:sym typeface="Calibri"/>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Calibri"/>
                <a:ea typeface="Calibri"/>
                <a:cs typeface="Calibri"/>
                <a:sym typeface="Calibri"/>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Calibri"/>
                <a:ea typeface="Calibri"/>
                <a:cs typeface="Calibri"/>
                <a:sym typeface="Calibri"/>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Calibri"/>
                <a:ea typeface="Calibri"/>
                <a:cs typeface="Calibri"/>
                <a:sym typeface="Calibri"/>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Calibri"/>
                <a:ea typeface="Calibri"/>
                <a:cs typeface="Calibri"/>
                <a:sym typeface="Calibri"/>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Calibri"/>
                <a:ea typeface="Calibri"/>
                <a:cs typeface="Calibri"/>
                <a:sym typeface="Calibri"/>
              </a:defRPr>
            </a:lvl9pPr>
          </a:lstStyle>
          <a:p>
            <a:endParaRPr/>
          </a:p>
        </p:txBody>
      </p:sp>
      <p:sp>
        <p:nvSpPr>
          <p:cNvPr id="326" name="Google Shape;326;p21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27" name="Google Shape;327;p21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28" name="Google Shape;328;p21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6"/>
        <p:cNvGrpSpPr/>
        <p:nvPr/>
      </p:nvGrpSpPr>
      <p:grpSpPr>
        <a:xfrm>
          <a:off x="0" y="0"/>
          <a:ext cx="0" cy="0"/>
          <a:chOff x="0" y="0"/>
          <a:chExt cx="0" cy="0"/>
        </a:xfrm>
      </p:grpSpPr>
      <p:sp>
        <p:nvSpPr>
          <p:cNvPr id="367" name="Google Shape;367;p22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8" name="Google Shape;368;p223"/>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369" name="Google Shape;369;p22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370" name="Google Shape;370;p22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371" name="Google Shape;371;p22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a:solidFill>
                  <a:srgbClr val="888888"/>
                </a:solidFill>
                <a:latin typeface="Quattrocento Sans"/>
                <a:ea typeface="Quattrocento Sans"/>
                <a:cs typeface="Quattrocento Sans"/>
                <a:sym typeface="Quattrocento Sans"/>
              </a:defRPr>
            </a:lvl1pPr>
            <a:lvl2pPr marL="0" marR="0" lvl="1" indent="0" algn="r" rtl="0">
              <a:spcBef>
                <a:spcPts val="0"/>
              </a:spcBef>
              <a:buNone/>
              <a:defRPr sz="1600">
                <a:solidFill>
                  <a:srgbClr val="888888"/>
                </a:solidFill>
                <a:latin typeface="Quattrocento Sans"/>
                <a:ea typeface="Quattrocento Sans"/>
                <a:cs typeface="Quattrocento Sans"/>
                <a:sym typeface="Quattrocento Sans"/>
              </a:defRPr>
            </a:lvl2pPr>
            <a:lvl3pPr marL="0" marR="0" lvl="2" indent="0" algn="r" rtl="0">
              <a:spcBef>
                <a:spcPts val="0"/>
              </a:spcBef>
              <a:buNone/>
              <a:defRPr sz="1600">
                <a:solidFill>
                  <a:srgbClr val="888888"/>
                </a:solidFill>
                <a:latin typeface="Quattrocento Sans"/>
                <a:ea typeface="Quattrocento Sans"/>
                <a:cs typeface="Quattrocento Sans"/>
                <a:sym typeface="Quattrocento Sans"/>
              </a:defRPr>
            </a:lvl3pPr>
            <a:lvl4pPr marL="0" marR="0" lvl="3" indent="0" algn="r" rtl="0">
              <a:spcBef>
                <a:spcPts val="0"/>
              </a:spcBef>
              <a:buNone/>
              <a:defRPr sz="1600">
                <a:solidFill>
                  <a:srgbClr val="888888"/>
                </a:solidFill>
                <a:latin typeface="Quattrocento Sans"/>
                <a:ea typeface="Quattrocento Sans"/>
                <a:cs typeface="Quattrocento Sans"/>
                <a:sym typeface="Quattrocento Sans"/>
              </a:defRPr>
            </a:lvl4pPr>
            <a:lvl5pPr marL="0" marR="0" lvl="4" indent="0" algn="r" rtl="0">
              <a:spcBef>
                <a:spcPts val="0"/>
              </a:spcBef>
              <a:buNone/>
              <a:defRPr sz="1600">
                <a:solidFill>
                  <a:srgbClr val="888888"/>
                </a:solidFill>
                <a:latin typeface="Quattrocento Sans"/>
                <a:ea typeface="Quattrocento Sans"/>
                <a:cs typeface="Quattrocento Sans"/>
                <a:sym typeface="Quattrocento Sans"/>
              </a:defRPr>
            </a:lvl5pPr>
            <a:lvl6pPr marL="0" marR="0" lvl="5" indent="0" algn="r" rtl="0">
              <a:spcBef>
                <a:spcPts val="0"/>
              </a:spcBef>
              <a:buNone/>
              <a:defRPr sz="1600">
                <a:solidFill>
                  <a:srgbClr val="888888"/>
                </a:solidFill>
                <a:latin typeface="Quattrocento Sans"/>
                <a:ea typeface="Quattrocento Sans"/>
                <a:cs typeface="Quattrocento Sans"/>
                <a:sym typeface="Quattrocento Sans"/>
              </a:defRPr>
            </a:lvl6pPr>
            <a:lvl7pPr marL="0" marR="0" lvl="6" indent="0" algn="r" rtl="0">
              <a:spcBef>
                <a:spcPts val="0"/>
              </a:spcBef>
              <a:buNone/>
              <a:defRPr sz="1600">
                <a:solidFill>
                  <a:srgbClr val="888888"/>
                </a:solidFill>
                <a:latin typeface="Quattrocento Sans"/>
                <a:ea typeface="Quattrocento Sans"/>
                <a:cs typeface="Quattrocento Sans"/>
                <a:sym typeface="Quattrocento Sans"/>
              </a:defRPr>
            </a:lvl7pPr>
            <a:lvl8pPr marL="0" marR="0" lvl="7" indent="0" algn="r" rtl="0">
              <a:spcBef>
                <a:spcPts val="0"/>
              </a:spcBef>
              <a:buNone/>
              <a:defRPr sz="1600">
                <a:solidFill>
                  <a:srgbClr val="888888"/>
                </a:solidFill>
                <a:latin typeface="Quattrocento Sans"/>
                <a:ea typeface="Quattrocento Sans"/>
                <a:cs typeface="Quattrocento Sans"/>
                <a:sym typeface="Quattrocento Sans"/>
              </a:defRPr>
            </a:lvl8pPr>
            <a:lvl9pPr marL="0" marR="0" lvl="8" indent="0" algn="r" rtl="0">
              <a:spcBef>
                <a:spcPts val="0"/>
              </a:spcBef>
              <a:buNone/>
              <a:defRPr sz="1600">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81000">
              <a:srgbClr val="EEEEEE"/>
            </a:gs>
            <a:gs pos="100000">
              <a:srgbClr val="D8D8D8"/>
            </a:gs>
          </a:gsLst>
          <a:path path="circle">
            <a:fillToRect l="50000" t="50000" r="50000" b="50000"/>
          </a:path>
          <a:tileRect/>
        </a:gradFill>
        <a:effectLst/>
      </p:bgPr>
    </p:bg>
    <p:spTree>
      <p:nvGrpSpPr>
        <p:cNvPr id="1" name="Shape 409"/>
        <p:cNvGrpSpPr/>
        <p:nvPr/>
      </p:nvGrpSpPr>
      <p:grpSpPr>
        <a:xfrm>
          <a:off x="0" y="0"/>
          <a:ext cx="0" cy="0"/>
          <a:chOff x="0" y="0"/>
          <a:chExt cx="0" cy="0"/>
        </a:xfrm>
      </p:grpSpPr>
      <p:sp>
        <p:nvSpPr>
          <p:cNvPr id="410" name="Google Shape;410;p225"/>
          <p:cNvSpPr txBox="1">
            <a:spLocks noGrp="1"/>
          </p:cNvSpPr>
          <p:nvPr>
            <p:ph type="title"/>
          </p:nvPr>
        </p:nvSpPr>
        <p:spPr>
          <a:xfrm>
            <a:off x="609442" y="274641"/>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599"/>
              <a:buFont typeface="Calibri"/>
              <a:buNone/>
              <a:defRPr sz="35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1" name="Google Shape;411;p225"/>
          <p:cNvSpPr txBox="1">
            <a:spLocks noGrp="1"/>
          </p:cNvSpPr>
          <p:nvPr>
            <p:ph type="body" idx="1"/>
          </p:nvPr>
        </p:nvSpPr>
        <p:spPr>
          <a:xfrm>
            <a:off x="609442" y="1138426"/>
            <a:ext cx="10969943" cy="4987739"/>
          </a:xfrm>
          <a:prstGeom prst="rect">
            <a:avLst/>
          </a:prstGeom>
          <a:noFill/>
          <a:ln>
            <a:noFill/>
          </a:ln>
        </p:spPr>
        <p:txBody>
          <a:bodyPr spcFirstLastPara="1" wrap="square" lIns="121875" tIns="60925" rIns="121875" bIns="60925" anchor="t" anchorCtr="0">
            <a:normAutofit/>
          </a:bodyPr>
          <a:lstStyle>
            <a:lvl1pPr marL="457200" marR="0" lvl="0" indent="-457137" algn="l" rtl="0">
              <a:spcBef>
                <a:spcPts val="720"/>
              </a:spcBef>
              <a:spcAft>
                <a:spcPts val="0"/>
              </a:spcAft>
              <a:buClr>
                <a:schemeClr val="dk1"/>
              </a:buClr>
              <a:buSzPts val="3599"/>
              <a:buFont typeface="Arial"/>
              <a:buChar char="•"/>
              <a:defRPr sz="3599" b="0" i="0" u="none" strike="noStrike" cap="none">
                <a:solidFill>
                  <a:schemeClr val="dk1"/>
                </a:solidFill>
                <a:latin typeface="Calibri"/>
                <a:ea typeface="Calibri"/>
                <a:cs typeface="Calibri"/>
                <a:sym typeface="Calibri"/>
              </a:defRPr>
            </a:lvl1pPr>
            <a:lvl2pPr marL="914400" marR="0" lvl="1" indent="-431737" algn="l" rtl="0">
              <a:spcBef>
                <a:spcPts val="640"/>
              </a:spcBef>
              <a:spcAft>
                <a:spcPts val="0"/>
              </a:spcAft>
              <a:buClr>
                <a:schemeClr val="dk1"/>
              </a:buClr>
              <a:buSzPts val="3199"/>
              <a:buFont typeface="Arial"/>
              <a:buChar char="–"/>
              <a:defRPr sz="3199" b="0" i="0" u="none" strike="noStrike" cap="none">
                <a:solidFill>
                  <a:schemeClr val="dk1"/>
                </a:solidFill>
                <a:latin typeface="Calibri"/>
                <a:ea typeface="Calibri"/>
                <a:cs typeface="Calibri"/>
                <a:sym typeface="Calibri"/>
              </a:defRPr>
            </a:lvl2pPr>
            <a:lvl3pPr marL="1371600" marR="0" lvl="2" indent="-380937" algn="l" rtl="0">
              <a:spcBef>
                <a:spcPts val="48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3pPr>
            <a:lvl4pPr marL="1828800" marR="0" lvl="3" indent="-355537" algn="l" rtl="0">
              <a:spcBef>
                <a:spcPts val="400"/>
              </a:spcBef>
              <a:spcAft>
                <a:spcPts val="0"/>
              </a:spcAft>
              <a:buClr>
                <a:schemeClr val="dk1"/>
              </a:buClr>
              <a:buSzPts val="1999"/>
              <a:buFont typeface="Arial"/>
              <a:buChar char="–"/>
              <a:defRPr sz="1999" b="0" i="0" u="none" strike="noStrike" cap="none">
                <a:solidFill>
                  <a:schemeClr val="dk1"/>
                </a:solidFill>
                <a:latin typeface="Calibri"/>
                <a:ea typeface="Calibri"/>
                <a:cs typeface="Calibri"/>
                <a:sym typeface="Calibri"/>
              </a:defRPr>
            </a:lvl4pPr>
            <a:lvl5pPr marL="2286000" marR="0" lvl="4" indent="-355536" algn="l" rtl="0">
              <a:spcBef>
                <a:spcPts val="400"/>
              </a:spcBef>
              <a:spcAft>
                <a:spcPts val="0"/>
              </a:spcAft>
              <a:buClr>
                <a:schemeClr val="dk1"/>
              </a:buClr>
              <a:buSzPts val="1999"/>
              <a:buFont typeface="Arial"/>
              <a:buChar char="»"/>
              <a:defRPr sz="1999" b="0" i="0" u="none" strike="noStrike" cap="none">
                <a:solidFill>
                  <a:schemeClr val="dk1"/>
                </a:solidFill>
                <a:latin typeface="Calibri"/>
                <a:ea typeface="Calibri"/>
                <a:cs typeface="Calibri"/>
                <a:sym typeface="Calibri"/>
              </a:defRPr>
            </a:lvl5pPr>
            <a:lvl6pPr marL="2743200" marR="0" lvl="5" indent="-399986" algn="l" rtl="0">
              <a:spcBef>
                <a:spcPts val="540"/>
              </a:spcBef>
              <a:spcAft>
                <a:spcPts val="0"/>
              </a:spcAft>
              <a:buClr>
                <a:schemeClr val="dk1"/>
              </a:buClr>
              <a:buSzPts val="2699"/>
              <a:buFont typeface="Arial"/>
              <a:buChar char="•"/>
              <a:defRPr sz="2699" b="0" i="0" u="none" strike="noStrike" cap="none">
                <a:solidFill>
                  <a:schemeClr val="dk1"/>
                </a:solidFill>
                <a:latin typeface="Calibri"/>
                <a:ea typeface="Calibri"/>
                <a:cs typeface="Calibri"/>
                <a:sym typeface="Calibri"/>
              </a:defRPr>
            </a:lvl6pPr>
            <a:lvl7pPr marL="3200400" marR="0" lvl="6" indent="-399986" algn="l" rtl="0">
              <a:spcBef>
                <a:spcPts val="540"/>
              </a:spcBef>
              <a:spcAft>
                <a:spcPts val="0"/>
              </a:spcAft>
              <a:buClr>
                <a:schemeClr val="dk1"/>
              </a:buClr>
              <a:buSzPts val="2699"/>
              <a:buFont typeface="Arial"/>
              <a:buChar char="•"/>
              <a:defRPr sz="2699" b="0" i="0" u="none" strike="noStrike" cap="none">
                <a:solidFill>
                  <a:schemeClr val="dk1"/>
                </a:solidFill>
                <a:latin typeface="Calibri"/>
                <a:ea typeface="Calibri"/>
                <a:cs typeface="Calibri"/>
                <a:sym typeface="Calibri"/>
              </a:defRPr>
            </a:lvl7pPr>
            <a:lvl8pPr marL="3657600" marR="0" lvl="7" indent="-399986" algn="l" rtl="0">
              <a:spcBef>
                <a:spcPts val="540"/>
              </a:spcBef>
              <a:spcAft>
                <a:spcPts val="0"/>
              </a:spcAft>
              <a:buClr>
                <a:schemeClr val="dk1"/>
              </a:buClr>
              <a:buSzPts val="2699"/>
              <a:buFont typeface="Arial"/>
              <a:buChar char="•"/>
              <a:defRPr sz="2699" b="0" i="0" u="none" strike="noStrike" cap="none">
                <a:solidFill>
                  <a:schemeClr val="dk1"/>
                </a:solidFill>
                <a:latin typeface="Calibri"/>
                <a:ea typeface="Calibri"/>
                <a:cs typeface="Calibri"/>
                <a:sym typeface="Calibri"/>
              </a:defRPr>
            </a:lvl8pPr>
            <a:lvl9pPr marL="4114800" marR="0" lvl="8" indent="-399986" algn="l" rtl="0">
              <a:spcBef>
                <a:spcPts val="540"/>
              </a:spcBef>
              <a:spcAft>
                <a:spcPts val="0"/>
              </a:spcAft>
              <a:buClr>
                <a:schemeClr val="dk1"/>
              </a:buClr>
              <a:buSzPts val="2699"/>
              <a:buFont typeface="Arial"/>
              <a:buChar char="•"/>
              <a:defRPr sz="2699" b="0" i="0" u="none" strike="noStrike" cap="none">
                <a:solidFill>
                  <a:schemeClr val="dk1"/>
                </a:solidFill>
                <a:latin typeface="Calibri"/>
                <a:ea typeface="Calibri"/>
                <a:cs typeface="Calibri"/>
                <a:sym typeface="Calibri"/>
              </a:defRPr>
            </a:lvl9pPr>
          </a:lstStyle>
          <a:p>
            <a:endParaRPr/>
          </a:p>
        </p:txBody>
      </p:sp>
      <p:sp>
        <p:nvSpPr>
          <p:cNvPr id="412" name="Google Shape;412;p225"/>
          <p:cNvSpPr txBox="1">
            <a:spLocks noGrp="1"/>
          </p:cNvSpPr>
          <p:nvPr>
            <p:ph type="dt" idx="10"/>
          </p:nvPr>
        </p:nvSpPr>
        <p:spPr>
          <a:xfrm>
            <a:off x="609441" y="6356353"/>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13" name="Google Shape;413;p225"/>
          <p:cNvSpPr txBox="1">
            <a:spLocks noGrp="1"/>
          </p:cNvSpPr>
          <p:nvPr>
            <p:ph type="ftr" idx="11"/>
          </p:nvPr>
        </p:nvSpPr>
        <p:spPr>
          <a:xfrm>
            <a:off x="4164516" y="6356353"/>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14" name="Google Shape;414;p225"/>
          <p:cNvSpPr txBox="1">
            <a:spLocks noGrp="1"/>
          </p:cNvSpPr>
          <p:nvPr>
            <p:ph type="sldNum" idx="12"/>
          </p:nvPr>
        </p:nvSpPr>
        <p:spPr>
          <a:xfrm>
            <a:off x="8735326" y="6356353"/>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8"/>
        <p:cNvGrpSpPr/>
        <p:nvPr/>
      </p:nvGrpSpPr>
      <p:grpSpPr>
        <a:xfrm>
          <a:off x="0" y="0"/>
          <a:ext cx="0" cy="0"/>
          <a:chOff x="0" y="0"/>
          <a:chExt cx="0" cy="0"/>
        </a:xfrm>
      </p:grpSpPr>
      <p:sp>
        <p:nvSpPr>
          <p:cNvPr id="509" name="Google Shape;509;p227"/>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0" name="Google Shape;510;p227"/>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511" name="Google Shape;511;p22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12" name="Google Shape;512;p22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13" name="Google Shape;513;p22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636"/>
        <p:cNvGrpSpPr/>
        <p:nvPr/>
      </p:nvGrpSpPr>
      <p:grpSpPr>
        <a:xfrm>
          <a:off x="0" y="0"/>
          <a:ext cx="0" cy="0"/>
          <a:chOff x="0" y="0"/>
          <a:chExt cx="0" cy="0"/>
        </a:xfrm>
      </p:grpSpPr>
      <p:sp>
        <p:nvSpPr>
          <p:cNvPr id="637" name="Google Shape;637;p23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0"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8" name="Google Shape;638;p232"/>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639" name="Google Shape;639;p23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640" name="Google Shape;640;p23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641" name="Google Shape;641;p23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a:solidFill>
                  <a:srgbClr val="888888"/>
                </a:solidFill>
                <a:latin typeface="Quattrocento Sans"/>
                <a:ea typeface="Quattrocento Sans"/>
                <a:cs typeface="Quattrocento Sans"/>
                <a:sym typeface="Quattrocento Sans"/>
              </a:defRPr>
            </a:lvl1pPr>
            <a:lvl2pPr marL="0" marR="0" lvl="1" indent="0" algn="r" rtl="0">
              <a:spcBef>
                <a:spcPts val="0"/>
              </a:spcBef>
              <a:buNone/>
              <a:defRPr sz="1600">
                <a:solidFill>
                  <a:srgbClr val="888888"/>
                </a:solidFill>
                <a:latin typeface="Quattrocento Sans"/>
                <a:ea typeface="Quattrocento Sans"/>
                <a:cs typeface="Quattrocento Sans"/>
                <a:sym typeface="Quattrocento Sans"/>
              </a:defRPr>
            </a:lvl2pPr>
            <a:lvl3pPr marL="0" marR="0" lvl="2" indent="0" algn="r" rtl="0">
              <a:spcBef>
                <a:spcPts val="0"/>
              </a:spcBef>
              <a:buNone/>
              <a:defRPr sz="1600">
                <a:solidFill>
                  <a:srgbClr val="888888"/>
                </a:solidFill>
                <a:latin typeface="Quattrocento Sans"/>
                <a:ea typeface="Quattrocento Sans"/>
                <a:cs typeface="Quattrocento Sans"/>
                <a:sym typeface="Quattrocento Sans"/>
              </a:defRPr>
            </a:lvl3pPr>
            <a:lvl4pPr marL="0" marR="0" lvl="3" indent="0" algn="r" rtl="0">
              <a:spcBef>
                <a:spcPts val="0"/>
              </a:spcBef>
              <a:buNone/>
              <a:defRPr sz="1600">
                <a:solidFill>
                  <a:srgbClr val="888888"/>
                </a:solidFill>
                <a:latin typeface="Quattrocento Sans"/>
                <a:ea typeface="Quattrocento Sans"/>
                <a:cs typeface="Quattrocento Sans"/>
                <a:sym typeface="Quattrocento Sans"/>
              </a:defRPr>
            </a:lvl4pPr>
            <a:lvl5pPr marL="0" marR="0" lvl="4" indent="0" algn="r" rtl="0">
              <a:spcBef>
                <a:spcPts val="0"/>
              </a:spcBef>
              <a:buNone/>
              <a:defRPr sz="1600">
                <a:solidFill>
                  <a:srgbClr val="888888"/>
                </a:solidFill>
                <a:latin typeface="Quattrocento Sans"/>
                <a:ea typeface="Quattrocento Sans"/>
                <a:cs typeface="Quattrocento Sans"/>
                <a:sym typeface="Quattrocento Sans"/>
              </a:defRPr>
            </a:lvl5pPr>
            <a:lvl6pPr marL="0" marR="0" lvl="5" indent="0" algn="r" rtl="0">
              <a:spcBef>
                <a:spcPts val="0"/>
              </a:spcBef>
              <a:buNone/>
              <a:defRPr sz="1600">
                <a:solidFill>
                  <a:srgbClr val="888888"/>
                </a:solidFill>
                <a:latin typeface="Quattrocento Sans"/>
                <a:ea typeface="Quattrocento Sans"/>
                <a:cs typeface="Quattrocento Sans"/>
                <a:sym typeface="Quattrocento Sans"/>
              </a:defRPr>
            </a:lvl6pPr>
            <a:lvl7pPr marL="0" marR="0" lvl="6" indent="0" algn="r" rtl="0">
              <a:spcBef>
                <a:spcPts val="0"/>
              </a:spcBef>
              <a:buNone/>
              <a:defRPr sz="1600">
                <a:solidFill>
                  <a:srgbClr val="888888"/>
                </a:solidFill>
                <a:latin typeface="Quattrocento Sans"/>
                <a:ea typeface="Quattrocento Sans"/>
                <a:cs typeface="Quattrocento Sans"/>
                <a:sym typeface="Quattrocento Sans"/>
              </a:defRPr>
            </a:lvl7pPr>
            <a:lvl8pPr marL="0" marR="0" lvl="7" indent="0" algn="r" rtl="0">
              <a:spcBef>
                <a:spcPts val="0"/>
              </a:spcBef>
              <a:buNone/>
              <a:defRPr sz="1600">
                <a:solidFill>
                  <a:srgbClr val="888888"/>
                </a:solidFill>
                <a:latin typeface="Quattrocento Sans"/>
                <a:ea typeface="Quattrocento Sans"/>
                <a:cs typeface="Quattrocento Sans"/>
                <a:sym typeface="Quattrocento Sans"/>
              </a:defRPr>
            </a:lvl8pPr>
            <a:lvl9pPr marL="0" marR="0" lvl="8" indent="0" algn="r" rtl="0">
              <a:spcBef>
                <a:spcPts val="0"/>
              </a:spcBef>
              <a:buNone/>
              <a:defRPr sz="1600">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www.anubhavtrainings.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hyperlink" Target="https://discovery-center.cloud.sap/serviceCatalog?" TargetMode="External"/><Relationship Id="rId4" Type="http://schemas.openxmlformats.org/officeDocument/2006/relationships/hyperlink" Target="https://help.sap.com/viewer/34f67db3b755405e8145c578221f012c/latest/en-US/6bcefac41a334bb0bc912961aa6b34dc.html" TargetMode="External"/><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32.xml"/><Relationship Id="rId5" Type="http://schemas.openxmlformats.org/officeDocument/2006/relationships/image" Target="../media/image4.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5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54.xml"/><Relationship Id="rId6" Type="http://schemas.openxmlformats.org/officeDocument/2006/relationships/image" Target="../media/image15.png"/><Relationship Id="rId5" Type="http://schemas.openxmlformats.org/officeDocument/2006/relationships/hyperlink" Target="https://discovery-center.cloud.sap/serviceCatalog?" TargetMode="External"/><Relationship Id="rId4" Type="http://schemas.openxmlformats.org/officeDocument/2006/relationships/hyperlink" Target="https://help.sap.com/viewer/34f67db3b755405e8145c578221f012c/latest/en-US/6bcefac41a334bb0bc912961aa6b34dc.html" TargetMode="External"/><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69.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4.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54.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5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54.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54.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54.xml"/><Relationship Id="rId5" Type="http://schemas.openxmlformats.org/officeDocument/2006/relationships/image" Target="../media/image34.png"/><Relationship Id="rId4" Type="http://schemas.openxmlformats.org/officeDocument/2006/relationships/hyperlink" Target="https://cloudplatform.sap.com/" TargetMode="External"/></Relationships>
</file>

<file path=ppt/slides/_rels/slide22.xml.rels><?xml version="1.0" encoding="UTF-8" standalone="yes"?>
<Relationships xmlns="http://schemas.openxmlformats.org/package/2006/relationships"><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9" Type="http://schemas.openxmlformats.org/officeDocument/2006/relationships/image" Target="../media/image71.png"/><Relationship Id="rId21" Type="http://schemas.openxmlformats.org/officeDocument/2006/relationships/image" Target="../media/image53.png"/><Relationship Id="rId34" Type="http://schemas.openxmlformats.org/officeDocument/2006/relationships/image" Target="../media/image66.png"/><Relationship Id="rId42" Type="http://schemas.openxmlformats.org/officeDocument/2006/relationships/image" Target="../media/image74.png"/><Relationship Id="rId47" Type="http://schemas.openxmlformats.org/officeDocument/2006/relationships/image" Target="../media/image79.png"/><Relationship Id="rId50" Type="http://schemas.openxmlformats.org/officeDocument/2006/relationships/image" Target="../media/image82.png"/><Relationship Id="rId7" Type="http://schemas.openxmlformats.org/officeDocument/2006/relationships/image" Target="../media/image39.png"/><Relationship Id="rId2" Type="http://schemas.openxmlformats.org/officeDocument/2006/relationships/notesSlide" Target="../notesSlides/notesSlide22.xml"/><Relationship Id="rId16" Type="http://schemas.openxmlformats.org/officeDocument/2006/relationships/image" Target="../media/image48.png"/><Relationship Id="rId29" Type="http://schemas.openxmlformats.org/officeDocument/2006/relationships/image" Target="../media/image61.png"/><Relationship Id="rId11" Type="http://schemas.openxmlformats.org/officeDocument/2006/relationships/image" Target="../media/image43.png"/><Relationship Id="rId24" Type="http://schemas.openxmlformats.org/officeDocument/2006/relationships/image" Target="../media/image56.png"/><Relationship Id="rId32" Type="http://schemas.openxmlformats.org/officeDocument/2006/relationships/image" Target="../media/image64.png"/><Relationship Id="rId37" Type="http://schemas.openxmlformats.org/officeDocument/2006/relationships/image" Target="../media/image69.png"/><Relationship Id="rId40" Type="http://schemas.openxmlformats.org/officeDocument/2006/relationships/image" Target="../media/image72.png"/><Relationship Id="rId45" Type="http://schemas.openxmlformats.org/officeDocument/2006/relationships/image" Target="../media/image77.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36" Type="http://schemas.openxmlformats.org/officeDocument/2006/relationships/image" Target="../media/image68.png"/><Relationship Id="rId49" Type="http://schemas.openxmlformats.org/officeDocument/2006/relationships/image" Target="../media/image81.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3.png"/><Relationship Id="rId44" Type="http://schemas.openxmlformats.org/officeDocument/2006/relationships/image" Target="../media/image76.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 Id="rId35" Type="http://schemas.openxmlformats.org/officeDocument/2006/relationships/image" Target="../media/image67.png"/><Relationship Id="rId43" Type="http://schemas.openxmlformats.org/officeDocument/2006/relationships/image" Target="../media/image75.png"/><Relationship Id="rId48" Type="http://schemas.openxmlformats.org/officeDocument/2006/relationships/image" Target="../media/image80.png"/><Relationship Id="rId8" Type="http://schemas.openxmlformats.org/officeDocument/2006/relationships/image" Target="../media/image40.png"/><Relationship Id="rId3" Type="http://schemas.openxmlformats.org/officeDocument/2006/relationships/image" Target="../media/image35.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33" Type="http://schemas.openxmlformats.org/officeDocument/2006/relationships/image" Target="../media/image65.png"/><Relationship Id="rId38" Type="http://schemas.openxmlformats.org/officeDocument/2006/relationships/image" Target="../media/image70.png"/><Relationship Id="rId46" Type="http://schemas.openxmlformats.org/officeDocument/2006/relationships/image" Target="../media/image78.png"/><Relationship Id="rId20" Type="http://schemas.openxmlformats.org/officeDocument/2006/relationships/image" Target="../media/image52.png"/><Relationship Id="rId41" Type="http://schemas.openxmlformats.org/officeDocument/2006/relationships/image" Target="../media/image73.png"/><Relationship Id="rId1" Type="http://schemas.openxmlformats.org/officeDocument/2006/relationships/slideLayout" Target="../slideLayouts/slideLayout43.xml"/><Relationship Id="rId6"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54.xml"/><Relationship Id="rId4" Type="http://schemas.openxmlformats.org/officeDocument/2006/relationships/image" Target="../media/image8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3" Type="http://schemas.openxmlformats.org/officeDocument/2006/relationships/hyperlink" Target="https://help.sap.com/docs/btp/btp-developers-guide/basic-platform-setup" TargetMode="External"/><Relationship Id="rId2" Type="http://schemas.openxmlformats.org/officeDocument/2006/relationships/notesSlide" Target="../notesSlides/notesSlide25.xml"/><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3" Type="http://schemas.openxmlformats.org/officeDocument/2006/relationships/hyperlink" Target="https://help.sap.com/docs/btp/sap-business-technology-platform/what-is-consumption-based-commercial-model?locale=en-US" TargetMode="External"/><Relationship Id="rId2" Type="http://schemas.openxmlformats.org/officeDocument/2006/relationships/notesSlide" Target="../notesSlides/notesSlide26.xml"/><Relationship Id="rId1" Type="http://schemas.openxmlformats.org/officeDocument/2006/relationships/slideLayout" Target="../slideLayouts/slideLayout55.xml"/><Relationship Id="rId4" Type="http://schemas.openxmlformats.org/officeDocument/2006/relationships/image" Target="../media/image84.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69.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69.xml"/><Relationship Id="rId6" Type="http://schemas.openxmlformats.org/officeDocument/2006/relationships/hyperlink" Target="https://discovery-center.cloud.sap/servicessearch" TargetMode="External"/><Relationship Id="rId5" Type="http://schemas.openxmlformats.org/officeDocument/2006/relationships/image" Target="../media/image86.png"/><Relationship Id="rId4" Type="http://schemas.openxmlformats.org/officeDocument/2006/relationships/image" Target="../media/image85.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69.xml"/><Relationship Id="rId5" Type="http://schemas.openxmlformats.org/officeDocument/2006/relationships/image" Target="../media/image88.png"/><Relationship Id="rId4" Type="http://schemas.openxmlformats.org/officeDocument/2006/relationships/image" Target="../media/image8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3.xml"/></Relationships>
</file>

<file path=ppt/slides/_rels/slide3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4.xml"/><Relationship Id="rId1" Type="http://schemas.openxmlformats.org/officeDocument/2006/relationships/slideLayout" Target="../slideLayouts/slideLayout4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3.xml"/></Relationships>
</file>

<file path=ppt/slides/_rels/slide36.xml.rels><?xml version="1.0" encoding="UTF-8" standalone="yes"?>
<Relationships xmlns="http://schemas.openxmlformats.org/package/2006/relationships"><Relationship Id="rId3" Type="http://schemas.openxmlformats.org/officeDocument/2006/relationships/hyperlink" Target="https://git-scm.com/" TargetMode="External"/><Relationship Id="rId7" Type="http://schemas.openxmlformats.org/officeDocument/2006/relationships/hyperlink" Target="https://www.postman.com/" TargetMode="External"/><Relationship Id="rId2" Type="http://schemas.openxmlformats.org/officeDocument/2006/relationships/notesSlide" Target="../notesSlides/notesSlide36.xml"/><Relationship Id="rId1" Type="http://schemas.openxmlformats.org/officeDocument/2006/relationships/slideLayout" Target="../slideLayouts/slideLayout43.xml"/><Relationship Id="rId6" Type="http://schemas.openxmlformats.org/officeDocument/2006/relationships/hyperlink" Target="https://github.com/cloudfoundry/cli/wiki/V8-CLI-Installation-Guide#installers-and-compressed-binaries" TargetMode="External"/><Relationship Id="rId5" Type="http://schemas.openxmlformats.org/officeDocument/2006/relationships/hyperlink" Target="https://code.visualstudio.com/" TargetMode="External"/><Relationship Id="rId4" Type="http://schemas.openxmlformats.org/officeDocument/2006/relationships/hyperlink" Target="https://nodejs.org/en/download"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github.com/anubhavtrainings-official/btpcapm05/" TargetMode="External"/><Relationship Id="rId2" Type="http://schemas.openxmlformats.org/officeDocument/2006/relationships/notesSlide" Target="../notesSlides/notesSlide37.xml"/><Relationship Id="rId1" Type="http://schemas.openxmlformats.org/officeDocument/2006/relationships/slideLayout" Target="../slideLayouts/slideLayout43.xml"/><Relationship Id="rId6" Type="http://schemas.openxmlformats.org/officeDocument/2006/relationships/hyperlink" Target="mailto:contact@anubhavtrainings.com" TargetMode="External"/><Relationship Id="rId5" Type="http://schemas.openxmlformats.org/officeDocument/2006/relationships/hyperlink" Target="https://github.com/signup" TargetMode="External"/><Relationship Id="rId4" Type="http://schemas.openxmlformats.org/officeDocument/2006/relationships/image" Target="../media/image9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3.xml"/></Relationships>
</file>

<file path=ppt/slides/_rels/slide41.xml.rels><?xml version="1.0" encoding="UTF-8" standalone="yes"?>
<Relationships xmlns="http://schemas.openxmlformats.org/package/2006/relationships"><Relationship Id="rId3" Type="http://schemas.openxmlformats.org/officeDocument/2006/relationships/hyperlink" Target="https://cli.cloudfoundry.org/en-US/v6/" TargetMode="External"/><Relationship Id="rId2" Type="http://schemas.openxmlformats.org/officeDocument/2006/relationships/notesSlide" Target="../notesSlides/notesSlide41.xml"/><Relationship Id="rId1" Type="http://schemas.openxmlformats.org/officeDocument/2006/relationships/slideLayout" Target="../slideLayouts/slideLayout43.xml"/><Relationship Id="rId4" Type="http://schemas.openxmlformats.org/officeDocument/2006/relationships/hyperlink" Target="https://docs.cloudfoundry.org/devguide/deploy-apps/manifest-attributes.html"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3.xml"/></Relationships>
</file>

<file path=ppt/slides/_rels/slide4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3.xml"/><Relationship Id="rId1" Type="http://schemas.openxmlformats.org/officeDocument/2006/relationships/slideLayout" Target="../slideLayouts/slideLayout4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3.xml"/></Relationships>
</file>

<file path=ppt/slides/_rels/slide46.xml.rels><?xml version="1.0" encoding="UTF-8" standalone="yes"?>
<Relationships xmlns="http://schemas.openxmlformats.org/package/2006/relationships"><Relationship Id="rId3" Type="http://schemas.openxmlformats.org/officeDocument/2006/relationships/hyperlink" Target="https://jsonlint.com/" TargetMode="External"/><Relationship Id="rId2" Type="http://schemas.openxmlformats.org/officeDocument/2006/relationships/notesSlide" Target="../notesSlides/notesSlide46.xml"/><Relationship Id="rId1" Type="http://schemas.openxmlformats.org/officeDocument/2006/relationships/slideLayout" Target="../slideLayouts/slideLayout4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3.xml"/></Relationships>
</file>

<file path=ppt/slides/_rels/slide51.xml.rels><?xml version="1.0" encoding="UTF-8" standalone="yes"?>
<Relationships xmlns="http://schemas.openxmlformats.org/package/2006/relationships"><Relationship Id="rId3" Type="http://schemas.openxmlformats.org/officeDocument/2006/relationships/hyperlink" Target="https://npmjs.com/" TargetMode="External"/><Relationship Id="rId2" Type="http://schemas.openxmlformats.org/officeDocument/2006/relationships/notesSlide" Target="../notesSlides/notesSlide51.xml"/><Relationship Id="rId1" Type="http://schemas.openxmlformats.org/officeDocument/2006/relationships/slideLayout" Target="../slideLayouts/slideLayout43.xml"/></Relationships>
</file>

<file path=ppt/slides/_rels/slide5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2.xml"/><Relationship Id="rId1" Type="http://schemas.openxmlformats.org/officeDocument/2006/relationships/slideLayout" Target="../slideLayouts/slideLayout43.xml"/><Relationship Id="rId5" Type="http://schemas.openxmlformats.org/officeDocument/2006/relationships/image" Target="../media/image93.png"/><Relationship Id="rId4" Type="http://schemas.openxmlformats.org/officeDocument/2006/relationships/image" Target="../media/image92.png"/></Relationships>
</file>

<file path=ppt/slides/_rels/slide53.xml.rels><?xml version="1.0" encoding="UTF-8" standalone="yes"?>
<Relationships xmlns="http://schemas.openxmlformats.org/package/2006/relationships"><Relationship Id="rId3" Type="http://schemas.openxmlformats.org/officeDocument/2006/relationships/hyperlink" Target="https://www.youtube.com/watch?v=n0oS1eiOWU0" TargetMode="External"/><Relationship Id="rId2" Type="http://schemas.openxmlformats.org/officeDocument/2006/relationships/notesSlide" Target="../notesSlides/notesSlide53.xml"/><Relationship Id="rId1" Type="http://schemas.openxmlformats.org/officeDocument/2006/relationships/slideLayout" Target="../slideLayouts/slideLayout43.xml"/></Relationships>
</file>

<file path=ppt/slides/_rels/slide54.xml.rels><?xml version="1.0" encoding="UTF-8" standalone="yes"?>
<Relationships xmlns="http://schemas.openxmlformats.org/package/2006/relationships"><Relationship Id="rId3" Type="http://schemas.openxmlformats.org/officeDocument/2006/relationships/hyperlink" Target="https://cap.cloud.sap/docs/" TargetMode="External"/><Relationship Id="rId2" Type="http://schemas.openxmlformats.org/officeDocument/2006/relationships/notesSlide" Target="../notesSlides/notesSlide54.xml"/><Relationship Id="rId1" Type="http://schemas.openxmlformats.org/officeDocument/2006/relationships/slideLayout" Target="../slideLayouts/slideLayout4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3.xml"/></Relationships>
</file>

<file path=ppt/slides/_rels/slide56.xml.rels><?xml version="1.0" encoding="UTF-8" standalone="yes"?>
<Relationships xmlns="http://schemas.openxmlformats.org/package/2006/relationships"><Relationship Id="rId3" Type="http://schemas.openxmlformats.org/officeDocument/2006/relationships/hyperlink" Target="https://www.w3schools.com/jsref/jsref_obj_regexp.asp" TargetMode="External"/><Relationship Id="rId2" Type="http://schemas.openxmlformats.org/officeDocument/2006/relationships/notesSlide" Target="../notesSlides/notesSlide56.xml"/><Relationship Id="rId1" Type="http://schemas.openxmlformats.org/officeDocument/2006/relationships/slideLayout" Target="../slideLayouts/slideLayout4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3.xml"/></Relationships>
</file>

<file path=ppt/slides/_rels/slide60.xml.rels><?xml version="1.0" encoding="UTF-8" standalone="yes"?>
<Relationships xmlns="http://schemas.openxmlformats.org/package/2006/relationships"><Relationship Id="rId3" Type="http://schemas.openxmlformats.org/officeDocument/2006/relationships/hyperlink" Target="https://docs.oasis-open.org/odata/odata/v4.01/odata-v4.01-part2-url-conventions.html" TargetMode="External"/><Relationship Id="rId2" Type="http://schemas.openxmlformats.org/officeDocument/2006/relationships/notesSlide" Target="../notesSlides/notesSlide60.xml"/><Relationship Id="rId1" Type="http://schemas.openxmlformats.org/officeDocument/2006/relationships/slideLayout" Target="../slideLayouts/slideLayout4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3.xml"/></Relationships>
</file>

<file path=ppt/slides/_rels/slide66.xml.rels><?xml version="1.0" encoding="UTF-8" standalone="yes"?>
<Relationships xmlns="http://schemas.openxmlformats.org/package/2006/relationships"><Relationship Id="rId3" Type="http://schemas.openxmlformats.org/officeDocument/2006/relationships/hyperlink" Target="https://cap.cloud.sap/docs/node.js/cds-ql#select" TargetMode="External"/><Relationship Id="rId2" Type="http://schemas.openxmlformats.org/officeDocument/2006/relationships/notesSlide" Target="../notesSlides/notesSlide66.xml"/><Relationship Id="rId1" Type="http://schemas.openxmlformats.org/officeDocument/2006/relationships/slideLayout" Target="../slideLayouts/slideLayout43.xml"/></Relationships>
</file>

<file path=ppt/slides/_rels/slide6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7.xml"/><Relationship Id="rId1" Type="http://schemas.openxmlformats.org/officeDocument/2006/relationships/slideLayout" Target="../slideLayouts/slideLayout4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3.xml"/></Relationships>
</file>

<file path=ppt/slides/_rels/slide7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1.xml"/><Relationship Id="rId1" Type="http://schemas.openxmlformats.org/officeDocument/2006/relationships/slideLayout" Target="../slideLayouts/slideLayout69.xml"/><Relationship Id="rId4" Type="http://schemas.openxmlformats.org/officeDocument/2006/relationships/image" Target="../media/image95.png"/></Relationships>
</file>

<file path=ppt/slides/_rels/slide7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2.xml"/><Relationship Id="rId1" Type="http://schemas.openxmlformats.org/officeDocument/2006/relationships/slideLayout" Target="../slideLayouts/slideLayout69.xml"/><Relationship Id="rId4" Type="http://schemas.openxmlformats.org/officeDocument/2006/relationships/image" Target="../media/image96.png"/></Relationships>
</file>

<file path=ppt/slides/_rels/slide7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3.xml"/><Relationship Id="rId1" Type="http://schemas.openxmlformats.org/officeDocument/2006/relationships/slideLayout" Target="../slideLayouts/slideLayout69.xml"/><Relationship Id="rId4" Type="http://schemas.openxmlformats.org/officeDocument/2006/relationships/image" Target="../media/image97.png"/></Relationships>
</file>

<file path=ppt/slides/_rels/slide7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4.xml"/><Relationship Id="rId1" Type="http://schemas.openxmlformats.org/officeDocument/2006/relationships/slideLayout" Target="../slideLayouts/slideLayout69.xml"/><Relationship Id="rId4" Type="http://schemas.openxmlformats.org/officeDocument/2006/relationships/image" Target="../media/image98.png"/></Relationships>
</file>

<file path=ppt/slides/_rels/slide7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75.xml"/><Relationship Id="rId1" Type="http://schemas.openxmlformats.org/officeDocument/2006/relationships/slideLayout" Target="../slideLayouts/slideLayout69.xml"/><Relationship Id="rId4" Type="http://schemas.openxmlformats.org/officeDocument/2006/relationships/image" Target="../media/image100.png"/></Relationships>
</file>

<file path=ppt/slides/_rels/slide7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6.xml"/><Relationship Id="rId1" Type="http://schemas.openxmlformats.org/officeDocument/2006/relationships/slideLayout" Target="../slideLayouts/slideLayout69.xml"/><Relationship Id="rId4" Type="http://schemas.openxmlformats.org/officeDocument/2006/relationships/image" Target="../media/image102.png"/></Relationships>
</file>

<file path=ppt/slides/_rels/slide7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7.xml"/><Relationship Id="rId1" Type="http://schemas.openxmlformats.org/officeDocument/2006/relationships/slideLayout" Target="../slideLayouts/slideLayout69.xml"/><Relationship Id="rId4" Type="http://schemas.openxmlformats.org/officeDocument/2006/relationships/hyperlink" Target="https://ui5.sap.com/#/topic/993e99eae4414b73bc7afef9518c79bf" TargetMode="Externa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3.xml"/></Relationships>
</file>

<file path=ppt/slides/_rels/slide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9.xml"/><Relationship Id="rId1" Type="http://schemas.openxmlformats.org/officeDocument/2006/relationships/slideLayout" Target="../slideLayouts/slideLayout69.xml"/><Relationship Id="rId4" Type="http://schemas.openxmlformats.org/officeDocument/2006/relationships/image" Target="../media/image104.png"/></Relationships>
</file>

<file path=ppt/slides/_rels/slide8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0.xml"/><Relationship Id="rId1" Type="http://schemas.openxmlformats.org/officeDocument/2006/relationships/slideLayout" Target="../slideLayouts/slideLayout69.xml"/><Relationship Id="rId4" Type="http://schemas.openxmlformats.org/officeDocument/2006/relationships/image" Target="../media/image105.png"/></Relationships>
</file>

<file path=ppt/slides/_rels/slide81.xml.rels><?xml version="1.0" encoding="UTF-8" standalone="yes"?>
<Relationships xmlns="http://schemas.openxmlformats.org/package/2006/relationships"><Relationship Id="rId3" Type="http://schemas.openxmlformats.org/officeDocument/2006/relationships/hyperlink" Target="https://www.youtube.com/watch?v=BlnTn7Ewifs" TargetMode="External"/><Relationship Id="rId7" Type="http://schemas.openxmlformats.org/officeDocument/2006/relationships/hyperlink" Target="https://www.youtube.com/watch?v=zXZf8kKM9NA&amp;list=PLcxqFaocb9WLaza2kOjkUCDIQGbzNos6p&amp;index=47" TargetMode="External"/><Relationship Id="rId2" Type="http://schemas.openxmlformats.org/officeDocument/2006/relationships/notesSlide" Target="../notesSlides/notesSlide81.xml"/><Relationship Id="rId1" Type="http://schemas.openxmlformats.org/officeDocument/2006/relationships/slideLayout" Target="../slideLayouts/slideLayout43.xml"/><Relationship Id="rId6" Type="http://schemas.openxmlformats.org/officeDocument/2006/relationships/hyperlink" Target="https://www.youtube.com/watch?v=5Ak-AO_xFbw" TargetMode="External"/><Relationship Id="rId5" Type="http://schemas.openxmlformats.org/officeDocument/2006/relationships/hyperlink" Target="https://www.youtube.com/watch?v=lnPhJRxZPwQ" TargetMode="External"/><Relationship Id="rId4" Type="http://schemas.openxmlformats.org/officeDocument/2006/relationships/hyperlink" Target="https://www.youtube.com/watch?v=zZckRSi9Sy8" TargetMode="Externa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3.xml"/></Relationships>
</file>

<file path=ppt/slides/_rels/slide85.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85.xml"/><Relationship Id="rId1" Type="http://schemas.openxmlformats.org/officeDocument/2006/relationships/slideLayout" Target="../slideLayouts/slideLayout43.xml"/><Relationship Id="rId5" Type="http://schemas.openxmlformats.org/officeDocument/2006/relationships/image" Target="../media/image108.png"/><Relationship Id="rId4" Type="http://schemas.openxmlformats.org/officeDocument/2006/relationships/image" Target="../media/image107.jp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3.xml"/></Relationships>
</file>

<file path=ppt/slides/_rels/slide8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87.xml"/><Relationship Id="rId1" Type="http://schemas.openxmlformats.org/officeDocument/2006/relationships/slideLayout" Target="../slideLayouts/slideLayout43.xml"/></Relationships>
</file>

<file path=ppt/slides/_rels/slide88.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notesSlide" Target="../notesSlides/notesSlide88.xml"/><Relationship Id="rId1" Type="http://schemas.openxmlformats.org/officeDocument/2006/relationships/slideLayout" Target="../slideLayouts/slideLayout43.xml"/></Relationships>
</file>

<file path=ppt/slides/_rels/slide8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9.xml"/><Relationship Id="rId1" Type="http://schemas.openxmlformats.org/officeDocument/2006/relationships/slideLayout" Target="../slideLayouts/slideLayout43.xml"/><Relationship Id="rId5" Type="http://schemas.openxmlformats.org/officeDocument/2006/relationships/image" Target="../media/image113.png"/><Relationship Id="rId4" Type="http://schemas.openxmlformats.org/officeDocument/2006/relationships/image" Target="../media/image112.png"/></Relationships>
</file>

<file path=ppt/slides/_rels/slide90.xml.rels><?xml version="1.0" encoding="UTF-8" standalone="yes"?>
<Relationships xmlns="http://schemas.openxmlformats.org/package/2006/relationships"><Relationship Id="rId3" Type="http://schemas.openxmlformats.org/officeDocument/2006/relationships/hyperlink" Target="https://help.sap.com/docs/btp/sap-business-technology-platform/application-security-descriptor-configuration-syntax" TargetMode="External"/><Relationship Id="rId2" Type="http://schemas.openxmlformats.org/officeDocument/2006/relationships/notesSlide" Target="../notesSlides/notesSlide90.xml"/><Relationship Id="rId1" Type="http://schemas.openxmlformats.org/officeDocument/2006/relationships/slideLayout" Target="../slideLayouts/slideLayout4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3.xml"/></Relationships>
</file>

<file path=ppt/slides/_rels/slide92.xml.rels><?xml version="1.0" encoding="UTF-8" standalone="yes"?>
<Relationships xmlns="http://schemas.openxmlformats.org/package/2006/relationships"><Relationship Id="rId3" Type="http://schemas.openxmlformats.org/officeDocument/2006/relationships/image" Target="../media/image114.jpg"/><Relationship Id="rId2" Type="http://schemas.openxmlformats.org/officeDocument/2006/relationships/notesSlide" Target="../notesSlides/notesSlide92.xml"/><Relationship Id="rId1" Type="http://schemas.openxmlformats.org/officeDocument/2006/relationships/slideLayout" Target="../slideLayouts/slideLayout43.xml"/></Relationships>
</file>

<file path=ppt/slides/_rels/slide93.xml.rels><?xml version="1.0" encoding="UTF-8" standalone="yes"?>
<Relationships xmlns="http://schemas.openxmlformats.org/package/2006/relationships"><Relationship Id="rId3" Type="http://schemas.openxmlformats.org/officeDocument/2006/relationships/hyperlink" Target="https://cap.cloud.sap/docs/node.js/authentication#mocked" TargetMode="External"/><Relationship Id="rId2" Type="http://schemas.openxmlformats.org/officeDocument/2006/relationships/notesSlide" Target="../notesSlides/notesSlide93.xml"/><Relationship Id="rId1" Type="http://schemas.openxmlformats.org/officeDocument/2006/relationships/slideLayout" Target="../slideLayouts/slideLayout4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3.xml"/></Relationships>
</file>

<file path=ppt/slides/_rels/slide95.xml.rels><?xml version="1.0" encoding="UTF-8" standalone="yes"?>
<Relationships xmlns="http://schemas.openxmlformats.org/package/2006/relationships"><Relationship Id="rId3" Type="http://schemas.openxmlformats.org/officeDocument/2006/relationships/image" Target="../media/image114.jpg"/><Relationship Id="rId2" Type="http://schemas.openxmlformats.org/officeDocument/2006/relationships/notesSlide" Target="../notesSlides/notesSlide95.xml"/><Relationship Id="rId1" Type="http://schemas.openxmlformats.org/officeDocument/2006/relationships/slideLayout" Target="../slideLayouts/slideLayout4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4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3.xml"/></Relationships>
</file>

<file path=ppt/slides/_rels/slide102.xml.rels><?xml version="1.0" encoding="UTF-8" standalone="yes"?>
<Relationships xmlns="http://schemas.openxmlformats.org/package/2006/relationships"><Relationship Id="rId3" Type="http://schemas.openxmlformats.org/officeDocument/2006/relationships/image" Target="../media/image115.png"/><Relationship Id="rId7" Type="http://schemas.openxmlformats.org/officeDocument/2006/relationships/image" Target="../media/image119.jpg"/><Relationship Id="rId2" Type="http://schemas.openxmlformats.org/officeDocument/2006/relationships/notesSlide" Target="../notesSlides/notesSlide102.xml"/><Relationship Id="rId1" Type="http://schemas.openxmlformats.org/officeDocument/2006/relationships/slideLayout" Target="../slideLayouts/slideLayout43.xml"/><Relationship Id="rId6" Type="http://schemas.openxmlformats.org/officeDocument/2006/relationships/image" Target="../media/image118.jpg"/><Relationship Id="rId5" Type="http://schemas.openxmlformats.org/officeDocument/2006/relationships/image" Target="../media/image117.jpg"/><Relationship Id="rId4" Type="http://schemas.openxmlformats.org/officeDocument/2006/relationships/image" Target="../media/image116.jpg"/></Relationships>
</file>

<file path=ppt/slides/_rels/slide103.xml.rels><?xml version="1.0" encoding="UTF-8" standalone="yes"?>
<Relationships xmlns="http://schemas.openxmlformats.org/package/2006/relationships"><Relationship Id="rId3" Type="http://schemas.openxmlformats.org/officeDocument/2006/relationships/hyperlink" Target="https://help.sap.com/docs/cloud-portal-service/sap-cloud-portal-service-on-cloud-foundry/routing-configuration-properties-and-syntax" TargetMode="External"/><Relationship Id="rId2" Type="http://schemas.openxmlformats.org/officeDocument/2006/relationships/notesSlide" Target="../notesSlides/notesSlide103.xml"/><Relationship Id="rId1" Type="http://schemas.openxmlformats.org/officeDocument/2006/relationships/slideLayout" Target="../slideLayouts/slideLayout4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3.xml"/></Relationships>
</file>

<file path=ppt/slides/_rels/slide10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05.xml"/><Relationship Id="rId1" Type="http://schemas.openxmlformats.org/officeDocument/2006/relationships/slideLayout" Target="../slideLayouts/slideLayout43.xml"/></Relationships>
</file>

<file path=ppt/slides/_rels/slide10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06.xml"/><Relationship Id="rId1" Type="http://schemas.openxmlformats.org/officeDocument/2006/relationships/slideLayout" Target="../slideLayouts/slideLayout43.xml"/><Relationship Id="rId5" Type="http://schemas.openxmlformats.org/officeDocument/2006/relationships/image" Target="../media/image123.png"/><Relationship Id="rId4" Type="http://schemas.openxmlformats.org/officeDocument/2006/relationships/image" Target="../media/image122.png"/></Relationships>
</file>

<file path=ppt/slides/_rels/slide10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07.xml"/><Relationship Id="rId1" Type="http://schemas.openxmlformats.org/officeDocument/2006/relationships/slideLayout" Target="../slideLayouts/slideLayout43.xml"/><Relationship Id="rId4" Type="http://schemas.openxmlformats.org/officeDocument/2006/relationships/image" Target="../media/image124.png"/></Relationships>
</file>

<file path=ppt/slides/_rels/slide108.xml.rels><?xml version="1.0" encoding="UTF-8" standalone="yes"?>
<Relationships xmlns="http://schemas.openxmlformats.org/package/2006/relationships"><Relationship Id="rId3" Type="http://schemas.openxmlformats.org/officeDocument/2006/relationships/hyperlink" Target="https://github.com/signup?ref_cta=Sign+up&amp;ref_loc=header+logged+out&amp;ref_page=%2F&amp;source=header-home" TargetMode="External"/><Relationship Id="rId2" Type="http://schemas.openxmlformats.org/officeDocument/2006/relationships/notesSlide" Target="../notesSlides/notesSlide108.xml"/><Relationship Id="rId1" Type="http://schemas.openxmlformats.org/officeDocument/2006/relationships/slideLayout" Target="../slideLayouts/slideLayout43.xml"/><Relationship Id="rId4" Type="http://schemas.openxmlformats.org/officeDocument/2006/relationships/hyperlink" Target="https://github.com/settings/tokens" TargetMode="External"/></Relationships>
</file>

<file path=ppt/slides/_rels/slide10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09.xml"/><Relationship Id="rId1" Type="http://schemas.openxmlformats.org/officeDocument/2006/relationships/slideLayout" Target="../slideLayouts/slideLayout43.xml"/></Relationships>
</file>

<file path=ppt/slides/_rels/slide110.xml.rels><?xml version="1.0" encoding="UTF-8" standalone="yes"?>
<Relationships xmlns="http://schemas.openxmlformats.org/package/2006/relationships"><Relationship Id="rId3" Type="http://schemas.openxmlformats.org/officeDocument/2006/relationships/image" Target="../media/image126.jpg"/><Relationship Id="rId2" Type="http://schemas.openxmlformats.org/officeDocument/2006/relationships/notesSlide" Target="../notesSlides/notesSlide110.xml"/><Relationship Id="rId1" Type="http://schemas.openxmlformats.org/officeDocument/2006/relationships/slideLayout" Target="../slideLayouts/slideLayout43.xml"/><Relationship Id="rId4" Type="http://schemas.openxmlformats.org/officeDocument/2006/relationships/image" Target="../media/image127.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43.xml"/></Relationships>
</file>

<file path=ppt/slides/_rels/slide112.xml.rels><?xml version="1.0" encoding="UTF-8" standalone="yes"?>
<Relationships xmlns="http://schemas.openxmlformats.org/package/2006/relationships"><Relationship Id="rId3" Type="http://schemas.openxmlformats.org/officeDocument/2006/relationships/hyperlink" Target="https://help.sap.com/docs/cloud-transport-management/sap-cloud-transport-management/creating-destinations-using-sap-cloud-deployment-service-with-basic-authentication" TargetMode="External"/><Relationship Id="rId2" Type="http://schemas.openxmlformats.org/officeDocument/2006/relationships/notesSlide" Target="../notesSlides/notesSlide112.xml"/><Relationship Id="rId1" Type="http://schemas.openxmlformats.org/officeDocument/2006/relationships/slideLayout" Target="../slideLayouts/slideLayout4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4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43.xml"/></Relationships>
</file>

<file path=ppt/slides/_rels/slide115.xml.rels><?xml version="1.0" encoding="UTF-8" standalone="yes"?>
<Relationships xmlns="http://schemas.openxmlformats.org/package/2006/relationships"><Relationship Id="rId3" Type="http://schemas.openxmlformats.org/officeDocument/2006/relationships/image" Target="../media/image126.jpg"/><Relationship Id="rId7" Type="http://schemas.openxmlformats.org/officeDocument/2006/relationships/image" Target="../media/image130.png"/><Relationship Id="rId2" Type="http://schemas.openxmlformats.org/officeDocument/2006/relationships/notesSlide" Target="../notesSlides/notesSlide115.xml"/><Relationship Id="rId1" Type="http://schemas.openxmlformats.org/officeDocument/2006/relationships/slideLayout" Target="../slideLayouts/slideLayout43.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11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16.xml"/><Relationship Id="rId1" Type="http://schemas.openxmlformats.org/officeDocument/2006/relationships/slideLayout" Target="../slideLayouts/slideLayout43.xml"/></Relationships>
</file>

<file path=ppt/slides/_rels/slide11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17.xml"/><Relationship Id="rId1" Type="http://schemas.openxmlformats.org/officeDocument/2006/relationships/slideLayout" Target="../slideLayouts/slideLayout43.xml"/></Relationships>
</file>

<file path=ppt/slides/_rels/slide11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18.xml"/><Relationship Id="rId1" Type="http://schemas.openxmlformats.org/officeDocument/2006/relationships/slideLayout" Target="../slideLayouts/slideLayout4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4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4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4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43.xml"/></Relationships>
</file>

<file path=ppt/slides/_rels/slide123.xml.rels><?xml version="1.0" encoding="UTF-8" standalone="yes"?>
<Relationships xmlns="http://schemas.openxmlformats.org/package/2006/relationships"><Relationship Id="rId3" Type="http://schemas.openxmlformats.org/officeDocument/2006/relationships/image" Target="../media/image133.jpg"/><Relationship Id="rId2" Type="http://schemas.openxmlformats.org/officeDocument/2006/relationships/notesSlide" Target="../notesSlides/notesSlide123.xml"/><Relationship Id="rId1" Type="http://schemas.openxmlformats.org/officeDocument/2006/relationships/slideLayout" Target="../slideLayouts/slideLayout43.xml"/><Relationship Id="rId6" Type="http://schemas.openxmlformats.org/officeDocument/2006/relationships/image" Target="../media/image136.jpg"/><Relationship Id="rId5" Type="http://schemas.openxmlformats.org/officeDocument/2006/relationships/image" Target="../media/image135.jpg"/><Relationship Id="rId4" Type="http://schemas.openxmlformats.org/officeDocument/2006/relationships/image" Target="../media/image134.jpg"/></Relationships>
</file>

<file path=ppt/slides/_rels/slide124.xml.rels><?xml version="1.0" encoding="UTF-8" standalone="yes"?>
<Relationships xmlns="http://schemas.openxmlformats.org/package/2006/relationships"><Relationship Id="rId3" Type="http://schemas.openxmlformats.org/officeDocument/2006/relationships/image" Target="../media/image133.jpg"/><Relationship Id="rId7" Type="http://schemas.openxmlformats.org/officeDocument/2006/relationships/image" Target="../media/image136.jpg"/><Relationship Id="rId2" Type="http://schemas.openxmlformats.org/officeDocument/2006/relationships/notesSlide" Target="../notesSlides/notesSlide124.xml"/><Relationship Id="rId1" Type="http://schemas.openxmlformats.org/officeDocument/2006/relationships/slideLayout" Target="../slideLayouts/slideLayout43.xml"/><Relationship Id="rId6" Type="http://schemas.openxmlformats.org/officeDocument/2006/relationships/image" Target="../media/image135.jpg"/><Relationship Id="rId5" Type="http://schemas.openxmlformats.org/officeDocument/2006/relationships/slide" Target="slide125.xml"/><Relationship Id="rId4" Type="http://schemas.openxmlformats.org/officeDocument/2006/relationships/image" Target="../media/image134.jpg"/></Relationships>
</file>

<file path=ppt/slides/_rels/slide125.xml.rels><?xml version="1.0" encoding="UTF-8" standalone="yes"?>
<Relationships xmlns="http://schemas.openxmlformats.org/package/2006/relationships"><Relationship Id="rId3" Type="http://schemas.openxmlformats.org/officeDocument/2006/relationships/hyperlink" Target="https://help.sap.com/docs/cloud-identity-services/cloud-identity-services/configure-idp-initiated-sso" TargetMode="External"/><Relationship Id="rId2" Type="http://schemas.openxmlformats.org/officeDocument/2006/relationships/notesSlide" Target="../notesSlides/notesSlide125.xml"/><Relationship Id="rId1" Type="http://schemas.openxmlformats.org/officeDocument/2006/relationships/slideLayout" Target="../slideLayouts/slideLayout43.xml"/><Relationship Id="rId4" Type="http://schemas.openxmlformats.org/officeDocument/2006/relationships/hyperlink" Target="https://help.sap.com/docs/btp/sap-business-technology-platform/developing-with-sap-cloud-application-programming-model" TargetMode="External"/></Relationships>
</file>

<file path=ppt/slides/_rels/slide126.xml.rels><?xml version="1.0" encoding="UTF-8" standalone="yes"?>
<Relationships xmlns="http://schemas.openxmlformats.org/package/2006/relationships"><Relationship Id="rId3" Type="http://schemas.openxmlformats.org/officeDocument/2006/relationships/hyperlink" Target="https://github.com/SAP/cloud-mta-build-tool?tab=readme-ov-file" TargetMode="External"/><Relationship Id="rId2" Type="http://schemas.openxmlformats.org/officeDocument/2006/relationships/notesSlide" Target="../notesSlides/notesSlide126.xml"/><Relationship Id="rId1" Type="http://schemas.openxmlformats.org/officeDocument/2006/relationships/slideLayout" Target="../slideLayouts/slideLayout43.xml"/><Relationship Id="rId4" Type="http://schemas.openxmlformats.org/officeDocument/2006/relationships/hyperlink" Target="https://sap.github.io/cloud-mta-build-tool/" TargetMode="External"/></Relationships>
</file>

<file path=ppt/slides/_rels/slide127.xml.rels><?xml version="1.0" encoding="UTF-8" standalone="yes"?>
<Relationships xmlns="http://schemas.openxmlformats.org/package/2006/relationships"><Relationship Id="rId3" Type="http://schemas.openxmlformats.org/officeDocument/2006/relationships/hyperlink" Target="https://cap.cloud.sap/docs/plugins/#attachments" TargetMode="External"/><Relationship Id="rId2" Type="http://schemas.openxmlformats.org/officeDocument/2006/relationships/notesSlide" Target="../notesSlides/notesSlide127.xml"/><Relationship Id="rId1" Type="http://schemas.openxmlformats.org/officeDocument/2006/relationships/slideLayout" Target="../slideLayouts/slideLayout43.xml"/><Relationship Id="rId4" Type="http://schemas.openxmlformats.org/officeDocument/2006/relationships/hyperlink" Target="https://www.npmjs.com/package/@cap-js/attachments" TargetMode="External"/></Relationships>
</file>

<file path=ppt/slides/_rels/slide128.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28.xml"/><Relationship Id="rId1" Type="http://schemas.openxmlformats.org/officeDocument/2006/relationships/slideLayout" Target="../slideLayouts/slideLayout43.xml"/></Relationships>
</file>

<file path=ppt/slides/_rels/slide12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29.xml"/><Relationship Id="rId1" Type="http://schemas.openxmlformats.org/officeDocument/2006/relationships/slideLayout" Target="../slideLayouts/slideLayout43.xml"/></Relationships>
</file>

<file path=ppt/slides/_rels/slide130.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30.xml"/><Relationship Id="rId1" Type="http://schemas.openxmlformats.org/officeDocument/2006/relationships/slideLayout" Target="../slideLayouts/slideLayout43.xml"/></Relationships>
</file>

<file path=ppt/slides/_rels/slide13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31.xml"/><Relationship Id="rId1" Type="http://schemas.openxmlformats.org/officeDocument/2006/relationships/slideLayout" Target="../slideLayouts/slideLayout43.xml"/></Relationships>
</file>

<file path=ppt/slides/_rels/slide132.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32.xml"/><Relationship Id="rId1" Type="http://schemas.openxmlformats.org/officeDocument/2006/relationships/slideLayout" Target="../slideLayouts/slideLayout43.xml"/></Relationships>
</file>

<file path=ppt/slides/_rels/slide133.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33.xml"/><Relationship Id="rId1" Type="http://schemas.openxmlformats.org/officeDocument/2006/relationships/slideLayout" Target="../slideLayouts/slideLayout43.xml"/></Relationships>
</file>

<file path=ppt/slides/_rels/slide13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34.xml"/><Relationship Id="rId1" Type="http://schemas.openxmlformats.org/officeDocument/2006/relationships/slideLayout" Target="../slideLayouts/slideLayout43.xml"/></Relationships>
</file>

<file path=ppt/slides/_rels/slide135.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35.xml"/><Relationship Id="rId1" Type="http://schemas.openxmlformats.org/officeDocument/2006/relationships/slideLayout" Target="../slideLayouts/slideLayout43.xml"/></Relationships>
</file>

<file path=ppt/slides/_rels/slide13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36.xml"/><Relationship Id="rId1" Type="http://schemas.openxmlformats.org/officeDocument/2006/relationships/slideLayout" Target="../slideLayouts/slideLayout43.xml"/></Relationships>
</file>

<file path=ppt/slides/_rels/slide13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37.xml"/><Relationship Id="rId1" Type="http://schemas.openxmlformats.org/officeDocument/2006/relationships/slideLayout" Target="../slideLayouts/slideLayout43.xml"/></Relationships>
</file>

<file path=ppt/slides/_rels/slide13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38.xml"/><Relationship Id="rId1" Type="http://schemas.openxmlformats.org/officeDocument/2006/relationships/slideLayout" Target="../slideLayouts/slideLayout43.xml"/></Relationships>
</file>

<file path=ppt/slides/_rels/slide13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39.xml"/><Relationship Id="rId1" Type="http://schemas.openxmlformats.org/officeDocument/2006/relationships/slideLayout" Target="../slideLayouts/slideLayout4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4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4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4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4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4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43.xml"/></Relationships>
</file>

<file path=ppt/slides/_rels/slide146.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46.xml"/><Relationship Id="rId1" Type="http://schemas.openxmlformats.org/officeDocument/2006/relationships/slideLayout" Target="../slideLayouts/slideLayout43.xml"/></Relationships>
</file>

<file path=ppt/slides/_rels/slide147.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47.xml"/><Relationship Id="rId1" Type="http://schemas.openxmlformats.org/officeDocument/2006/relationships/slideLayout" Target="../slideLayouts/slideLayout43.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43.xml"/></Relationships>
</file>

<file path=ppt/slides/_rels/slide1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9.xml"/><Relationship Id="rId1" Type="http://schemas.openxmlformats.org/officeDocument/2006/relationships/slideLayout" Target="../slideLayouts/slideLayout44.xml"/><Relationship Id="rId4" Type="http://schemas.openxmlformats.org/officeDocument/2006/relationships/image" Target="../media/image150.png"/></Relationships>
</file>

<file path=ppt/slides/_rels/slide150.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50.xml"/><Relationship Id="rId1" Type="http://schemas.openxmlformats.org/officeDocument/2006/relationships/slideLayout" Target="../slideLayouts/slideLayout45.xml"/></Relationships>
</file>

<file path=ppt/slides/_rels/slide151.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51.xml"/><Relationship Id="rId1" Type="http://schemas.openxmlformats.org/officeDocument/2006/relationships/slideLayout" Target="../slideLayouts/slideLayout44.xml"/></Relationships>
</file>

<file path=ppt/slides/_rels/slide1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2.xml"/><Relationship Id="rId1" Type="http://schemas.openxmlformats.org/officeDocument/2006/relationships/slideLayout" Target="../slideLayouts/slideLayout44.xml"/><Relationship Id="rId4" Type="http://schemas.openxmlformats.org/officeDocument/2006/relationships/image" Target="../media/image153.png"/></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43.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43.xml"/></Relationships>
</file>

<file path=ppt/slides/_rels/slide1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5.xml"/><Relationship Id="rId1" Type="http://schemas.openxmlformats.org/officeDocument/2006/relationships/slideLayout" Target="../slideLayouts/slideLayout44.xml"/><Relationship Id="rId4" Type="http://schemas.openxmlformats.org/officeDocument/2006/relationships/image" Target="../media/image154.png"/></Relationships>
</file>

<file path=ppt/slides/_rels/slide1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6.xml"/><Relationship Id="rId1" Type="http://schemas.openxmlformats.org/officeDocument/2006/relationships/slideLayout" Target="../slideLayouts/slideLayout44.xml"/><Relationship Id="rId5" Type="http://schemas.openxmlformats.org/officeDocument/2006/relationships/hyperlink" Target="https://youtu.be/n0oS1eiOWU0" TargetMode="External"/><Relationship Id="rId4" Type="http://schemas.openxmlformats.org/officeDocument/2006/relationships/image" Target="../media/image155.jpg"/></Relationships>
</file>

<file path=ppt/slides/_rels/slide1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7.xml"/><Relationship Id="rId1" Type="http://schemas.openxmlformats.org/officeDocument/2006/relationships/slideLayout" Target="../slideLayouts/slideLayout44.xml"/><Relationship Id="rId4" Type="http://schemas.openxmlformats.org/officeDocument/2006/relationships/image" Target="../media/image156.jpg"/></Relationships>
</file>

<file path=ppt/slides/_rels/slide158.xml.rels><?xml version="1.0" encoding="UTF-8" standalone="yes"?>
<Relationships xmlns="http://schemas.openxmlformats.org/package/2006/relationships"><Relationship Id="rId3" Type="http://schemas.openxmlformats.org/officeDocument/2006/relationships/hyperlink" Target="https://api.sap.com/" TargetMode="External"/><Relationship Id="rId2" Type="http://schemas.openxmlformats.org/officeDocument/2006/relationships/notesSlide" Target="../notesSlides/notesSlide158.xml"/><Relationship Id="rId1" Type="http://schemas.openxmlformats.org/officeDocument/2006/relationships/slideLayout" Target="../slideLayouts/slideLayout43.xml"/></Relationships>
</file>

<file path=ppt/slides/_rels/slide159.xml.rels><?xml version="1.0" encoding="UTF-8" standalone="yes"?>
<Relationships xmlns="http://schemas.openxmlformats.org/package/2006/relationships"><Relationship Id="rId3" Type="http://schemas.openxmlformats.org/officeDocument/2006/relationships/hyperlink" Target="mailto:server@anubhavtrainings.com" TargetMode="External"/><Relationship Id="rId2" Type="http://schemas.openxmlformats.org/officeDocument/2006/relationships/notesSlide" Target="../notesSlides/notesSlide159.xml"/><Relationship Id="rId1" Type="http://schemas.openxmlformats.org/officeDocument/2006/relationships/slideLayout" Target="../slideLayouts/slideLayout43.xml"/></Relationships>
</file>

<file path=ppt/slides/_rels/slide160.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notesSlide" Target="../notesSlides/notesSlide160.xml"/><Relationship Id="rId1" Type="http://schemas.openxmlformats.org/officeDocument/2006/relationships/slideLayout" Target="../slideLayouts/slideLayout43.xml"/><Relationship Id="rId6" Type="http://schemas.openxmlformats.org/officeDocument/2006/relationships/image" Target="../media/image160.png"/><Relationship Id="rId11" Type="http://schemas.openxmlformats.org/officeDocument/2006/relationships/image" Target="../media/image165.png"/><Relationship Id="rId5" Type="http://schemas.openxmlformats.org/officeDocument/2006/relationships/image" Target="../media/image159.png"/><Relationship Id="rId10" Type="http://schemas.openxmlformats.org/officeDocument/2006/relationships/image" Target="../media/image164.png"/><Relationship Id="rId4" Type="http://schemas.openxmlformats.org/officeDocument/2006/relationships/image" Target="../media/image158.png"/><Relationship Id="rId9" Type="http://schemas.openxmlformats.org/officeDocument/2006/relationships/image" Target="../media/image163.png"/></Relationships>
</file>

<file path=ppt/slides/_rels/slide161.xml.rels><?xml version="1.0" encoding="UTF-8" standalone="yes"?>
<Relationships xmlns="http://schemas.openxmlformats.org/package/2006/relationships"><Relationship Id="rId3" Type="http://schemas.openxmlformats.org/officeDocument/2006/relationships/hyperlink" Target="https://www.youtube.com/watch?v=6jk9G4vaFjQ" TargetMode="External"/><Relationship Id="rId2" Type="http://schemas.openxmlformats.org/officeDocument/2006/relationships/notesSlide" Target="../notesSlides/notesSlide161.xml"/><Relationship Id="rId1" Type="http://schemas.openxmlformats.org/officeDocument/2006/relationships/slideLayout" Target="../slideLayouts/slideLayout43.xml"/></Relationships>
</file>

<file path=ppt/slides/_rels/slide162.xml.rels><?xml version="1.0" encoding="UTF-8" standalone="yes"?>
<Relationships xmlns="http://schemas.openxmlformats.org/package/2006/relationships"><Relationship Id="rId3" Type="http://schemas.openxmlformats.org/officeDocument/2006/relationships/hyperlink" Target="https://sap.github.io/cloud-sdk/docs/js/features/odata/generate-client" TargetMode="External"/><Relationship Id="rId2" Type="http://schemas.openxmlformats.org/officeDocument/2006/relationships/notesSlide" Target="../notesSlides/notesSlide162.xml"/><Relationship Id="rId1" Type="http://schemas.openxmlformats.org/officeDocument/2006/relationships/slideLayout" Target="../slideLayouts/slideLayout43.xml"/></Relationships>
</file>

<file path=ppt/slides/_rels/slide163.xml.rels><?xml version="1.0" encoding="UTF-8" standalone="yes"?>
<Relationships xmlns="http://schemas.openxmlformats.org/package/2006/relationships"><Relationship Id="rId3" Type="http://schemas.openxmlformats.org/officeDocument/2006/relationships/hyperlink" Target="http://s4hana10.saraswatitechnologies.in:8010/" TargetMode="External"/><Relationship Id="rId2" Type="http://schemas.openxmlformats.org/officeDocument/2006/relationships/notesSlide" Target="../notesSlides/notesSlide163.xml"/><Relationship Id="rId1" Type="http://schemas.openxmlformats.org/officeDocument/2006/relationships/slideLayout" Target="../slideLayouts/slideLayout43.xml"/><Relationship Id="rId4" Type="http://schemas.openxmlformats.org/officeDocument/2006/relationships/image" Target="../media/image166.png"/></Relationships>
</file>

<file path=ppt/slides/_rels/slide164.xml.rels><?xml version="1.0" encoding="UTF-8" standalone="yes"?>
<Relationships xmlns="http://schemas.openxmlformats.org/package/2006/relationships"><Relationship Id="rId3" Type="http://schemas.openxmlformats.org/officeDocument/2006/relationships/hyperlink" Target="https://sap.github.io/cloud-sdk/docs/js/features/odata/generate-client" TargetMode="External"/><Relationship Id="rId2" Type="http://schemas.openxmlformats.org/officeDocument/2006/relationships/notesSlide" Target="../notesSlides/notesSlide164.xml"/><Relationship Id="rId1" Type="http://schemas.openxmlformats.org/officeDocument/2006/relationships/slideLayout" Target="../slideLayouts/slideLayout43.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43.xml"/></Relationships>
</file>

<file path=ppt/slides/_rels/slide166.xml.rels><?xml version="1.0" encoding="UTF-8" standalone="yes"?>
<Relationships xmlns="http://schemas.openxmlformats.org/package/2006/relationships"><Relationship Id="rId3" Type="http://schemas.openxmlformats.org/officeDocument/2006/relationships/hyperlink" Target="https://services.odata.org/Experimental/OData/OData.svc/$metadata" TargetMode="External"/><Relationship Id="rId2" Type="http://schemas.openxmlformats.org/officeDocument/2006/relationships/notesSlide" Target="../notesSlides/notesSlide166.xml"/><Relationship Id="rId1" Type="http://schemas.openxmlformats.org/officeDocument/2006/relationships/slideLayout" Target="../slideLayouts/slideLayout43.xml"/></Relationships>
</file>

<file path=ppt/slides/_rels/slide1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7.xml"/><Relationship Id="rId1" Type="http://schemas.openxmlformats.org/officeDocument/2006/relationships/slideLayout" Target="../slideLayouts/slideLayout88.xml"/></Relationships>
</file>

<file path=ppt/slides/_rels/slide1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8.xml"/><Relationship Id="rId1" Type="http://schemas.openxmlformats.org/officeDocument/2006/relationships/slideLayout" Target="../slideLayouts/slideLayout88.xml"/><Relationship Id="rId4" Type="http://schemas.openxmlformats.org/officeDocument/2006/relationships/hyperlink" Target="mailto:contact@anubhavtrainings.com" TargetMode="External"/></Relationships>
</file>

<file path=ppt/slides/_rels/slide1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1"/>
          <p:cNvSpPr/>
          <p:nvPr/>
        </p:nvSpPr>
        <p:spPr>
          <a:xfrm>
            <a:off x="0" y="3429000"/>
            <a:ext cx="3718148" cy="3429000"/>
          </a:xfrm>
          <a:prstGeom prst="rect">
            <a:avLst/>
          </a:prstGeom>
          <a:gradFill>
            <a:gsLst>
              <a:gs pos="0">
                <a:schemeClr val="accent2"/>
              </a:gs>
              <a:gs pos="100000">
                <a:schemeClr val="accent1"/>
              </a:gs>
            </a:gsLst>
            <a:lin ang="81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pic>
        <p:nvPicPr>
          <p:cNvPr id="692" name="Google Shape;692;p1" descr="A person looking at a phone&#10;&#10;AI-generated content may be incorrect."/>
          <p:cNvPicPr preferRelativeResize="0">
            <a:picLocks noGrp="1"/>
          </p:cNvPicPr>
          <p:nvPr>
            <p:ph type="pic" idx="2"/>
          </p:nvPr>
        </p:nvPicPr>
        <p:blipFill rotWithShape="1">
          <a:blip r:embed="rId3">
            <a:alphaModFix/>
          </a:blip>
          <a:srcRect t="32246" b="17462"/>
          <a:stretch/>
        </p:blipFill>
        <p:spPr>
          <a:xfrm flipH="1">
            <a:off x="0" y="0"/>
            <a:ext cx="12188825" cy="3429000"/>
          </a:xfrm>
          <a:prstGeom prst="rect">
            <a:avLst/>
          </a:prstGeom>
          <a:noFill/>
          <a:ln>
            <a:noFill/>
          </a:ln>
        </p:spPr>
      </p:pic>
      <p:sp>
        <p:nvSpPr>
          <p:cNvPr id="693" name="Google Shape;693;p1"/>
          <p:cNvSpPr/>
          <p:nvPr/>
        </p:nvSpPr>
        <p:spPr>
          <a:xfrm>
            <a:off x="693814" y="3118880"/>
            <a:ext cx="6259918" cy="3209313"/>
          </a:xfrm>
          <a:prstGeom prst="snipRoundRect">
            <a:avLst>
              <a:gd name="adj1" fmla="val 16667"/>
              <a:gd name="adj2" fmla="val 16667"/>
            </a:avLst>
          </a:prstGeom>
          <a:solidFill>
            <a:srgbClr val="262626">
              <a:alpha val="26274"/>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694" name="Google Shape;694;p1"/>
          <p:cNvSpPr/>
          <p:nvPr/>
        </p:nvSpPr>
        <p:spPr>
          <a:xfrm>
            <a:off x="693812" y="2780928"/>
            <a:ext cx="6061036" cy="2808312"/>
          </a:xfrm>
          <a:prstGeom prst="snipRoundRect">
            <a:avLst>
              <a:gd name="adj1" fmla="val 16667"/>
              <a:gd name="adj2" fmla="val 2345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695" name="Google Shape;695;p1"/>
          <p:cNvSpPr txBox="1">
            <a:spLocks noGrp="1"/>
          </p:cNvSpPr>
          <p:nvPr>
            <p:ph type="ctrTitle"/>
          </p:nvPr>
        </p:nvSpPr>
        <p:spPr>
          <a:xfrm>
            <a:off x="2245778" y="3402366"/>
            <a:ext cx="4608512" cy="1224971"/>
          </a:xfrm>
          <a:prstGeom prst="rect">
            <a:avLst/>
          </a:prstGeom>
          <a:noFill/>
          <a:ln>
            <a:noFill/>
          </a:ln>
        </p:spPr>
        <p:txBody>
          <a:bodyPr spcFirstLastPara="1" wrap="square" lIns="0" tIns="60925" rIns="0" bIns="60925" anchor="b" anchorCtr="0">
            <a:noAutofit/>
          </a:bodyPr>
          <a:lstStyle/>
          <a:p>
            <a:pPr marL="0" lvl="0" indent="0" algn="l" rtl="0">
              <a:spcBef>
                <a:spcPts val="0"/>
              </a:spcBef>
              <a:spcAft>
                <a:spcPts val="0"/>
              </a:spcAft>
              <a:buClr>
                <a:schemeClr val="accent1"/>
              </a:buClr>
              <a:buSzPts val="4400"/>
              <a:buFont typeface="Arial"/>
              <a:buNone/>
            </a:pPr>
            <a:r>
              <a:rPr lang="en-US" sz="4400">
                <a:latin typeface="Arial"/>
                <a:ea typeface="Arial"/>
                <a:cs typeface="Arial"/>
                <a:sym typeface="Arial"/>
              </a:rPr>
              <a:t>SAP BTP CAPM Training</a:t>
            </a:r>
            <a:endParaRPr/>
          </a:p>
        </p:txBody>
      </p:sp>
      <p:sp>
        <p:nvSpPr>
          <p:cNvPr id="696" name="Google Shape;696;p1"/>
          <p:cNvSpPr txBox="1">
            <a:spLocks noGrp="1"/>
          </p:cNvSpPr>
          <p:nvPr>
            <p:ph type="subTitle" idx="1"/>
          </p:nvPr>
        </p:nvSpPr>
        <p:spPr>
          <a:xfrm>
            <a:off x="1035273" y="4627337"/>
            <a:ext cx="5779218" cy="779788"/>
          </a:xfrm>
          <a:prstGeom prst="rect">
            <a:avLst/>
          </a:prstGeom>
          <a:noFill/>
          <a:ln>
            <a:noFill/>
          </a:ln>
        </p:spPr>
        <p:txBody>
          <a:bodyPr spcFirstLastPara="1" wrap="square" lIns="0" tIns="60925" rIns="0" bIns="60925" anchor="t" anchorCtr="0">
            <a:normAutofit lnSpcReduction="10000"/>
          </a:bodyPr>
          <a:lstStyle/>
          <a:p>
            <a:pPr marL="0" lvl="0" indent="0" algn="l" rtl="0">
              <a:spcBef>
                <a:spcPts val="0"/>
              </a:spcBef>
              <a:spcAft>
                <a:spcPts val="0"/>
              </a:spcAft>
              <a:buClr>
                <a:schemeClr val="dk1"/>
              </a:buClr>
              <a:buSzPts val="2000"/>
              <a:buNone/>
            </a:pPr>
            <a:r>
              <a:rPr lang="en-US" sz="2000"/>
              <a:t>Design | Develop | Package | Deploy Cloud Native </a:t>
            </a:r>
            <a:endParaRPr/>
          </a:p>
          <a:p>
            <a:pPr marL="0" lvl="0" indent="0" algn="l" rtl="0">
              <a:spcBef>
                <a:spcPts val="400"/>
              </a:spcBef>
              <a:spcAft>
                <a:spcPts val="0"/>
              </a:spcAft>
              <a:buClr>
                <a:schemeClr val="dk1"/>
              </a:buClr>
              <a:buSzPts val="2000"/>
              <a:buNone/>
            </a:pPr>
            <a:r>
              <a:rPr lang="en-US" sz="2000"/>
              <a:t>Applications and Extensions (Clean-Core)</a:t>
            </a:r>
            <a:endParaRPr/>
          </a:p>
        </p:txBody>
      </p:sp>
      <p:sp>
        <p:nvSpPr>
          <p:cNvPr id="697" name="Google Shape;697;p1"/>
          <p:cNvSpPr/>
          <p:nvPr/>
        </p:nvSpPr>
        <p:spPr>
          <a:xfrm>
            <a:off x="693812" y="5589239"/>
            <a:ext cx="6061036" cy="423169"/>
          </a:xfrm>
          <a:prstGeom prst="rect">
            <a:avLst/>
          </a:prstGeom>
          <a:gradFill>
            <a:gsLst>
              <a:gs pos="0">
                <a:schemeClr val="accent2"/>
              </a:gs>
              <a:gs pos="100000">
                <a:schemeClr val="accent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698" name="Google Shape;698;p1"/>
          <p:cNvSpPr txBox="1"/>
          <p:nvPr/>
        </p:nvSpPr>
        <p:spPr>
          <a:xfrm>
            <a:off x="7123844" y="4312503"/>
            <a:ext cx="462565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sng" strike="noStrike" cap="none">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www.anubhavtrainings.com</a:t>
            </a: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2400" b="1">
                <a:solidFill>
                  <a:srgbClr val="E9338E"/>
                </a:solidFill>
                <a:latin typeface="Quattrocento Sans"/>
                <a:ea typeface="Quattrocento Sans"/>
                <a:cs typeface="Quattrocento Sans"/>
                <a:sym typeface="Quattrocento Sans"/>
              </a:rPr>
              <a:t>Anubhav Oberoy</a:t>
            </a:r>
            <a:endParaRPr/>
          </a:p>
        </p:txBody>
      </p:sp>
      <p:pic>
        <p:nvPicPr>
          <p:cNvPr id="699" name="Google Shape;699;p1"/>
          <p:cNvPicPr preferRelativeResize="0"/>
          <p:nvPr/>
        </p:nvPicPr>
        <p:blipFill rotWithShape="1">
          <a:blip r:embed="rId5">
            <a:alphaModFix/>
          </a:blip>
          <a:srcRect/>
          <a:stretch/>
        </p:blipFill>
        <p:spPr>
          <a:xfrm>
            <a:off x="824260" y="3278041"/>
            <a:ext cx="1259120" cy="1243639"/>
          </a:xfrm>
          <a:prstGeom prst="rect">
            <a:avLst/>
          </a:prstGeom>
          <a:noFill/>
          <a:ln>
            <a:noFill/>
          </a:ln>
        </p:spPr>
      </p:pic>
      <p:pic>
        <p:nvPicPr>
          <p:cNvPr id="700" name="Google Shape;700;p1" descr="Download Live, Streaming, Youtube. Royalty-Free Stock Illustration Image -  Pixabay"/>
          <p:cNvPicPr preferRelativeResize="0"/>
          <p:nvPr/>
        </p:nvPicPr>
        <p:blipFill rotWithShape="1">
          <a:blip r:embed="rId6">
            <a:alphaModFix/>
          </a:blip>
          <a:srcRect/>
          <a:stretch/>
        </p:blipFill>
        <p:spPr>
          <a:xfrm>
            <a:off x="7111513" y="4797152"/>
            <a:ext cx="2459765" cy="18448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692"/>
                                        </p:tgtEl>
                                        <p:attrNameLst>
                                          <p:attrName>style.visibility</p:attrName>
                                        </p:attrNameLst>
                                      </p:cBhvr>
                                      <p:to>
                                        <p:strVal val="visible"/>
                                      </p:to>
                                    </p:set>
                                    <p:anim calcmode="lin" valueType="num">
                                      <p:cBhvr additive="base">
                                        <p:cTn id="7" dur="500"/>
                                        <p:tgtEl>
                                          <p:spTgt spid="692"/>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691"/>
                                        </p:tgtEl>
                                        <p:attrNameLst>
                                          <p:attrName>style.visibility</p:attrName>
                                        </p:attrNameLst>
                                      </p:cBhvr>
                                      <p:to>
                                        <p:strVal val="visible"/>
                                      </p:to>
                                    </p:set>
                                    <p:anim calcmode="lin" valueType="num">
                                      <p:cBhvr additive="base">
                                        <p:cTn id="10" dur="500"/>
                                        <p:tgtEl>
                                          <p:spTgt spid="691"/>
                                        </p:tgtEl>
                                        <p:attrNameLst>
                                          <p:attrName>ppt_y</p:attrName>
                                        </p:attrNameLst>
                                      </p:cBhvr>
                                      <p:tavLst>
                                        <p:tav tm="0">
                                          <p:val>
                                            <p:strVal val="#ppt_y+1"/>
                                          </p:val>
                                        </p:tav>
                                        <p:tav tm="100000">
                                          <p:val>
                                            <p:strVal val="#ppt_y"/>
                                          </p:val>
                                        </p:tav>
                                      </p:tavLst>
                                    </p:anim>
                                  </p:childTnLst>
                                </p:cTn>
                              </p:par>
                              <p:par>
                                <p:cTn id="11" presetID="2" presetClass="entr" presetSubtype="8" fill="hold" nodeType="withEffect">
                                  <p:stCondLst>
                                    <p:cond delay="200"/>
                                  </p:stCondLst>
                                  <p:childTnLst>
                                    <p:set>
                                      <p:cBhvr>
                                        <p:cTn id="12" dur="1" fill="hold">
                                          <p:stCondLst>
                                            <p:cond delay="0"/>
                                          </p:stCondLst>
                                        </p:cTn>
                                        <p:tgtEl>
                                          <p:spTgt spid="694"/>
                                        </p:tgtEl>
                                        <p:attrNameLst>
                                          <p:attrName>style.visibility</p:attrName>
                                        </p:attrNameLst>
                                      </p:cBhvr>
                                      <p:to>
                                        <p:strVal val="visible"/>
                                      </p:to>
                                    </p:set>
                                    <p:anim calcmode="lin" valueType="num">
                                      <p:cBhvr additive="base">
                                        <p:cTn id="13" dur="500"/>
                                        <p:tgtEl>
                                          <p:spTgt spid="694"/>
                                        </p:tgtEl>
                                        <p:attrNameLst>
                                          <p:attrName>ppt_x</p:attrName>
                                        </p:attrNameLst>
                                      </p:cBhvr>
                                      <p:tavLst>
                                        <p:tav tm="0">
                                          <p:val>
                                            <p:strVal val="#ppt_x-1"/>
                                          </p:val>
                                        </p:tav>
                                        <p:tav tm="100000">
                                          <p:val>
                                            <p:strVal val="#ppt_x"/>
                                          </p:val>
                                        </p:tav>
                                      </p:tavLst>
                                    </p:anim>
                                  </p:childTnLst>
                                </p:cTn>
                              </p:par>
                              <p:par>
                                <p:cTn id="14" presetID="10" presetClass="entr" presetSubtype="0" fill="hold" nodeType="withEffect">
                                  <p:stCondLst>
                                    <p:cond delay="550"/>
                                  </p:stCondLst>
                                  <p:childTnLst>
                                    <p:set>
                                      <p:cBhvr>
                                        <p:cTn id="15" dur="1" fill="hold">
                                          <p:stCondLst>
                                            <p:cond delay="0"/>
                                          </p:stCondLst>
                                        </p:cTn>
                                        <p:tgtEl>
                                          <p:spTgt spid="697"/>
                                        </p:tgtEl>
                                        <p:attrNameLst>
                                          <p:attrName>style.visibility</p:attrName>
                                        </p:attrNameLst>
                                      </p:cBhvr>
                                      <p:to>
                                        <p:strVal val="visible"/>
                                      </p:to>
                                    </p:set>
                                    <p:animEffect transition="in" filter="fade">
                                      <p:cBhvr>
                                        <p:cTn id="16" dur="500"/>
                                        <p:tgtEl>
                                          <p:spTgt spid="697"/>
                                        </p:tgtEl>
                                      </p:cBhvr>
                                    </p:animEffect>
                                  </p:childTnLst>
                                </p:cTn>
                              </p:par>
                              <p:par>
                                <p:cTn id="17" presetID="10" presetClass="entr" presetSubtype="0" fill="hold" nodeType="withEffect">
                                  <p:stCondLst>
                                    <p:cond delay="550"/>
                                  </p:stCondLst>
                                  <p:childTnLst>
                                    <p:set>
                                      <p:cBhvr>
                                        <p:cTn id="18" dur="1" fill="hold">
                                          <p:stCondLst>
                                            <p:cond delay="0"/>
                                          </p:stCondLst>
                                        </p:cTn>
                                        <p:tgtEl>
                                          <p:spTgt spid="693"/>
                                        </p:tgtEl>
                                        <p:attrNameLst>
                                          <p:attrName>style.visibility</p:attrName>
                                        </p:attrNameLst>
                                      </p:cBhvr>
                                      <p:to>
                                        <p:strVal val="visible"/>
                                      </p:to>
                                    </p:set>
                                    <p:animEffect transition="in" filter="fade">
                                      <p:cBhvr>
                                        <p:cTn id="19" dur="500"/>
                                        <p:tgtEl>
                                          <p:spTgt spid="693"/>
                                        </p:tgtEl>
                                      </p:cBhvr>
                                    </p:animEffect>
                                  </p:childTnLst>
                                </p:cTn>
                              </p:par>
                              <p:par>
                                <p:cTn id="20" presetID="10" presetClass="entr" presetSubtype="0" fill="hold" nodeType="withEffect">
                                  <p:stCondLst>
                                    <p:cond delay="650"/>
                                  </p:stCondLst>
                                  <p:childTnLst>
                                    <p:set>
                                      <p:cBhvr>
                                        <p:cTn id="21" dur="1" fill="hold">
                                          <p:stCondLst>
                                            <p:cond delay="0"/>
                                          </p:stCondLst>
                                        </p:cTn>
                                        <p:tgtEl>
                                          <p:spTgt spid="695"/>
                                        </p:tgtEl>
                                        <p:attrNameLst>
                                          <p:attrName>style.visibility</p:attrName>
                                        </p:attrNameLst>
                                      </p:cBhvr>
                                      <p:to>
                                        <p:strVal val="visible"/>
                                      </p:to>
                                    </p:set>
                                    <p:animEffect transition="in" filter="fade">
                                      <p:cBhvr>
                                        <p:cTn id="22" dur="500"/>
                                        <p:tgtEl>
                                          <p:spTgt spid="695"/>
                                        </p:tgtEl>
                                      </p:cBhvr>
                                    </p:animEffect>
                                  </p:childTnLst>
                                </p:cTn>
                              </p:par>
                              <p:par>
                                <p:cTn id="23" presetID="10" presetClass="entr" presetSubtype="0" fill="hold" nodeType="withEffect">
                                  <p:stCondLst>
                                    <p:cond delay="850"/>
                                  </p:stCondLst>
                                  <p:childTnLst>
                                    <p:set>
                                      <p:cBhvr>
                                        <p:cTn id="24" dur="1" fill="hold">
                                          <p:stCondLst>
                                            <p:cond delay="0"/>
                                          </p:stCondLst>
                                        </p:cTn>
                                        <p:tgtEl>
                                          <p:spTgt spid="696">
                                            <p:txEl>
                                              <p:pRg st="0" end="0"/>
                                            </p:txEl>
                                          </p:spTgt>
                                        </p:tgtEl>
                                        <p:attrNameLst>
                                          <p:attrName>style.visibility</p:attrName>
                                        </p:attrNameLst>
                                      </p:cBhvr>
                                      <p:to>
                                        <p:strVal val="visible"/>
                                      </p:to>
                                    </p:set>
                                    <p:animEffect transition="in" filter="fade">
                                      <p:cBhvr>
                                        <p:cTn id="25" dur="500"/>
                                        <p:tgtEl>
                                          <p:spTgt spid="696">
                                            <p:txEl>
                                              <p:pRg st="0" end="0"/>
                                            </p:txEl>
                                          </p:spTgt>
                                        </p:tgtEl>
                                      </p:cBhvr>
                                    </p:animEffect>
                                  </p:childTnLst>
                                </p:cTn>
                              </p:par>
                              <p:par>
                                <p:cTn id="26" presetID="10" presetClass="entr" presetSubtype="0" fill="hold" nodeType="withEffect">
                                  <p:stCondLst>
                                    <p:cond delay="850"/>
                                  </p:stCondLst>
                                  <p:childTnLst>
                                    <p:set>
                                      <p:cBhvr>
                                        <p:cTn id="27" dur="1" fill="hold">
                                          <p:stCondLst>
                                            <p:cond delay="0"/>
                                          </p:stCondLst>
                                        </p:cTn>
                                        <p:tgtEl>
                                          <p:spTgt spid="696">
                                            <p:txEl>
                                              <p:pRg st="1" end="1"/>
                                            </p:txEl>
                                          </p:spTgt>
                                        </p:tgtEl>
                                        <p:attrNameLst>
                                          <p:attrName>style.visibility</p:attrName>
                                        </p:attrNameLst>
                                      </p:cBhvr>
                                      <p:to>
                                        <p:strVal val="visible"/>
                                      </p:to>
                                    </p:set>
                                    <p:animEffect transition="in" filter="fade">
                                      <p:cBhvr>
                                        <p:cTn id="28" dur="500"/>
                                        <p:tgtEl>
                                          <p:spTgt spid="696">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850"/>
                                  </p:stCondLst>
                                  <p:childTnLst>
                                    <p:set>
                                      <p:cBhvr>
                                        <p:cTn id="32" dur="1" fill="hold">
                                          <p:stCondLst>
                                            <p:cond delay="0"/>
                                          </p:stCondLst>
                                        </p:cTn>
                                        <p:tgtEl>
                                          <p:spTgt spid="698"/>
                                        </p:tgtEl>
                                        <p:attrNameLst>
                                          <p:attrName>style.visibility</p:attrName>
                                        </p:attrNameLst>
                                      </p:cBhvr>
                                      <p:to>
                                        <p:strVal val="visible"/>
                                      </p:to>
                                    </p:set>
                                    <p:animEffect transition="in" filter="fade">
                                      <p:cBhvr>
                                        <p:cTn id="33" dur="500"/>
                                        <p:tgtEl>
                                          <p:spTgt spid="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2"/>
          <p:cNvSpPr/>
          <p:nvPr/>
        </p:nvSpPr>
        <p:spPr>
          <a:xfrm>
            <a:off x="5662364" y="0"/>
            <a:ext cx="6526461"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706" name="Google Shape;706;p2"/>
          <p:cNvSpPr txBox="1">
            <a:spLocks noGrp="1"/>
          </p:cNvSpPr>
          <p:nvPr>
            <p:ph type="title"/>
          </p:nvPr>
        </p:nvSpPr>
        <p:spPr>
          <a:xfrm>
            <a:off x="1053851" y="1995165"/>
            <a:ext cx="4968547" cy="1926089"/>
          </a:xfrm>
          <a:prstGeom prst="rect">
            <a:avLst/>
          </a:prstGeom>
          <a:noFill/>
          <a:ln>
            <a:noFill/>
          </a:ln>
        </p:spPr>
        <p:txBody>
          <a:bodyPr spcFirstLastPara="1" wrap="square" lIns="0" tIns="60925" rIns="0" bIns="60925" anchor="t" anchorCtr="0">
            <a:noAutofit/>
          </a:bodyPr>
          <a:lstStyle/>
          <a:p>
            <a:pPr marL="0" lvl="0" indent="0" algn="l" rtl="0">
              <a:lnSpc>
                <a:spcPct val="90000"/>
              </a:lnSpc>
              <a:spcBef>
                <a:spcPts val="0"/>
              </a:spcBef>
              <a:spcAft>
                <a:spcPts val="0"/>
              </a:spcAft>
              <a:buClr>
                <a:schemeClr val="accent1"/>
              </a:buClr>
              <a:buSzPts val="4400"/>
              <a:buFont typeface="Quattrocento Sans"/>
              <a:buNone/>
            </a:pPr>
            <a:br>
              <a:rPr lang="en-US"/>
            </a:br>
            <a:r>
              <a:rPr lang="en-US" sz="6600">
                <a:solidFill>
                  <a:schemeClr val="accent5"/>
                </a:solidFill>
              </a:rPr>
              <a:t>Agenda</a:t>
            </a:r>
            <a:endParaRPr>
              <a:solidFill>
                <a:schemeClr val="accent5"/>
              </a:solidFill>
            </a:endParaRPr>
          </a:p>
        </p:txBody>
      </p:sp>
      <p:sp>
        <p:nvSpPr>
          <p:cNvPr id="707" name="Google Shape;707;p2"/>
          <p:cNvSpPr txBox="1"/>
          <p:nvPr/>
        </p:nvSpPr>
        <p:spPr>
          <a:xfrm>
            <a:off x="981844" y="3789040"/>
            <a:ext cx="324036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Quattrocento Sans"/>
                <a:ea typeface="Quattrocento Sans"/>
                <a:cs typeface="Quattrocento Sans"/>
                <a:sym typeface="Quattrocento Sans"/>
              </a:rPr>
              <a:t>An end-to-end course for Solution Architects, developers, SAP Consultants, Technical Advocates</a:t>
            </a:r>
            <a:endParaRPr/>
          </a:p>
        </p:txBody>
      </p:sp>
      <p:graphicFrame>
        <p:nvGraphicFramePr>
          <p:cNvPr id="708" name="Google Shape;708;p2"/>
          <p:cNvGraphicFramePr/>
          <p:nvPr/>
        </p:nvGraphicFramePr>
        <p:xfrm>
          <a:off x="6096066" y="1296382"/>
          <a:ext cx="5038900" cy="4220875"/>
        </p:xfrm>
        <a:graphic>
          <a:graphicData uri="http://schemas.openxmlformats.org/drawingml/2006/table">
            <a:tbl>
              <a:tblPr firstRow="1" bandRow="1">
                <a:noFill/>
                <a:tableStyleId>{224E735F-99A4-4C3F-A01A-79E7CE9A2917}</a:tableStyleId>
              </a:tblPr>
              <a:tblGrid>
                <a:gridCol w="4030800">
                  <a:extLst>
                    <a:ext uri="{9D8B030D-6E8A-4147-A177-3AD203B41FA5}">
                      <a16:colId xmlns:a16="http://schemas.microsoft.com/office/drawing/2014/main" val="20000"/>
                    </a:ext>
                  </a:extLst>
                </a:gridCol>
                <a:gridCol w="288025">
                  <a:extLst>
                    <a:ext uri="{9D8B030D-6E8A-4147-A177-3AD203B41FA5}">
                      <a16:colId xmlns:a16="http://schemas.microsoft.com/office/drawing/2014/main" val="20001"/>
                    </a:ext>
                  </a:extLst>
                </a:gridCol>
                <a:gridCol w="720075">
                  <a:extLst>
                    <a:ext uri="{9D8B030D-6E8A-4147-A177-3AD203B41FA5}">
                      <a16:colId xmlns:a16="http://schemas.microsoft.com/office/drawing/2014/main" val="20002"/>
                    </a:ext>
                  </a:extLst>
                </a:gridCol>
              </a:tblGrid>
              <a:tr h="844175">
                <a:tc>
                  <a:txBody>
                    <a:bodyPr/>
                    <a:lstStyle/>
                    <a:p>
                      <a:pPr marL="0" marR="0" lvl="0" indent="0" algn="l" rtl="0">
                        <a:spcBef>
                          <a:spcPts val="0"/>
                        </a:spcBef>
                        <a:spcAft>
                          <a:spcPts val="0"/>
                        </a:spcAft>
                        <a:buNone/>
                      </a:pPr>
                      <a:r>
                        <a:rPr lang="en-US" sz="1800" u="none" strike="noStrike" cap="none">
                          <a:solidFill>
                            <a:schemeClr val="lt1"/>
                          </a:solidFill>
                        </a:rPr>
                        <a:t>Who is this training for ?</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lt1"/>
                          </a:solidFill>
                        </a:rPr>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844175">
                <a:tc>
                  <a:txBody>
                    <a:bodyPr/>
                    <a:lstStyle/>
                    <a:p>
                      <a:pPr marL="0" marR="0" lvl="0" indent="0" algn="l" rtl="0">
                        <a:lnSpc>
                          <a:spcPct val="100000"/>
                        </a:lnSpc>
                        <a:spcBef>
                          <a:spcPts val="0"/>
                        </a:spcBef>
                        <a:spcAft>
                          <a:spcPts val="0"/>
                        </a:spcAft>
                        <a:buClr>
                          <a:schemeClr val="lt1"/>
                        </a:buClr>
                        <a:buSzPts val="1800"/>
                        <a:buFont typeface="Quattrocento Sans"/>
                        <a:buNone/>
                      </a:pPr>
                      <a:r>
                        <a:rPr lang="en-US" sz="1800" b="0" i="0" u="none" strike="noStrike" cap="none">
                          <a:solidFill>
                            <a:schemeClr val="lt1"/>
                          </a:solidFill>
                          <a:latin typeface="Quattrocento Sans"/>
                          <a:ea typeface="Quattrocento Sans"/>
                          <a:cs typeface="Quattrocento Sans"/>
                          <a:sym typeface="Quattrocento Sans"/>
                        </a:rPr>
                        <a:t>What is SAP BTP Platform &amp; CAPM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lt1"/>
                          </a:solidFill>
                        </a:rPr>
                        <a:t>2</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844175">
                <a:tc>
                  <a:txBody>
                    <a:bodyPr/>
                    <a:lstStyle/>
                    <a:p>
                      <a:pPr marL="0" marR="0" lvl="0" indent="0" algn="l" rtl="0">
                        <a:lnSpc>
                          <a:spcPct val="100000"/>
                        </a:lnSpc>
                        <a:spcBef>
                          <a:spcPts val="0"/>
                        </a:spcBef>
                        <a:spcAft>
                          <a:spcPts val="0"/>
                        </a:spcAft>
                        <a:buClr>
                          <a:schemeClr val="lt1"/>
                        </a:buClr>
                        <a:buSzPts val="1800"/>
                        <a:buFont typeface="Quattrocento Sans"/>
                        <a:buNone/>
                      </a:pPr>
                      <a:r>
                        <a:rPr lang="en-US" sz="1800" b="0" i="0" u="none" strike="noStrike" cap="none">
                          <a:solidFill>
                            <a:schemeClr val="lt1"/>
                          </a:solidFill>
                          <a:latin typeface="Quattrocento Sans"/>
                          <a:ea typeface="Quattrocento Sans"/>
                          <a:cs typeface="Quattrocento Sans"/>
                          <a:sym typeface="Quattrocento Sans"/>
                        </a:rPr>
                        <a:t>Career Prospects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lt1"/>
                          </a:solidFill>
                        </a:rPr>
                        <a:t>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844175">
                <a:tc>
                  <a:txBody>
                    <a:bodyPr/>
                    <a:lstStyle/>
                    <a:p>
                      <a:pPr marL="0" marR="0" lvl="0" indent="0" algn="l" rtl="0">
                        <a:lnSpc>
                          <a:spcPct val="100000"/>
                        </a:lnSpc>
                        <a:spcBef>
                          <a:spcPts val="0"/>
                        </a:spcBef>
                        <a:spcAft>
                          <a:spcPts val="0"/>
                        </a:spcAft>
                        <a:buClr>
                          <a:schemeClr val="lt1"/>
                        </a:buClr>
                        <a:buSzPts val="1800"/>
                        <a:buFont typeface="Quattrocento Sans"/>
                        <a:buNone/>
                      </a:pPr>
                      <a:r>
                        <a:rPr lang="en-US" sz="1800" b="0" i="0" u="none" strike="noStrike" cap="none">
                          <a:solidFill>
                            <a:schemeClr val="lt1"/>
                          </a:solidFill>
                          <a:latin typeface="Quattrocento Sans"/>
                          <a:ea typeface="Quattrocento Sans"/>
                          <a:cs typeface="Quattrocento Sans"/>
                          <a:sym typeface="Quattrocento Sans"/>
                        </a:rPr>
                        <a:t>Live Demo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lt1"/>
                          </a:solidFill>
                        </a:rPr>
                        <a:t>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844175">
                <a:tc>
                  <a:txBody>
                    <a:bodyPr/>
                    <a:lstStyle/>
                    <a:p>
                      <a:pPr marL="0" marR="0" lvl="0" indent="0" algn="l" rtl="0">
                        <a:lnSpc>
                          <a:spcPct val="100000"/>
                        </a:lnSpc>
                        <a:spcBef>
                          <a:spcPts val="0"/>
                        </a:spcBef>
                        <a:spcAft>
                          <a:spcPts val="0"/>
                        </a:spcAft>
                        <a:buClr>
                          <a:schemeClr val="lt1"/>
                        </a:buClr>
                        <a:buSzPts val="1800"/>
                        <a:buFont typeface="Quattrocento Sans"/>
                        <a:buNone/>
                      </a:pPr>
                      <a:r>
                        <a:rPr lang="en-US" sz="1800" b="0" i="0" u="none" strike="noStrike" cap="none">
                          <a:solidFill>
                            <a:schemeClr val="lt1"/>
                          </a:solidFill>
                          <a:latin typeface="Quattrocento Sans"/>
                          <a:ea typeface="Quattrocento Sans"/>
                          <a:cs typeface="Quattrocento Sans"/>
                          <a:sym typeface="Quattrocento Sans"/>
                        </a:rPr>
                        <a:t>Q&amp;A and Call-to-Action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lt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lt1"/>
                          </a:solidFill>
                        </a:rPr>
                        <a:t>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709" name="Google Shape;709;p2"/>
          <p:cNvSpPr txBox="1"/>
          <p:nvPr/>
        </p:nvSpPr>
        <p:spPr>
          <a:xfrm>
            <a:off x="1762956" y="5386616"/>
            <a:ext cx="296330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7F7F7F"/>
                </a:solidFill>
                <a:latin typeface="Quattrocento Sans"/>
                <a:ea typeface="Quattrocento Sans"/>
                <a:cs typeface="Quattrocento Sans"/>
                <a:sym typeface="Quattrocento Sans"/>
              </a:rPr>
              <a:t>ANUBHAV TRAININGS</a:t>
            </a:r>
            <a:endParaRPr/>
          </a:p>
        </p:txBody>
      </p:sp>
      <p:pic>
        <p:nvPicPr>
          <p:cNvPr id="710" name="Google Shape;710;p2"/>
          <p:cNvPicPr preferRelativeResize="0"/>
          <p:nvPr/>
        </p:nvPicPr>
        <p:blipFill rotWithShape="1">
          <a:blip r:embed="rId3">
            <a:alphaModFix/>
          </a:blip>
          <a:srcRect/>
          <a:stretch/>
        </p:blipFill>
        <p:spPr>
          <a:xfrm>
            <a:off x="997880" y="5255134"/>
            <a:ext cx="733648" cy="7246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06"/>
                                        </p:tgtEl>
                                        <p:attrNameLst>
                                          <p:attrName>style.visibility</p:attrName>
                                        </p:attrNameLst>
                                      </p:cBhvr>
                                      <p:to>
                                        <p:strVal val="visible"/>
                                      </p:to>
                                    </p:set>
                                    <p:animEffect transition="in" filter="fade">
                                      <p:cBhvr>
                                        <p:cTn id="7" dur="500"/>
                                        <p:tgtEl>
                                          <p:spTgt spid="706"/>
                                        </p:tgtEl>
                                      </p:cBhvr>
                                    </p:animEffect>
                                  </p:childTnLst>
                                </p:cTn>
                              </p:par>
                              <p:par>
                                <p:cTn id="8" presetID="10" presetClass="entr" presetSubtype="0" fill="hold" nodeType="withEffect">
                                  <p:stCondLst>
                                    <p:cond delay="150"/>
                                  </p:stCondLst>
                                  <p:childTnLst>
                                    <p:set>
                                      <p:cBhvr>
                                        <p:cTn id="9" dur="1" fill="hold">
                                          <p:stCondLst>
                                            <p:cond delay="0"/>
                                          </p:stCondLst>
                                        </p:cTn>
                                        <p:tgtEl>
                                          <p:spTgt spid="707"/>
                                        </p:tgtEl>
                                        <p:attrNameLst>
                                          <p:attrName>style.visibility</p:attrName>
                                        </p:attrNameLst>
                                      </p:cBhvr>
                                      <p:to>
                                        <p:strVal val="visible"/>
                                      </p:to>
                                    </p:set>
                                    <p:animEffect transition="in" filter="fade">
                                      <p:cBhvr>
                                        <p:cTn id="10" dur="500"/>
                                        <p:tgtEl>
                                          <p:spTgt spid="707"/>
                                        </p:tgtEl>
                                      </p:cBhvr>
                                    </p:animEffect>
                                  </p:childTnLst>
                                </p:cTn>
                              </p:par>
                              <p:par>
                                <p:cTn id="11" presetID="10" presetClass="entr" presetSubtype="0" fill="hold" nodeType="withEffect">
                                  <p:stCondLst>
                                    <p:cond delay="300"/>
                                  </p:stCondLst>
                                  <p:childTnLst>
                                    <p:set>
                                      <p:cBhvr>
                                        <p:cTn id="12" dur="1" fill="hold">
                                          <p:stCondLst>
                                            <p:cond delay="0"/>
                                          </p:stCondLst>
                                        </p:cTn>
                                        <p:tgtEl>
                                          <p:spTgt spid="709"/>
                                        </p:tgtEl>
                                        <p:attrNameLst>
                                          <p:attrName>style.visibility</p:attrName>
                                        </p:attrNameLst>
                                      </p:cBhvr>
                                      <p:to>
                                        <p:strVal val="visible"/>
                                      </p:to>
                                    </p:set>
                                    <p:animEffect transition="in" filter="fade">
                                      <p:cBhvr>
                                        <p:cTn id="13" dur="500"/>
                                        <p:tgtEl>
                                          <p:spTgt spid="709"/>
                                        </p:tgtEl>
                                      </p:cBhvr>
                                    </p:animEffect>
                                  </p:childTnLst>
                                </p:cTn>
                              </p:par>
                              <p:par>
                                <p:cTn id="14" presetID="2" presetClass="entr" presetSubtype="2" fill="hold" nodeType="withEffect">
                                  <p:stCondLst>
                                    <p:cond delay="150"/>
                                  </p:stCondLst>
                                  <p:childTnLst>
                                    <p:set>
                                      <p:cBhvr>
                                        <p:cTn id="15" dur="1" fill="hold">
                                          <p:stCondLst>
                                            <p:cond delay="0"/>
                                          </p:stCondLst>
                                        </p:cTn>
                                        <p:tgtEl>
                                          <p:spTgt spid="705"/>
                                        </p:tgtEl>
                                        <p:attrNameLst>
                                          <p:attrName>style.visibility</p:attrName>
                                        </p:attrNameLst>
                                      </p:cBhvr>
                                      <p:to>
                                        <p:strVal val="visible"/>
                                      </p:to>
                                    </p:set>
                                    <p:anim calcmode="lin" valueType="num">
                                      <p:cBhvr additive="base">
                                        <p:cTn id="16" dur="500"/>
                                        <p:tgtEl>
                                          <p:spTgt spid="705"/>
                                        </p:tgtEl>
                                        <p:attrNameLst>
                                          <p:attrName>ppt_x</p:attrName>
                                        </p:attrNameLst>
                                      </p:cBhvr>
                                      <p:tavLst>
                                        <p:tav tm="0">
                                          <p:val>
                                            <p:strVal val="#ppt_x+1"/>
                                          </p:val>
                                        </p:tav>
                                        <p:tav tm="100000">
                                          <p:val>
                                            <p:strVal val="#ppt_x"/>
                                          </p:val>
                                        </p:tav>
                                      </p:tavLst>
                                    </p:anim>
                                  </p:childTnLst>
                                </p:cTn>
                              </p:par>
                              <p:par>
                                <p:cTn id="17" presetID="10" presetClass="entr" presetSubtype="0" fill="hold" nodeType="withEffect">
                                  <p:stCondLst>
                                    <p:cond delay="300"/>
                                  </p:stCondLst>
                                  <p:childTnLst>
                                    <p:set>
                                      <p:cBhvr>
                                        <p:cTn id="18" dur="1" fill="hold">
                                          <p:stCondLst>
                                            <p:cond delay="0"/>
                                          </p:stCondLst>
                                        </p:cTn>
                                        <p:tgtEl>
                                          <p:spTgt spid="708"/>
                                        </p:tgtEl>
                                        <p:attrNameLst>
                                          <p:attrName>style.visibility</p:attrName>
                                        </p:attrNameLst>
                                      </p:cBhvr>
                                      <p:to>
                                        <p:strVal val="visible"/>
                                      </p:to>
                                    </p:set>
                                    <p:animEffect transition="in" filter="fade">
                                      <p:cBhvr>
                                        <p:cTn id="19" dur="750"/>
                                        <p:tgtEl>
                                          <p:spTgt spid="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3"/>
          <p:cNvSpPr/>
          <p:nvPr/>
        </p:nvSpPr>
        <p:spPr>
          <a:xfrm>
            <a:off x="-35351" y="6360079"/>
            <a:ext cx="588428" cy="316381"/>
          </a:xfrm>
          <a:prstGeom prst="rect">
            <a:avLst/>
          </a:prstGeom>
          <a:solidFill>
            <a:srgbClr val="1A224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Calibri"/>
              <a:buNone/>
            </a:pPr>
            <a:endParaRPr sz="2400" b="0" i="0" u="none" strike="noStrike" cap="none">
              <a:solidFill>
                <a:srgbClr val="FFFFFF"/>
              </a:solidFill>
              <a:latin typeface="Calibri"/>
              <a:ea typeface="Calibri"/>
              <a:cs typeface="Calibri"/>
              <a:sym typeface="Calibri"/>
            </a:endParaRPr>
          </a:p>
        </p:txBody>
      </p:sp>
      <p:sp>
        <p:nvSpPr>
          <p:cNvPr id="716" name="Google Shape;716;p3"/>
          <p:cNvSpPr txBox="1">
            <a:spLocks noGrp="1"/>
          </p:cNvSpPr>
          <p:nvPr>
            <p:ph type="sldNum" idx="12"/>
          </p:nvPr>
        </p:nvSpPr>
        <p:spPr>
          <a:xfrm>
            <a:off x="-8905" y="6270456"/>
            <a:ext cx="588428" cy="316381"/>
          </a:xfrm>
          <a:prstGeom prst="rect">
            <a:avLst/>
          </a:prstGeom>
          <a:noFill/>
          <a:ln>
            <a:noFill/>
          </a:ln>
        </p:spPr>
        <p:txBody>
          <a:bodyPr spcFirstLastPara="1" wrap="square" lIns="121875" tIns="60925" rIns="121875" bIns="60925" anchor="ctr" anchorCtr="0">
            <a:noAutofit/>
          </a:bodyPr>
          <a:lstStyle/>
          <a:p>
            <a:pPr marL="0" marR="0" lvl="0" indent="0" algn="r" rtl="0">
              <a:lnSpc>
                <a:spcPct val="100000"/>
              </a:lnSpc>
              <a:spcBef>
                <a:spcPts val="0"/>
              </a:spcBef>
              <a:spcAft>
                <a:spcPts val="0"/>
              </a:spcAft>
              <a:buClr>
                <a:srgbClr val="888888"/>
              </a:buClr>
              <a:buSzPts val="1100"/>
              <a:buFont typeface="Calibri"/>
              <a:buNone/>
            </a:pPr>
            <a:endParaRPr sz="1100" b="0" i="0" u="none" strike="noStrike" cap="none">
              <a:solidFill>
                <a:srgbClr val="888888"/>
              </a:solidFill>
              <a:latin typeface="Calibri"/>
              <a:ea typeface="Calibri"/>
              <a:cs typeface="Calibri"/>
              <a:sym typeface="Calibri"/>
            </a:endParaRPr>
          </a:p>
          <a:p>
            <a:pPr marL="0" marR="0" lvl="0" indent="0" algn="r" rtl="0">
              <a:lnSpc>
                <a:spcPct val="100000"/>
              </a:lnSpc>
              <a:spcBef>
                <a:spcPts val="0"/>
              </a:spcBef>
              <a:spcAft>
                <a:spcPts val="0"/>
              </a:spcAft>
              <a:buClr>
                <a:srgbClr val="888888"/>
              </a:buClr>
              <a:buSzPts val="1100"/>
              <a:buFont typeface="Calibri"/>
              <a:buNone/>
            </a:pPr>
            <a:endParaRPr sz="1100" b="0" i="0" u="none" strike="noStrike" cap="none">
              <a:solidFill>
                <a:srgbClr val="888888"/>
              </a:solidFill>
              <a:latin typeface="Calibri"/>
              <a:ea typeface="Calibri"/>
              <a:cs typeface="Calibri"/>
              <a:sym typeface="Calibri"/>
            </a:endParaRPr>
          </a:p>
          <a:p>
            <a:pPr marL="0" marR="0" lvl="0" indent="0" algn="r" rtl="0">
              <a:lnSpc>
                <a:spcPct val="100000"/>
              </a:lnSpc>
              <a:spcBef>
                <a:spcPts val="0"/>
              </a:spcBef>
              <a:spcAft>
                <a:spcPts val="0"/>
              </a:spcAft>
              <a:buClr>
                <a:srgbClr val="888888"/>
              </a:buClr>
              <a:buSzPts val="1100"/>
              <a:buFont typeface="Calibri"/>
              <a:buNone/>
            </a:pPr>
            <a:fld id="{00000000-1234-1234-1234-123412341234}" type="slidenum">
              <a:rPr lang="en-US" sz="1100" b="0" i="0" u="none" strike="noStrike" cap="none">
                <a:solidFill>
                  <a:srgbClr val="888888"/>
                </a:solidFill>
                <a:latin typeface="Calibri"/>
                <a:ea typeface="Calibri"/>
                <a:cs typeface="Calibri"/>
                <a:sym typeface="Calibri"/>
              </a:rPr>
              <a:t>3</a:t>
            </a:fld>
            <a:endParaRPr sz="1100" b="0" i="0" u="none" strike="noStrike" cap="none">
              <a:solidFill>
                <a:srgbClr val="888888"/>
              </a:solidFill>
              <a:latin typeface="Calibri"/>
              <a:ea typeface="Calibri"/>
              <a:cs typeface="Calibri"/>
              <a:sym typeface="Calibri"/>
            </a:endParaRPr>
          </a:p>
        </p:txBody>
      </p:sp>
      <p:sp>
        <p:nvSpPr>
          <p:cNvPr id="717" name="Google Shape;717;p3"/>
          <p:cNvSpPr txBox="1"/>
          <p:nvPr/>
        </p:nvSpPr>
        <p:spPr>
          <a:xfrm>
            <a:off x="4935126" y="21305"/>
            <a:ext cx="278204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C000"/>
              </a:buClr>
              <a:buSzPts val="1600"/>
              <a:buFont typeface="Corben"/>
              <a:buNone/>
            </a:pPr>
            <a:r>
              <a:rPr lang="en-US" sz="1600" b="1" i="0" u="none" strike="noStrike" cap="none">
                <a:solidFill>
                  <a:srgbClr val="FFC000"/>
                </a:solidFill>
                <a:latin typeface="Corben"/>
                <a:ea typeface="Corben"/>
                <a:cs typeface="Corben"/>
                <a:sym typeface="Corben"/>
              </a:rPr>
              <a:t>www.anubhavtrainings.com</a:t>
            </a:r>
            <a:endParaRPr sz="1600" b="1" i="0" u="none" strike="noStrike" cap="none">
              <a:solidFill>
                <a:srgbClr val="FFC000"/>
              </a:solidFill>
              <a:latin typeface="Corben"/>
              <a:ea typeface="Corben"/>
              <a:cs typeface="Corben"/>
              <a:sym typeface="Corben"/>
            </a:endParaRPr>
          </a:p>
        </p:txBody>
      </p:sp>
      <p:pic>
        <p:nvPicPr>
          <p:cNvPr id="718" name="Google Shape;718;p3"/>
          <p:cNvPicPr preferRelativeResize="0"/>
          <p:nvPr/>
        </p:nvPicPr>
        <p:blipFill rotWithShape="1">
          <a:blip r:embed="rId3">
            <a:alphaModFix/>
          </a:blip>
          <a:srcRect/>
          <a:stretch/>
        </p:blipFill>
        <p:spPr>
          <a:xfrm>
            <a:off x="11558115" y="24021"/>
            <a:ext cx="497673" cy="425932"/>
          </a:xfrm>
          <a:prstGeom prst="rect">
            <a:avLst/>
          </a:prstGeom>
          <a:noFill/>
          <a:ln>
            <a:noFill/>
          </a:ln>
        </p:spPr>
      </p:pic>
      <p:sp>
        <p:nvSpPr>
          <p:cNvPr id="719" name="Google Shape;719;p3"/>
          <p:cNvSpPr txBox="1"/>
          <p:nvPr/>
        </p:nvSpPr>
        <p:spPr>
          <a:xfrm>
            <a:off x="285309" y="357097"/>
            <a:ext cx="10969943" cy="61615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Quattrocento Sans"/>
              <a:buNone/>
            </a:pPr>
            <a:r>
              <a:rPr lang="en-US" sz="3600" b="0" i="0" u="none" strike="noStrike" cap="none">
                <a:solidFill>
                  <a:srgbClr val="000000"/>
                </a:solidFill>
                <a:latin typeface="Quattrocento Sans"/>
                <a:ea typeface="Quattrocento Sans"/>
                <a:cs typeface="Quattrocento Sans"/>
                <a:sym typeface="Quattrocento Sans"/>
              </a:rPr>
              <a:t>Who is this course for? </a:t>
            </a:r>
            <a:endParaRPr/>
          </a:p>
        </p:txBody>
      </p:sp>
      <p:pic>
        <p:nvPicPr>
          <p:cNvPr id="720" name="Google Shape;720;p3"/>
          <p:cNvPicPr preferRelativeResize="0"/>
          <p:nvPr/>
        </p:nvPicPr>
        <p:blipFill rotWithShape="1">
          <a:blip r:embed="rId4">
            <a:alphaModFix/>
          </a:blip>
          <a:srcRect l="13927" r="22946"/>
          <a:stretch/>
        </p:blipFill>
        <p:spPr>
          <a:xfrm>
            <a:off x="3862164" y="1346831"/>
            <a:ext cx="1719288" cy="1846202"/>
          </a:xfrm>
          <a:prstGeom prst="ellipse">
            <a:avLst/>
          </a:prstGeom>
          <a:noFill/>
          <a:ln w="9525" cap="flat" cmpd="sng">
            <a:solidFill>
              <a:srgbClr val="00B0F0"/>
            </a:solidFill>
            <a:prstDash val="solid"/>
            <a:round/>
            <a:headEnd type="none" w="sm" len="sm"/>
            <a:tailEnd type="none" w="sm" len="sm"/>
          </a:ln>
        </p:spPr>
      </p:pic>
      <p:pic>
        <p:nvPicPr>
          <p:cNvPr id="721" name="Google Shape;721;p3"/>
          <p:cNvPicPr preferRelativeResize="0"/>
          <p:nvPr/>
        </p:nvPicPr>
        <p:blipFill rotWithShape="1">
          <a:blip r:embed="rId5">
            <a:alphaModFix/>
          </a:blip>
          <a:srcRect l="30967" r="2676"/>
          <a:stretch/>
        </p:blipFill>
        <p:spPr>
          <a:xfrm>
            <a:off x="572483" y="1308149"/>
            <a:ext cx="1870064" cy="1846201"/>
          </a:xfrm>
          <a:prstGeom prst="ellipse">
            <a:avLst/>
          </a:prstGeom>
          <a:noFill/>
          <a:ln w="9525" cap="flat" cmpd="sng">
            <a:solidFill>
              <a:srgbClr val="00B0F0"/>
            </a:solidFill>
            <a:prstDash val="solid"/>
            <a:round/>
            <a:headEnd type="none" w="sm" len="sm"/>
            <a:tailEnd type="none" w="sm" len="sm"/>
          </a:ln>
        </p:spPr>
      </p:pic>
      <p:pic>
        <p:nvPicPr>
          <p:cNvPr id="722" name="Google Shape;722;p3"/>
          <p:cNvPicPr preferRelativeResize="0"/>
          <p:nvPr/>
        </p:nvPicPr>
        <p:blipFill rotWithShape="1">
          <a:blip r:embed="rId6">
            <a:alphaModFix/>
          </a:blip>
          <a:srcRect b="16815"/>
          <a:stretch/>
        </p:blipFill>
        <p:spPr>
          <a:xfrm>
            <a:off x="6740340" y="1338382"/>
            <a:ext cx="1719288" cy="1846202"/>
          </a:xfrm>
          <a:prstGeom prst="ellipse">
            <a:avLst/>
          </a:prstGeom>
          <a:noFill/>
          <a:ln w="9525" cap="flat" cmpd="sng">
            <a:solidFill>
              <a:srgbClr val="00B0F0"/>
            </a:solidFill>
            <a:prstDash val="solid"/>
            <a:round/>
            <a:headEnd type="none" w="sm" len="sm"/>
            <a:tailEnd type="none" w="sm" len="sm"/>
          </a:ln>
        </p:spPr>
      </p:pic>
      <p:sp>
        <p:nvSpPr>
          <p:cNvPr id="723" name="Google Shape;723;p3"/>
          <p:cNvSpPr txBox="1"/>
          <p:nvPr/>
        </p:nvSpPr>
        <p:spPr>
          <a:xfrm>
            <a:off x="446201" y="3718678"/>
            <a:ext cx="2791681" cy="24929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ABAP Developer- </a:t>
            </a:r>
            <a:endParaRPr/>
          </a:p>
          <a:p>
            <a:pPr marL="0" marR="0" lvl="0" indent="0" algn="l" rtl="0">
              <a:lnSpc>
                <a:spcPct val="100000"/>
              </a:lnSpc>
              <a:spcBef>
                <a:spcPts val="0"/>
              </a:spcBef>
              <a:spcAft>
                <a:spcPts val="0"/>
              </a:spcAft>
              <a:buClr>
                <a:srgbClr val="71A146"/>
              </a:buClr>
              <a:buSzPts val="1800"/>
              <a:buFont typeface="Calibri"/>
              <a:buNone/>
            </a:pPr>
            <a:r>
              <a:rPr lang="en-US" sz="1800" b="1" i="0" u="none" strike="noStrike" cap="none">
                <a:solidFill>
                  <a:srgbClr val="71A146"/>
                </a:solidFill>
                <a:latin typeface="Calibri"/>
                <a:ea typeface="Calibri"/>
                <a:cs typeface="Calibri"/>
                <a:sym typeface="Calibri"/>
              </a:rPr>
              <a:t>Sumit Ghosh</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Deliver new innovations that natively integrate with SAP applications like S/4HANA (Side by Side Extensions) on SAP BTP</a:t>
            </a:r>
            <a:endParaRPr/>
          </a:p>
          <a:p>
            <a:pPr marL="0" marR="0" lvl="0" indent="0" algn="l"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24" name="Google Shape;724;p3"/>
          <p:cNvSpPr txBox="1"/>
          <p:nvPr/>
        </p:nvSpPr>
        <p:spPr>
          <a:xfrm>
            <a:off x="6530328" y="3718678"/>
            <a:ext cx="2373685" cy="20621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BTP Developer- </a:t>
            </a:r>
            <a:endParaRPr/>
          </a:p>
          <a:p>
            <a:pPr marL="0" marR="0" lvl="0" indent="0" algn="l" rtl="0">
              <a:lnSpc>
                <a:spcPct val="100000"/>
              </a:lnSpc>
              <a:spcBef>
                <a:spcPts val="0"/>
              </a:spcBef>
              <a:spcAft>
                <a:spcPts val="0"/>
              </a:spcAft>
              <a:buClr>
                <a:srgbClr val="71A146"/>
              </a:buClr>
              <a:buSzPts val="1800"/>
              <a:buFont typeface="Calibri"/>
              <a:buNone/>
            </a:pPr>
            <a:r>
              <a:rPr lang="en-US" sz="1800" b="1" i="0" u="none" strike="noStrike" cap="none">
                <a:solidFill>
                  <a:srgbClr val="71A146"/>
                </a:solidFill>
                <a:latin typeface="Calibri"/>
                <a:ea typeface="Calibri"/>
                <a:cs typeface="Calibri"/>
                <a:sym typeface="Calibri"/>
              </a:rPr>
              <a:t>Stevia Jack</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Developing Applications Running on SAP BTP Using SAP HANA Cloud, Java and Node JS.</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25" name="Google Shape;725;p3"/>
          <p:cNvSpPr txBox="1"/>
          <p:nvPr/>
        </p:nvSpPr>
        <p:spPr>
          <a:xfrm>
            <a:off x="3463013" y="3718678"/>
            <a:ext cx="2937077" cy="29854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Any Technical Consultant-</a:t>
            </a:r>
            <a:endParaRPr/>
          </a:p>
          <a:p>
            <a:pPr marL="0" marR="0" lvl="0" indent="0" algn="l" rtl="0">
              <a:lnSpc>
                <a:spcPct val="100000"/>
              </a:lnSpc>
              <a:spcBef>
                <a:spcPts val="0"/>
              </a:spcBef>
              <a:spcAft>
                <a:spcPts val="0"/>
              </a:spcAft>
              <a:buClr>
                <a:srgbClr val="71A146"/>
              </a:buClr>
              <a:buSzPts val="1800"/>
              <a:buFont typeface="Calibri"/>
              <a:buNone/>
            </a:pPr>
            <a:r>
              <a:rPr lang="en-US" sz="1800" b="1" i="0" u="none" strike="noStrike" cap="none">
                <a:solidFill>
                  <a:srgbClr val="71A146"/>
                </a:solidFill>
                <a:latin typeface="Calibri"/>
                <a:ea typeface="Calibri"/>
                <a:cs typeface="Calibri"/>
                <a:sym typeface="Calibri"/>
              </a:rPr>
              <a:t>Neha Joshi</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Work faster with latest development tools like Business application Studio and Frameworks like CAPM with Node JS.</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26" name="Google Shape;726;p3"/>
          <p:cNvSpPr txBox="1"/>
          <p:nvPr/>
        </p:nvSpPr>
        <p:spPr>
          <a:xfrm>
            <a:off x="9310026" y="3698463"/>
            <a:ext cx="3024336" cy="27084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1" i="0" u="none" strike="noStrike" cap="none">
                <a:solidFill>
                  <a:srgbClr val="000000"/>
                </a:solidFill>
                <a:latin typeface="Calibri"/>
                <a:ea typeface="Calibri"/>
                <a:cs typeface="Calibri"/>
                <a:sym typeface="Calibri"/>
              </a:rPr>
              <a:t>SAP Administrator- </a:t>
            </a:r>
            <a:endParaRPr/>
          </a:p>
          <a:p>
            <a:pPr marL="0" marR="0" lvl="0" indent="0" algn="l" rtl="0">
              <a:lnSpc>
                <a:spcPct val="100000"/>
              </a:lnSpc>
              <a:spcBef>
                <a:spcPts val="0"/>
              </a:spcBef>
              <a:spcAft>
                <a:spcPts val="0"/>
              </a:spcAft>
              <a:buClr>
                <a:srgbClr val="71A146"/>
              </a:buClr>
              <a:buSzPts val="2000"/>
              <a:buFont typeface="Calibri"/>
              <a:buNone/>
            </a:pPr>
            <a:r>
              <a:rPr lang="en-US" sz="2000" b="1" i="0" u="none" strike="noStrike" cap="none">
                <a:solidFill>
                  <a:srgbClr val="71A146"/>
                </a:solidFill>
                <a:latin typeface="Calibri"/>
                <a:ea typeface="Calibri"/>
                <a:cs typeface="Calibri"/>
                <a:sym typeface="Calibri"/>
              </a:rPr>
              <a:t>Mohan Grava</a:t>
            </a:r>
            <a:endParaRPr/>
          </a:p>
          <a:p>
            <a:pPr marL="0" marR="0" lvl="0" indent="0" algn="l"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Learn the security and administration of SAP BTP Cloud Applications. Understand connectivity basics and manage Central Fiori Launchpad in BTP.</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p:txBody>
      </p:sp>
      <p:pic>
        <p:nvPicPr>
          <p:cNvPr id="727" name="Google Shape;727;p3" descr="Dr. Mohan Kumar.V - General Physician - Book Appointment Online, View Fees,  Feedbacks | Practo"/>
          <p:cNvPicPr preferRelativeResize="0"/>
          <p:nvPr/>
        </p:nvPicPr>
        <p:blipFill rotWithShape="1">
          <a:blip r:embed="rId7">
            <a:alphaModFix/>
          </a:blip>
          <a:srcRect/>
          <a:stretch/>
        </p:blipFill>
        <p:spPr>
          <a:xfrm>
            <a:off x="9618516" y="1308149"/>
            <a:ext cx="1870064" cy="1843005"/>
          </a:xfrm>
          <a:prstGeom prst="ellipse">
            <a:avLst/>
          </a:prstGeom>
          <a:noFill/>
          <a:ln w="9525" cap="flat" cmpd="sng">
            <a:solidFill>
              <a:srgbClr val="00B0F0"/>
            </a:solidFill>
            <a:prstDash val="solid"/>
            <a:round/>
            <a:headEnd type="none" w="sm" len="sm"/>
            <a:tailEnd type="none" w="sm" len="sm"/>
          </a:ln>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2"/>
        <p:cNvGrpSpPr/>
        <p:nvPr/>
      </p:nvGrpSpPr>
      <p:grpSpPr>
        <a:xfrm>
          <a:off x="0" y="0"/>
          <a:ext cx="0" cy="0"/>
          <a:chOff x="0" y="0"/>
          <a:chExt cx="0" cy="0"/>
        </a:xfrm>
      </p:grpSpPr>
      <p:sp>
        <p:nvSpPr>
          <p:cNvPr id="733" name="Google Shape;733;p4"/>
          <p:cNvSpPr txBox="1"/>
          <p:nvPr/>
        </p:nvSpPr>
        <p:spPr>
          <a:xfrm>
            <a:off x="208188" y="93222"/>
            <a:ext cx="1121481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22C60"/>
              </a:buClr>
              <a:buSzPts val="3600"/>
              <a:buFont typeface="Corben"/>
              <a:buNone/>
            </a:pPr>
            <a:r>
              <a:rPr lang="en-US" sz="3600" b="0" i="0" u="none" strike="noStrike" cap="none">
                <a:solidFill>
                  <a:srgbClr val="222C60"/>
                </a:solidFill>
                <a:latin typeface="Corben"/>
                <a:ea typeface="Corben"/>
                <a:cs typeface="Corben"/>
                <a:sym typeface="Corben"/>
              </a:rPr>
              <a:t>What is SAP BTP</a:t>
            </a:r>
            <a:endParaRPr sz="2400" b="0" i="0" u="none" strike="noStrike" cap="none">
              <a:solidFill>
                <a:srgbClr val="000000"/>
              </a:solidFill>
              <a:latin typeface="Calibri"/>
              <a:ea typeface="Calibri"/>
              <a:cs typeface="Calibri"/>
              <a:sym typeface="Calibri"/>
            </a:endParaRPr>
          </a:p>
        </p:txBody>
      </p:sp>
      <p:pic>
        <p:nvPicPr>
          <p:cNvPr id="734" name="Google Shape;734;p4"/>
          <p:cNvPicPr preferRelativeResize="0"/>
          <p:nvPr/>
        </p:nvPicPr>
        <p:blipFill rotWithShape="1">
          <a:blip r:embed="rId3">
            <a:alphaModFix/>
          </a:blip>
          <a:srcRect/>
          <a:stretch/>
        </p:blipFill>
        <p:spPr>
          <a:xfrm>
            <a:off x="11557446" y="9744"/>
            <a:ext cx="628414" cy="620688"/>
          </a:xfrm>
          <a:prstGeom prst="rect">
            <a:avLst/>
          </a:prstGeom>
          <a:noFill/>
          <a:ln>
            <a:noFill/>
          </a:ln>
        </p:spPr>
      </p:pic>
      <p:pic>
        <p:nvPicPr>
          <p:cNvPr id="735" name="Google Shape;735;p4"/>
          <p:cNvPicPr preferRelativeResize="0"/>
          <p:nvPr/>
        </p:nvPicPr>
        <p:blipFill rotWithShape="1">
          <a:blip r:embed="rId4">
            <a:alphaModFix/>
          </a:blip>
          <a:srcRect/>
          <a:stretch/>
        </p:blipFill>
        <p:spPr>
          <a:xfrm>
            <a:off x="21224" y="6445370"/>
            <a:ext cx="373929" cy="369332"/>
          </a:xfrm>
          <a:prstGeom prst="rect">
            <a:avLst/>
          </a:prstGeom>
          <a:noFill/>
          <a:ln>
            <a:noFill/>
          </a:ln>
        </p:spPr>
      </p:pic>
      <p:sp>
        <p:nvSpPr>
          <p:cNvPr id="736" name="Google Shape;736;p4"/>
          <p:cNvSpPr txBox="1"/>
          <p:nvPr/>
        </p:nvSpPr>
        <p:spPr>
          <a:xfrm>
            <a:off x="11710282" y="6534849"/>
            <a:ext cx="36004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5</a:t>
            </a:r>
            <a:endParaRPr sz="1600" b="0" i="0" u="none" strike="noStrike" cap="none">
              <a:solidFill>
                <a:srgbClr val="000000"/>
              </a:solidFill>
              <a:latin typeface="Calibri"/>
              <a:ea typeface="Calibri"/>
              <a:cs typeface="Calibri"/>
              <a:sym typeface="Calibri"/>
            </a:endParaRPr>
          </a:p>
        </p:txBody>
      </p:sp>
      <p:sp>
        <p:nvSpPr>
          <p:cNvPr id="737" name="Google Shape;737;p4"/>
          <p:cNvSpPr txBox="1"/>
          <p:nvPr/>
        </p:nvSpPr>
        <p:spPr>
          <a:xfrm>
            <a:off x="1473705" y="6544297"/>
            <a:ext cx="37193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orben"/>
              <a:buNone/>
            </a:pPr>
            <a:r>
              <a:rPr lang="en-US" sz="1800" b="0" i="0" u="none" strike="noStrike" cap="none">
                <a:solidFill>
                  <a:srgbClr val="000000"/>
                </a:solidFill>
                <a:latin typeface="Corben"/>
                <a:ea typeface="Corben"/>
                <a:cs typeface="Corben"/>
                <a:sym typeface="Corben"/>
              </a:rPr>
              <a:t>www.anubhavtranings.com</a:t>
            </a:r>
            <a:endParaRPr sz="1800" b="0" i="0" u="none" strike="noStrike" cap="none">
              <a:solidFill>
                <a:srgbClr val="000000"/>
              </a:solidFill>
              <a:latin typeface="Corben"/>
              <a:ea typeface="Corben"/>
              <a:cs typeface="Corben"/>
              <a:sym typeface="Corben"/>
            </a:endParaRPr>
          </a:p>
        </p:txBody>
      </p:sp>
      <p:pic>
        <p:nvPicPr>
          <p:cNvPr id="738" name="Google Shape;738;p4"/>
          <p:cNvPicPr preferRelativeResize="0"/>
          <p:nvPr/>
        </p:nvPicPr>
        <p:blipFill rotWithShape="1">
          <a:blip r:embed="rId5">
            <a:alphaModFix/>
          </a:blip>
          <a:srcRect t="8619"/>
          <a:stretch/>
        </p:blipFill>
        <p:spPr>
          <a:xfrm>
            <a:off x="1905347" y="630432"/>
            <a:ext cx="8672026" cy="58263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5"/>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Why we need SAP BTP?</a:t>
            </a:r>
            <a:endParaRPr/>
          </a:p>
        </p:txBody>
      </p:sp>
      <p:sp>
        <p:nvSpPr>
          <p:cNvPr id="744" name="Google Shape;744;p5"/>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745" name="Google Shape;745;p5"/>
          <p:cNvPicPr preferRelativeResize="0"/>
          <p:nvPr/>
        </p:nvPicPr>
        <p:blipFill rotWithShape="1">
          <a:blip r:embed="rId3">
            <a:alphaModFix/>
          </a:blip>
          <a:srcRect/>
          <a:stretch/>
        </p:blipFill>
        <p:spPr>
          <a:xfrm>
            <a:off x="11088469" y="53543"/>
            <a:ext cx="929479" cy="918051"/>
          </a:xfrm>
          <a:prstGeom prst="rect">
            <a:avLst/>
          </a:prstGeom>
          <a:noFill/>
          <a:ln>
            <a:noFill/>
          </a:ln>
        </p:spPr>
      </p:pic>
      <p:grpSp>
        <p:nvGrpSpPr>
          <p:cNvPr id="746" name="Google Shape;746;p5"/>
          <p:cNvGrpSpPr/>
          <p:nvPr/>
        </p:nvGrpSpPr>
        <p:grpSpPr>
          <a:xfrm>
            <a:off x="3088083" y="1167025"/>
            <a:ext cx="2119086" cy="944905"/>
            <a:chOff x="3149848" y="1335315"/>
            <a:chExt cx="2119638" cy="945151"/>
          </a:xfrm>
        </p:grpSpPr>
        <p:sp>
          <p:nvSpPr>
            <p:cNvPr id="747" name="Google Shape;747;p5"/>
            <p:cNvSpPr/>
            <p:nvPr/>
          </p:nvSpPr>
          <p:spPr>
            <a:xfrm>
              <a:off x="3149848" y="1837902"/>
              <a:ext cx="2119638" cy="44256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Data</a:t>
              </a:r>
              <a:endParaRPr/>
            </a:p>
          </p:txBody>
        </p:sp>
        <p:sp>
          <p:nvSpPr>
            <p:cNvPr id="748" name="Google Shape;748;p5"/>
            <p:cNvSpPr/>
            <p:nvPr/>
          </p:nvSpPr>
          <p:spPr>
            <a:xfrm>
              <a:off x="3149848" y="1335315"/>
              <a:ext cx="2119638" cy="44256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Application</a:t>
              </a:r>
              <a:endParaRPr/>
            </a:p>
          </p:txBody>
        </p:sp>
      </p:grpSp>
      <p:grpSp>
        <p:nvGrpSpPr>
          <p:cNvPr id="749" name="Google Shape;749;p5"/>
          <p:cNvGrpSpPr/>
          <p:nvPr/>
        </p:nvGrpSpPr>
        <p:grpSpPr>
          <a:xfrm>
            <a:off x="3069163" y="2171937"/>
            <a:ext cx="3955570" cy="1949817"/>
            <a:chOff x="3130923" y="2340489"/>
            <a:chExt cx="3956600" cy="1950325"/>
          </a:xfrm>
        </p:grpSpPr>
        <p:sp>
          <p:nvSpPr>
            <p:cNvPr id="750" name="Google Shape;750;p5"/>
            <p:cNvSpPr/>
            <p:nvPr/>
          </p:nvSpPr>
          <p:spPr>
            <a:xfrm>
              <a:off x="3130923" y="3848250"/>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OS</a:t>
              </a:r>
              <a:endParaRPr/>
            </a:p>
          </p:txBody>
        </p:sp>
        <p:sp>
          <p:nvSpPr>
            <p:cNvPr id="751" name="Google Shape;751;p5"/>
            <p:cNvSpPr/>
            <p:nvPr/>
          </p:nvSpPr>
          <p:spPr>
            <a:xfrm>
              <a:off x="3130923" y="3345663"/>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Database</a:t>
              </a:r>
              <a:endParaRPr/>
            </a:p>
          </p:txBody>
        </p:sp>
        <p:sp>
          <p:nvSpPr>
            <p:cNvPr id="752" name="Google Shape;752;p5"/>
            <p:cNvSpPr/>
            <p:nvPr/>
          </p:nvSpPr>
          <p:spPr>
            <a:xfrm>
              <a:off x="3130923" y="2843076"/>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Middleware</a:t>
              </a:r>
              <a:endParaRPr/>
            </a:p>
          </p:txBody>
        </p:sp>
        <p:sp>
          <p:nvSpPr>
            <p:cNvPr id="753" name="Google Shape;753;p5"/>
            <p:cNvSpPr/>
            <p:nvPr/>
          </p:nvSpPr>
          <p:spPr>
            <a:xfrm>
              <a:off x="3130923" y="2340489"/>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Runtime</a:t>
              </a:r>
              <a:endParaRPr/>
            </a:p>
          </p:txBody>
        </p:sp>
        <p:sp>
          <p:nvSpPr>
            <p:cNvPr id="754" name="Google Shape;754;p5"/>
            <p:cNvSpPr/>
            <p:nvPr/>
          </p:nvSpPr>
          <p:spPr>
            <a:xfrm>
              <a:off x="5327467" y="2340489"/>
              <a:ext cx="1760056" cy="1950325"/>
            </a:xfrm>
            <a:prstGeom prst="rect">
              <a:avLst/>
            </a:prstGeom>
            <a:solidFill>
              <a:srgbClr val="114D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Platform as a Service</a:t>
              </a:r>
              <a:endParaRPr/>
            </a:p>
          </p:txBody>
        </p:sp>
      </p:grpSp>
      <p:grpSp>
        <p:nvGrpSpPr>
          <p:cNvPr id="755" name="Google Shape;755;p5"/>
          <p:cNvGrpSpPr/>
          <p:nvPr/>
        </p:nvGrpSpPr>
        <p:grpSpPr>
          <a:xfrm>
            <a:off x="3069163" y="4181760"/>
            <a:ext cx="3955570" cy="1949819"/>
            <a:chOff x="3130923" y="4350836"/>
            <a:chExt cx="3956600" cy="1950327"/>
          </a:xfrm>
        </p:grpSpPr>
        <p:sp>
          <p:nvSpPr>
            <p:cNvPr id="756" name="Google Shape;756;p5"/>
            <p:cNvSpPr/>
            <p:nvPr/>
          </p:nvSpPr>
          <p:spPr>
            <a:xfrm>
              <a:off x="3130923" y="5858599"/>
              <a:ext cx="2119638" cy="442564"/>
            </a:xfrm>
            <a:prstGeom prst="rect">
              <a:avLst/>
            </a:prstGeom>
            <a:solidFill>
              <a:srgbClr val="36383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Networking</a:t>
              </a:r>
              <a:endParaRPr/>
            </a:p>
          </p:txBody>
        </p:sp>
        <p:sp>
          <p:nvSpPr>
            <p:cNvPr id="757" name="Google Shape;757;p5"/>
            <p:cNvSpPr/>
            <p:nvPr/>
          </p:nvSpPr>
          <p:spPr>
            <a:xfrm>
              <a:off x="3130923" y="5356010"/>
              <a:ext cx="2119638" cy="442564"/>
            </a:xfrm>
            <a:prstGeom prst="rect">
              <a:avLst/>
            </a:prstGeom>
            <a:solidFill>
              <a:srgbClr val="36383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Storage</a:t>
              </a:r>
              <a:endParaRPr/>
            </a:p>
          </p:txBody>
        </p:sp>
        <p:sp>
          <p:nvSpPr>
            <p:cNvPr id="758" name="Google Shape;758;p5"/>
            <p:cNvSpPr/>
            <p:nvPr/>
          </p:nvSpPr>
          <p:spPr>
            <a:xfrm>
              <a:off x="3130923" y="4853423"/>
              <a:ext cx="2119638" cy="442564"/>
            </a:xfrm>
            <a:prstGeom prst="rect">
              <a:avLst/>
            </a:prstGeom>
            <a:solidFill>
              <a:srgbClr val="36383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Servers</a:t>
              </a:r>
              <a:endParaRPr/>
            </a:p>
          </p:txBody>
        </p:sp>
        <p:sp>
          <p:nvSpPr>
            <p:cNvPr id="759" name="Google Shape;759;p5"/>
            <p:cNvSpPr/>
            <p:nvPr/>
          </p:nvSpPr>
          <p:spPr>
            <a:xfrm>
              <a:off x="3130923" y="4350836"/>
              <a:ext cx="2119638" cy="442564"/>
            </a:xfrm>
            <a:prstGeom prst="rect">
              <a:avLst/>
            </a:prstGeom>
            <a:solidFill>
              <a:srgbClr val="36383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Virtualization</a:t>
              </a:r>
              <a:endParaRPr/>
            </a:p>
          </p:txBody>
        </p:sp>
        <p:sp>
          <p:nvSpPr>
            <p:cNvPr id="760" name="Google Shape;760;p5"/>
            <p:cNvSpPr/>
            <p:nvPr/>
          </p:nvSpPr>
          <p:spPr>
            <a:xfrm>
              <a:off x="5327467" y="4350837"/>
              <a:ext cx="1760056" cy="1950325"/>
            </a:xfrm>
            <a:prstGeom prst="rect">
              <a:avLst/>
            </a:prstGeom>
            <a:solidFill>
              <a:srgbClr val="36383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Infrastructure as a Service</a:t>
              </a:r>
              <a:endParaRPr/>
            </a:p>
          </p:txBody>
        </p:sp>
      </p:grpSp>
      <p:sp>
        <p:nvSpPr>
          <p:cNvPr id="761" name="Google Shape;761;p5"/>
          <p:cNvSpPr/>
          <p:nvPr/>
        </p:nvSpPr>
        <p:spPr>
          <a:xfrm>
            <a:off x="2485782" y="2187172"/>
            <a:ext cx="492037" cy="1949817"/>
          </a:xfrm>
          <a:prstGeom prst="leftBrace">
            <a:avLst>
              <a:gd name="adj1" fmla="val 22848"/>
              <a:gd name="adj2" fmla="val 50000"/>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sp>
        <p:nvSpPr>
          <p:cNvPr id="762" name="Google Shape;762;p5"/>
          <p:cNvSpPr txBox="1"/>
          <p:nvPr/>
        </p:nvSpPr>
        <p:spPr>
          <a:xfrm>
            <a:off x="684550" y="2423608"/>
            <a:ext cx="1705204" cy="119950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Managed by SAP implementing open source CF</a:t>
            </a:r>
            <a:endParaRPr/>
          </a:p>
        </p:txBody>
      </p:sp>
      <p:sp>
        <p:nvSpPr>
          <p:cNvPr id="763" name="Google Shape;763;p5"/>
          <p:cNvSpPr txBox="1"/>
          <p:nvPr/>
        </p:nvSpPr>
        <p:spPr>
          <a:xfrm>
            <a:off x="684550" y="4256137"/>
            <a:ext cx="1705204" cy="1476301"/>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Managed by Infrastructure </a:t>
            </a:r>
            <a:endParaRPr/>
          </a:p>
          <a:p>
            <a:pPr marL="0" marR="0" lvl="0" indent="0" algn="r"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providers </a:t>
            </a:r>
            <a:endParaRPr/>
          </a:p>
          <a:p>
            <a:pPr marL="0" marR="0" lvl="0" indent="0" algn="r" rtl="0">
              <a:lnSpc>
                <a:spcPct val="100000"/>
              </a:lnSpc>
              <a:spcBef>
                <a:spcPts val="0"/>
              </a:spcBef>
              <a:spcAft>
                <a:spcPts val="0"/>
              </a:spcAft>
              <a:buClr>
                <a:srgbClr val="000000"/>
              </a:buClr>
              <a:buSzPts val="1799"/>
              <a:buFont typeface="Calibri"/>
              <a:buNone/>
            </a:pPr>
            <a:r>
              <a:rPr lang="en-US" sz="1799" b="0" i="0" u="sng" strike="noStrike" cap="none">
                <a:solidFill>
                  <a:srgbClr val="0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Data Centers</a:t>
            </a:r>
            <a:endParaRPr sz="1799" b="0" i="0" u="none" strike="noStrike" cap="none">
              <a:solidFill>
                <a:srgbClr val="000000"/>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799"/>
              <a:buFont typeface="Calibri"/>
              <a:buNone/>
            </a:pPr>
            <a:r>
              <a:rPr lang="en-US" sz="1799" b="0" i="0" u="sng" strike="noStrike" cap="none">
                <a:solidFill>
                  <a:srgbClr val="000000"/>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Service Portfolio</a:t>
            </a:r>
            <a:endParaRPr sz="1799" b="0" i="0" u="none" strike="noStrike" cap="none">
              <a:solidFill>
                <a:srgbClr val="000000"/>
              </a:solidFill>
              <a:latin typeface="Calibri"/>
              <a:ea typeface="Calibri"/>
              <a:cs typeface="Calibri"/>
              <a:sym typeface="Calibri"/>
            </a:endParaRPr>
          </a:p>
        </p:txBody>
      </p:sp>
      <p:grpSp>
        <p:nvGrpSpPr>
          <p:cNvPr id="764" name="Google Shape;764;p5"/>
          <p:cNvGrpSpPr/>
          <p:nvPr/>
        </p:nvGrpSpPr>
        <p:grpSpPr>
          <a:xfrm>
            <a:off x="9581155" y="2171936"/>
            <a:ext cx="2132581" cy="3938928"/>
            <a:chOff x="9581155" y="2171936"/>
            <a:chExt cx="2132581" cy="3938928"/>
          </a:xfrm>
        </p:grpSpPr>
        <p:sp>
          <p:nvSpPr>
            <p:cNvPr id="765" name="Google Shape;765;p5"/>
            <p:cNvSpPr/>
            <p:nvPr/>
          </p:nvSpPr>
          <p:spPr>
            <a:xfrm>
              <a:off x="9581155" y="2171936"/>
              <a:ext cx="2132581" cy="3938928"/>
            </a:xfrm>
            <a:prstGeom prst="rect">
              <a:avLst/>
            </a:prstGeom>
            <a:solidFill>
              <a:srgbClr val="F9F9F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1" i="0" u="none" strike="noStrike" cap="none">
                <a:solidFill>
                  <a:srgbClr val="000000"/>
                </a:solidFill>
                <a:latin typeface="Calibri"/>
                <a:ea typeface="Calibri"/>
                <a:cs typeface="Calibri"/>
                <a:sym typeface="Calibri"/>
              </a:endParaRPr>
            </a:p>
          </p:txBody>
        </p:sp>
        <p:pic>
          <p:nvPicPr>
            <p:cNvPr id="766" name="Google Shape;766;p5" descr="SAP - Wikipedia"/>
            <p:cNvPicPr preferRelativeResize="0"/>
            <p:nvPr/>
          </p:nvPicPr>
          <p:blipFill rotWithShape="1">
            <a:blip r:embed="rId6">
              <a:alphaModFix/>
            </a:blip>
            <a:srcRect/>
            <a:stretch/>
          </p:blipFill>
          <p:spPr>
            <a:xfrm>
              <a:off x="10148969" y="2509203"/>
              <a:ext cx="996953" cy="508447"/>
            </a:xfrm>
            <a:prstGeom prst="rect">
              <a:avLst/>
            </a:prstGeom>
            <a:noFill/>
            <a:ln>
              <a:noFill/>
            </a:ln>
          </p:spPr>
        </p:pic>
        <p:pic>
          <p:nvPicPr>
            <p:cNvPr id="767" name="Google Shape;767;p5" descr="StrongLoop - Deploying LoopBack mBaaS on Cloud Foundry"/>
            <p:cNvPicPr preferRelativeResize="0"/>
            <p:nvPr/>
          </p:nvPicPr>
          <p:blipFill rotWithShape="1">
            <a:blip r:embed="rId7">
              <a:alphaModFix/>
            </a:blip>
            <a:srcRect/>
            <a:stretch/>
          </p:blipFill>
          <p:spPr>
            <a:xfrm>
              <a:off x="10148969" y="3396533"/>
              <a:ext cx="996953" cy="996953"/>
            </a:xfrm>
            <a:prstGeom prst="rect">
              <a:avLst/>
            </a:prstGeom>
            <a:noFill/>
            <a:ln>
              <a:noFill/>
            </a:ln>
          </p:spPr>
        </p:pic>
        <p:pic>
          <p:nvPicPr>
            <p:cNvPr id="768" name="Google Shape;768;p5" descr="2018-11-07 Cloud Providers Comparison for IoT Applications: Amazon vs.  Microsoft vs. Google | ThingForward"/>
            <p:cNvPicPr preferRelativeResize="0"/>
            <p:nvPr/>
          </p:nvPicPr>
          <p:blipFill rotWithShape="1">
            <a:blip r:embed="rId8">
              <a:alphaModFix/>
            </a:blip>
            <a:srcRect/>
            <a:stretch/>
          </p:blipFill>
          <p:spPr>
            <a:xfrm>
              <a:off x="9707616" y="4772369"/>
              <a:ext cx="1879659" cy="1074930"/>
            </a:xfrm>
            <a:prstGeom prst="rect">
              <a:avLst/>
            </a:prstGeom>
            <a:noFill/>
            <a:ln>
              <a:noFill/>
            </a:ln>
          </p:spPr>
        </p:pic>
      </p:grpSp>
      <p:sp>
        <p:nvSpPr>
          <p:cNvPr id="769" name="Google Shape;769;p5"/>
          <p:cNvSpPr/>
          <p:nvPr/>
        </p:nvSpPr>
        <p:spPr>
          <a:xfrm>
            <a:off x="8723585" y="1430526"/>
            <a:ext cx="766418" cy="417902"/>
          </a:xfrm>
          <a:prstGeom prst="rightArrow">
            <a:avLst>
              <a:gd name="adj1" fmla="val 50000"/>
              <a:gd name="adj2" fmla="val 50000"/>
            </a:avLst>
          </a:prstGeom>
          <a:solidFill>
            <a:srgbClr val="1F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770" name="Google Shape;770;p5"/>
          <p:cNvSpPr txBox="1"/>
          <p:nvPr/>
        </p:nvSpPr>
        <p:spPr>
          <a:xfrm>
            <a:off x="7361837" y="3005701"/>
            <a:ext cx="1950212" cy="2307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Fully ready landscape with reusable services</a:t>
            </a:r>
            <a:endParaRPr/>
          </a:p>
          <a:p>
            <a:pPr marL="0" marR="0" lvl="0" indent="0" algn="l"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a:p>
            <a:pPr marL="285664" marR="0" lvl="0" indent="-285664" algn="l" rtl="0">
              <a:lnSpc>
                <a:spcPct val="100000"/>
              </a:lnSpc>
              <a:spcBef>
                <a:spcPts val="0"/>
              </a:spcBef>
              <a:spcAft>
                <a:spcPts val="0"/>
              </a:spcAft>
              <a:buClr>
                <a:srgbClr val="000000"/>
              </a:buClr>
              <a:buSzPts val="1799"/>
              <a:buFont typeface="Arial"/>
              <a:buChar char="•"/>
            </a:pPr>
            <a:r>
              <a:rPr lang="en-US" sz="1799" b="0" i="0" u="none" strike="noStrike" cap="none">
                <a:solidFill>
                  <a:srgbClr val="000000"/>
                </a:solidFill>
                <a:latin typeface="Calibri"/>
                <a:ea typeface="Calibri"/>
                <a:cs typeface="Calibri"/>
                <a:sym typeface="Calibri"/>
              </a:rPr>
              <a:t>Scalability</a:t>
            </a:r>
            <a:endParaRPr/>
          </a:p>
          <a:p>
            <a:pPr marL="285664" marR="0" lvl="0" indent="-285664" algn="l" rtl="0">
              <a:lnSpc>
                <a:spcPct val="100000"/>
              </a:lnSpc>
              <a:spcBef>
                <a:spcPts val="0"/>
              </a:spcBef>
              <a:spcAft>
                <a:spcPts val="0"/>
              </a:spcAft>
              <a:buClr>
                <a:srgbClr val="000000"/>
              </a:buClr>
              <a:buSzPts val="1799"/>
              <a:buFont typeface="Arial"/>
              <a:buChar char="•"/>
            </a:pPr>
            <a:r>
              <a:rPr lang="en-US" sz="1799" b="0" i="0" u="none" strike="noStrike" cap="none">
                <a:solidFill>
                  <a:srgbClr val="000000"/>
                </a:solidFill>
                <a:latin typeface="Calibri"/>
                <a:ea typeface="Calibri"/>
                <a:cs typeface="Calibri"/>
                <a:sym typeface="Calibri"/>
              </a:rPr>
              <a:t>Elasticity</a:t>
            </a:r>
            <a:endParaRPr/>
          </a:p>
          <a:p>
            <a:pPr marL="285664" marR="0" lvl="0" indent="-285664" algn="l" rtl="0">
              <a:lnSpc>
                <a:spcPct val="100000"/>
              </a:lnSpc>
              <a:spcBef>
                <a:spcPts val="0"/>
              </a:spcBef>
              <a:spcAft>
                <a:spcPts val="0"/>
              </a:spcAft>
              <a:buClr>
                <a:srgbClr val="000000"/>
              </a:buClr>
              <a:buSzPts val="1799"/>
              <a:buFont typeface="Arial"/>
              <a:buChar char="•"/>
            </a:pPr>
            <a:r>
              <a:rPr lang="en-US" sz="1799" b="0" i="0" u="none" strike="noStrike" cap="none">
                <a:solidFill>
                  <a:srgbClr val="000000"/>
                </a:solidFill>
                <a:latin typeface="Calibri"/>
                <a:ea typeface="Calibri"/>
                <a:cs typeface="Calibri"/>
                <a:sym typeface="Calibri"/>
              </a:rPr>
              <a:t>Low TCO</a:t>
            </a:r>
            <a:endParaRPr/>
          </a:p>
          <a:p>
            <a:pPr marL="285664" marR="0" lvl="0" indent="-171428" algn="l" rtl="0">
              <a:lnSpc>
                <a:spcPct val="100000"/>
              </a:lnSpc>
              <a:spcBef>
                <a:spcPts val="0"/>
              </a:spcBef>
              <a:spcAft>
                <a:spcPts val="0"/>
              </a:spcAft>
              <a:buClr>
                <a:schemeClr val="dk1"/>
              </a:buClr>
              <a:buSzPts val="1799"/>
              <a:buFont typeface="Arial"/>
              <a:buNone/>
            </a:pPr>
            <a:endParaRPr sz="1799" b="0" i="0" u="none" strike="noStrike" cap="none">
              <a:solidFill>
                <a:srgbClr val="000000"/>
              </a:solidFill>
              <a:latin typeface="Calibri"/>
              <a:ea typeface="Calibri"/>
              <a:cs typeface="Calibri"/>
              <a:sym typeface="Calibri"/>
            </a:endParaRPr>
          </a:p>
        </p:txBody>
      </p:sp>
      <p:sp>
        <p:nvSpPr>
          <p:cNvPr id="771" name="Google Shape;771;p5"/>
          <p:cNvSpPr/>
          <p:nvPr/>
        </p:nvSpPr>
        <p:spPr>
          <a:xfrm>
            <a:off x="2485782" y="4158164"/>
            <a:ext cx="492037" cy="1949817"/>
          </a:xfrm>
          <a:prstGeom prst="leftBrace">
            <a:avLst>
              <a:gd name="adj1" fmla="val 22848"/>
              <a:gd name="adj2" fmla="val 50000"/>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sp>
        <p:nvSpPr>
          <p:cNvPr id="772" name="Google Shape;772;p5"/>
          <p:cNvSpPr/>
          <p:nvPr/>
        </p:nvSpPr>
        <p:spPr>
          <a:xfrm>
            <a:off x="9024087" y="2159988"/>
            <a:ext cx="492037" cy="3947992"/>
          </a:xfrm>
          <a:prstGeom prst="leftBrace">
            <a:avLst>
              <a:gd name="adj1" fmla="val 22848"/>
              <a:gd name="adj2" fmla="val 50000"/>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grpSp>
        <p:nvGrpSpPr>
          <p:cNvPr id="773" name="Google Shape;773;p5"/>
          <p:cNvGrpSpPr/>
          <p:nvPr/>
        </p:nvGrpSpPr>
        <p:grpSpPr>
          <a:xfrm>
            <a:off x="9594649" y="1167025"/>
            <a:ext cx="2119086" cy="944905"/>
            <a:chOff x="9658109" y="1335315"/>
            <a:chExt cx="2119638" cy="945151"/>
          </a:xfrm>
        </p:grpSpPr>
        <p:sp>
          <p:nvSpPr>
            <p:cNvPr id="774" name="Google Shape;774;p5"/>
            <p:cNvSpPr/>
            <p:nvPr/>
          </p:nvSpPr>
          <p:spPr>
            <a:xfrm>
              <a:off x="9658109" y="1837902"/>
              <a:ext cx="2119638" cy="44256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Data</a:t>
              </a:r>
              <a:endParaRPr/>
            </a:p>
          </p:txBody>
        </p:sp>
        <p:sp>
          <p:nvSpPr>
            <p:cNvPr id="775" name="Google Shape;775;p5"/>
            <p:cNvSpPr/>
            <p:nvPr/>
          </p:nvSpPr>
          <p:spPr>
            <a:xfrm>
              <a:off x="9658109" y="1335315"/>
              <a:ext cx="2119638" cy="44256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Application</a:t>
              </a:r>
              <a:endParaRPr/>
            </a:p>
          </p:txBody>
        </p:sp>
      </p:grpSp>
      <p:pic>
        <p:nvPicPr>
          <p:cNvPr id="776" name="Google Shape;776;p5" descr="Developer Icon of Flat style - Available in SVG, PNG, EPS, AI &amp; Icon fonts"/>
          <p:cNvPicPr preferRelativeResize="0"/>
          <p:nvPr/>
        </p:nvPicPr>
        <p:blipFill rotWithShape="1">
          <a:blip r:embed="rId9">
            <a:alphaModFix/>
          </a:blip>
          <a:srcRect/>
          <a:stretch/>
        </p:blipFill>
        <p:spPr>
          <a:xfrm>
            <a:off x="7302620" y="999890"/>
            <a:ext cx="1264262" cy="12642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5"/>
                                        </p:tgtEl>
                                        <p:attrNameLst>
                                          <p:attrName>style.visibility</p:attrName>
                                        </p:attrNameLst>
                                      </p:cBhvr>
                                      <p:to>
                                        <p:strVal val="visible"/>
                                      </p:to>
                                    </p:set>
                                    <p:anim calcmode="lin" valueType="num">
                                      <p:cBhvr additive="base">
                                        <p:cTn id="7" dur="500"/>
                                        <p:tgtEl>
                                          <p:spTgt spid="755"/>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49"/>
                                        </p:tgtEl>
                                        <p:attrNameLst>
                                          <p:attrName>style.visibility</p:attrName>
                                        </p:attrNameLst>
                                      </p:cBhvr>
                                      <p:to>
                                        <p:strVal val="visible"/>
                                      </p:to>
                                    </p:set>
                                    <p:anim calcmode="lin" valueType="num">
                                      <p:cBhvr additive="base">
                                        <p:cTn id="12" dur="500"/>
                                        <p:tgtEl>
                                          <p:spTgt spid="749"/>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46"/>
                                        </p:tgtEl>
                                        <p:attrNameLst>
                                          <p:attrName>style.visibility</p:attrName>
                                        </p:attrNameLst>
                                      </p:cBhvr>
                                      <p:to>
                                        <p:strVal val="visible"/>
                                      </p:to>
                                    </p:set>
                                    <p:anim calcmode="lin" valueType="num">
                                      <p:cBhvr additive="base">
                                        <p:cTn id="17" dur="500"/>
                                        <p:tgtEl>
                                          <p:spTgt spid="746"/>
                                        </p:tgtEl>
                                        <p:attrNameLst>
                                          <p:attrName>ppt_y</p:attrName>
                                        </p:attrNameLst>
                                      </p:cBhvr>
                                      <p:tavLst>
                                        <p:tav tm="0">
                                          <p:val>
                                            <p:strVal val="#ppt_y+1"/>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771"/>
                                        </p:tgtEl>
                                        <p:attrNameLst>
                                          <p:attrName>style.visibility</p:attrName>
                                        </p:attrNameLst>
                                      </p:cBhvr>
                                      <p:to>
                                        <p:strVal val="visible"/>
                                      </p:to>
                                    </p:set>
                                    <p:anim calcmode="lin" valueType="num">
                                      <p:cBhvr additive="base">
                                        <p:cTn id="20" dur="500"/>
                                        <p:tgtEl>
                                          <p:spTgt spid="771"/>
                                        </p:tgtEl>
                                        <p:attrNameLst>
                                          <p:attrName>ppt_y</p:attrName>
                                        </p:attrNameLst>
                                      </p:cBhvr>
                                      <p:tavLst>
                                        <p:tav tm="0">
                                          <p:val>
                                            <p:strVal val="#ppt_y+1"/>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63"/>
                                        </p:tgtEl>
                                        <p:attrNameLst>
                                          <p:attrName>style.visibility</p:attrName>
                                        </p:attrNameLst>
                                      </p:cBhvr>
                                      <p:to>
                                        <p:strVal val="visible"/>
                                      </p:to>
                                    </p:set>
                                    <p:anim calcmode="lin" valueType="num">
                                      <p:cBhvr additive="base">
                                        <p:cTn id="23" dur="500"/>
                                        <p:tgtEl>
                                          <p:spTgt spid="763"/>
                                        </p:tgtEl>
                                        <p:attrNameLst>
                                          <p:attrName>ppt_y</p:attrName>
                                        </p:attrNameLst>
                                      </p:cBhvr>
                                      <p:tavLst>
                                        <p:tav tm="0">
                                          <p:val>
                                            <p:strVal val="#ppt_y+1"/>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761"/>
                                        </p:tgtEl>
                                        <p:attrNameLst>
                                          <p:attrName>style.visibility</p:attrName>
                                        </p:attrNameLst>
                                      </p:cBhvr>
                                      <p:to>
                                        <p:strVal val="visible"/>
                                      </p:to>
                                    </p:set>
                                    <p:anim calcmode="lin" valueType="num">
                                      <p:cBhvr additive="base">
                                        <p:cTn id="26" dur="500"/>
                                        <p:tgtEl>
                                          <p:spTgt spid="761"/>
                                        </p:tgtEl>
                                        <p:attrNameLst>
                                          <p:attrName>ppt_y</p:attrName>
                                        </p:attrNameLst>
                                      </p:cBhvr>
                                      <p:tavLst>
                                        <p:tav tm="0">
                                          <p:val>
                                            <p:strVal val="#ppt_y+1"/>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62"/>
                                        </p:tgtEl>
                                        <p:attrNameLst>
                                          <p:attrName>style.visibility</p:attrName>
                                        </p:attrNameLst>
                                      </p:cBhvr>
                                      <p:to>
                                        <p:strVal val="visible"/>
                                      </p:to>
                                    </p:set>
                                    <p:anim calcmode="lin" valueType="num">
                                      <p:cBhvr additive="base">
                                        <p:cTn id="29" dur="500"/>
                                        <p:tgtEl>
                                          <p:spTgt spid="762"/>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77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772"/>
                                        </p:tgtEl>
                                        <p:attrNameLst>
                                          <p:attrName>style.visibility</p:attrName>
                                        </p:attrNameLst>
                                      </p:cBhvr>
                                      <p:to>
                                        <p:strVal val="visible"/>
                                      </p:to>
                                    </p:set>
                                  </p:childTnLst>
                                </p:cTn>
                              </p:par>
                              <p:par>
                                <p:cTn id="36" presetID="2" presetClass="entr" presetSubtype="4" fill="hold" nodeType="withEffect">
                                  <p:stCondLst>
                                    <p:cond delay="0"/>
                                  </p:stCondLst>
                                  <p:childTnLst>
                                    <p:set>
                                      <p:cBhvr>
                                        <p:cTn id="37" dur="1" fill="hold">
                                          <p:stCondLst>
                                            <p:cond delay="0"/>
                                          </p:stCondLst>
                                        </p:cTn>
                                        <p:tgtEl>
                                          <p:spTgt spid="764"/>
                                        </p:tgtEl>
                                        <p:attrNameLst>
                                          <p:attrName>style.visibility</p:attrName>
                                        </p:attrNameLst>
                                      </p:cBhvr>
                                      <p:to>
                                        <p:strVal val="visible"/>
                                      </p:to>
                                    </p:set>
                                    <p:anim calcmode="lin" valueType="num">
                                      <p:cBhvr additive="base">
                                        <p:cTn id="38" dur="500"/>
                                        <p:tgtEl>
                                          <p:spTgt spid="764"/>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73"/>
                                        </p:tgtEl>
                                        <p:attrNameLst>
                                          <p:attrName>style.visibility</p:attrName>
                                        </p:attrNameLst>
                                      </p:cBhvr>
                                      <p:to>
                                        <p:strVal val="visible"/>
                                      </p:to>
                                    </p:set>
                                    <p:animEffect transition="in" filter="fade">
                                      <p:cBhvr>
                                        <p:cTn id="43" dur="1000"/>
                                        <p:tgtEl>
                                          <p:spTgt spid="773"/>
                                        </p:tgtEl>
                                      </p:cBhvr>
                                    </p:animEffect>
                                  </p:childTnLst>
                                </p:cTn>
                              </p:par>
                              <p:par>
                                <p:cTn id="44" presetID="10" presetClass="entr" presetSubtype="0" fill="hold" nodeType="withEffect">
                                  <p:stCondLst>
                                    <p:cond delay="0"/>
                                  </p:stCondLst>
                                  <p:childTnLst>
                                    <p:set>
                                      <p:cBhvr>
                                        <p:cTn id="45" dur="1" fill="hold">
                                          <p:stCondLst>
                                            <p:cond delay="0"/>
                                          </p:stCondLst>
                                        </p:cTn>
                                        <p:tgtEl>
                                          <p:spTgt spid="769"/>
                                        </p:tgtEl>
                                        <p:attrNameLst>
                                          <p:attrName>style.visibility</p:attrName>
                                        </p:attrNameLst>
                                      </p:cBhvr>
                                      <p:to>
                                        <p:strVal val="visible"/>
                                      </p:to>
                                    </p:set>
                                    <p:animEffect transition="in" filter="fade">
                                      <p:cBhvr>
                                        <p:cTn id="46" dur="1000"/>
                                        <p:tgtEl>
                                          <p:spTgt spid="7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1"/>
        <p:cNvGrpSpPr/>
        <p:nvPr/>
      </p:nvGrpSpPr>
      <p:grpSpPr>
        <a:xfrm>
          <a:off x="0" y="0"/>
          <a:ext cx="0" cy="0"/>
          <a:chOff x="0" y="0"/>
          <a:chExt cx="0" cy="0"/>
        </a:xfrm>
      </p:grpSpPr>
      <p:sp>
        <p:nvSpPr>
          <p:cNvPr id="782" name="Google Shape;782;p6" descr="Freeform: Shape 17"/>
          <p:cNvSpPr/>
          <p:nvPr/>
        </p:nvSpPr>
        <p:spPr>
          <a:xfrm>
            <a:off x="7457720" y="2668786"/>
            <a:ext cx="4729518" cy="4188321"/>
          </a:xfrm>
          <a:custGeom>
            <a:avLst/>
            <a:gdLst/>
            <a:ahLst/>
            <a:cxnLst/>
            <a:rect l="l" t="t" r="r" b="b"/>
            <a:pathLst>
              <a:path w="21600" h="21600" extrusionOk="0">
                <a:moveTo>
                  <a:pt x="20350" y="0"/>
                </a:moveTo>
                <a:cubicBezTo>
                  <a:pt x="20702" y="0"/>
                  <a:pt x="21052" y="10"/>
                  <a:pt x="21400" y="30"/>
                </a:cubicBezTo>
                <a:lnTo>
                  <a:pt x="21600" y="47"/>
                </a:lnTo>
                <a:lnTo>
                  <a:pt x="21600" y="21600"/>
                </a:lnTo>
                <a:lnTo>
                  <a:pt x="0" y="21600"/>
                </a:lnTo>
                <a:lnTo>
                  <a:pt x="62" y="20679"/>
                </a:lnTo>
                <a:cubicBezTo>
                  <a:pt x="1106" y="9064"/>
                  <a:pt x="9791" y="0"/>
                  <a:pt x="20350" y="0"/>
                </a:cubicBezTo>
                <a:close/>
              </a:path>
            </a:pathLst>
          </a:custGeom>
          <a:gradFill>
            <a:gsLst>
              <a:gs pos="0">
                <a:schemeClr val="accent1"/>
              </a:gs>
              <a:gs pos="50000">
                <a:schemeClr val="accent2"/>
              </a:gs>
              <a:gs pos="100000">
                <a:schemeClr val="accent4"/>
              </a:gs>
            </a:gsLst>
            <a:lin ang="2700000" scaled="0"/>
          </a:gra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endParaRPr sz="1799">
              <a:solidFill>
                <a:srgbClr val="FFFFFF"/>
              </a:solidFill>
              <a:latin typeface="Calibri"/>
              <a:ea typeface="Calibri"/>
              <a:cs typeface="Calibri"/>
              <a:sym typeface="Calibri"/>
            </a:endParaRPr>
          </a:p>
        </p:txBody>
      </p:sp>
      <p:pic>
        <p:nvPicPr>
          <p:cNvPr id="783" name="Google Shape;783;p6"/>
          <p:cNvPicPr preferRelativeResize="0"/>
          <p:nvPr/>
        </p:nvPicPr>
        <p:blipFill rotWithShape="1">
          <a:blip r:embed="rId3">
            <a:alphaModFix/>
          </a:blip>
          <a:srcRect/>
          <a:stretch/>
        </p:blipFill>
        <p:spPr>
          <a:xfrm>
            <a:off x="6094413" y="513523"/>
            <a:ext cx="6213152" cy="8183274"/>
          </a:xfrm>
          <a:prstGeom prst="rect">
            <a:avLst/>
          </a:prstGeom>
          <a:noFill/>
          <a:ln>
            <a:noFill/>
          </a:ln>
        </p:spPr>
      </p:pic>
      <p:sp>
        <p:nvSpPr>
          <p:cNvPr id="784" name="Google Shape;784;p6" descr="TextBox 13"/>
          <p:cNvSpPr txBox="1"/>
          <p:nvPr/>
        </p:nvSpPr>
        <p:spPr>
          <a:xfrm>
            <a:off x="904094" y="402675"/>
            <a:ext cx="5737318" cy="147732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a:solidFill>
                  <a:srgbClr val="078EDA"/>
                </a:solidFill>
                <a:latin typeface="Quattrocento Sans"/>
                <a:ea typeface="Quattrocento Sans"/>
                <a:cs typeface="Quattrocento Sans"/>
                <a:sym typeface="Quattrocento Sans"/>
              </a:rPr>
              <a:t>Career Prospects</a:t>
            </a:r>
            <a:r>
              <a:rPr lang="en-US" sz="4800" b="1">
                <a:solidFill>
                  <a:srgbClr val="078EDA"/>
                </a:solidFill>
                <a:latin typeface="Quattrocento Sans"/>
                <a:ea typeface="Quattrocento Sans"/>
                <a:cs typeface="Quattrocento Sans"/>
                <a:sym typeface="Quattrocento Sans"/>
              </a:rPr>
              <a:t> </a:t>
            </a:r>
            <a:br>
              <a:rPr lang="en-US" sz="4800" b="1">
                <a:solidFill>
                  <a:srgbClr val="078EDA"/>
                </a:solidFill>
                <a:latin typeface="Quattrocento Sans"/>
                <a:ea typeface="Quattrocento Sans"/>
                <a:cs typeface="Quattrocento Sans"/>
                <a:sym typeface="Quattrocento Sans"/>
              </a:rPr>
            </a:br>
            <a:r>
              <a:rPr lang="en-US" sz="3600" b="1">
                <a:solidFill>
                  <a:srgbClr val="000000"/>
                </a:solidFill>
                <a:latin typeface="Quattrocento Sans"/>
                <a:ea typeface="Quattrocento Sans"/>
                <a:cs typeface="Quattrocento Sans"/>
                <a:sym typeface="Quattrocento Sans"/>
              </a:rPr>
              <a:t>Grow your career</a:t>
            </a:r>
            <a:endParaRPr sz="4800" b="1">
              <a:solidFill>
                <a:srgbClr val="000000"/>
              </a:solidFill>
              <a:latin typeface="Quattrocento Sans"/>
              <a:ea typeface="Quattrocento Sans"/>
              <a:cs typeface="Quattrocento Sans"/>
              <a:sym typeface="Quattrocento Sans"/>
            </a:endParaRPr>
          </a:p>
        </p:txBody>
      </p:sp>
      <p:sp>
        <p:nvSpPr>
          <p:cNvPr id="785" name="Google Shape;785;p6" descr="TextBox 15"/>
          <p:cNvSpPr txBox="1"/>
          <p:nvPr/>
        </p:nvSpPr>
        <p:spPr>
          <a:xfrm>
            <a:off x="2531564" y="4388800"/>
            <a:ext cx="1821975" cy="27692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799">
                <a:solidFill>
                  <a:srgbClr val="FFFFFF"/>
                </a:solidFill>
                <a:latin typeface="Quattrocento Sans"/>
                <a:ea typeface="Quattrocento Sans"/>
                <a:cs typeface="Quattrocento Sans"/>
                <a:sym typeface="Quattrocento Sans"/>
              </a:rPr>
              <a:t>Join the course</a:t>
            </a:r>
            <a:endParaRPr/>
          </a:p>
        </p:txBody>
      </p:sp>
      <p:pic>
        <p:nvPicPr>
          <p:cNvPr id="786" name="Google Shape;786;p6" descr="Graphic 16"/>
          <p:cNvPicPr preferRelativeResize="0"/>
          <p:nvPr/>
        </p:nvPicPr>
        <p:blipFill rotWithShape="1">
          <a:blip r:embed="rId4">
            <a:alphaModFix/>
          </a:blip>
          <a:srcRect/>
          <a:stretch/>
        </p:blipFill>
        <p:spPr>
          <a:xfrm flipH="1">
            <a:off x="4426546" y="4360620"/>
            <a:ext cx="333288" cy="333288"/>
          </a:xfrm>
          <a:prstGeom prst="rect">
            <a:avLst/>
          </a:prstGeom>
          <a:noFill/>
          <a:ln>
            <a:noFill/>
          </a:ln>
        </p:spPr>
      </p:pic>
      <p:cxnSp>
        <p:nvCxnSpPr>
          <p:cNvPr id="787" name="Google Shape;787;p6" descr="Straight Connector 18"/>
          <p:cNvCxnSpPr/>
          <p:nvPr/>
        </p:nvCxnSpPr>
        <p:spPr>
          <a:xfrm>
            <a:off x="4759834" y="512568"/>
            <a:ext cx="904639" cy="0"/>
          </a:xfrm>
          <a:prstGeom prst="straightConnector1">
            <a:avLst/>
          </a:prstGeom>
          <a:noFill/>
          <a:ln w="25400" cap="flat" cmpd="sng">
            <a:solidFill>
              <a:schemeClr val="accent1"/>
            </a:solidFill>
            <a:prstDash val="solid"/>
            <a:round/>
            <a:headEnd type="none" w="sm" len="sm"/>
            <a:tailEnd type="none" w="sm" len="sm"/>
          </a:ln>
        </p:spPr>
      </p:cxnSp>
      <p:sp>
        <p:nvSpPr>
          <p:cNvPr id="788" name="Google Shape;788;p6" descr="Oval 6"/>
          <p:cNvSpPr/>
          <p:nvPr/>
        </p:nvSpPr>
        <p:spPr>
          <a:xfrm>
            <a:off x="6394372" y="4977997"/>
            <a:ext cx="542784" cy="541197"/>
          </a:xfrm>
          <a:prstGeom prst="ellipse">
            <a:avLst/>
          </a:prstGeom>
          <a:gradFill>
            <a:gsLst>
              <a:gs pos="0">
                <a:schemeClr val="accent1"/>
              </a:gs>
              <a:gs pos="50000">
                <a:schemeClr val="accent2"/>
              </a:gs>
              <a:gs pos="100000">
                <a:schemeClr val="accent4"/>
              </a:gs>
            </a:gsLst>
            <a:lin ang="2700000" scaled="0"/>
          </a:gra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endParaRPr sz="1799">
              <a:solidFill>
                <a:srgbClr val="FFFFFF"/>
              </a:solidFill>
              <a:latin typeface="Calibri"/>
              <a:ea typeface="Calibri"/>
              <a:cs typeface="Calibri"/>
              <a:sym typeface="Calibri"/>
            </a:endParaRPr>
          </a:p>
        </p:txBody>
      </p:sp>
      <p:sp>
        <p:nvSpPr>
          <p:cNvPr id="789" name="Google Shape;789;p6" descr="Oval 7"/>
          <p:cNvSpPr/>
          <p:nvPr/>
        </p:nvSpPr>
        <p:spPr>
          <a:xfrm>
            <a:off x="7765615" y="1949835"/>
            <a:ext cx="361856" cy="361856"/>
          </a:xfrm>
          <a:prstGeom prst="ellipse">
            <a:avLst/>
          </a:prstGeom>
          <a:gradFill>
            <a:gsLst>
              <a:gs pos="0">
                <a:schemeClr val="accent1"/>
              </a:gs>
              <a:gs pos="50000">
                <a:schemeClr val="accent2"/>
              </a:gs>
              <a:gs pos="100000">
                <a:schemeClr val="accent4"/>
              </a:gs>
            </a:gsLst>
            <a:lin ang="2700000" scaled="0"/>
          </a:gra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endParaRPr sz="1799">
              <a:solidFill>
                <a:srgbClr val="FFFFFF"/>
              </a:solidFill>
              <a:latin typeface="Calibri"/>
              <a:ea typeface="Calibri"/>
              <a:cs typeface="Calibri"/>
              <a:sym typeface="Calibri"/>
            </a:endParaRPr>
          </a:p>
        </p:txBody>
      </p:sp>
      <p:sp>
        <p:nvSpPr>
          <p:cNvPr id="790" name="Google Shape;790;p6"/>
          <p:cNvSpPr txBox="1"/>
          <p:nvPr/>
        </p:nvSpPr>
        <p:spPr>
          <a:xfrm>
            <a:off x="922874" y="1989896"/>
            <a:ext cx="5556544" cy="4431983"/>
          </a:xfrm>
          <a:prstGeom prst="rect">
            <a:avLst/>
          </a:prstGeom>
          <a:noFill/>
          <a:ln>
            <a:noFill/>
          </a:ln>
        </p:spPr>
        <p:txBody>
          <a:bodyPr spcFirstLastPara="1" wrap="square" lIns="0" tIns="0" rIns="0" bIns="0" anchor="t" anchorCtr="0">
            <a:spAutoFit/>
          </a:bodyPr>
          <a:lstStyle/>
          <a:p>
            <a:pPr marL="171450" marR="0" lvl="0" indent="-171450" algn="l" rtl="0">
              <a:spcBef>
                <a:spcPts val="0"/>
              </a:spcBef>
              <a:spcAft>
                <a:spcPts val="0"/>
              </a:spcAft>
              <a:buClr>
                <a:srgbClr val="000000"/>
              </a:buClr>
              <a:buSzPts val="900"/>
              <a:buFont typeface="Arial"/>
              <a:buChar char="•"/>
            </a:pPr>
            <a:r>
              <a:rPr lang="en-US" sz="900" b="1">
                <a:solidFill>
                  <a:srgbClr val="000000"/>
                </a:solidFill>
                <a:latin typeface="Arial"/>
                <a:ea typeface="Arial"/>
                <a:cs typeface="Arial"/>
                <a:sym typeface="Arial"/>
              </a:rPr>
              <a:t>Market Demand Explosion: The SAP Cloud market is expected to exceed $150 billion by 2030, with SAP BTP enabling enterprise cloud solutions for over 400,000 companies worldwide. This represents massive career opportunities for skilled professionals.</a:t>
            </a:r>
            <a:endParaRPr/>
          </a:p>
          <a:p>
            <a:pPr marL="171450" marR="0" lvl="0" indent="-114300" algn="l" rtl="0">
              <a:spcBef>
                <a:spcPts val="0"/>
              </a:spcBef>
              <a:spcAft>
                <a:spcPts val="0"/>
              </a:spcAft>
              <a:buClr>
                <a:schemeClr val="dk1"/>
              </a:buClr>
              <a:buSzPts val="900"/>
              <a:buFont typeface="Arial"/>
              <a:buNone/>
            </a:pPr>
            <a:endParaRPr sz="900" b="1">
              <a:solidFill>
                <a:srgbClr val="000000"/>
              </a:solidFill>
              <a:latin typeface="Arial"/>
              <a:ea typeface="Arial"/>
              <a:cs typeface="Arial"/>
              <a:sym typeface="Arial"/>
            </a:endParaRPr>
          </a:p>
          <a:p>
            <a:pPr marL="171450" marR="0" lvl="0" indent="-171450" algn="l" rtl="0">
              <a:spcBef>
                <a:spcPts val="0"/>
              </a:spcBef>
              <a:spcAft>
                <a:spcPts val="0"/>
              </a:spcAft>
              <a:buClr>
                <a:srgbClr val="000000"/>
              </a:buClr>
              <a:buSzPts val="900"/>
              <a:buFont typeface="Arial"/>
              <a:buChar char="•"/>
            </a:pPr>
            <a:r>
              <a:rPr lang="en-US" sz="900" b="1">
                <a:solidFill>
                  <a:srgbClr val="000000"/>
                </a:solidFill>
                <a:latin typeface="Arial"/>
                <a:ea typeface="Arial"/>
                <a:cs typeface="Arial"/>
                <a:sym typeface="Arial"/>
              </a:rPr>
              <a:t>Hot Job Roles: Companies like Mercedes-Benz, Big 4 consulting firms, Fortune 500 enterprises, and SAP partners are actively recruiting BTP CAPM developers. Roles include Cloud Application Developer, BTP Integration Architect, SAP Extension Specialist, and Full-Stack BTP Developer.</a:t>
            </a:r>
            <a:endParaRPr/>
          </a:p>
          <a:p>
            <a:pPr marL="171450" marR="0" lvl="0" indent="-114300" algn="l" rtl="0">
              <a:spcBef>
                <a:spcPts val="0"/>
              </a:spcBef>
              <a:spcAft>
                <a:spcPts val="0"/>
              </a:spcAft>
              <a:buClr>
                <a:schemeClr val="dk1"/>
              </a:buClr>
              <a:buSzPts val="900"/>
              <a:buFont typeface="Arial"/>
              <a:buNone/>
            </a:pPr>
            <a:endParaRPr sz="900" b="1">
              <a:solidFill>
                <a:srgbClr val="000000"/>
              </a:solidFill>
              <a:latin typeface="Arial"/>
              <a:ea typeface="Arial"/>
              <a:cs typeface="Arial"/>
              <a:sym typeface="Arial"/>
            </a:endParaRPr>
          </a:p>
          <a:p>
            <a:pPr marL="171450" marR="0" lvl="0" indent="-171450" algn="l" rtl="0">
              <a:spcBef>
                <a:spcPts val="0"/>
              </a:spcBef>
              <a:spcAft>
                <a:spcPts val="0"/>
              </a:spcAft>
              <a:buClr>
                <a:srgbClr val="000000"/>
              </a:buClr>
              <a:buSzPts val="900"/>
              <a:buFont typeface="Arial"/>
              <a:buChar char="•"/>
            </a:pPr>
            <a:r>
              <a:rPr lang="en-US" sz="900" b="1">
                <a:solidFill>
                  <a:srgbClr val="000000"/>
                </a:solidFill>
                <a:latin typeface="Arial"/>
                <a:ea typeface="Arial"/>
                <a:cs typeface="Arial"/>
                <a:sym typeface="Arial"/>
              </a:rPr>
              <a:t>Cutting-Edge Technology Stack: Learning BTP CAPM means mastering Node.js, CDS (Core Data Services), SAP Fiori/UI5, Cloud Foundry, PostgreSQL, microservices architecture, and CI/CD pipelines—skills that position you at the forefront of enterprise cloud development.</a:t>
            </a:r>
            <a:endParaRPr/>
          </a:p>
          <a:p>
            <a:pPr marL="171450" marR="0" lvl="0" indent="-114300" algn="l" rtl="0">
              <a:spcBef>
                <a:spcPts val="0"/>
              </a:spcBef>
              <a:spcAft>
                <a:spcPts val="0"/>
              </a:spcAft>
              <a:buClr>
                <a:schemeClr val="dk1"/>
              </a:buClr>
              <a:buSzPts val="900"/>
              <a:buFont typeface="Arial"/>
              <a:buNone/>
            </a:pPr>
            <a:endParaRPr sz="900" b="1">
              <a:solidFill>
                <a:srgbClr val="000000"/>
              </a:solidFill>
              <a:latin typeface="Arial"/>
              <a:ea typeface="Arial"/>
              <a:cs typeface="Arial"/>
              <a:sym typeface="Arial"/>
            </a:endParaRPr>
          </a:p>
          <a:p>
            <a:pPr marL="171450" marR="0" lvl="0" indent="-171450" algn="l" rtl="0">
              <a:spcBef>
                <a:spcPts val="0"/>
              </a:spcBef>
              <a:spcAft>
                <a:spcPts val="0"/>
              </a:spcAft>
              <a:buClr>
                <a:srgbClr val="000000"/>
              </a:buClr>
              <a:buSzPts val="900"/>
              <a:buFont typeface="Arial"/>
              <a:buChar char="•"/>
            </a:pPr>
            <a:r>
              <a:rPr lang="en-US" sz="900" b="1">
                <a:solidFill>
                  <a:srgbClr val="000000"/>
                </a:solidFill>
                <a:latin typeface="Arial"/>
                <a:ea typeface="Arial"/>
                <a:cs typeface="Arial"/>
                <a:sym typeface="Arial"/>
              </a:rPr>
              <a:t>Future-Proof Career: Digital transformation initiatives across finance, manufacturing, healthcare, and technology sectors are driving unprecedented demand for BTP expertise, making this skillset resilient to market fluctuations.</a:t>
            </a:r>
            <a:endParaRPr/>
          </a:p>
          <a:p>
            <a:pPr marL="171450" marR="0" lvl="0" indent="-114300" algn="l" rtl="0">
              <a:spcBef>
                <a:spcPts val="0"/>
              </a:spcBef>
              <a:spcAft>
                <a:spcPts val="0"/>
              </a:spcAft>
              <a:buClr>
                <a:schemeClr val="dk1"/>
              </a:buClr>
              <a:buSzPts val="900"/>
              <a:buFont typeface="Arial"/>
              <a:buNone/>
            </a:pPr>
            <a:endParaRPr sz="900" b="1">
              <a:solidFill>
                <a:srgbClr val="000000"/>
              </a:solidFill>
              <a:latin typeface="Arial"/>
              <a:ea typeface="Arial"/>
              <a:cs typeface="Arial"/>
              <a:sym typeface="Arial"/>
            </a:endParaRPr>
          </a:p>
          <a:p>
            <a:pPr marL="171450" marR="0" lvl="0" indent="-171450" algn="l" rtl="0">
              <a:spcBef>
                <a:spcPts val="0"/>
              </a:spcBef>
              <a:spcAft>
                <a:spcPts val="0"/>
              </a:spcAft>
              <a:buClr>
                <a:srgbClr val="000000"/>
              </a:buClr>
              <a:buSzPts val="900"/>
              <a:buFont typeface="Arial"/>
              <a:buChar char="•"/>
            </a:pPr>
            <a:r>
              <a:rPr lang="en-US" sz="900" b="1">
                <a:solidFill>
                  <a:srgbClr val="000000"/>
                </a:solidFill>
                <a:latin typeface="Arial"/>
                <a:ea typeface="Arial"/>
                <a:cs typeface="Arial"/>
                <a:sym typeface="Arial"/>
              </a:rPr>
              <a:t>Niche Specialization Advantage: BTP CAP Development proficiency is essential for organizations aiming for a connected landscape, and there's a shortage of professionals with specialized BTP skills, giving you a competitive edge.</a:t>
            </a:r>
            <a:endParaRPr/>
          </a:p>
          <a:p>
            <a:pPr marL="171450" marR="0" lvl="0" indent="-114300" algn="l" rtl="0">
              <a:spcBef>
                <a:spcPts val="0"/>
              </a:spcBef>
              <a:spcAft>
                <a:spcPts val="0"/>
              </a:spcAft>
              <a:buClr>
                <a:schemeClr val="dk1"/>
              </a:buClr>
              <a:buSzPts val="900"/>
              <a:buFont typeface="Arial"/>
              <a:buNone/>
            </a:pPr>
            <a:endParaRPr sz="900" b="1">
              <a:solidFill>
                <a:srgbClr val="000000"/>
              </a:solidFill>
              <a:latin typeface="Arial"/>
              <a:ea typeface="Arial"/>
              <a:cs typeface="Arial"/>
              <a:sym typeface="Arial"/>
            </a:endParaRPr>
          </a:p>
          <a:p>
            <a:pPr marL="0" marR="0" lvl="0" indent="0" algn="l" rtl="0">
              <a:spcBef>
                <a:spcPts val="0"/>
              </a:spcBef>
              <a:spcAft>
                <a:spcPts val="0"/>
              </a:spcAft>
              <a:buNone/>
            </a:pPr>
            <a:r>
              <a:rPr lang="en-US" sz="900" b="1" u="sng">
                <a:solidFill>
                  <a:srgbClr val="000000"/>
                </a:solidFill>
                <a:latin typeface="Arial"/>
                <a:ea typeface="Arial"/>
                <a:cs typeface="Arial"/>
                <a:sym typeface="Arial"/>
              </a:rPr>
              <a:t>Salary Insights &amp; Increments</a:t>
            </a:r>
            <a:endParaRPr/>
          </a:p>
          <a:p>
            <a:pPr marL="171450" marR="0" lvl="0" indent="-114300" algn="l" rtl="0">
              <a:spcBef>
                <a:spcPts val="0"/>
              </a:spcBef>
              <a:spcAft>
                <a:spcPts val="0"/>
              </a:spcAft>
              <a:buClr>
                <a:schemeClr val="dk1"/>
              </a:buClr>
              <a:buSzPts val="900"/>
              <a:buFont typeface="Arial"/>
              <a:buNone/>
            </a:pPr>
            <a:endParaRPr sz="900" b="1">
              <a:solidFill>
                <a:srgbClr val="000000"/>
              </a:solidFill>
              <a:latin typeface="Arial"/>
              <a:ea typeface="Arial"/>
              <a:cs typeface="Arial"/>
              <a:sym typeface="Arial"/>
            </a:endParaRPr>
          </a:p>
          <a:p>
            <a:pPr marL="171450" marR="0" lvl="0" indent="-171450" algn="l" rtl="0">
              <a:spcBef>
                <a:spcPts val="0"/>
              </a:spcBef>
              <a:spcAft>
                <a:spcPts val="0"/>
              </a:spcAft>
              <a:buClr>
                <a:srgbClr val="000000"/>
              </a:buClr>
              <a:buSzPts val="900"/>
              <a:buFont typeface="Arial"/>
              <a:buChar char="•"/>
            </a:pPr>
            <a:r>
              <a:rPr lang="en-US" sz="900" b="1">
                <a:solidFill>
                  <a:srgbClr val="000000"/>
                </a:solidFill>
                <a:latin typeface="Arial"/>
                <a:ea typeface="Arial"/>
                <a:cs typeface="Arial"/>
                <a:sym typeface="Arial"/>
              </a:rPr>
              <a:t>US Market - Impressive Ranges: The average annual salary for SAP BTP professionals in the United States is $148,509, with the majority earning between $130,500 (25th percentile) to $173,500 (75th percentile). Top earners make $186,500 annually (90th percentile).</a:t>
            </a:r>
            <a:endParaRPr/>
          </a:p>
          <a:p>
            <a:pPr marL="171450" marR="0" lvl="0" indent="-114300" algn="l" rtl="0">
              <a:spcBef>
                <a:spcPts val="0"/>
              </a:spcBef>
              <a:spcAft>
                <a:spcPts val="0"/>
              </a:spcAft>
              <a:buClr>
                <a:schemeClr val="dk1"/>
              </a:buClr>
              <a:buSzPts val="900"/>
              <a:buFont typeface="Arial"/>
              <a:buNone/>
            </a:pPr>
            <a:endParaRPr sz="900" b="1">
              <a:solidFill>
                <a:srgbClr val="000000"/>
              </a:solidFill>
              <a:latin typeface="Arial"/>
              <a:ea typeface="Arial"/>
              <a:cs typeface="Arial"/>
              <a:sym typeface="Arial"/>
            </a:endParaRPr>
          </a:p>
          <a:p>
            <a:pPr marL="171450" marR="0" lvl="0" indent="-171450" algn="l" rtl="0">
              <a:spcBef>
                <a:spcPts val="0"/>
              </a:spcBef>
              <a:spcAft>
                <a:spcPts val="0"/>
              </a:spcAft>
              <a:buClr>
                <a:srgbClr val="000000"/>
              </a:buClr>
              <a:buSzPts val="900"/>
              <a:buFont typeface="Arial"/>
              <a:buChar char="•"/>
            </a:pPr>
            <a:r>
              <a:rPr lang="en-US" sz="900" b="1">
                <a:solidFill>
                  <a:srgbClr val="000000"/>
                </a:solidFill>
                <a:latin typeface="Arial"/>
                <a:ea typeface="Arial"/>
                <a:cs typeface="Arial"/>
                <a:sym typeface="Arial"/>
              </a:rPr>
              <a:t>Consultant Premium: SAP BTP Consultants command an average of $137,214 per year, with the highest earners reaching $242,879.</a:t>
            </a:r>
            <a:endParaRPr/>
          </a:p>
          <a:p>
            <a:pPr marL="171450" marR="0" lvl="0" indent="-114300" algn="l" rtl="0">
              <a:spcBef>
                <a:spcPts val="0"/>
              </a:spcBef>
              <a:spcAft>
                <a:spcPts val="0"/>
              </a:spcAft>
              <a:buClr>
                <a:schemeClr val="dk1"/>
              </a:buClr>
              <a:buSzPts val="900"/>
              <a:buFont typeface="Arial"/>
              <a:buNone/>
            </a:pPr>
            <a:endParaRPr sz="900" b="1">
              <a:solidFill>
                <a:srgbClr val="000000"/>
              </a:solidFill>
              <a:latin typeface="Arial"/>
              <a:ea typeface="Arial"/>
              <a:cs typeface="Arial"/>
              <a:sym typeface="Arial"/>
            </a:endParaRPr>
          </a:p>
          <a:p>
            <a:pPr marL="171450" marR="0" lvl="0" indent="-171450" algn="l" rtl="0">
              <a:spcBef>
                <a:spcPts val="0"/>
              </a:spcBef>
              <a:spcAft>
                <a:spcPts val="0"/>
              </a:spcAft>
              <a:buClr>
                <a:srgbClr val="000000"/>
              </a:buClr>
              <a:buSzPts val="900"/>
              <a:buFont typeface="Arial"/>
              <a:buChar char="•"/>
            </a:pPr>
            <a:r>
              <a:rPr lang="en-US" sz="900" b="1">
                <a:solidFill>
                  <a:srgbClr val="000000"/>
                </a:solidFill>
                <a:latin typeface="Arial"/>
                <a:ea typeface="Arial"/>
                <a:cs typeface="Arial"/>
                <a:sym typeface="Arial"/>
              </a:rPr>
              <a:t>India Market Growth: Professionals report starting salaries of 15 lakhs (fixed + variable) with stocks of around 1 lakh INR yearly at SAP Labs, with BTP consultant roles at Big 4 firms offering 20-25 LPA.</a:t>
            </a:r>
            <a:endParaRPr/>
          </a:p>
        </p:txBody>
      </p:sp>
      <p:sp>
        <p:nvSpPr>
          <p:cNvPr id="791" name="Google Shape;791;p6"/>
          <p:cNvSpPr txBox="1"/>
          <p:nvPr/>
        </p:nvSpPr>
        <p:spPr>
          <a:xfrm>
            <a:off x="1714809" y="87224"/>
            <a:ext cx="172774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78EDA"/>
                </a:solidFill>
                <a:latin typeface="Calibri"/>
                <a:ea typeface="Calibri"/>
                <a:cs typeface="Calibri"/>
                <a:sym typeface="Calibri"/>
              </a:rPr>
              <a:t>Anubhav</a:t>
            </a:r>
            <a:endParaRPr/>
          </a:p>
          <a:p>
            <a:pPr marL="0" marR="0" lvl="0" indent="0" algn="l" rtl="0">
              <a:spcBef>
                <a:spcPts val="0"/>
              </a:spcBef>
              <a:spcAft>
                <a:spcPts val="0"/>
              </a:spcAft>
              <a:buNone/>
            </a:pPr>
            <a:r>
              <a:rPr lang="en-US" sz="1200">
                <a:solidFill>
                  <a:srgbClr val="078EDA"/>
                </a:solidFill>
                <a:latin typeface="Calibri"/>
                <a:ea typeface="Calibri"/>
                <a:cs typeface="Calibri"/>
                <a:sym typeface="Calibri"/>
              </a:rPr>
              <a:t>Trainings</a:t>
            </a:r>
            <a:endParaRPr/>
          </a:p>
        </p:txBody>
      </p:sp>
      <p:pic>
        <p:nvPicPr>
          <p:cNvPr id="792" name="Google Shape;792;p6"/>
          <p:cNvPicPr preferRelativeResize="0"/>
          <p:nvPr/>
        </p:nvPicPr>
        <p:blipFill rotWithShape="1">
          <a:blip r:embed="rId5">
            <a:alphaModFix/>
          </a:blip>
          <a:srcRect/>
          <a:stretch/>
        </p:blipFill>
        <p:spPr>
          <a:xfrm>
            <a:off x="11088469" y="53543"/>
            <a:ext cx="929479" cy="9180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784"/>
                                        </p:tgtEl>
                                        <p:attrNameLst>
                                          <p:attrName>style.visibility</p:attrName>
                                        </p:attrNameLst>
                                      </p:cBhvr>
                                      <p:to>
                                        <p:strVal val="visible"/>
                                      </p:to>
                                    </p:set>
                                    <p:animEffect transition="in" filter="fade">
                                      <p:cBhvr>
                                        <p:cTn id="7" dur="500"/>
                                        <p:tgtEl>
                                          <p:spTgt spid="784"/>
                                        </p:tgtEl>
                                      </p:cBhvr>
                                    </p:animEffect>
                                  </p:childTnLst>
                                </p:cTn>
                              </p:par>
                              <p:par>
                                <p:cTn id="8" presetID="10" presetClass="entr" presetSubtype="0" fill="hold" nodeType="withEffect">
                                  <p:stCondLst>
                                    <p:cond delay="500"/>
                                  </p:stCondLst>
                                  <p:childTnLst>
                                    <p:set>
                                      <p:cBhvr>
                                        <p:cTn id="9" dur="1" fill="hold">
                                          <p:stCondLst>
                                            <p:cond delay="0"/>
                                          </p:stCondLst>
                                        </p:cTn>
                                        <p:tgtEl>
                                          <p:spTgt spid="790"/>
                                        </p:tgtEl>
                                        <p:attrNameLst>
                                          <p:attrName>style.visibility</p:attrName>
                                        </p:attrNameLst>
                                      </p:cBhvr>
                                      <p:to>
                                        <p:strVal val="visible"/>
                                      </p:to>
                                    </p:set>
                                    <p:animEffect transition="in" filter="fade">
                                      <p:cBhvr>
                                        <p:cTn id="10" dur="500"/>
                                        <p:tgtEl>
                                          <p:spTgt spid="790"/>
                                        </p:tgtEl>
                                      </p:cBhvr>
                                    </p:animEffect>
                                  </p:childTnLst>
                                </p:cTn>
                              </p:par>
                              <p:par>
                                <p:cTn id="11" presetID="10" presetClass="entr" presetSubtype="0" fill="hold" nodeType="withEffect">
                                  <p:stCondLst>
                                    <p:cond delay="500"/>
                                  </p:stCondLst>
                                  <p:childTnLst>
                                    <p:set>
                                      <p:cBhvr>
                                        <p:cTn id="12" dur="1" fill="hold">
                                          <p:stCondLst>
                                            <p:cond delay="0"/>
                                          </p:stCondLst>
                                        </p:cTn>
                                        <p:tgtEl>
                                          <p:spTgt spid="782"/>
                                        </p:tgtEl>
                                        <p:attrNameLst>
                                          <p:attrName>style.visibility</p:attrName>
                                        </p:attrNameLst>
                                      </p:cBhvr>
                                      <p:to>
                                        <p:strVal val="visible"/>
                                      </p:to>
                                    </p:set>
                                    <p:animEffect transition="in" filter="fade">
                                      <p:cBhvr>
                                        <p:cTn id="13" dur="500"/>
                                        <p:tgtEl>
                                          <p:spTgt spid="782"/>
                                        </p:tgtEl>
                                      </p:cBhvr>
                                    </p:animEffect>
                                  </p:childTnLst>
                                </p:cTn>
                              </p:par>
                              <p:par>
                                <p:cTn id="14" presetID="2" presetClass="entr" presetSubtype="4" fill="hold" nodeType="withEffect">
                                  <p:stCondLst>
                                    <p:cond delay="500"/>
                                  </p:stCondLst>
                                  <p:childTnLst>
                                    <p:set>
                                      <p:cBhvr>
                                        <p:cTn id="15" dur="1" fill="hold">
                                          <p:stCondLst>
                                            <p:cond delay="0"/>
                                          </p:stCondLst>
                                        </p:cTn>
                                        <p:tgtEl>
                                          <p:spTgt spid="783"/>
                                        </p:tgtEl>
                                        <p:attrNameLst>
                                          <p:attrName>style.visibility</p:attrName>
                                        </p:attrNameLst>
                                      </p:cBhvr>
                                      <p:to>
                                        <p:strVal val="visible"/>
                                      </p:to>
                                    </p:set>
                                    <p:anim calcmode="lin" valueType="num">
                                      <p:cBhvr additive="base">
                                        <p:cTn id="16" dur="500"/>
                                        <p:tgtEl>
                                          <p:spTgt spid="783"/>
                                        </p:tgtEl>
                                        <p:attrNameLst>
                                          <p:attrName>ppt_y</p:attrName>
                                        </p:attrNameLst>
                                      </p:cBhvr>
                                      <p:tavLst>
                                        <p:tav tm="0">
                                          <p:val>
                                            <p:strVal val="#ppt_y+1"/>
                                          </p:val>
                                        </p:tav>
                                        <p:tav tm="100000">
                                          <p:val>
                                            <p:strVal val="#ppt_y"/>
                                          </p:val>
                                        </p:tav>
                                      </p:tavLst>
                                    </p:anim>
                                  </p:childTnLst>
                                </p:cTn>
                              </p:par>
                              <p:par>
                                <p:cTn id="17" presetID="23" presetClass="entr" presetSubtype="16" fill="hold" nodeType="withEffect">
                                  <p:stCondLst>
                                    <p:cond delay="600"/>
                                  </p:stCondLst>
                                  <p:childTnLst>
                                    <p:set>
                                      <p:cBhvr>
                                        <p:cTn id="18" dur="1" fill="hold">
                                          <p:stCondLst>
                                            <p:cond delay="0"/>
                                          </p:stCondLst>
                                        </p:cTn>
                                        <p:tgtEl>
                                          <p:spTgt spid="788"/>
                                        </p:tgtEl>
                                        <p:attrNameLst>
                                          <p:attrName>style.visibility</p:attrName>
                                        </p:attrNameLst>
                                      </p:cBhvr>
                                      <p:to>
                                        <p:strVal val="visible"/>
                                      </p:to>
                                    </p:set>
                                    <p:anim calcmode="lin" valueType="num">
                                      <p:cBhvr additive="base">
                                        <p:cTn id="19" dur="500"/>
                                        <p:tgtEl>
                                          <p:spTgt spid="788"/>
                                        </p:tgtEl>
                                        <p:attrNameLst>
                                          <p:attrName>ppt_w</p:attrName>
                                        </p:attrNameLst>
                                      </p:cBhvr>
                                      <p:tavLst>
                                        <p:tav tm="0">
                                          <p:val>
                                            <p:strVal val="0"/>
                                          </p:val>
                                        </p:tav>
                                        <p:tav tm="100000">
                                          <p:val>
                                            <p:strVal val="#ppt_w"/>
                                          </p:val>
                                        </p:tav>
                                      </p:tavLst>
                                    </p:anim>
                                    <p:anim calcmode="lin" valueType="num">
                                      <p:cBhvr additive="base">
                                        <p:cTn id="20" dur="500"/>
                                        <p:tgtEl>
                                          <p:spTgt spid="788"/>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600"/>
                                  </p:stCondLst>
                                  <p:childTnLst>
                                    <p:set>
                                      <p:cBhvr>
                                        <p:cTn id="22" dur="1" fill="hold">
                                          <p:stCondLst>
                                            <p:cond delay="0"/>
                                          </p:stCondLst>
                                        </p:cTn>
                                        <p:tgtEl>
                                          <p:spTgt spid="789"/>
                                        </p:tgtEl>
                                        <p:attrNameLst>
                                          <p:attrName>style.visibility</p:attrName>
                                        </p:attrNameLst>
                                      </p:cBhvr>
                                      <p:to>
                                        <p:strVal val="visible"/>
                                      </p:to>
                                    </p:set>
                                    <p:anim calcmode="lin" valueType="num">
                                      <p:cBhvr additive="base">
                                        <p:cTn id="23" dur="500"/>
                                        <p:tgtEl>
                                          <p:spTgt spid="789"/>
                                        </p:tgtEl>
                                        <p:attrNameLst>
                                          <p:attrName>ppt_w</p:attrName>
                                        </p:attrNameLst>
                                      </p:cBhvr>
                                      <p:tavLst>
                                        <p:tav tm="0">
                                          <p:val>
                                            <p:strVal val="0"/>
                                          </p:val>
                                        </p:tav>
                                        <p:tav tm="100000">
                                          <p:val>
                                            <p:strVal val="#ppt_w"/>
                                          </p:val>
                                        </p:tav>
                                      </p:tavLst>
                                    </p:anim>
                                    <p:anim calcmode="lin" valueType="num">
                                      <p:cBhvr additive="base">
                                        <p:cTn id="24" dur="500"/>
                                        <p:tgtEl>
                                          <p:spTgt spid="789"/>
                                        </p:tgtEl>
                                        <p:attrNameLst>
                                          <p:attrName>ppt_h</p:attrName>
                                        </p:attrNameLst>
                                      </p:cBhvr>
                                      <p:tavLst>
                                        <p:tav tm="0">
                                          <p:val>
                                            <p:strVal val="0"/>
                                          </p:val>
                                        </p:tav>
                                        <p:tav tm="100000">
                                          <p:val>
                                            <p:strVal val="#ppt_h"/>
                                          </p:val>
                                        </p:tav>
                                      </p:tavLst>
                                    </p:anim>
                                  </p:childTnLst>
                                </p:cTn>
                              </p:par>
                              <p:par>
                                <p:cTn id="25" presetID="10" presetClass="entr" presetSubtype="0" fill="hold" nodeType="withEffect">
                                  <p:stCondLst>
                                    <p:cond delay="250"/>
                                  </p:stCondLst>
                                  <p:childTnLst>
                                    <p:set>
                                      <p:cBhvr>
                                        <p:cTn id="26" dur="1" fill="hold">
                                          <p:stCondLst>
                                            <p:cond delay="0"/>
                                          </p:stCondLst>
                                        </p:cTn>
                                        <p:tgtEl>
                                          <p:spTgt spid="787"/>
                                        </p:tgtEl>
                                        <p:attrNameLst>
                                          <p:attrName>style.visibility</p:attrName>
                                        </p:attrNameLst>
                                      </p:cBhvr>
                                      <p:to>
                                        <p:strVal val="visible"/>
                                      </p:to>
                                    </p:set>
                                    <p:animEffect transition="in" filter="fade">
                                      <p:cBhvr>
                                        <p:cTn id="27" dur="500"/>
                                        <p:tgtEl>
                                          <p:spTgt spid="787"/>
                                        </p:tgtEl>
                                      </p:cBhvr>
                                    </p:animEffect>
                                  </p:childTnLst>
                                </p:cTn>
                              </p:par>
                              <p:par>
                                <p:cTn id="28" presetID="10" presetClass="entr" presetSubtype="0" fill="hold" nodeType="withEffect">
                                  <p:stCondLst>
                                    <p:cond delay="800"/>
                                  </p:stCondLst>
                                  <p:childTnLst>
                                    <p:set>
                                      <p:cBhvr>
                                        <p:cTn id="29" dur="1" fill="hold">
                                          <p:stCondLst>
                                            <p:cond delay="0"/>
                                          </p:stCondLst>
                                        </p:cTn>
                                        <p:tgtEl>
                                          <p:spTgt spid="791"/>
                                        </p:tgtEl>
                                        <p:attrNameLst>
                                          <p:attrName>style.visibility</p:attrName>
                                        </p:attrNameLst>
                                      </p:cBhvr>
                                      <p:to>
                                        <p:strVal val="visible"/>
                                      </p:to>
                                    </p:set>
                                    <p:animEffect transition="in" filter="fade">
                                      <p:cBhvr>
                                        <p:cTn id="30" dur="500"/>
                                        <p:tgtEl>
                                          <p:spTgt spid="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7"/>
          <p:cNvSpPr/>
          <p:nvPr/>
        </p:nvSpPr>
        <p:spPr>
          <a:xfrm>
            <a:off x="6737277" y="2440699"/>
            <a:ext cx="1990947" cy="1990947"/>
          </a:xfrm>
          <a:prstGeom prst="ellipse">
            <a:avLst/>
          </a:prstGeom>
          <a:gradFill>
            <a:gsLst>
              <a:gs pos="0">
                <a:schemeClr val="lt1"/>
              </a:gs>
              <a:gs pos="100000">
                <a:srgbClr val="D8D8D8"/>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798" name="Google Shape;798;p7"/>
          <p:cNvSpPr/>
          <p:nvPr/>
        </p:nvSpPr>
        <p:spPr>
          <a:xfrm>
            <a:off x="6966906" y="2646323"/>
            <a:ext cx="1554772" cy="1554772"/>
          </a:xfrm>
          <a:prstGeom prst="ellipse">
            <a:avLst/>
          </a:prstGeom>
          <a:gradFill>
            <a:gsLst>
              <a:gs pos="0">
                <a:schemeClr val="lt1"/>
              </a:gs>
              <a:gs pos="100000">
                <a:srgbClr val="D8D8D8"/>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799" name="Google Shape;799;p7"/>
          <p:cNvSpPr/>
          <p:nvPr/>
        </p:nvSpPr>
        <p:spPr>
          <a:xfrm>
            <a:off x="7196890" y="2874422"/>
            <a:ext cx="1086696" cy="1086696"/>
          </a:xfrm>
          <a:prstGeom prst="ellipse">
            <a:avLst/>
          </a:prstGeom>
          <a:gradFill>
            <a:gsLst>
              <a:gs pos="0">
                <a:schemeClr val="lt1"/>
              </a:gs>
              <a:gs pos="100000">
                <a:srgbClr val="D8D8D8"/>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00" name="Google Shape;800;p7"/>
          <p:cNvSpPr txBox="1">
            <a:spLocks noGrp="1"/>
          </p:cNvSpPr>
          <p:nvPr>
            <p:ph type="title"/>
          </p:nvPr>
        </p:nvSpPr>
        <p:spPr>
          <a:xfrm>
            <a:off x="1053851" y="1995165"/>
            <a:ext cx="4824537" cy="1926089"/>
          </a:xfrm>
          <a:prstGeom prst="rect">
            <a:avLst/>
          </a:prstGeom>
          <a:noFill/>
          <a:ln>
            <a:noFill/>
          </a:ln>
        </p:spPr>
        <p:txBody>
          <a:bodyPr spcFirstLastPara="1" wrap="square" lIns="0" tIns="60925" rIns="0" bIns="60925" anchor="t" anchorCtr="0">
            <a:noAutofit/>
          </a:bodyPr>
          <a:lstStyle/>
          <a:p>
            <a:pPr marL="0" lvl="0" indent="0" algn="l" rtl="0">
              <a:spcBef>
                <a:spcPts val="0"/>
              </a:spcBef>
              <a:spcAft>
                <a:spcPts val="0"/>
              </a:spcAft>
              <a:buClr>
                <a:schemeClr val="accent1"/>
              </a:buClr>
              <a:buSzPts val="4000"/>
              <a:buFont typeface="Quattrocento Sans"/>
              <a:buNone/>
            </a:pPr>
            <a:r>
              <a:rPr lang="en-US"/>
              <a:t>What is CAPM?</a:t>
            </a:r>
            <a:endParaRPr/>
          </a:p>
        </p:txBody>
      </p:sp>
      <p:sp>
        <p:nvSpPr>
          <p:cNvPr id="801" name="Google Shape;801;p7"/>
          <p:cNvSpPr txBox="1"/>
          <p:nvPr/>
        </p:nvSpPr>
        <p:spPr>
          <a:xfrm>
            <a:off x="1053852" y="1685814"/>
            <a:ext cx="3312368" cy="276999"/>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a:solidFill>
                  <a:schemeClr val="accent2"/>
                </a:solidFill>
                <a:latin typeface="Quattrocento Sans"/>
                <a:ea typeface="Quattrocento Sans"/>
                <a:cs typeface="Quattrocento Sans"/>
                <a:sym typeface="Quattrocento Sans"/>
              </a:rPr>
              <a:t>Anubhav Trainings</a:t>
            </a:r>
            <a:endParaRPr/>
          </a:p>
        </p:txBody>
      </p:sp>
      <p:sp>
        <p:nvSpPr>
          <p:cNvPr id="802" name="Google Shape;802;p7"/>
          <p:cNvSpPr txBox="1"/>
          <p:nvPr/>
        </p:nvSpPr>
        <p:spPr>
          <a:xfrm>
            <a:off x="273355" y="2981509"/>
            <a:ext cx="5293803"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attrocento Sans"/>
                <a:ea typeface="Quattrocento Sans"/>
                <a:cs typeface="Quattrocento Sans"/>
                <a:sym typeface="Quattrocento Sans"/>
              </a:rPr>
              <a:t>The SAP Cloud Application Programming Model is a framework of languages, libraries, and tools for building enterprise-grade services and applications. It is a strategic long-term solution for cloud-native application development on BTP platform based on microservices.</a:t>
            </a:r>
            <a:endParaRPr/>
          </a:p>
        </p:txBody>
      </p:sp>
      <p:sp>
        <p:nvSpPr>
          <p:cNvPr id="803" name="Google Shape;803;p7"/>
          <p:cNvSpPr/>
          <p:nvPr/>
        </p:nvSpPr>
        <p:spPr>
          <a:xfrm rot="10800000">
            <a:off x="6406064" y="2155583"/>
            <a:ext cx="2636977" cy="2636977"/>
          </a:xfrm>
          <a:prstGeom prst="arc">
            <a:avLst>
              <a:gd name="adj1" fmla="val 16200000"/>
              <a:gd name="adj2" fmla="val 13353508"/>
            </a:avLst>
          </a:prstGeom>
          <a:noFill/>
          <a:ln w="9525"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804" name="Google Shape;804;p7"/>
          <p:cNvSpPr/>
          <p:nvPr/>
        </p:nvSpPr>
        <p:spPr>
          <a:xfrm rot="-4826352">
            <a:off x="5796429" y="1525943"/>
            <a:ext cx="3896258" cy="3896258"/>
          </a:xfrm>
          <a:prstGeom prst="arc">
            <a:avLst>
              <a:gd name="adj1" fmla="val 16200000"/>
              <a:gd name="adj2" fmla="val 13353508"/>
            </a:avLst>
          </a:prstGeom>
          <a:noFill/>
          <a:ln w="9525" cap="flat" cmpd="sng">
            <a:solidFill>
              <a:srgbClr val="D8D8D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805" name="Google Shape;805;p7"/>
          <p:cNvSpPr/>
          <p:nvPr/>
        </p:nvSpPr>
        <p:spPr>
          <a:xfrm rot="4642030">
            <a:off x="5211991" y="941504"/>
            <a:ext cx="5065136" cy="5065136"/>
          </a:xfrm>
          <a:prstGeom prst="arc">
            <a:avLst>
              <a:gd name="adj1" fmla="val 16200000"/>
              <a:gd name="adj2" fmla="val 13353508"/>
            </a:avLst>
          </a:prstGeom>
          <a:noFill/>
          <a:ln w="9525"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806" name="Google Shape;806;p7"/>
          <p:cNvSpPr/>
          <p:nvPr/>
        </p:nvSpPr>
        <p:spPr>
          <a:xfrm rot="-2359047">
            <a:off x="4627552" y="311993"/>
            <a:ext cx="6234013" cy="6234013"/>
          </a:xfrm>
          <a:prstGeom prst="arc">
            <a:avLst>
              <a:gd name="adj1" fmla="val 16200000"/>
              <a:gd name="adj2" fmla="val 13134376"/>
            </a:avLst>
          </a:prstGeom>
          <a:noFill/>
          <a:ln w="9525" cap="flat" cmpd="sng">
            <a:solidFill>
              <a:srgbClr val="D8D8D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grpSp>
        <p:nvGrpSpPr>
          <p:cNvPr id="807" name="Google Shape;807;p7"/>
          <p:cNvGrpSpPr/>
          <p:nvPr/>
        </p:nvGrpSpPr>
        <p:grpSpPr>
          <a:xfrm>
            <a:off x="5035644" y="266352"/>
            <a:ext cx="1375510" cy="1367230"/>
            <a:chOff x="5035644" y="266352"/>
            <a:chExt cx="1375510" cy="1367230"/>
          </a:xfrm>
        </p:grpSpPr>
        <p:sp>
          <p:nvSpPr>
            <p:cNvPr id="808" name="Google Shape;808;p7"/>
            <p:cNvSpPr/>
            <p:nvPr/>
          </p:nvSpPr>
          <p:spPr>
            <a:xfrm>
              <a:off x="5441673" y="664101"/>
              <a:ext cx="969481" cy="969481"/>
            </a:xfrm>
            <a:prstGeom prst="ellipse">
              <a:avLst/>
            </a:prstGeom>
            <a:solidFill>
              <a:srgbClr val="595959">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09" name="Google Shape;809;p7"/>
            <p:cNvSpPr/>
            <p:nvPr/>
          </p:nvSpPr>
          <p:spPr>
            <a:xfrm>
              <a:off x="5035644" y="266352"/>
              <a:ext cx="1241955" cy="1241955"/>
            </a:xfrm>
            <a:prstGeom prst="ellipse">
              <a:avLst/>
            </a:prstGeom>
            <a:gradFill>
              <a:gsLst>
                <a:gs pos="0">
                  <a:srgbClr val="D8D8D8">
                    <a:alpha val="74117"/>
                  </a:srgbClr>
                </a:gs>
                <a:gs pos="100000">
                  <a:srgbClr val="F2F2F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grpSp>
        <p:nvGrpSpPr>
          <p:cNvPr id="810" name="Google Shape;810;p7"/>
          <p:cNvGrpSpPr/>
          <p:nvPr/>
        </p:nvGrpSpPr>
        <p:grpSpPr>
          <a:xfrm>
            <a:off x="5935051" y="3171731"/>
            <a:ext cx="1375510" cy="1367230"/>
            <a:chOff x="5935051" y="3171731"/>
            <a:chExt cx="1375510" cy="1367230"/>
          </a:xfrm>
        </p:grpSpPr>
        <p:sp>
          <p:nvSpPr>
            <p:cNvPr id="811" name="Google Shape;811;p7"/>
            <p:cNvSpPr/>
            <p:nvPr/>
          </p:nvSpPr>
          <p:spPr>
            <a:xfrm>
              <a:off x="6341080" y="3569480"/>
              <a:ext cx="969481" cy="969481"/>
            </a:xfrm>
            <a:prstGeom prst="ellipse">
              <a:avLst/>
            </a:prstGeom>
            <a:solidFill>
              <a:srgbClr val="595959">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12" name="Google Shape;812;p7"/>
            <p:cNvSpPr/>
            <p:nvPr/>
          </p:nvSpPr>
          <p:spPr>
            <a:xfrm>
              <a:off x="5935051" y="3171731"/>
              <a:ext cx="1241955" cy="1241955"/>
            </a:xfrm>
            <a:prstGeom prst="ellipse">
              <a:avLst/>
            </a:prstGeom>
            <a:gradFill>
              <a:gsLst>
                <a:gs pos="0">
                  <a:schemeClr val="accent2"/>
                </a:gs>
                <a:gs pos="9500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grpSp>
        <p:nvGrpSpPr>
          <p:cNvPr id="813" name="Google Shape;813;p7"/>
          <p:cNvGrpSpPr/>
          <p:nvPr/>
        </p:nvGrpSpPr>
        <p:grpSpPr>
          <a:xfrm>
            <a:off x="8803807" y="1482178"/>
            <a:ext cx="1375510" cy="1367230"/>
            <a:chOff x="8803807" y="1482178"/>
            <a:chExt cx="1375510" cy="1367230"/>
          </a:xfrm>
        </p:grpSpPr>
        <p:sp>
          <p:nvSpPr>
            <p:cNvPr id="814" name="Google Shape;814;p7"/>
            <p:cNvSpPr/>
            <p:nvPr/>
          </p:nvSpPr>
          <p:spPr>
            <a:xfrm>
              <a:off x="9209836" y="1879927"/>
              <a:ext cx="969481" cy="969481"/>
            </a:xfrm>
            <a:prstGeom prst="ellipse">
              <a:avLst/>
            </a:prstGeom>
            <a:solidFill>
              <a:srgbClr val="595959">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15" name="Google Shape;815;p7"/>
            <p:cNvSpPr/>
            <p:nvPr/>
          </p:nvSpPr>
          <p:spPr>
            <a:xfrm>
              <a:off x="8803807" y="1482178"/>
              <a:ext cx="1241955" cy="1241955"/>
            </a:xfrm>
            <a:prstGeom prst="ellipse">
              <a:avLst/>
            </a:prstGeom>
            <a:gradFill>
              <a:gsLst>
                <a:gs pos="0">
                  <a:srgbClr val="D8D8D8">
                    <a:alpha val="74117"/>
                  </a:srgbClr>
                </a:gs>
                <a:gs pos="100000">
                  <a:srgbClr val="F2F2F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grpSp>
        <p:nvGrpSpPr>
          <p:cNvPr id="816" name="Google Shape;816;p7"/>
          <p:cNvGrpSpPr/>
          <p:nvPr/>
        </p:nvGrpSpPr>
        <p:grpSpPr>
          <a:xfrm>
            <a:off x="7817706" y="4522937"/>
            <a:ext cx="1375510" cy="1367230"/>
            <a:chOff x="7817706" y="4522937"/>
            <a:chExt cx="1375510" cy="1367230"/>
          </a:xfrm>
        </p:grpSpPr>
        <p:sp>
          <p:nvSpPr>
            <p:cNvPr id="817" name="Google Shape;817;p7"/>
            <p:cNvSpPr/>
            <p:nvPr/>
          </p:nvSpPr>
          <p:spPr>
            <a:xfrm>
              <a:off x="8223735" y="4920686"/>
              <a:ext cx="969481" cy="969481"/>
            </a:xfrm>
            <a:prstGeom prst="ellipse">
              <a:avLst/>
            </a:prstGeom>
            <a:solidFill>
              <a:srgbClr val="595959">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18" name="Google Shape;818;p7"/>
            <p:cNvSpPr/>
            <p:nvPr/>
          </p:nvSpPr>
          <p:spPr>
            <a:xfrm>
              <a:off x="7817706" y="4522937"/>
              <a:ext cx="1241955" cy="1241955"/>
            </a:xfrm>
            <a:prstGeom prst="ellipse">
              <a:avLst/>
            </a:prstGeom>
            <a:gradFill>
              <a:gsLst>
                <a:gs pos="0">
                  <a:srgbClr val="D8D8D8">
                    <a:alpha val="74117"/>
                  </a:srgbClr>
                </a:gs>
                <a:gs pos="100000">
                  <a:srgbClr val="F2F2F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grpSp>
        <p:nvGrpSpPr>
          <p:cNvPr id="819" name="Google Shape;819;p7"/>
          <p:cNvGrpSpPr/>
          <p:nvPr/>
        </p:nvGrpSpPr>
        <p:grpSpPr>
          <a:xfrm>
            <a:off x="10164340" y="3861048"/>
            <a:ext cx="1375510" cy="1367230"/>
            <a:chOff x="10164340" y="3861048"/>
            <a:chExt cx="1375510" cy="1367230"/>
          </a:xfrm>
        </p:grpSpPr>
        <p:sp>
          <p:nvSpPr>
            <p:cNvPr id="820" name="Google Shape;820;p7"/>
            <p:cNvSpPr/>
            <p:nvPr/>
          </p:nvSpPr>
          <p:spPr>
            <a:xfrm>
              <a:off x="10570369" y="4258797"/>
              <a:ext cx="969481" cy="969481"/>
            </a:xfrm>
            <a:prstGeom prst="ellipse">
              <a:avLst/>
            </a:prstGeom>
            <a:solidFill>
              <a:srgbClr val="595959">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21" name="Google Shape;821;p7"/>
            <p:cNvSpPr/>
            <p:nvPr/>
          </p:nvSpPr>
          <p:spPr>
            <a:xfrm>
              <a:off x="10164340" y="3861048"/>
              <a:ext cx="1241955" cy="1241955"/>
            </a:xfrm>
            <a:prstGeom prst="ellipse">
              <a:avLst/>
            </a:prstGeom>
            <a:gradFill>
              <a:gsLst>
                <a:gs pos="0">
                  <a:srgbClr val="D8D8D8">
                    <a:alpha val="74117"/>
                  </a:srgbClr>
                </a:gs>
                <a:gs pos="100000">
                  <a:srgbClr val="F2F2F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sp>
        <p:nvSpPr>
          <p:cNvPr id="822" name="Google Shape;822;p7"/>
          <p:cNvSpPr txBox="1"/>
          <p:nvPr/>
        </p:nvSpPr>
        <p:spPr>
          <a:xfrm>
            <a:off x="5057652" y="1589854"/>
            <a:ext cx="161282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Development Model based on CDS</a:t>
            </a:r>
            <a:endParaRPr/>
          </a:p>
        </p:txBody>
      </p:sp>
      <p:sp>
        <p:nvSpPr>
          <p:cNvPr id="823" name="Google Shape;823;p7"/>
          <p:cNvSpPr txBox="1"/>
          <p:nvPr/>
        </p:nvSpPr>
        <p:spPr>
          <a:xfrm>
            <a:off x="8901471" y="2746372"/>
            <a:ext cx="286142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Database Agnostic with Latest Frontend technology</a:t>
            </a:r>
            <a:endParaRPr/>
          </a:p>
        </p:txBody>
      </p:sp>
      <p:sp>
        <p:nvSpPr>
          <p:cNvPr id="824" name="Google Shape;824;p7"/>
          <p:cNvSpPr txBox="1"/>
          <p:nvPr/>
        </p:nvSpPr>
        <p:spPr>
          <a:xfrm>
            <a:off x="5181854" y="4489095"/>
            <a:ext cx="2618733" cy="58477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dk1"/>
                </a:solidFill>
                <a:latin typeface="Quattrocento Sans"/>
                <a:ea typeface="Quattrocento Sans"/>
                <a:cs typeface="Quattrocento Sans"/>
                <a:sym typeface="Quattrocento Sans"/>
              </a:rPr>
              <a:t>Framework Libraries</a:t>
            </a:r>
            <a:endParaRPr/>
          </a:p>
          <a:p>
            <a:pPr marL="0" marR="0" lvl="0" indent="0" algn="r" rtl="0">
              <a:spcBef>
                <a:spcPts val="0"/>
              </a:spcBef>
              <a:spcAft>
                <a:spcPts val="0"/>
              </a:spcAft>
              <a:buNone/>
            </a:pPr>
            <a:r>
              <a:rPr lang="en-US" sz="1600" b="1">
                <a:solidFill>
                  <a:schemeClr val="dk1"/>
                </a:solidFill>
                <a:latin typeface="Quattrocento Sans"/>
                <a:ea typeface="Quattrocento Sans"/>
                <a:cs typeface="Quattrocento Sans"/>
                <a:sym typeface="Quattrocento Sans"/>
              </a:rPr>
              <a:t>@sap/cds, @sap/cds-dk</a:t>
            </a:r>
            <a:endParaRPr/>
          </a:p>
        </p:txBody>
      </p:sp>
      <p:sp>
        <p:nvSpPr>
          <p:cNvPr id="825" name="Google Shape;825;p7"/>
          <p:cNvSpPr txBox="1"/>
          <p:nvPr/>
        </p:nvSpPr>
        <p:spPr>
          <a:xfrm>
            <a:off x="6966906" y="5932348"/>
            <a:ext cx="2092755" cy="58477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dk1"/>
                </a:solidFill>
                <a:latin typeface="Quattrocento Sans"/>
                <a:ea typeface="Quattrocento Sans"/>
                <a:cs typeface="Quattrocento Sans"/>
                <a:sym typeface="Quattrocento Sans"/>
              </a:rPr>
              <a:t>Language </a:t>
            </a:r>
            <a:endParaRPr/>
          </a:p>
          <a:p>
            <a:pPr marL="0" marR="0" lvl="0" indent="0" algn="r" rtl="0">
              <a:spcBef>
                <a:spcPts val="0"/>
              </a:spcBef>
              <a:spcAft>
                <a:spcPts val="0"/>
              </a:spcAft>
              <a:buNone/>
            </a:pPr>
            <a:r>
              <a:rPr lang="en-US" sz="1600" b="1">
                <a:solidFill>
                  <a:schemeClr val="dk1"/>
                </a:solidFill>
                <a:latin typeface="Quattrocento Sans"/>
                <a:ea typeface="Quattrocento Sans"/>
                <a:cs typeface="Quattrocento Sans"/>
                <a:sym typeface="Quattrocento Sans"/>
              </a:rPr>
              <a:t>Node JS and Java</a:t>
            </a:r>
            <a:endParaRPr/>
          </a:p>
        </p:txBody>
      </p:sp>
      <p:sp>
        <p:nvSpPr>
          <p:cNvPr id="826" name="Google Shape;826;p7"/>
          <p:cNvSpPr txBox="1"/>
          <p:nvPr/>
        </p:nvSpPr>
        <p:spPr>
          <a:xfrm>
            <a:off x="10126860" y="5183872"/>
            <a:ext cx="180601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Tools </a:t>
            </a:r>
            <a:endParaRPr/>
          </a:p>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VS code &amp; BAS</a:t>
            </a:r>
            <a:endParaRPr/>
          </a:p>
        </p:txBody>
      </p:sp>
      <p:sp>
        <p:nvSpPr>
          <p:cNvPr id="827" name="Google Shape;827;p7" descr="Aperture with solid fill"/>
          <p:cNvSpPr/>
          <p:nvPr/>
        </p:nvSpPr>
        <p:spPr>
          <a:xfrm>
            <a:off x="6273471" y="3499924"/>
            <a:ext cx="540000" cy="540000"/>
          </a:xfrm>
          <a:prstGeom prst="rect">
            <a:avLst/>
          </a:prstGeom>
          <a:noFill/>
          <a:ln>
            <a:noFill/>
          </a:ln>
        </p:spPr>
      </p:sp>
      <p:sp>
        <p:nvSpPr>
          <p:cNvPr id="828" name="Google Shape;828;p7" descr="Vlog with solid fill"/>
          <p:cNvSpPr/>
          <p:nvPr/>
        </p:nvSpPr>
        <p:spPr>
          <a:xfrm>
            <a:off x="9150531" y="1824667"/>
            <a:ext cx="540000" cy="540000"/>
          </a:xfrm>
          <a:prstGeom prst="rect">
            <a:avLst/>
          </a:prstGeom>
          <a:noFill/>
          <a:ln>
            <a:noFill/>
          </a:ln>
        </p:spPr>
      </p:sp>
      <p:sp>
        <p:nvSpPr>
          <p:cNvPr id="829" name="Google Shape;829;p7" descr="Cloud Computing with solid fill"/>
          <p:cNvSpPr/>
          <p:nvPr/>
        </p:nvSpPr>
        <p:spPr>
          <a:xfrm>
            <a:off x="10527978" y="4188320"/>
            <a:ext cx="540000" cy="540000"/>
          </a:xfrm>
          <a:prstGeom prst="rect">
            <a:avLst/>
          </a:prstGeom>
          <a:noFill/>
          <a:ln>
            <a:noFill/>
          </a:ln>
        </p:spPr>
      </p:sp>
      <p:sp>
        <p:nvSpPr>
          <p:cNvPr id="830" name="Google Shape;830;p7" descr="Record with solid fill"/>
          <p:cNvSpPr/>
          <p:nvPr/>
        </p:nvSpPr>
        <p:spPr>
          <a:xfrm>
            <a:off x="5386413" y="584744"/>
            <a:ext cx="540000" cy="540000"/>
          </a:xfrm>
          <a:prstGeom prst="rect">
            <a:avLst/>
          </a:prstGeom>
          <a:noFill/>
          <a:ln>
            <a:noFill/>
          </a:ln>
        </p:spPr>
      </p:sp>
      <p:sp>
        <p:nvSpPr>
          <p:cNvPr id="831" name="Google Shape;831;p7" descr="Web design with solid fill"/>
          <p:cNvSpPr/>
          <p:nvPr/>
        </p:nvSpPr>
        <p:spPr>
          <a:xfrm>
            <a:off x="8167174" y="4844378"/>
            <a:ext cx="540000" cy="540000"/>
          </a:xfrm>
          <a:prstGeom prst="rect">
            <a:avLst/>
          </a:prstGeom>
          <a:noFill/>
          <a:ln>
            <a:noFill/>
          </a:ln>
        </p:spPr>
      </p:sp>
      <p:sp>
        <p:nvSpPr>
          <p:cNvPr id="832" name="Google Shape;832;p7"/>
          <p:cNvSpPr/>
          <p:nvPr/>
        </p:nvSpPr>
        <p:spPr>
          <a:xfrm rot="-7281638">
            <a:off x="838593" y="-1243411"/>
            <a:ext cx="1514521" cy="3668524"/>
          </a:xfrm>
          <a:custGeom>
            <a:avLst/>
            <a:gdLst/>
            <a:ahLst/>
            <a:cxnLst/>
            <a:rect l="l" t="t" r="r" b="b"/>
            <a:pathLst>
              <a:path w="2999369" h="7265173" extrusionOk="0">
                <a:moveTo>
                  <a:pt x="1040783" y="681031"/>
                </a:moveTo>
                <a:cubicBezTo>
                  <a:pt x="1084757" y="610587"/>
                  <a:pt x="1129969" y="540994"/>
                  <a:pt x="1176389" y="472284"/>
                </a:cubicBezTo>
                <a:lnTo>
                  <a:pt x="1529556" y="0"/>
                </a:lnTo>
                <a:lnTo>
                  <a:pt x="1533767" y="2566"/>
                </a:lnTo>
                <a:lnTo>
                  <a:pt x="1885015" y="472283"/>
                </a:lnTo>
                <a:cubicBezTo>
                  <a:pt x="2442048" y="1296803"/>
                  <a:pt x="2825251" y="2248412"/>
                  <a:pt x="2982037" y="3274524"/>
                </a:cubicBezTo>
                <a:lnTo>
                  <a:pt x="2999369" y="3426274"/>
                </a:lnTo>
                <a:lnTo>
                  <a:pt x="659714" y="7265173"/>
                </a:lnTo>
                <a:lnTo>
                  <a:pt x="477785" y="6849243"/>
                </a:lnTo>
                <a:cubicBezTo>
                  <a:pt x="169405" y="6067192"/>
                  <a:pt x="0" y="5215142"/>
                  <a:pt x="0" y="4323524"/>
                </a:cubicBezTo>
                <a:cubicBezTo>
                  <a:pt x="0" y="2986101"/>
                  <a:pt x="381162" y="1737700"/>
                  <a:pt x="1040783" y="681031"/>
                </a:cubicBezTo>
                <a:close/>
              </a:path>
            </a:pathLst>
          </a:custGeom>
          <a:gradFill>
            <a:gsLst>
              <a:gs pos="0">
                <a:schemeClr val="accent2"/>
              </a:gs>
              <a:gs pos="95000">
                <a:schemeClr val="accent1"/>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33" name="Google Shape;833;p7"/>
          <p:cNvSpPr/>
          <p:nvPr/>
        </p:nvSpPr>
        <p:spPr>
          <a:xfrm rot="-9970899">
            <a:off x="-224378" y="-224441"/>
            <a:ext cx="1571917" cy="2429305"/>
          </a:xfrm>
          <a:custGeom>
            <a:avLst/>
            <a:gdLst/>
            <a:ahLst/>
            <a:cxnLst/>
            <a:rect l="l" t="t" r="r" b="b"/>
            <a:pathLst>
              <a:path w="3113036" h="4811014" extrusionOk="0">
                <a:moveTo>
                  <a:pt x="2118036" y="0"/>
                </a:moveTo>
                <a:lnTo>
                  <a:pt x="3113036" y="4045322"/>
                </a:lnTo>
                <a:lnTo>
                  <a:pt x="0" y="4811014"/>
                </a:lnTo>
                <a:lnTo>
                  <a:pt x="1823" y="4797362"/>
                </a:lnTo>
                <a:cubicBezTo>
                  <a:pt x="232842" y="3285423"/>
                  <a:pt x="797475" y="1883262"/>
                  <a:pt x="1618243" y="6683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834" name="Google Shape;834;p7"/>
          <p:cNvPicPr preferRelativeResize="0"/>
          <p:nvPr/>
        </p:nvPicPr>
        <p:blipFill rotWithShape="1">
          <a:blip r:embed="rId3">
            <a:alphaModFix/>
          </a:blip>
          <a:srcRect/>
          <a:stretch/>
        </p:blipFill>
        <p:spPr>
          <a:xfrm>
            <a:off x="11088469" y="53543"/>
            <a:ext cx="929479" cy="9180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00"/>
                                        </p:tgtEl>
                                        <p:attrNameLst>
                                          <p:attrName>style.visibility</p:attrName>
                                        </p:attrNameLst>
                                      </p:cBhvr>
                                      <p:to>
                                        <p:strVal val="visible"/>
                                      </p:to>
                                    </p:set>
                                    <p:animEffect transition="in" filter="fade">
                                      <p:cBhvr>
                                        <p:cTn id="7" dur="500"/>
                                        <p:tgtEl>
                                          <p:spTgt spid="800"/>
                                        </p:tgtEl>
                                      </p:cBhvr>
                                    </p:animEffect>
                                  </p:childTnLst>
                                </p:cTn>
                              </p:par>
                              <p:par>
                                <p:cTn id="8" presetID="10" presetClass="entr" presetSubtype="0" fill="hold" nodeType="withEffect">
                                  <p:stCondLst>
                                    <p:cond delay="150"/>
                                  </p:stCondLst>
                                  <p:childTnLst>
                                    <p:set>
                                      <p:cBhvr>
                                        <p:cTn id="9" dur="1" fill="hold">
                                          <p:stCondLst>
                                            <p:cond delay="0"/>
                                          </p:stCondLst>
                                        </p:cTn>
                                        <p:tgtEl>
                                          <p:spTgt spid="801"/>
                                        </p:tgtEl>
                                        <p:attrNameLst>
                                          <p:attrName>style.visibility</p:attrName>
                                        </p:attrNameLst>
                                      </p:cBhvr>
                                      <p:to>
                                        <p:strVal val="visible"/>
                                      </p:to>
                                    </p:set>
                                    <p:animEffect transition="in" filter="fade">
                                      <p:cBhvr>
                                        <p:cTn id="10" dur="500"/>
                                        <p:tgtEl>
                                          <p:spTgt spid="801"/>
                                        </p:tgtEl>
                                      </p:cBhvr>
                                    </p:animEffect>
                                  </p:childTnLst>
                                </p:cTn>
                              </p:par>
                              <p:par>
                                <p:cTn id="11" presetID="10" presetClass="entr" presetSubtype="0" fill="hold" nodeType="withEffect">
                                  <p:stCondLst>
                                    <p:cond delay="300"/>
                                  </p:stCondLst>
                                  <p:childTnLst>
                                    <p:set>
                                      <p:cBhvr>
                                        <p:cTn id="12" dur="1" fill="hold">
                                          <p:stCondLst>
                                            <p:cond delay="0"/>
                                          </p:stCondLst>
                                        </p:cTn>
                                        <p:tgtEl>
                                          <p:spTgt spid="802"/>
                                        </p:tgtEl>
                                        <p:attrNameLst>
                                          <p:attrName>style.visibility</p:attrName>
                                        </p:attrNameLst>
                                      </p:cBhvr>
                                      <p:to>
                                        <p:strVal val="visible"/>
                                      </p:to>
                                    </p:set>
                                    <p:animEffect transition="in" filter="fade">
                                      <p:cBhvr>
                                        <p:cTn id="13" dur="500"/>
                                        <p:tgtEl>
                                          <p:spTgt spid="802"/>
                                        </p:tgtEl>
                                      </p:cBhvr>
                                    </p:animEffect>
                                  </p:childTnLst>
                                </p:cTn>
                              </p:par>
                              <p:par>
                                <p:cTn id="14" presetID="2" presetClass="entr" presetSubtype="1" fill="hold" nodeType="withEffect">
                                  <p:stCondLst>
                                    <p:cond delay="150"/>
                                  </p:stCondLst>
                                  <p:childTnLst>
                                    <p:set>
                                      <p:cBhvr>
                                        <p:cTn id="15" dur="1" fill="hold">
                                          <p:stCondLst>
                                            <p:cond delay="0"/>
                                          </p:stCondLst>
                                        </p:cTn>
                                        <p:tgtEl>
                                          <p:spTgt spid="833"/>
                                        </p:tgtEl>
                                        <p:attrNameLst>
                                          <p:attrName>style.visibility</p:attrName>
                                        </p:attrNameLst>
                                      </p:cBhvr>
                                      <p:to>
                                        <p:strVal val="visible"/>
                                      </p:to>
                                    </p:set>
                                    <p:anim calcmode="lin" valueType="num">
                                      <p:cBhvr additive="base">
                                        <p:cTn id="16" dur="500"/>
                                        <p:tgtEl>
                                          <p:spTgt spid="833"/>
                                        </p:tgtEl>
                                        <p:attrNameLst>
                                          <p:attrName>ppt_y</p:attrName>
                                        </p:attrNameLst>
                                      </p:cBhvr>
                                      <p:tavLst>
                                        <p:tav tm="0">
                                          <p:val>
                                            <p:strVal val="#ppt_y-1"/>
                                          </p:val>
                                        </p:tav>
                                        <p:tav tm="100000">
                                          <p:val>
                                            <p:strVal val="#ppt_y"/>
                                          </p:val>
                                        </p:tav>
                                      </p:tavLst>
                                    </p:anim>
                                  </p:childTnLst>
                                </p:cTn>
                              </p:par>
                              <p:par>
                                <p:cTn id="17" presetID="2" presetClass="entr" presetSubtype="1" fill="hold" nodeType="withEffect">
                                  <p:stCondLst>
                                    <p:cond delay="300"/>
                                  </p:stCondLst>
                                  <p:childTnLst>
                                    <p:set>
                                      <p:cBhvr>
                                        <p:cTn id="18" dur="1" fill="hold">
                                          <p:stCondLst>
                                            <p:cond delay="0"/>
                                          </p:stCondLst>
                                        </p:cTn>
                                        <p:tgtEl>
                                          <p:spTgt spid="832"/>
                                        </p:tgtEl>
                                        <p:attrNameLst>
                                          <p:attrName>style.visibility</p:attrName>
                                        </p:attrNameLst>
                                      </p:cBhvr>
                                      <p:to>
                                        <p:strVal val="visible"/>
                                      </p:to>
                                    </p:set>
                                    <p:anim calcmode="lin" valueType="num">
                                      <p:cBhvr additive="base">
                                        <p:cTn id="19" dur="500"/>
                                        <p:tgtEl>
                                          <p:spTgt spid="832"/>
                                        </p:tgtEl>
                                        <p:attrNameLst>
                                          <p:attrName>ppt_y</p:attrName>
                                        </p:attrNameLst>
                                      </p:cBhvr>
                                      <p:tavLst>
                                        <p:tav tm="0">
                                          <p:val>
                                            <p:strVal val="#ppt_y-1"/>
                                          </p:val>
                                        </p:tav>
                                        <p:tav tm="100000">
                                          <p:val>
                                            <p:strVal val="#ppt_y"/>
                                          </p:val>
                                        </p:tav>
                                      </p:tavLst>
                                    </p:anim>
                                  </p:childTnLst>
                                </p:cTn>
                              </p:par>
                              <p:par>
                                <p:cTn id="20" presetID="10" presetClass="entr" presetSubtype="0" fill="hold" nodeType="withEffect">
                                  <p:stCondLst>
                                    <p:cond delay="150"/>
                                  </p:stCondLst>
                                  <p:childTnLst>
                                    <p:set>
                                      <p:cBhvr>
                                        <p:cTn id="21" dur="1" fill="hold">
                                          <p:stCondLst>
                                            <p:cond delay="0"/>
                                          </p:stCondLst>
                                        </p:cTn>
                                        <p:tgtEl>
                                          <p:spTgt spid="803"/>
                                        </p:tgtEl>
                                        <p:attrNameLst>
                                          <p:attrName>style.visibility</p:attrName>
                                        </p:attrNameLst>
                                      </p:cBhvr>
                                      <p:to>
                                        <p:strVal val="visible"/>
                                      </p:to>
                                    </p:set>
                                    <p:animEffect transition="in" filter="fade">
                                      <p:cBhvr>
                                        <p:cTn id="22" dur="500"/>
                                        <p:tgtEl>
                                          <p:spTgt spid="803"/>
                                        </p:tgtEl>
                                      </p:cBhvr>
                                    </p:animEffect>
                                  </p:childTnLst>
                                </p:cTn>
                              </p:par>
                              <p:par>
                                <p:cTn id="23" presetID="10" presetClass="entr" presetSubtype="0" fill="hold" nodeType="withEffect">
                                  <p:stCondLst>
                                    <p:cond delay="300"/>
                                  </p:stCondLst>
                                  <p:childTnLst>
                                    <p:set>
                                      <p:cBhvr>
                                        <p:cTn id="24" dur="1" fill="hold">
                                          <p:stCondLst>
                                            <p:cond delay="0"/>
                                          </p:stCondLst>
                                        </p:cTn>
                                        <p:tgtEl>
                                          <p:spTgt spid="804"/>
                                        </p:tgtEl>
                                        <p:attrNameLst>
                                          <p:attrName>style.visibility</p:attrName>
                                        </p:attrNameLst>
                                      </p:cBhvr>
                                      <p:to>
                                        <p:strVal val="visible"/>
                                      </p:to>
                                    </p:set>
                                    <p:animEffect transition="in" filter="fade">
                                      <p:cBhvr>
                                        <p:cTn id="25" dur="500"/>
                                        <p:tgtEl>
                                          <p:spTgt spid="804"/>
                                        </p:tgtEl>
                                      </p:cBhvr>
                                    </p:animEffect>
                                  </p:childTnLst>
                                </p:cTn>
                              </p:par>
                              <p:par>
                                <p:cTn id="26" presetID="10" presetClass="entr" presetSubtype="0" fill="hold" nodeType="withEffect">
                                  <p:stCondLst>
                                    <p:cond delay="450"/>
                                  </p:stCondLst>
                                  <p:childTnLst>
                                    <p:set>
                                      <p:cBhvr>
                                        <p:cTn id="27" dur="1" fill="hold">
                                          <p:stCondLst>
                                            <p:cond delay="0"/>
                                          </p:stCondLst>
                                        </p:cTn>
                                        <p:tgtEl>
                                          <p:spTgt spid="805"/>
                                        </p:tgtEl>
                                        <p:attrNameLst>
                                          <p:attrName>style.visibility</p:attrName>
                                        </p:attrNameLst>
                                      </p:cBhvr>
                                      <p:to>
                                        <p:strVal val="visible"/>
                                      </p:to>
                                    </p:set>
                                    <p:animEffect transition="in" filter="fade">
                                      <p:cBhvr>
                                        <p:cTn id="28" dur="500"/>
                                        <p:tgtEl>
                                          <p:spTgt spid="805"/>
                                        </p:tgtEl>
                                      </p:cBhvr>
                                    </p:animEffect>
                                  </p:childTnLst>
                                </p:cTn>
                              </p:par>
                              <p:par>
                                <p:cTn id="29" presetID="10" presetClass="entr" presetSubtype="0" fill="hold" nodeType="withEffect">
                                  <p:stCondLst>
                                    <p:cond delay="650"/>
                                  </p:stCondLst>
                                  <p:childTnLst>
                                    <p:set>
                                      <p:cBhvr>
                                        <p:cTn id="30" dur="1" fill="hold">
                                          <p:stCondLst>
                                            <p:cond delay="0"/>
                                          </p:stCondLst>
                                        </p:cTn>
                                        <p:tgtEl>
                                          <p:spTgt spid="806"/>
                                        </p:tgtEl>
                                        <p:attrNameLst>
                                          <p:attrName>style.visibility</p:attrName>
                                        </p:attrNameLst>
                                      </p:cBhvr>
                                      <p:to>
                                        <p:strVal val="visible"/>
                                      </p:to>
                                    </p:set>
                                    <p:animEffect transition="in" filter="fade">
                                      <p:cBhvr>
                                        <p:cTn id="31" dur="500"/>
                                        <p:tgtEl>
                                          <p:spTgt spid="806"/>
                                        </p:tgtEl>
                                      </p:cBhvr>
                                    </p:animEffect>
                                  </p:childTnLst>
                                </p:cTn>
                              </p:par>
                              <p:par>
                                <p:cTn id="32" presetID="23" presetClass="entr" presetSubtype="16" fill="hold" nodeType="withEffect">
                                  <p:stCondLst>
                                    <p:cond delay="300"/>
                                  </p:stCondLst>
                                  <p:childTnLst>
                                    <p:set>
                                      <p:cBhvr>
                                        <p:cTn id="33" dur="1" fill="hold">
                                          <p:stCondLst>
                                            <p:cond delay="0"/>
                                          </p:stCondLst>
                                        </p:cTn>
                                        <p:tgtEl>
                                          <p:spTgt spid="807"/>
                                        </p:tgtEl>
                                        <p:attrNameLst>
                                          <p:attrName>style.visibility</p:attrName>
                                        </p:attrNameLst>
                                      </p:cBhvr>
                                      <p:to>
                                        <p:strVal val="visible"/>
                                      </p:to>
                                    </p:set>
                                    <p:anim calcmode="lin" valueType="num">
                                      <p:cBhvr additive="base">
                                        <p:cTn id="34" dur="500"/>
                                        <p:tgtEl>
                                          <p:spTgt spid="807"/>
                                        </p:tgtEl>
                                        <p:attrNameLst>
                                          <p:attrName>ppt_w</p:attrName>
                                        </p:attrNameLst>
                                      </p:cBhvr>
                                      <p:tavLst>
                                        <p:tav tm="0">
                                          <p:val>
                                            <p:strVal val="0"/>
                                          </p:val>
                                        </p:tav>
                                        <p:tav tm="100000">
                                          <p:val>
                                            <p:strVal val="#ppt_w"/>
                                          </p:val>
                                        </p:tav>
                                      </p:tavLst>
                                    </p:anim>
                                    <p:anim calcmode="lin" valueType="num">
                                      <p:cBhvr additive="base">
                                        <p:cTn id="35" dur="500"/>
                                        <p:tgtEl>
                                          <p:spTgt spid="807"/>
                                        </p:tgtEl>
                                        <p:attrNameLst>
                                          <p:attrName>ppt_h</p:attrName>
                                        </p:attrNameLst>
                                      </p:cBhvr>
                                      <p:tavLst>
                                        <p:tav tm="0">
                                          <p:val>
                                            <p:strVal val="0"/>
                                          </p:val>
                                        </p:tav>
                                        <p:tav tm="100000">
                                          <p:val>
                                            <p:strVal val="#ppt_h"/>
                                          </p:val>
                                        </p:tav>
                                      </p:tavLst>
                                    </p:anim>
                                  </p:childTnLst>
                                </p:cTn>
                              </p:par>
                              <p:par>
                                <p:cTn id="36" presetID="23" presetClass="entr" presetSubtype="16" fill="hold" nodeType="withEffect">
                                  <p:stCondLst>
                                    <p:cond delay="450"/>
                                  </p:stCondLst>
                                  <p:childTnLst>
                                    <p:set>
                                      <p:cBhvr>
                                        <p:cTn id="37" dur="1" fill="hold">
                                          <p:stCondLst>
                                            <p:cond delay="0"/>
                                          </p:stCondLst>
                                        </p:cTn>
                                        <p:tgtEl>
                                          <p:spTgt spid="813"/>
                                        </p:tgtEl>
                                        <p:attrNameLst>
                                          <p:attrName>style.visibility</p:attrName>
                                        </p:attrNameLst>
                                      </p:cBhvr>
                                      <p:to>
                                        <p:strVal val="visible"/>
                                      </p:to>
                                    </p:set>
                                    <p:anim calcmode="lin" valueType="num">
                                      <p:cBhvr additive="base">
                                        <p:cTn id="38" dur="500"/>
                                        <p:tgtEl>
                                          <p:spTgt spid="813"/>
                                        </p:tgtEl>
                                        <p:attrNameLst>
                                          <p:attrName>ppt_w</p:attrName>
                                        </p:attrNameLst>
                                      </p:cBhvr>
                                      <p:tavLst>
                                        <p:tav tm="0">
                                          <p:val>
                                            <p:strVal val="0"/>
                                          </p:val>
                                        </p:tav>
                                        <p:tav tm="100000">
                                          <p:val>
                                            <p:strVal val="#ppt_w"/>
                                          </p:val>
                                        </p:tav>
                                      </p:tavLst>
                                    </p:anim>
                                    <p:anim calcmode="lin" valueType="num">
                                      <p:cBhvr additive="base">
                                        <p:cTn id="39" dur="500"/>
                                        <p:tgtEl>
                                          <p:spTgt spid="813"/>
                                        </p:tgtEl>
                                        <p:attrNameLst>
                                          <p:attrName>ppt_h</p:attrName>
                                        </p:attrNameLst>
                                      </p:cBhvr>
                                      <p:tavLst>
                                        <p:tav tm="0">
                                          <p:val>
                                            <p:strVal val="0"/>
                                          </p:val>
                                        </p:tav>
                                        <p:tav tm="100000">
                                          <p:val>
                                            <p:strVal val="#ppt_h"/>
                                          </p:val>
                                        </p:tav>
                                      </p:tavLst>
                                    </p:anim>
                                  </p:childTnLst>
                                </p:cTn>
                              </p:par>
                              <p:par>
                                <p:cTn id="40" presetID="23" presetClass="entr" presetSubtype="16" fill="hold" nodeType="withEffect">
                                  <p:stCondLst>
                                    <p:cond delay="600"/>
                                  </p:stCondLst>
                                  <p:childTnLst>
                                    <p:set>
                                      <p:cBhvr>
                                        <p:cTn id="41" dur="1" fill="hold">
                                          <p:stCondLst>
                                            <p:cond delay="0"/>
                                          </p:stCondLst>
                                        </p:cTn>
                                        <p:tgtEl>
                                          <p:spTgt spid="819"/>
                                        </p:tgtEl>
                                        <p:attrNameLst>
                                          <p:attrName>style.visibility</p:attrName>
                                        </p:attrNameLst>
                                      </p:cBhvr>
                                      <p:to>
                                        <p:strVal val="visible"/>
                                      </p:to>
                                    </p:set>
                                    <p:anim calcmode="lin" valueType="num">
                                      <p:cBhvr additive="base">
                                        <p:cTn id="42" dur="500"/>
                                        <p:tgtEl>
                                          <p:spTgt spid="819"/>
                                        </p:tgtEl>
                                        <p:attrNameLst>
                                          <p:attrName>ppt_w</p:attrName>
                                        </p:attrNameLst>
                                      </p:cBhvr>
                                      <p:tavLst>
                                        <p:tav tm="0">
                                          <p:val>
                                            <p:strVal val="0"/>
                                          </p:val>
                                        </p:tav>
                                        <p:tav tm="100000">
                                          <p:val>
                                            <p:strVal val="#ppt_w"/>
                                          </p:val>
                                        </p:tav>
                                      </p:tavLst>
                                    </p:anim>
                                    <p:anim calcmode="lin" valueType="num">
                                      <p:cBhvr additive="base">
                                        <p:cTn id="43" dur="500"/>
                                        <p:tgtEl>
                                          <p:spTgt spid="819"/>
                                        </p:tgtEl>
                                        <p:attrNameLst>
                                          <p:attrName>ppt_h</p:attrName>
                                        </p:attrNameLst>
                                      </p:cBhvr>
                                      <p:tavLst>
                                        <p:tav tm="0">
                                          <p:val>
                                            <p:strVal val="0"/>
                                          </p:val>
                                        </p:tav>
                                        <p:tav tm="100000">
                                          <p:val>
                                            <p:strVal val="#ppt_h"/>
                                          </p:val>
                                        </p:tav>
                                      </p:tavLst>
                                    </p:anim>
                                  </p:childTnLst>
                                </p:cTn>
                              </p:par>
                              <p:par>
                                <p:cTn id="44" presetID="23" presetClass="entr" presetSubtype="16" fill="hold" nodeType="withEffect">
                                  <p:stCondLst>
                                    <p:cond delay="800"/>
                                  </p:stCondLst>
                                  <p:childTnLst>
                                    <p:set>
                                      <p:cBhvr>
                                        <p:cTn id="45" dur="1" fill="hold">
                                          <p:stCondLst>
                                            <p:cond delay="0"/>
                                          </p:stCondLst>
                                        </p:cTn>
                                        <p:tgtEl>
                                          <p:spTgt spid="816"/>
                                        </p:tgtEl>
                                        <p:attrNameLst>
                                          <p:attrName>style.visibility</p:attrName>
                                        </p:attrNameLst>
                                      </p:cBhvr>
                                      <p:to>
                                        <p:strVal val="visible"/>
                                      </p:to>
                                    </p:set>
                                    <p:anim calcmode="lin" valueType="num">
                                      <p:cBhvr additive="base">
                                        <p:cTn id="46" dur="500"/>
                                        <p:tgtEl>
                                          <p:spTgt spid="816"/>
                                        </p:tgtEl>
                                        <p:attrNameLst>
                                          <p:attrName>ppt_w</p:attrName>
                                        </p:attrNameLst>
                                      </p:cBhvr>
                                      <p:tavLst>
                                        <p:tav tm="0">
                                          <p:val>
                                            <p:strVal val="0"/>
                                          </p:val>
                                        </p:tav>
                                        <p:tav tm="100000">
                                          <p:val>
                                            <p:strVal val="#ppt_w"/>
                                          </p:val>
                                        </p:tav>
                                      </p:tavLst>
                                    </p:anim>
                                    <p:anim calcmode="lin" valueType="num">
                                      <p:cBhvr additive="base">
                                        <p:cTn id="47" dur="500"/>
                                        <p:tgtEl>
                                          <p:spTgt spid="816"/>
                                        </p:tgtEl>
                                        <p:attrNameLst>
                                          <p:attrName>ppt_h</p:attrName>
                                        </p:attrNameLst>
                                      </p:cBhvr>
                                      <p:tavLst>
                                        <p:tav tm="0">
                                          <p:val>
                                            <p:strVal val="0"/>
                                          </p:val>
                                        </p:tav>
                                        <p:tav tm="100000">
                                          <p:val>
                                            <p:strVal val="#ppt_h"/>
                                          </p:val>
                                        </p:tav>
                                      </p:tavLst>
                                    </p:anim>
                                  </p:childTnLst>
                                </p:cTn>
                              </p:par>
                              <p:par>
                                <p:cTn id="48" presetID="23" presetClass="entr" presetSubtype="16" fill="hold" nodeType="withEffect">
                                  <p:stCondLst>
                                    <p:cond delay="1000"/>
                                  </p:stCondLst>
                                  <p:childTnLst>
                                    <p:set>
                                      <p:cBhvr>
                                        <p:cTn id="49" dur="1" fill="hold">
                                          <p:stCondLst>
                                            <p:cond delay="0"/>
                                          </p:stCondLst>
                                        </p:cTn>
                                        <p:tgtEl>
                                          <p:spTgt spid="810"/>
                                        </p:tgtEl>
                                        <p:attrNameLst>
                                          <p:attrName>style.visibility</p:attrName>
                                        </p:attrNameLst>
                                      </p:cBhvr>
                                      <p:to>
                                        <p:strVal val="visible"/>
                                      </p:to>
                                    </p:set>
                                    <p:anim calcmode="lin" valueType="num">
                                      <p:cBhvr additive="base">
                                        <p:cTn id="50" dur="500"/>
                                        <p:tgtEl>
                                          <p:spTgt spid="810"/>
                                        </p:tgtEl>
                                        <p:attrNameLst>
                                          <p:attrName>ppt_w</p:attrName>
                                        </p:attrNameLst>
                                      </p:cBhvr>
                                      <p:tavLst>
                                        <p:tav tm="0">
                                          <p:val>
                                            <p:strVal val="0"/>
                                          </p:val>
                                        </p:tav>
                                        <p:tav tm="100000">
                                          <p:val>
                                            <p:strVal val="#ppt_w"/>
                                          </p:val>
                                        </p:tav>
                                      </p:tavLst>
                                    </p:anim>
                                    <p:anim calcmode="lin" valueType="num">
                                      <p:cBhvr additive="base">
                                        <p:cTn id="51" dur="500"/>
                                        <p:tgtEl>
                                          <p:spTgt spid="810"/>
                                        </p:tgtEl>
                                        <p:attrNameLst>
                                          <p:attrName>ppt_h</p:attrName>
                                        </p:attrNameLst>
                                      </p:cBhvr>
                                      <p:tavLst>
                                        <p:tav tm="0">
                                          <p:val>
                                            <p:strVal val="0"/>
                                          </p:val>
                                        </p:tav>
                                        <p:tav tm="100000">
                                          <p:val>
                                            <p:strVal val="#ppt_h"/>
                                          </p:val>
                                        </p:tav>
                                      </p:tavLst>
                                    </p:anim>
                                  </p:childTnLst>
                                </p:cTn>
                              </p:par>
                              <p:par>
                                <p:cTn id="52" presetID="23" presetClass="entr" presetSubtype="16" fill="hold" nodeType="withEffect">
                                  <p:stCondLst>
                                    <p:cond delay="450"/>
                                  </p:stCondLst>
                                  <p:childTnLst>
                                    <p:set>
                                      <p:cBhvr>
                                        <p:cTn id="53" dur="1" fill="hold">
                                          <p:stCondLst>
                                            <p:cond delay="0"/>
                                          </p:stCondLst>
                                        </p:cTn>
                                        <p:tgtEl>
                                          <p:spTgt spid="830"/>
                                        </p:tgtEl>
                                        <p:attrNameLst>
                                          <p:attrName>style.visibility</p:attrName>
                                        </p:attrNameLst>
                                      </p:cBhvr>
                                      <p:to>
                                        <p:strVal val="visible"/>
                                      </p:to>
                                    </p:set>
                                    <p:anim calcmode="lin" valueType="num">
                                      <p:cBhvr additive="base">
                                        <p:cTn id="54" dur="500"/>
                                        <p:tgtEl>
                                          <p:spTgt spid="830"/>
                                        </p:tgtEl>
                                        <p:attrNameLst>
                                          <p:attrName>ppt_w</p:attrName>
                                        </p:attrNameLst>
                                      </p:cBhvr>
                                      <p:tavLst>
                                        <p:tav tm="0">
                                          <p:val>
                                            <p:strVal val="0"/>
                                          </p:val>
                                        </p:tav>
                                        <p:tav tm="100000">
                                          <p:val>
                                            <p:strVal val="#ppt_w"/>
                                          </p:val>
                                        </p:tav>
                                      </p:tavLst>
                                    </p:anim>
                                    <p:anim calcmode="lin" valueType="num">
                                      <p:cBhvr additive="base">
                                        <p:cTn id="55" dur="500"/>
                                        <p:tgtEl>
                                          <p:spTgt spid="830"/>
                                        </p:tgtEl>
                                        <p:attrNameLst>
                                          <p:attrName>ppt_h</p:attrName>
                                        </p:attrNameLst>
                                      </p:cBhvr>
                                      <p:tavLst>
                                        <p:tav tm="0">
                                          <p:val>
                                            <p:strVal val="0"/>
                                          </p:val>
                                        </p:tav>
                                        <p:tav tm="100000">
                                          <p:val>
                                            <p:strVal val="#ppt_h"/>
                                          </p:val>
                                        </p:tav>
                                      </p:tavLst>
                                    </p:anim>
                                  </p:childTnLst>
                                </p:cTn>
                              </p:par>
                              <p:par>
                                <p:cTn id="56" presetID="23" presetClass="entr" presetSubtype="16" fill="hold" nodeType="withEffect">
                                  <p:stCondLst>
                                    <p:cond delay="600"/>
                                  </p:stCondLst>
                                  <p:childTnLst>
                                    <p:set>
                                      <p:cBhvr>
                                        <p:cTn id="57" dur="1" fill="hold">
                                          <p:stCondLst>
                                            <p:cond delay="0"/>
                                          </p:stCondLst>
                                        </p:cTn>
                                        <p:tgtEl>
                                          <p:spTgt spid="828"/>
                                        </p:tgtEl>
                                        <p:attrNameLst>
                                          <p:attrName>style.visibility</p:attrName>
                                        </p:attrNameLst>
                                      </p:cBhvr>
                                      <p:to>
                                        <p:strVal val="visible"/>
                                      </p:to>
                                    </p:set>
                                    <p:anim calcmode="lin" valueType="num">
                                      <p:cBhvr additive="base">
                                        <p:cTn id="58" dur="500"/>
                                        <p:tgtEl>
                                          <p:spTgt spid="828"/>
                                        </p:tgtEl>
                                        <p:attrNameLst>
                                          <p:attrName>ppt_w</p:attrName>
                                        </p:attrNameLst>
                                      </p:cBhvr>
                                      <p:tavLst>
                                        <p:tav tm="0">
                                          <p:val>
                                            <p:strVal val="0"/>
                                          </p:val>
                                        </p:tav>
                                        <p:tav tm="100000">
                                          <p:val>
                                            <p:strVal val="#ppt_w"/>
                                          </p:val>
                                        </p:tav>
                                      </p:tavLst>
                                    </p:anim>
                                    <p:anim calcmode="lin" valueType="num">
                                      <p:cBhvr additive="base">
                                        <p:cTn id="59" dur="500"/>
                                        <p:tgtEl>
                                          <p:spTgt spid="828"/>
                                        </p:tgtEl>
                                        <p:attrNameLst>
                                          <p:attrName>ppt_h</p:attrName>
                                        </p:attrNameLst>
                                      </p:cBhvr>
                                      <p:tavLst>
                                        <p:tav tm="0">
                                          <p:val>
                                            <p:strVal val="0"/>
                                          </p:val>
                                        </p:tav>
                                        <p:tav tm="100000">
                                          <p:val>
                                            <p:strVal val="#ppt_h"/>
                                          </p:val>
                                        </p:tav>
                                      </p:tavLst>
                                    </p:anim>
                                  </p:childTnLst>
                                </p:cTn>
                              </p:par>
                              <p:par>
                                <p:cTn id="60" presetID="23" presetClass="entr" presetSubtype="16" fill="hold" nodeType="withEffect">
                                  <p:stCondLst>
                                    <p:cond delay="800"/>
                                  </p:stCondLst>
                                  <p:childTnLst>
                                    <p:set>
                                      <p:cBhvr>
                                        <p:cTn id="61" dur="1" fill="hold">
                                          <p:stCondLst>
                                            <p:cond delay="0"/>
                                          </p:stCondLst>
                                        </p:cTn>
                                        <p:tgtEl>
                                          <p:spTgt spid="829"/>
                                        </p:tgtEl>
                                        <p:attrNameLst>
                                          <p:attrName>style.visibility</p:attrName>
                                        </p:attrNameLst>
                                      </p:cBhvr>
                                      <p:to>
                                        <p:strVal val="visible"/>
                                      </p:to>
                                    </p:set>
                                    <p:anim calcmode="lin" valueType="num">
                                      <p:cBhvr additive="base">
                                        <p:cTn id="62" dur="500"/>
                                        <p:tgtEl>
                                          <p:spTgt spid="829"/>
                                        </p:tgtEl>
                                        <p:attrNameLst>
                                          <p:attrName>ppt_w</p:attrName>
                                        </p:attrNameLst>
                                      </p:cBhvr>
                                      <p:tavLst>
                                        <p:tav tm="0">
                                          <p:val>
                                            <p:strVal val="0"/>
                                          </p:val>
                                        </p:tav>
                                        <p:tav tm="100000">
                                          <p:val>
                                            <p:strVal val="#ppt_w"/>
                                          </p:val>
                                        </p:tav>
                                      </p:tavLst>
                                    </p:anim>
                                    <p:anim calcmode="lin" valueType="num">
                                      <p:cBhvr additive="base">
                                        <p:cTn id="63" dur="500"/>
                                        <p:tgtEl>
                                          <p:spTgt spid="829"/>
                                        </p:tgtEl>
                                        <p:attrNameLst>
                                          <p:attrName>ppt_h</p:attrName>
                                        </p:attrNameLst>
                                      </p:cBhvr>
                                      <p:tavLst>
                                        <p:tav tm="0">
                                          <p:val>
                                            <p:strVal val="0"/>
                                          </p:val>
                                        </p:tav>
                                        <p:tav tm="100000">
                                          <p:val>
                                            <p:strVal val="#ppt_h"/>
                                          </p:val>
                                        </p:tav>
                                      </p:tavLst>
                                    </p:anim>
                                  </p:childTnLst>
                                </p:cTn>
                              </p:par>
                              <p:par>
                                <p:cTn id="64" presetID="23" presetClass="entr" presetSubtype="16" fill="hold" nodeType="withEffect">
                                  <p:stCondLst>
                                    <p:cond delay="1000"/>
                                  </p:stCondLst>
                                  <p:childTnLst>
                                    <p:set>
                                      <p:cBhvr>
                                        <p:cTn id="65" dur="1" fill="hold">
                                          <p:stCondLst>
                                            <p:cond delay="0"/>
                                          </p:stCondLst>
                                        </p:cTn>
                                        <p:tgtEl>
                                          <p:spTgt spid="831"/>
                                        </p:tgtEl>
                                        <p:attrNameLst>
                                          <p:attrName>style.visibility</p:attrName>
                                        </p:attrNameLst>
                                      </p:cBhvr>
                                      <p:to>
                                        <p:strVal val="visible"/>
                                      </p:to>
                                    </p:set>
                                    <p:anim calcmode="lin" valueType="num">
                                      <p:cBhvr additive="base">
                                        <p:cTn id="66" dur="500"/>
                                        <p:tgtEl>
                                          <p:spTgt spid="831"/>
                                        </p:tgtEl>
                                        <p:attrNameLst>
                                          <p:attrName>ppt_w</p:attrName>
                                        </p:attrNameLst>
                                      </p:cBhvr>
                                      <p:tavLst>
                                        <p:tav tm="0">
                                          <p:val>
                                            <p:strVal val="0"/>
                                          </p:val>
                                        </p:tav>
                                        <p:tav tm="100000">
                                          <p:val>
                                            <p:strVal val="#ppt_w"/>
                                          </p:val>
                                        </p:tav>
                                      </p:tavLst>
                                    </p:anim>
                                    <p:anim calcmode="lin" valueType="num">
                                      <p:cBhvr additive="base">
                                        <p:cTn id="67" dur="500"/>
                                        <p:tgtEl>
                                          <p:spTgt spid="831"/>
                                        </p:tgtEl>
                                        <p:attrNameLst>
                                          <p:attrName>ppt_h</p:attrName>
                                        </p:attrNameLst>
                                      </p:cBhvr>
                                      <p:tavLst>
                                        <p:tav tm="0">
                                          <p:val>
                                            <p:strVal val="0"/>
                                          </p:val>
                                        </p:tav>
                                        <p:tav tm="100000">
                                          <p:val>
                                            <p:strVal val="#ppt_h"/>
                                          </p:val>
                                        </p:tav>
                                      </p:tavLst>
                                    </p:anim>
                                  </p:childTnLst>
                                </p:cTn>
                              </p:par>
                              <p:par>
                                <p:cTn id="68" presetID="23" presetClass="entr" presetSubtype="16" fill="hold" nodeType="withEffect">
                                  <p:stCondLst>
                                    <p:cond delay="1200"/>
                                  </p:stCondLst>
                                  <p:childTnLst>
                                    <p:set>
                                      <p:cBhvr>
                                        <p:cTn id="69" dur="1" fill="hold">
                                          <p:stCondLst>
                                            <p:cond delay="0"/>
                                          </p:stCondLst>
                                        </p:cTn>
                                        <p:tgtEl>
                                          <p:spTgt spid="827"/>
                                        </p:tgtEl>
                                        <p:attrNameLst>
                                          <p:attrName>style.visibility</p:attrName>
                                        </p:attrNameLst>
                                      </p:cBhvr>
                                      <p:to>
                                        <p:strVal val="visible"/>
                                      </p:to>
                                    </p:set>
                                    <p:anim calcmode="lin" valueType="num">
                                      <p:cBhvr additive="base">
                                        <p:cTn id="70" dur="500"/>
                                        <p:tgtEl>
                                          <p:spTgt spid="827"/>
                                        </p:tgtEl>
                                        <p:attrNameLst>
                                          <p:attrName>ppt_w</p:attrName>
                                        </p:attrNameLst>
                                      </p:cBhvr>
                                      <p:tavLst>
                                        <p:tav tm="0">
                                          <p:val>
                                            <p:strVal val="0"/>
                                          </p:val>
                                        </p:tav>
                                        <p:tav tm="100000">
                                          <p:val>
                                            <p:strVal val="#ppt_w"/>
                                          </p:val>
                                        </p:tav>
                                      </p:tavLst>
                                    </p:anim>
                                    <p:anim calcmode="lin" valueType="num">
                                      <p:cBhvr additive="base">
                                        <p:cTn id="71" dur="500"/>
                                        <p:tgtEl>
                                          <p:spTgt spid="827"/>
                                        </p:tgtEl>
                                        <p:attrNameLst>
                                          <p:attrName>ppt_h</p:attrName>
                                        </p:attrNameLst>
                                      </p:cBhvr>
                                      <p:tavLst>
                                        <p:tav tm="0">
                                          <p:val>
                                            <p:strVal val="0"/>
                                          </p:val>
                                        </p:tav>
                                        <p:tav tm="100000">
                                          <p:val>
                                            <p:strVal val="#ppt_h"/>
                                          </p:val>
                                        </p:tav>
                                      </p:tavLst>
                                    </p:anim>
                                  </p:childTnLst>
                                </p:cTn>
                              </p:par>
                              <p:par>
                                <p:cTn id="72" presetID="10" presetClass="entr" presetSubtype="0" fill="hold" nodeType="withEffect">
                                  <p:stCondLst>
                                    <p:cond delay="600"/>
                                  </p:stCondLst>
                                  <p:childTnLst>
                                    <p:set>
                                      <p:cBhvr>
                                        <p:cTn id="73" dur="1" fill="hold">
                                          <p:stCondLst>
                                            <p:cond delay="0"/>
                                          </p:stCondLst>
                                        </p:cTn>
                                        <p:tgtEl>
                                          <p:spTgt spid="822"/>
                                        </p:tgtEl>
                                        <p:attrNameLst>
                                          <p:attrName>style.visibility</p:attrName>
                                        </p:attrNameLst>
                                      </p:cBhvr>
                                      <p:to>
                                        <p:strVal val="visible"/>
                                      </p:to>
                                    </p:set>
                                    <p:animEffect transition="in" filter="fade">
                                      <p:cBhvr>
                                        <p:cTn id="74" dur="500"/>
                                        <p:tgtEl>
                                          <p:spTgt spid="822"/>
                                        </p:tgtEl>
                                      </p:cBhvr>
                                    </p:animEffect>
                                  </p:childTnLst>
                                </p:cTn>
                              </p:par>
                              <p:par>
                                <p:cTn id="75" presetID="10" presetClass="entr" presetSubtype="0" fill="hold" nodeType="withEffect">
                                  <p:stCondLst>
                                    <p:cond delay="800"/>
                                  </p:stCondLst>
                                  <p:childTnLst>
                                    <p:set>
                                      <p:cBhvr>
                                        <p:cTn id="76" dur="1" fill="hold">
                                          <p:stCondLst>
                                            <p:cond delay="0"/>
                                          </p:stCondLst>
                                        </p:cTn>
                                        <p:tgtEl>
                                          <p:spTgt spid="823"/>
                                        </p:tgtEl>
                                        <p:attrNameLst>
                                          <p:attrName>style.visibility</p:attrName>
                                        </p:attrNameLst>
                                      </p:cBhvr>
                                      <p:to>
                                        <p:strVal val="visible"/>
                                      </p:to>
                                    </p:set>
                                    <p:animEffect transition="in" filter="fade">
                                      <p:cBhvr>
                                        <p:cTn id="77" dur="500"/>
                                        <p:tgtEl>
                                          <p:spTgt spid="823"/>
                                        </p:tgtEl>
                                      </p:cBhvr>
                                    </p:animEffect>
                                  </p:childTnLst>
                                </p:cTn>
                              </p:par>
                              <p:par>
                                <p:cTn id="78" presetID="10" presetClass="entr" presetSubtype="0" fill="hold" nodeType="withEffect">
                                  <p:stCondLst>
                                    <p:cond delay="1000"/>
                                  </p:stCondLst>
                                  <p:childTnLst>
                                    <p:set>
                                      <p:cBhvr>
                                        <p:cTn id="79" dur="1" fill="hold">
                                          <p:stCondLst>
                                            <p:cond delay="0"/>
                                          </p:stCondLst>
                                        </p:cTn>
                                        <p:tgtEl>
                                          <p:spTgt spid="826"/>
                                        </p:tgtEl>
                                        <p:attrNameLst>
                                          <p:attrName>style.visibility</p:attrName>
                                        </p:attrNameLst>
                                      </p:cBhvr>
                                      <p:to>
                                        <p:strVal val="visible"/>
                                      </p:to>
                                    </p:set>
                                    <p:animEffect transition="in" filter="fade">
                                      <p:cBhvr>
                                        <p:cTn id="80" dur="500"/>
                                        <p:tgtEl>
                                          <p:spTgt spid="826"/>
                                        </p:tgtEl>
                                      </p:cBhvr>
                                    </p:animEffect>
                                  </p:childTnLst>
                                </p:cTn>
                              </p:par>
                              <p:par>
                                <p:cTn id="81" presetID="10" presetClass="entr" presetSubtype="0" fill="hold" nodeType="withEffect">
                                  <p:stCondLst>
                                    <p:cond delay="1200"/>
                                  </p:stCondLst>
                                  <p:childTnLst>
                                    <p:set>
                                      <p:cBhvr>
                                        <p:cTn id="82" dur="1" fill="hold">
                                          <p:stCondLst>
                                            <p:cond delay="0"/>
                                          </p:stCondLst>
                                        </p:cTn>
                                        <p:tgtEl>
                                          <p:spTgt spid="825"/>
                                        </p:tgtEl>
                                        <p:attrNameLst>
                                          <p:attrName>style.visibility</p:attrName>
                                        </p:attrNameLst>
                                      </p:cBhvr>
                                      <p:to>
                                        <p:strVal val="visible"/>
                                      </p:to>
                                    </p:set>
                                    <p:animEffect transition="in" filter="fade">
                                      <p:cBhvr>
                                        <p:cTn id="83" dur="500"/>
                                        <p:tgtEl>
                                          <p:spTgt spid="825"/>
                                        </p:tgtEl>
                                      </p:cBhvr>
                                    </p:animEffect>
                                  </p:childTnLst>
                                </p:cTn>
                              </p:par>
                              <p:par>
                                <p:cTn id="84" presetID="10" presetClass="entr" presetSubtype="0" fill="hold" nodeType="withEffect">
                                  <p:stCondLst>
                                    <p:cond delay="1400"/>
                                  </p:stCondLst>
                                  <p:childTnLst>
                                    <p:set>
                                      <p:cBhvr>
                                        <p:cTn id="85" dur="1" fill="hold">
                                          <p:stCondLst>
                                            <p:cond delay="0"/>
                                          </p:stCondLst>
                                        </p:cTn>
                                        <p:tgtEl>
                                          <p:spTgt spid="824"/>
                                        </p:tgtEl>
                                        <p:attrNameLst>
                                          <p:attrName>style.visibility</p:attrName>
                                        </p:attrNameLst>
                                      </p:cBhvr>
                                      <p:to>
                                        <p:strVal val="visible"/>
                                      </p:to>
                                    </p:set>
                                    <p:animEffect transition="in" filter="fade">
                                      <p:cBhvr>
                                        <p:cTn id="86" dur="500"/>
                                        <p:tgtEl>
                                          <p:spTgt spid="824"/>
                                        </p:tgtEl>
                                      </p:cBhvr>
                                    </p:animEffect>
                                  </p:childTnLst>
                                </p:cTn>
                              </p:par>
                              <p:par>
                                <p:cTn id="87" presetID="10" presetClass="entr" presetSubtype="0" fill="hold" nodeType="withEffect">
                                  <p:stCondLst>
                                    <p:cond delay="600"/>
                                  </p:stCondLst>
                                  <p:childTnLst>
                                    <p:set>
                                      <p:cBhvr>
                                        <p:cTn id="88" dur="1" fill="hold">
                                          <p:stCondLst>
                                            <p:cond delay="0"/>
                                          </p:stCondLst>
                                        </p:cTn>
                                        <p:tgtEl>
                                          <p:spTgt spid="799"/>
                                        </p:tgtEl>
                                        <p:attrNameLst>
                                          <p:attrName>style.visibility</p:attrName>
                                        </p:attrNameLst>
                                      </p:cBhvr>
                                      <p:to>
                                        <p:strVal val="visible"/>
                                      </p:to>
                                    </p:set>
                                    <p:animEffect transition="in" filter="fade">
                                      <p:cBhvr>
                                        <p:cTn id="89" dur="500"/>
                                        <p:tgtEl>
                                          <p:spTgt spid="799"/>
                                        </p:tgtEl>
                                      </p:cBhvr>
                                    </p:animEffect>
                                  </p:childTnLst>
                                </p:cTn>
                              </p:par>
                              <p:par>
                                <p:cTn id="90" presetID="10" presetClass="entr" presetSubtype="0" fill="hold" nodeType="withEffect">
                                  <p:stCondLst>
                                    <p:cond delay="800"/>
                                  </p:stCondLst>
                                  <p:childTnLst>
                                    <p:set>
                                      <p:cBhvr>
                                        <p:cTn id="91" dur="1" fill="hold">
                                          <p:stCondLst>
                                            <p:cond delay="0"/>
                                          </p:stCondLst>
                                        </p:cTn>
                                        <p:tgtEl>
                                          <p:spTgt spid="798"/>
                                        </p:tgtEl>
                                        <p:attrNameLst>
                                          <p:attrName>style.visibility</p:attrName>
                                        </p:attrNameLst>
                                      </p:cBhvr>
                                      <p:to>
                                        <p:strVal val="visible"/>
                                      </p:to>
                                    </p:set>
                                    <p:animEffect transition="in" filter="fade">
                                      <p:cBhvr>
                                        <p:cTn id="92" dur="500"/>
                                        <p:tgtEl>
                                          <p:spTgt spid="798"/>
                                        </p:tgtEl>
                                      </p:cBhvr>
                                    </p:animEffect>
                                  </p:childTnLst>
                                </p:cTn>
                              </p:par>
                              <p:par>
                                <p:cTn id="93" presetID="10" presetClass="entr" presetSubtype="0" fill="hold" nodeType="withEffect">
                                  <p:stCondLst>
                                    <p:cond delay="950"/>
                                  </p:stCondLst>
                                  <p:childTnLst>
                                    <p:set>
                                      <p:cBhvr>
                                        <p:cTn id="94" dur="1" fill="hold">
                                          <p:stCondLst>
                                            <p:cond delay="0"/>
                                          </p:stCondLst>
                                        </p:cTn>
                                        <p:tgtEl>
                                          <p:spTgt spid="797"/>
                                        </p:tgtEl>
                                        <p:attrNameLst>
                                          <p:attrName>style.visibility</p:attrName>
                                        </p:attrNameLst>
                                      </p:cBhvr>
                                      <p:to>
                                        <p:strVal val="visible"/>
                                      </p:to>
                                    </p:set>
                                    <p:animEffect transition="in" filter="fade">
                                      <p:cBhvr>
                                        <p:cTn id="95" dur="500"/>
                                        <p:tgtEl>
                                          <p:spTgt spid="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8"/>
          <p:cNvSpPr/>
          <p:nvPr/>
        </p:nvSpPr>
        <p:spPr>
          <a:xfrm>
            <a:off x="9555310" y="2734031"/>
            <a:ext cx="969481" cy="969481"/>
          </a:xfrm>
          <a:prstGeom prst="ellipse">
            <a:avLst/>
          </a:prstGeom>
          <a:solidFill>
            <a:srgbClr val="595959">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840" name="Google Shape;840;p8"/>
          <p:cNvCxnSpPr/>
          <p:nvPr/>
        </p:nvCxnSpPr>
        <p:spPr>
          <a:xfrm>
            <a:off x="0" y="3068960"/>
            <a:ext cx="12188825" cy="0"/>
          </a:xfrm>
          <a:prstGeom prst="straightConnector1">
            <a:avLst/>
          </a:prstGeom>
          <a:noFill/>
          <a:ln w="38100" cap="flat" cmpd="sng">
            <a:solidFill>
              <a:srgbClr val="220052"/>
            </a:solidFill>
            <a:prstDash val="solid"/>
            <a:round/>
            <a:headEnd type="none" w="sm" len="sm"/>
            <a:tailEnd type="none" w="sm" len="sm"/>
          </a:ln>
        </p:spPr>
      </p:cxnSp>
      <p:sp>
        <p:nvSpPr>
          <p:cNvPr id="841" name="Google Shape;841;p8"/>
          <p:cNvSpPr txBox="1">
            <a:spLocks noGrp="1"/>
          </p:cNvSpPr>
          <p:nvPr>
            <p:ph type="title"/>
          </p:nvPr>
        </p:nvSpPr>
        <p:spPr>
          <a:xfrm>
            <a:off x="1053851" y="1340768"/>
            <a:ext cx="4968547" cy="1926089"/>
          </a:xfrm>
          <a:prstGeom prst="rect">
            <a:avLst/>
          </a:prstGeom>
          <a:noFill/>
          <a:ln>
            <a:noFill/>
          </a:ln>
        </p:spPr>
        <p:txBody>
          <a:bodyPr spcFirstLastPara="1" wrap="square" lIns="0" tIns="60925" rIns="0" bIns="60925" anchor="t" anchorCtr="0">
            <a:noAutofit/>
          </a:bodyPr>
          <a:lstStyle/>
          <a:p>
            <a:pPr marL="0" lvl="0" indent="0" algn="l" rtl="0">
              <a:spcBef>
                <a:spcPts val="0"/>
              </a:spcBef>
              <a:spcAft>
                <a:spcPts val="0"/>
              </a:spcAft>
              <a:buClr>
                <a:schemeClr val="accent1"/>
              </a:buClr>
              <a:buSzPts val="4000"/>
              <a:buFont typeface="Quattrocento Sans"/>
              <a:buNone/>
            </a:pPr>
            <a:r>
              <a:rPr lang="en-US"/>
              <a:t>What we do today?</a:t>
            </a:r>
            <a:endParaRPr/>
          </a:p>
        </p:txBody>
      </p:sp>
      <p:sp>
        <p:nvSpPr>
          <p:cNvPr id="842" name="Google Shape;842;p8"/>
          <p:cNvSpPr txBox="1"/>
          <p:nvPr/>
        </p:nvSpPr>
        <p:spPr>
          <a:xfrm>
            <a:off x="1053852" y="991761"/>
            <a:ext cx="3312368" cy="276999"/>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a:solidFill>
                  <a:schemeClr val="accent2"/>
                </a:solidFill>
                <a:latin typeface="Quattrocento Sans"/>
                <a:ea typeface="Quattrocento Sans"/>
                <a:cs typeface="Quattrocento Sans"/>
                <a:sym typeface="Quattrocento Sans"/>
              </a:rPr>
              <a:t>Anubhav Trainings</a:t>
            </a:r>
            <a:endParaRPr/>
          </a:p>
        </p:txBody>
      </p:sp>
      <p:grpSp>
        <p:nvGrpSpPr>
          <p:cNvPr id="843" name="Google Shape;843;p8"/>
          <p:cNvGrpSpPr/>
          <p:nvPr/>
        </p:nvGrpSpPr>
        <p:grpSpPr>
          <a:xfrm>
            <a:off x="1064313" y="2420888"/>
            <a:ext cx="1391068" cy="1296144"/>
            <a:chOff x="1064313" y="2547825"/>
            <a:chExt cx="1391068" cy="1296144"/>
          </a:xfrm>
        </p:grpSpPr>
        <p:sp>
          <p:nvSpPr>
            <p:cNvPr id="844" name="Google Shape;844;p8"/>
            <p:cNvSpPr/>
            <p:nvPr/>
          </p:nvSpPr>
          <p:spPr>
            <a:xfrm>
              <a:off x="1485900" y="2874488"/>
              <a:ext cx="969481" cy="969481"/>
            </a:xfrm>
            <a:prstGeom prst="ellipse">
              <a:avLst/>
            </a:prstGeom>
            <a:solidFill>
              <a:srgbClr val="595959">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nvGrpSpPr>
            <p:cNvPr id="845" name="Google Shape;845;p8"/>
            <p:cNvGrpSpPr/>
            <p:nvPr/>
          </p:nvGrpSpPr>
          <p:grpSpPr>
            <a:xfrm>
              <a:off x="1064313" y="2547825"/>
              <a:ext cx="1257513" cy="1093156"/>
              <a:chOff x="1064313" y="2924944"/>
              <a:chExt cx="1257513" cy="1093156"/>
            </a:xfrm>
          </p:grpSpPr>
          <p:sp>
            <p:nvSpPr>
              <p:cNvPr id="846" name="Google Shape;846;p8"/>
              <p:cNvSpPr/>
              <p:nvPr/>
            </p:nvSpPr>
            <p:spPr>
              <a:xfrm>
                <a:off x="1064313" y="2924944"/>
                <a:ext cx="576064" cy="576064"/>
              </a:xfrm>
              <a:prstGeom prst="ellipse">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Quattrocento Sans"/>
                    <a:ea typeface="Quattrocento Sans"/>
                    <a:cs typeface="Quattrocento Sans"/>
                    <a:sym typeface="Quattrocento Sans"/>
                  </a:rPr>
                  <a:t>1</a:t>
                </a:r>
                <a:endParaRPr/>
              </a:p>
            </p:txBody>
          </p:sp>
          <p:sp>
            <p:nvSpPr>
              <p:cNvPr id="847" name="Google Shape;847;p8"/>
              <p:cNvSpPr/>
              <p:nvPr/>
            </p:nvSpPr>
            <p:spPr>
              <a:xfrm>
                <a:off x="1352345" y="3048619"/>
                <a:ext cx="969481" cy="969481"/>
              </a:xfrm>
              <a:prstGeom prst="ellipse">
                <a:avLst/>
              </a:prstGeom>
              <a:gradFill>
                <a:gsLst>
                  <a:gs pos="0">
                    <a:srgbClr val="D8D8D8">
                      <a:alpha val="74117"/>
                    </a:srgbClr>
                  </a:gs>
                  <a:gs pos="100000">
                    <a:srgbClr val="F2F2F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grpSp>
      <p:grpSp>
        <p:nvGrpSpPr>
          <p:cNvPr id="848" name="Google Shape;848;p8"/>
          <p:cNvGrpSpPr/>
          <p:nvPr/>
        </p:nvGrpSpPr>
        <p:grpSpPr>
          <a:xfrm>
            <a:off x="3744445" y="2420888"/>
            <a:ext cx="1391068" cy="1296144"/>
            <a:chOff x="3521975" y="2547825"/>
            <a:chExt cx="1391068" cy="1296144"/>
          </a:xfrm>
        </p:grpSpPr>
        <p:sp>
          <p:nvSpPr>
            <p:cNvPr id="849" name="Google Shape;849;p8"/>
            <p:cNvSpPr/>
            <p:nvPr/>
          </p:nvSpPr>
          <p:spPr>
            <a:xfrm>
              <a:off x="3943562" y="2874488"/>
              <a:ext cx="969481" cy="969481"/>
            </a:xfrm>
            <a:prstGeom prst="ellipse">
              <a:avLst/>
            </a:prstGeom>
            <a:solidFill>
              <a:srgbClr val="595959">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nvGrpSpPr>
            <p:cNvPr id="850" name="Google Shape;850;p8"/>
            <p:cNvGrpSpPr/>
            <p:nvPr/>
          </p:nvGrpSpPr>
          <p:grpSpPr>
            <a:xfrm>
              <a:off x="3521975" y="2547825"/>
              <a:ext cx="1257513" cy="1093156"/>
              <a:chOff x="3934172" y="2924944"/>
              <a:chExt cx="1257513" cy="1093156"/>
            </a:xfrm>
          </p:grpSpPr>
          <p:sp>
            <p:nvSpPr>
              <p:cNvPr id="851" name="Google Shape;851;p8"/>
              <p:cNvSpPr/>
              <p:nvPr/>
            </p:nvSpPr>
            <p:spPr>
              <a:xfrm>
                <a:off x="3934172" y="2924944"/>
                <a:ext cx="576064" cy="576064"/>
              </a:xfrm>
              <a:prstGeom prst="ellipse">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Quattrocento Sans"/>
                    <a:ea typeface="Quattrocento Sans"/>
                    <a:cs typeface="Quattrocento Sans"/>
                    <a:sym typeface="Quattrocento Sans"/>
                  </a:rPr>
                  <a:t>2</a:t>
                </a:r>
                <a:endParaRPr/>
              </a:p>
            </p:txBody>
          </p:sp>
          <p:sp>
            <p:nvSpPr>
              <p:cNvPr id="852" name="Google Shape;852;p8"/>
              <p:cNvSpPr/>
              <p:nvPr/>
            </p:nvSpPr>
            <p:spPr>
              <a:xfrm>
                <a:off x="4222204" y="3048619"/>
                <a:ext cx="969481" cy="969481"/>
              </a:xfrm>
              <a:prstGeom prst="ellipse">
                <a:avLst/>
              </a:prstGeom>
              <a:gradFill>
                <a:gsLst>
                  <a:gs pos="0">
                    <a:srgbClr val="D8D8D8">
                      <a:alpha val="74117"/>
                    </a:srgbClr>
                  </a:gs>
                  <a:gs pos="100000">
                    <a:srgbClr val="F2F2F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grpSp>
      <p:grpSp>
        <p:nvGrpSpPr>
          <p:cNvPr id="853" name="Google Shape;853;p8"/>
          <p:cNvGrpSpPr/>
          <p:nvPr/>
        </p:nvGrpSpPr>
        <p:grpSpPr>
          <a:xfrm>
            <a:off x="6424577" y="2420888"/>
            <a:ext cx="1391068" cy="1282624"/>
            <a:chOff x="5979637" y="2547825"/>
            <a:chExt cx="1391068" cy="1282624"/>
          </a:xfrm>
        </p:grpSpPr>
        <p:sp>
          <p:nvSpPr>
            <p:cNvPr id="854" name="Google Shape;854;p8"/>
            <p:cNvSpPr/>
            <p:nvPr/>
          </p:nvSpPr>
          <p:spPr>
            <a:xfrm>
              <a:off x="6401224" y="2860968"/>
              <a:ext cx="969481" cy="969481"/>
            </a:xfrm>
            <a:prstGeom prst="ellipse">
              <a:avLst/>
            </a:prstGeom>
            <a:solidFill>
              <a:srgbClr val="595959">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nvGrpSpPr>
            <p:cNvPr id="855" name="Google Shape;855;p8"/>
            <p:cNvGrpSpPr/>
            <p:nvPr/>
          </p:nvGrpSpPr>
          <p:grpSpPr>
            <a:xfrm>
              <a:off x="5979637" y="2547825"/>
              <a:ext cx="1257513" cy="1093156"/>
              <a:chOff x="6814492" y="2924944"/>
              <a:chExt cx="1257513" cy="1093156"/>
            </a:xfrm>
          </p:grpSpPr>
          <p:sp>
            <p:nvSpPr>
              <p:cNvPr id="856" name="Google Shape;856;p8"/>
              <p:cNvSpPr/>
              <p:nvPr/>
            </p:nvSpPr>
            <p:spPr>
              <a:xfrm>
                <a:off x="6814492" y="2924944"/>
                <a:ext cx="576064" cy="576064"/>
              </a:xfrm>
              <a:prstGeom prst="ellipse">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Quattrocento Sans"/>
                    <a:ea typeface="Quattrocento Sans"/>
                    <a:cs typeface="Quattrocento Sans"/>
                    <a:sym typeface="Quattrocento Sans"/>
                  </a:rPr>
                  <a:t>3</a:t>
                </a:r>
                <a:endParaRPr/>
              </a:p>
            </p:txBody>
          </p:sp>
          <p:sp>
            <p:nvSpPr>
              <p:cNvPr id="857" name="Google Shape;857;p8"/>
              <p:cNvSpPr/>
              <p:nvPr/>
            </p:nvSpPr>
            <p:spPr>
              <a:xfrm>
                <a:off x="7102524" y="3048619"/>
                <a:ext cx="969481" cy="969481"/>
              </a:xfrm>
              <a:prstGeom prst="ellipse">
                <a:avLst/>
              </a:prstGeom>
              <a:gradFill>
                <a:gsLst>
                  <a:gs pos="0">
                    <a:srgbClr val="D8D8D8">
                      <a:alpha val="74117"/>
                    </a:srgbClr>
                  </a:gs>
                  <a:gs pos="100000">
                    <a:srgbClr val="F2F2F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grpSp>
      <p:grpSp>
        <p:nvGrpSpPr>
          <p:cNvPr id="858" name="Google Shape;858;p8"/>
          <p:cNvGrpSpPr/>
          <p:nvPr/>
        </p:nvGrpSpPr>
        <p:grpSpPr>
          <a:xfrm>
            <a:off x="9104710" y="2420888"/>
            <a:ext cx="1257513" cy="1093156"/>
            <a:chOff x="8974732" y="2924944"/>
            <a:chExt cx="1257513" cy="1093156"/>
          </a:xfrm>
        </p:grpSpPr>
        <p:sp>
          <p:nvSpPr>
            <p:cNvPr id="859" name="Google Shape;859;p8"/>
            <p:cNvSpPr/>
            <p:nvPr/>
          </p:nvSpPr>
          <p:spPr>
            <a:xfrm>
              <a:off x="8974732" y="2924944"/>
              <a:ext cx="576064" cy="576064"/>
            </a:xfrm>
            <a:prstGeom prst="ellipse">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Quattrocento Sans"/>
                  <a:ea typeface="Quattrocento Sans"/>
                  <a:cs typeface="Quattrocento Sans"/>
                  <a:sym typeface="Quattrocento Sans"/>
                </a:rPr>
                <a:t>4</a:t>
              </a:r>
              <a:endParaRPr/>
            </a:p>
          </p:txBody>
        </p:sp>
        <p:sp>
          <p:nvSpPr>
            <p:cNvPr id="860" name="Google Shape;860;p8"/>
            <p:cNvSpPr/>
            <p:nvPr/>
          </p:nvSpPr>
          <p:spPr>
            <a:xfrm>
              <a:off x="9262764" y="3048619"/>
              <a:ext cx="969481" cy="969481"/>
            </a:xfrm>
            <a:prstGeom prst="ellipse">
              <a:avLst/>
            </a:prstGeom>
            <a:gradFill>
              <a:gsLst>
                <a:gs pos="0">
                  <a:srgbClr val="D8D8D8">
                    <a:alpha val="74117"/>
                  </a:srgbClr>
                </a:gs>
                <a:gs pos="100000">
                  <a:srgbClr val="F2F2F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sp>
        <p:nvSpPr>
          <p:cNvPr id="861" name="Google Shape;861;p8"/>
          <p:cNvSpPr txBox="1"/>
          <p:nvPr/>
        </p:nvSpPr>
        <p:spPr>
          <a:xfrm>
            <a:off x="1053851" y="3881670"/>
            <a:ext cx="157799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accent1"/>
                </a:solidFill>
                <a:latin typeface="Quattrocento Sans"/>
                <a:ea typeface="Quattrocento Sans"/>
                <a:cs typeface="Quattrocento Sans"/>
                <a:sym typeface="Quattrocento Sans"/>
              </a:rPr>
              <a:t>Start Dev Tool</a:t>
            </a:r>
            <a:endParaRPr/>
          </a:p>
        </p:txBody>
      </p:sp>
      <p:sp>
        <p:nvSpPr>
          <p:cNvPr id="862" name="Google Shape;862;p8"/>
          <p:cNvSpPr txBox="1"/>
          <p:nvPr/>
        </p:nvSpPr>
        <p:spPr>
          <a:xfrm>
            <a:off x="1053851" y="4634552"/>
            <a:ext cx="2232249"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Get started with SAP BTP Business Application Studio Tool</a:t>
            </a:r>
            <a:endParaRPr/>
          </a:p>
        </p:txBody>
      </p:sp>
      <p:sp>
        <p:nvSpPr>
          <p:cNvPr id="863" name="Google Shape;863;p8"/>
          <p:cNvSpPr txBox="1"/>
          <p:nvPr/>
        </p:nvSpPr>
        <p:spPr>
          <a:xfrm>
            <a:off x="3683596" y="3881670"/>
            <a:ext cx="157799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accent1"/>
                </a:solidFill>
                <a:latin typeface="Quattrocento Sans"/>
                <a:ea typeface="Quattrocento Sans"/>
                <a:cs typeface="Quattrocento Sans"/>
                <a:sym typeface="Quattrocento Sans"/>
              </a:rPr>
              <a:t>Initialize</a:t>
            </a:r>
            <a:endParaRPr/>
          </a:p>
        </p:txBody>
      </p:sp>
      <p:sp>
        <p:nvSpPr>
          <p:cNvPr id="864" name="Google Shape;864;p8"/>
          <p:cNvSpPr txBox="1"/>
          <p:nvPr/>
        </p:nvSpPr>
        <p:spPr>
          <a:xfrm>
            <a:off x="3683596" y="4634552"/>
            <a:ext cx="223224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Initialize your first BTP CAP project</a:t>
            </a:r>
            <a:endParaRPr/>
          </a:p>
        </p:txBody>
      </p:sp>
      <p:sp>
        <p:nvSpPr>
          <p:cNvPr id="865" name="Google Shape;865;p8"/>
          <p:cNvSpPr txBox="1"/>
          <p:nvPr/>
        </p:nvSpPr>
        <p:spPr>
          <a:xfrm>
            <a:off x="6313342" y="3881670"/>
            <a:ext cx="157799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accent1"/>
                </a:solidFill>
                <a:latin typeface="Quattrocento Sans"/>
                <a:ea typeface="Quattrocento Sans"/>
                <a:cs typeface="Quattrocento Sans"/>
                <a:sym typeface="Quattrocento Sans"/>
              </a:rPr>
              <a:t>Create Data Model &amp; Service</a:t>
            </a:r>
            <a:endParaRPr/>
          </a:p>
        </p:txBody>
      </p:sp>
      <p:sp>
        <p:nvSpPr>
          <p:cNvPr id="866" name="Google Shape;866;p8"/>
          <p:cNvSpPr txBox="1"/>
          <p:nvPr/>
        </p:nvSpPr>
        <p:spPr>
          <a:xfrm>
            <a:off x="6313341" y="4629215"/>
            <a:ext cx="2260911"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Build your first data model and service along with sample UI</a:t>
            </a:r>
            <a:endParaRPr/>
          </a:p>
        </p:txBody>
      </p:sp>
      <p:sp>
        <p:nvSpPr>
          <p:cNvPr id="867" name="Google Shape;867;p8"/>
          <p:cNvSpPr txBox="1"/>
          <p:nvPr/>
        </p:nvSpPr>
        <p:spPr>
          <a:xfrm>
            <a:off x="9104710" y="3881670"/>
            <a:ext cx="157799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accent1"/>
                </a:solidFill>
                <a:latin typeface="Quattrocento Sans"/>
                <a:ea typeface="Quattrocento Sans"/>
                <a:cs typeface="Quattrocento Sans"/>
                <a:sym typeface="Quattrocento Sans"/>
              </a:rPr>
              <a:t>Test Locally</a:t>
            </a:r>
            <a:endParaRPr/>
          </a:p>
        </p:txBody>
      </p:sp>
      <p:sp>
        <p:nvSpPr>
          <p:cNvPr id="868" name="Google Shape;868;p8"/>
          <p:cNvSpPr txBox="1"/>
          <p:nvPr/>
        </p:nvSpPr>
        <p:spPr>
          <a:xfrm>
            <a:off x="9104710" y="4634552"/>
            <a:ext cx="223224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Test the application and service locally</a:t>
            </a:r>
            <a:endParaRPr/>
          </a:p>
        </p:txBody>
      </p:sp>
      <p:sp>
        <p:nvSpPr>
          <p:cNvPr id="869" name="Google Shape;869;p8" descr="Circle with left arrow with solid fill"/>
          <p:cNvSpPr/>
          <p:nvPr/>
        </p:nvSpPr>
        <p:spPr>
          <a:xfrm flipH="1">
            <a:off x="2821533" y="2528920"/>
            <a:ext cx="360000" cy="360000"/>
          </a:xfrm>
          <a:prstGeom prst="rect">
            <a:avLst/>
          </a:prstGeom>
          <a:noFill/>
          <a:ln>
            <a:noFill/>
          </a:ln>
        </p:spPr>
      </p:sp>
      <p:sp>
        <p:nvSpPr>
          <p:cNvPr id="870" name="Google Shape;870;p8" descr="Circle with left arrow with solid fill"/>
          <p:cNvSpPr/>
          <p:nvPr/>
        </p:nvSpPr>
        <p:spPr>
          <a:xfrm flipH="1">
            <a:off x="5497283" y="2528920"/>
            <a:ext cx="360000" cy="360000"/>
          </a:xfrm>
          <a:prstGeom prst="rect">
            <a:avLst/>
          </a:prstGeom>
          <a:noFill/>
          <a:ln>
            <a:noFill/>
          </a:ln>
        </p:spPr>
      </p:sp>
      <p:sp>
        <p:nvSpPr>
          <p:cNvPr id="871" name="Google Shape;871;p8" descr="Circle with left arrow with solid fill"/>
          <p:cNvSpPr/>
          <p:nvPr/>
        </p:nvSpPr>
        <p:spPr>
          <a:xfrm flipH="1">
            <a:off x="8263198" y="2541496"/>
            <a:ext cx="360000" cy="360000"/>
          </a:xfrm>
          <a:prstGeom prst="rect">
            <a:avLst/>
          </a:prstGeom>
          <a:noFill/>
          <a:ln>
            <a:noFill/>
          </a:ln>
        </p:spPr>
      </p:sp>
      <p:sp>
        <p:nvSpPr>
          <p:cNvPr id="872" name="Google Shape;872;p8" descr="Binary with solid fill"/>
          <p:cNvSpPr/>
          <p:nvPr/>
        </p:nvSpPr>
        <p:spPr>
          <a:xfrm>
            <a:off x="1557004" y="2748461"/>
            <a:ext cx="554400" cy="554400"/>
          </a:xfrm>
          <a:prstGeom prst="rect">
            <a:avLst/>
          </a:prstGeom>
          <a:noFill/>
          <a:ln>
            <a:noFill/>
          </a:ln>
        </p:spPr>
      </p:sp>
      <p:sp>
        <p:nvSpPr>
          <p:cNvPr id="873" name="Google Shape;873;p8" descr="Internet with solid fill"/>
          <p:cNvSpPr/>
          <p:nvPr/>
        </p:nvSpPr>
        <p:spPr>
          <a:xfrm>
            <a:off x="4238719" y="2755756"/>
            <a:ext cx="554400" cy="554400"/>
          </a:xfrm>
          <a:prstGeom prst="rect">
            <a:avLst/>
          </a:prstGeom>
          <a:noFill/>
          <a:ln>
            <a:noFill/>
          </a:ln>
        </p:spPr>
      </p:sp>
      <p:sp>
        <p:nvSpPr>
          <p:cNvPr id="874" name="Google Shape;874;p8" descr="Programmer male with solid fill"/>
          <p:cNvSpPr/>
          <p:nvPr/>
        </p:nvSpPr>
        <p:spPr>
          <a:xfrm>
            <a:off x="9600282" y="2721496"/>
            <a:ext cx="554400" cy="554400"/>
          </a:xfrm>
          <a:prstGeom prst="rect">
            <a:avLst/>
          </a:prstGeom>
          <a:noFill/>
          <a:ln>
            <a:noFill/>
          </a:ln>
        </p:spPr>
      </p:sp>
      <p:sp>
        <p:nvSpPr>
          <p:cNvPr id="875" name="Google Shape;875;p8" descr="Cloud Computing with solid fill"/>
          <p:cNvSpPr/>
          <p:nvPr/>
        </p:nvSpPr>
        <p:spPr>
          <a:xfrm>
            <a:off x="6920149" y="2738961"/>
            <a:ext cx="554400" cy="554400"/>
          </a:xfrm>
          <a:prstGeom prst="rect">
            <a:avLst/>
          </a:prstGeom>
          <a:noFill/>
          <a:ln>
            <a:noFill/>
          </a:ln>
        </p:spPr>
      </p:sp>
      <p:sp>
        <p:nvSpPr>
          <p:cNvPr id="876" name="Google Shape;876;p8"/>
          <p:cNvSpPr/>
          <p:nvPr/>
        </p:nvSpPr>
        <p:spPr>
          <a:xfrm rot="7281638" flipH="1">
            <a:off x="9242021" y="-1560638"/>
            <a:ext cx="1901785" cy="4606568"/>
          </a:xfrm>
          <a:custGeom>
            <a:avLst/>
            <a:gdLst/>
            <a:ahLst/>
            <a:cxnLst/>
            <a:rect l="l" t="t" r="r" b="b"/>
            <a:pathLst>
              <a:path w="2999369" h="7265173" extrusionOk="0">
                <a:moveTo>
                  <a:pt x="1040783" y="681031"/>
                </a:moveTo>
                <a:cubicBezTo>
                  <a:pt x="1084757" y="610587"/>
                  <a:pt x="1129969" y="540994"/>
                  <a:pt x="1176389" y="472284"/>
                </a:cubicBezTo>
                <a:lnTo>
                  <a:pt x="1529556" y="0"/>
                </a:lnTo>
                <a:lnTo>
                  <a:pt x="1533767" y="2566"/>
                </a:lnTo>
                <a:lnTo>
                  <a:pt x="1885015" y="472283"/>
                </a:lnTo>
                <a:cubicBezTo>
                  <a:pt x="2442048" y="1296803"/>
                  <a:pt x="2825251" y="2248412"/>
                  <a:pt x="2982037" y="3274524"/>
                </a:cubicBezTo>
                <a:lnTo>
                  <a:pt x="2999369" y="3426274"/>
                </a:lnTo>
                <a:lnTo>
                  <a:pt x="659714" y="7265173"/>
                </a:lnTo>
                <a:lnTo>
                  <a:pt x="477785" y="6849243"/>
                </a:lnTo>
                <a:cubicBezTo>
                  <a:pt x="169405" y="6067192"/>
                  <a:pt x="0" y="5215142"/>
                  <a:pt x="0" y="4323524"/>
                </a:cubicBezTo>
                <a:cubicBezTo>
                  <a:pt x="0" y="2986101"/>
                  <a:pt x="381162" y="1737700"/>
                  <a:pt x="1040783" y="681031"/>
                </a:cubicBezTo>
                <a:close/>
              </a:path>
            </a:pathLst>
          </a:custGeom>
          <a:gradFill>
            <a:gsLst>
              <a:gs pos="0">
                <a:schemeClr val="accent2"/>
              </a:gs>
              <a:gs pos="95000">
                <a:schemeClr val="accent1"/>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77" name="Google Shape;877;p8"/>
          <p:cNvSpPr/>
          <p:nvPr/>
        </p:nvSpPr>
        <p:spPr>
          <a:xfrm rot="9970899" flipH="1">
            <a:off x="10504723" y="-281116"/>
            <a:ext cx="1973857" cy="3050480"/>
          </a:xfrm>
          <a:custGeom>
            <a:avLst/>
            <a:gdLst/>
            <a:ahLst/>
            <a:cxnLst/>
            <a:rect l="l" t="t" r="r" b="b"/>
            <a:pathLst>
              <a:path w="3113036" h="4811014" extrusionOk="0">
                <a:moveTo>
                  <a:pt x="2118036" y="0"/>
                </a:moveTo>
                <a:lnTo>
                  <a:pt x="3113036" y="4045322"/>
                </a:lnTo>
                <a:lnTo>
                  <a:pt x="0" y="4811014"/>
                </a:lnTo>
                <a:lnTo>
                  <a:pt x="1823" y="4797362"/>
                </a:lnTo>
                <a:cubicBezTo>
                  <a:pt x="232842" y="3285423"/>
                  <a:pt x="797475" y="1883262"/>
                  <a:pt x="1618243" y="6683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878" name="Google Shape;878;p8"/>
          <p:cNvPicPr preferRelativeResize="0"/>
          <p:nvPr/>
        </p:nvPicPr>
        <p:blipFill rotWithShape="1">
          <a:blip r:embed="rId3">
            <a:alphaModFix/>
          </a:blip>
          <a:srcRect/>
          <a:stretch/>
        </p:blipFill>
        <p:spPr>
          <a:xfrm>
            <a:off x="11088469" y="53543"/>
            <a:ext cx="929479" cy="9180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41"/>
                                        </p:tgtEl>
                                        <p:attrNameLst>
                                          <p:attrName>style.visibility</p:attrName>
                                        </p:attrNameLst>
                                      </p:cBhvr>
                                      <p:to>
                                        <p:strVal val="visible"/>
                                      </p:to>
                                    </p:set>
                                    <p:animEffect transition="in" filter="fade">
                                      <p:cBhvr>
                                        <p:cTn id="7" dur="500"/>
                                        <p:tgtEl>
                                          <p:spTgt spid="841"/>
                                        </p:tgtEl>
                                      </p:cBhvr>
                                    </p:animEffect>
                                  </p:childTnLst>
                                </p:cTn>
                              </p:par>
                              <p:par>
                                <p:cTn id="8" presetID="10" presetClass="entr" presetSubtype="0" fill="hold" nodeType="withEffect">
                                  <p:stCondLst>
                                    <p:cond delay="150"/>
                                  </p:stCondLst>
                                  <p:childTnLst>
                                    <p:set>
                                      <p:cBhvr>
                                        <p:cTn id="9" dur="1" fill="hold">
                                          <p:stCondLst>
                                            <p:cond delay="0"/>
                                          </p:stCondLst>
                                        </p:cTn>
                                        <p:tgtEl>
                                          <p:spTgt spid="842"/>
                                        </p:tgtEl>
                                        <p:attrNameLst>
                                          <p:attrName>style.visibility</p:attrName>
                                        </p:attrNameLst>
                                      </p:cBhvr>
                                      <p:to>
                                        <p:strVal val="visible"/>
                                      </p:to>
                                    </p:set>
                                    <p:animEffect transition="in" filter="fade">
                                      <p:cBhvr>
                                        <p:cTn id="10" dur="500"/>
                                        <p:tgtEl>
                                          <p:spTgt spid="842"/>
                                        </p:tgtEl>
                                      </p:cBhvr>
                                    </p:animEffect>
                                  </p:childTnLst>
                                </p:cTn>
                              </p:par>
                              <p:par>
                                <p:cTn id="11" presetID="2" presetClass="entr" presetSubtype="1" fill="hold" nodeType="withEffect">
                                  <p:stCondLst>
                                    <p:cond delay="150"/>
                                  </p:stCondLst>
                                  <p:childTnLst>
                                    <p:set>
                                      <p:cBhvr>
                                        <p:cTn id="12" dur="1" fill="hold">
                                          <p:stCondLst>
                                            <p:cond delay="0"/>
                                          </p:stCondLst>
                                        </p:cTn>
                                        <p:tgtEl>
                                          <p:spTgt spid="877"/>
                                        </p:tgtEl>
                                        <p:attrNameLst>
                                          <p:attrName>style.visibility</p:attrName>
                                        </p:attrNameLst>
                                      </p:cBhvr>
                                      <p:to>
                                        <p:strVal val="visible"/>
                                      </p:to>
                                    </p:set>
                                    <p:anim calcmode="lin" valueType="num">
                                      <p:cBhvr additive="base">
                                        <p:cTn id="13" dur="500"/>
                                        <p:tgtEl>
                                          <p:spTgt spid="877"/>
                                        </p:tgtEl>
                                        <p:attrNameLst>
                                          <p:attrName>ppt_y</p:attrName>
                                        </p:attrNameLst>
                                      </p:cBhvr>
                                      <p:tavLst>
                                        <p:tav tm="0">
                                          <p:val>
                                            <p:strVal val="#ppt_y-1"/>
                                          </p:val>
                                        </p:tav>
                                        <p:tav tm="100000">
                                          <p:val>
                                            <p:strVal val="#ppt_y"/>
                                          </p:val>
                                        </p:tav>
                                      </p:tavLst>
                                    </p:anim>
                                  </p:childTnLst>
                                </p:cTn>
                              </p:par>
                              <p:par>
                                <p:cTn id="14" presetID="2" presetClass="entr" presetSubtype="1" fill="hold" nodeType="withEffect">
                                  <p:stCondLst>
                                    <p:cond delay="350"/>
                                  </p:stCondLst>
                                  <p:childTnLst>
                                    <p:set>
                                      <p:cBhvr>
                                        <p:cTn id="15" dur="1" fill="hold">
                                          <p:stCondLst>
                                            <p:cond delay="0"/>
                                          </p:stCondLst>
                                        </p:cTn>
                                        <p:tgtEl>
                                          <p:spTgt spid="876"/>
                                        </p:tgtEl>
                                        <p:attrNameLst>
                                          <p:attrName>style.visibility</p:attrName>
                                        </p:attrNameLst>
                                      </p:cBhvr>
                                      <p:to>
                                        <p:strVal val="visible"/>
                                      </p:to>
                                    </p:set>
                                    <p:anim calcmode="lin" valueType="num">
                                      <p:cBhvr additive="base">
                                        <p:cTn id="16" dur="500"/>
                                        <p:tgtEl>
                                          <p:spTgt spid="876"/>
                                        </p:tgtEl>
                                        <p:attrNameLst>
                                          <p:attrName>ppt_y</p:attrName>
                                        </p:attrNameLst>
                                      </p:cBhvr>
                                      <p:tavLst>
                                        <p:tav tm="0">
                                          <p:val>
                                            <p:strVal val="#ppt_y-1"/>
                                          </p:val>
                                        </p:tav>
                                        <p:tav tm="100000">
                                          <p:val>
                                            <p:strVal val="#ppt_y"/>
                                          </p:val>
                                        </p:tav>
                                      </p:tavLst>
                                    </p:anim>
                                  </p:childTnLst>
                                </p:cTn>
                              </p:par>
                              <p:par>
                                <p:cTn id="17" presetID="10" presetClass="entr" presetSubtype="0" fill="hold" nodeType="withEffect">
                                  <p:stCondLst>
                                    <p:cond delay="350"/>
                                  </p:stCondLst>
                                  <p:childTnLst>
                                    <p:set>
                                      <p:cBhvr>
                                        <p:cTn id="18" dur="1" fill="hold">
                                          <p:stCondLst>
                                            <p:cond delay="0"/>
                                          </p:stCondLst>
                                        </p:cTn>
                                        <p:tgtEl>
                                          <p:spTgt spid="840"/>
                                        </p:tgtEl>
                                        <p:attrNameLst>
                                          <p:attrName>style.visibility</p:attrName>
                                        </p:attrNameLst>
                                      </p:cBhvr>
                                      <p:to>
                                        <p:strVal val="visible"/>
                                      </p:to>
                                    </p:set>
                                    <p:animEffect transition="in" filter="fade">
                                      <p:cBhvr>
                                        <p:cTn id="19" dur="500"/>
                                        <p:tgtEl>
                                          <p:spTgt spid="840"/>
                                        </p:tgtEl>
                                      </p:cBhvr>
                                    </p:animEffect>
                                  </p:childTnLst>
                                </p:cTn>
                              </p:par>
                              <p:par>
                                <p:cTn id="20" presetID="23" presetClass="entr" presetSubtype="16" fill="hold" nodeType="withEffect">
                                  <p:stCondLst>
                                    <p:cond delay="350"/>
                                  </p:stCondLst>
                                  <p:childTnLst>
                                    <p:set>
                                      <p:cBhvr>
                                        <p:cTn id="21" dur="1" fill="hold">
                                          <p:stCondLst>
                                            <p:cond delay="0"/>
                                          </p:stCondLst>
                                        </p:cTn>
                                        <p:tgtEl>
                                          <p:spTgt spid="843"/>
                                        </p:tgtEl>
                                        <p:attrNameLst>
                                          <p:attrName>style.visibility</p:attrName>
                                        </p:attrNameLst>
                                      </p:cBhvr>
                                      <p:to>
                                        <p:strVal val="visible"/>
                                      </p:to>
                                    </p:set>
                                    <p:anim calcmode="lin" valueType="num">
                                      <p:cBhvr additive="base">
                                        <p:cTn id="22" dur="500"/>
                                        <p:tgtEl>
                                          <p:spTgt spid="843"/>
                                        </p:tgtEl>
                                        <p:attrNameLst>
                                          <p:attrName>ppt_w</p:attrName>
                                        </p:attrNameLst>
                                      </p:cBhvr>
                                      <p:tavLst>
                                        <p:tav tm="0">
                                          <p:val>
                                            <p:strVal val="0"/>
                                          </p:val>
                                        </p:tav>
                                        <p:tav tm="100000">
                                          <p:val>
                                            <p:strVal val="#ppt_w"/>
                                          </p:val>
                                        </p:tav>
                                      </p:tavLst>
                                    </p:anim>
                                    <p:anim calcmode="lin" valueType="num">
                                      <p:cBhvr additive="base">
                                        <p:cTn id="23" dur="500"/>
                                        <p:tgtEl>
                                          <p:spTgt spid="843"/>
                                        </p:tgtEl>
                                        <p:attrNameLst>
                                          <p:attrName>ppt_h</p:attrName>
                                        </p:attrNameLst>
                                      </p:cBhvr>
                                      <p:tavLst>
                                        <p:tav tm="0">
                                          <p:val>
                                            <p:strVal val="0"/>
                                          </p:val>
                                        </p:tav>
                                        <p:tav tm="100000">
                                          <p:val>
                                            <p:strVal val="#ppt_h"/>
                                          </p:val>
                                        </p:tav>
                                      </p:tavLst>
                                    </p:anim>
                                  </p:childTnLst>
                                </p:cTn>
                              </p:par>
                              <p:par>
                                <p:cTn id="24" presetID="23" presetClass="entr" presetSubtype="16" fill="hold" nodeType="withEffect">
                                  <p:stCondLst>
                                    <p:cond delay="500"/>
                                  </p:stCondLst>
                                  <p:childTnLst>
                                    <p:set>
                                      <p:cBhvr>
                                        <p:cTn id="25" dur="1" fill="hold">
                                          <p:stCondLst>
                                            <p:cond delay="0"/>
                                          </p:stCondLst>
                                        </p:cTn>
                                        <p:tgtEl>
                                          <p:spTgt spid="848"/>
                                        </p:tgtEl>
                                        <p:attrNameLst>
                                          <p:attrName>style.visibility</p:attrName>
                                        </p:attrNameLst>
                                      </p:cBhvr>
                                      <p:to>
                                        <p:strVal val="visible"/>
                                      </p:to>
                                    </p:set>
                                    <p:anim calcmode="lin" valueType="num">
                                      <p:cBhvr additive="base">
                                        <p:cTn id="26" dur="500"/>
                                        <p:tgtEl>
                                          <p:spTgt spid="848"/>
                                        </p:tgtEl>
                                        <p:attrNameLst>
                                          <p:attrName>ppt_w</p:attrName>
                                        </p:attrNameLst>
                                      </p:cBhvr>
                                      <p:tavLst>
                                        <p:tav tm="0">
                                          <p:val>
                                            <p:strVal val="0"/>
                                          </p:val>
                                        </p:tav>
                                        <p:tav tm="100000">
                                          <p:val>
                                            <p:strVal val="#ppt_w"/>
                                          </p:val>
                                        </p:tav>
                                      </p:tavLst>
                                    </p:anim>
                                    <p:anim calcmode="lin" valueType="num">
                                      <p:cBhvr additive="base">
                                        <p:cTn id="27" dur="500"/>
                                        <p:tgtEl>
                                          <p:spTgt spid="848"/>
                                        </p:tgtEl>
                                        <p:attrNameLst>
                                          <p:attrName>ppt_h</p:attrName>
                                        </p:attrNameLst>
                                      </p:cBhvr>
                                      <p:tavLst>
                                        <p:tav tm="0">
                                          <p:val>
                                            <p:strVal val="0"/>
                                          </p:val>
                                        </p:tav>
                                        <p:tav tm="100000">
                                          <p:val>
                                            <p:strVal val="#ppt_h"/>
                                          </p:val>
                                        </p:tav>
                                      </p:tavLst>
                                    </p:anim>
                                  </p:childTnLst>
                                </p:cTn>
                              </p:par>
                              <p:par>
                                <p:cTn id="28" presetID="23" presetClass="entr" presetSubtype="16" fill="hold" nodeType="withEffect">
                                  <p:stCondLst>
                                    <p:cond delay="650"/>
                                  </p:stCondLst>
                                  <p:childTnLst>
                                    <p:set>
                                      <p:cBhvr>
                                        <p:cTn id="29" dur="1" fill="hold">
                                          <p:stCondLst>
                                            <p:cond delay="0"/>
                                          </p:stCondLst>
                                        </p:cTn>
                                        <p:tgtEl>
                                          <p:spTgt spid="853"/>
                                        </p:tgtEl>
                                        <p:attrNameLst>
                                          <p:attrName>style.visibility</p:attrName>
                                        </p:attrNameLst>
                                      </p:cBhvr>
                                      <p:to>
                                        <p:strVal val="visible"/>
                                      </p:to>
                                    </p:set>
                                    <p:anim calcmode="lin" valueType="num">
                                      <p:cBhvr additive="base">
                                        <p:cTn id="30" dur="500"/>
                                        <p:tgtEl>
                                          <p:spTgt spid="853"/>
                                        </p:tgtEl>
                                        <p:attrNameLst>
                                          <p:attrName>ppt_w</p:attrName>
                                        </p:attrNameLst>
                                      </p:cBhvr>
                                      <p:tavLst>
                                        <p:tav tm="0">
                                          <p:val>
                                            <p:strVal val="0"/>
                                          </p:val>
                                        </p:tav>
                                        <p:tav tm="100000">
                                          <p:val>
                                            <p:strVal val="#ppt_w"/>
                                          </p:val>
                                        </p:tav>
                                      </p:tavLst>
                                    </p:anim>
                                    <p:anim calcmode="lin" valueType="num">
                                      <p:cBhvr additive="base">
                                        <p:cTn id="31" dur="500"/>
                                        <p:tgtEl>
                                          <p:spTgt spid="853"/>
                                        </p:tgtEl>
                                        <p:attrNameLst>
                                          <p:attrName>ppt_h</p:attrName>
                                        </p:attrNameLst>
                                      </p:cBhvr>
                                      <p:tavLst>
                                        <p:tav tm="0">
                                          <p:val>
                                            <p:strVal val="0"/>
                                          </p:val>
                                        </p:tav>
                                        <p:tav tm="100000">
                                          <p:val>
                                            <p:strVal val="#ppt_h"/>
                                          </p:val>
                                        </p:tav>
                                      </p:tavLst>
                                    </p:anim>
                                  </p:childTnLst>
                                </p:cTn>
                              </p:par>
                              <p:par>
                                <p:cTn id="32" presetID="23" presetClass="entr" presetSubtype="16" fill="hold" nodeType="withEffect">
                                  <p:stCondLst>
                                    <p:cond delay="800"/>
                                  </p:stCondLst>
                                  <p:childTnLst>
                                    <p:set>
                                      <p:cBhvr>
                                        <p:cTn id="33" dur="1" fill="hold">
                                          <p:stCondLst>
                                            <p:cond delay="0"/>
                                          </p:stCondLst>
                                        </p:cTn>
                                        <p:tgtEl>
                                          <p:spTgt spid="858"/>
                                        </p:tgtEl>
                                        <p:attrNameLst>
                                          <p:attrName>style.visibility</p:attrName>
                                        </p:attrNameLst>
                                      </p:cBhvr>
                                      <p:to>
                                        <p:strVal val="visible"/>
                                      </p:to>
                                    </p:set>
                                    <p:anim calcmode="lin" valueType="num">
                                      <p:cBhvr additive="base">
                                        <p:cTn id="34" dur="500"/>
                                        <p:tgtEl>
                                          <p:spTgt spid="858"/>
                                        </p:tgtEl>
                                        <p:attrNameLst>
                                          <p:attrName>ppt_w</p:attrName>
                                        </p:attrNameLst>
                                      </p:cBhvr>
                                      <p:tavLst>
                                        <p:tav tm="0">
                                          <p:val>
                                            <p:strVal val="0"/>
                                          </p:val>
                                        </p:tav>
                                        <p:tav tm="100000">
                                          <p:val>
                                            <p:strVal val="#ppt_w"/>
                                          </p:val>
                                        </p:tav>
                                      </p:tavLst>
                                    </p:anim>
                                    <p:anim calcmode="lin" valueType="num">
                                      <p:cBhvr additive="base">
                                        <p:cTn id="35" dur="500"/>
                                        <p:tgtEl>
                                          <p:spTgt spid="858"/>
                                        </p:tgtEl>
                                        <p:attrNameLst>
                                          <p:attrName>ppt_h</p:attrName>
                                        </p:attrNameLst>
                                      </p:cBhvr>
                                      <p:tavLst>
                                        <p:tav tm="0">
                                          <p:val>
                                            <p:strVal val="0"/>
                                          </p:val>
                                        </p:tav>
                                        <p:tav tm="100000">
                                          <p:val>
                                            <p:strVal val="#ppt_h"/>
                                          </p:val>
                                        </p:tav>
                                      </p:tavLst>
                                    </p:anim>
                                  </p:childTnLst>
                                </p:cTn>
                              </p:par>
                              <p:par>
                                <p:cTn id="36" presetID="23" presetClass="entr" presetSubtype="16" fill="hold" nodeType="withEffect">
                                  <p:stCondLst>
                                    <p:cond delay="500"/>
                                  </p:stCondLst>
                                  <p:childTnLst>
                                    <p:set>
                                      <p:cBhvr>
                                        <p:cTn id="37" dur="1" fill="hold">
                                          <p:stCondLst>
                                            <p:cond delay="0"/>
                                          </p:stCondLst>
                                        </p:cTn>
                                        <p:tgtEl>
                                          <p:spTgt spid="872"/>
                                        </p:tgtEl>
                                        <p:attrNameLst>
                                          <p:attrName>style.visibility</p:attrName>
                                        </p:attrNameLst>
                                      </p:cBhvr>
                                      <p:to>
                                        <p:strVal val="visible"/>
                                      </p:to>
                                    </p:set>
                                    <p:anim calcmode="lin" valueType="num">
                                      <p:cBhvr additive="base">
                                        <p:cTn id="38" dur="500"/>
                                        <p:tgtEl>
                                          <p:spTgt spid="872"/>
                                        </p:tgtEl>
                                        <p:attrNameLst>
                                          <p:attrName>ppt_w</p:attrName>
                                        </p:attrNameLst>
                                      </p:cBhvr>
                                      <p:tavLst>
                                        <p:tav tm="0">
                                          <p:val>
                                            <p:strVal val="0"/>
                                          </p:val>
                                        </p:tav>
                                        <p:tav tm="100000">
                                          <p:val>
                                            <p:strVal val="#ppt_w"/>
                                          </p:val>
                                        </p:tav>
                                      </p:tavLst>
                                    </p:anim>
                                    <p:anim calcmode="lin" valueType="num">
                                      <p:cBhvr additive="base">
                                        <p:cTn id="39" dur="500"/>
                                        <p:tgtEl>
                                          <p:spTgt spid="872"/>
                                        </p:tgtEl>
                                        <p:attrNameLst>
                                          <p:attrName>ppt_h</p:attrName>
                                        </p:attrNameLst>
                                      </p:cBhvr>
                                      <p:tavLst>
                                        <p:tav tm="0">
                                          <p:val>
                                            <p:strVal val="0"/>
                                          </p:val>
                                        </p:tav>
                                        <p:tav tm="100000">
                                          <p:val>
                                            <p:strVal val="#ppt_h"/>
                                          </p:val>
                                        </p:tav>
                                      </p:tavLst>
                                    </p:anim>
                                  </p:childTnLst>
                                </p:cTn>
                              </p:par>
                              <p:par>
                                <p:cTn id="40" presetID="23" presetClass="entr" presetSubtype="16" fill="hold" nodeType="withEffect">
                                  <p:stCondLst>
                                    <p:cond delay="650"/>
                                  </p:stCondLst>
                                  <p:childTnLst>
                                    <p:set>
                                      <p:cBhvr>
                                        <p:cTn id="41" dur="1" fill="hold">
                                          <p:stCondLst>
                                            <p:cond delay="0"/>
                                          </p:stCondLst>
                                        </p:cTn>
                                        <p:tgtEl>
                                          <p:spTgt spid="873"/>
                                        </p:tgtEl>
                                        <p:attrNameLst>
                                          <p:attrName>style.visibility</p:attrName>
                                        </p:attrNameLst>
                                      </p:cBhvr>
                                      <p:to>
                                        <p:strVal val="visible"/>
                                      </p:to>
                                    </p:set>
                                    <p:anim calcmode="lin" valueType="num">
                                      <p:cBhvr additive="base">
                                        <p:cTn id="42" dur="500"/>
                                        <p:tgtEl>
                                          <p:spTgt spid="873"/>
                                        </p:tgtEl>
                                        <p:attrNameLst>
                                          <p:attrName>ppt_w</p:attrName>
                                        </p:attrNameLst>
                                      </p:cBhvr>
                                      <p:tavLst>
                                        <p:tav tm="0">
                                          <p:val>
                                            <p:strVal val="0"/>
                                          </p:val>
                                        </p:tav>
                                        <p:tav tm="100000">
                                          <p:val>
                                            <p:strVal val="#ppt_w"/>
                                          </p:val>
                                        </p:tav>
                                      </p:tavLst>
                                    </p:anim>
                                    <p:anim calcmode="lin" valueType="num">
                                      <p:cBhvr additive="base">
                                        <p:cTn id="43" dur="500"/>
                                        <p:tgtEl>
                                          <p:spTgt spid="873"/>
                                        </p:tgtEl>
                                        <p:attrNameLst>
                                          <p:attrName>ppt_h</p:attrName>
                                        </p:attrNameLst>
                                      </p:cBhvr>
                                      <p:tavLst>
                                        <p:tav tm="0">
                                          <p:val>
                                            <p:strVal val="0"/>
                                          </p:val>
                                        </p:tav>
                                        <p:tav tm="100000">
                                          <p:val>
                                            <p:strVal val="#ppt_h"/>
                                          </p:val>
                                        </p:tav>
                                      </p:tavLst>
                                    </p:anim>
                                  </p:childTnLst>
                                </p:cTn>
                              </p:par>
                              <p:par>
                                <p:cTn id="44" presetID="23" presetClass="entr" presetSubtype="16" fill="hold" nodeType="withEffect">
                                  <p:stCondLst>
                                    <p:cond delay="800"/>
                                  </p:stCondLst>
                                  <p:childTnLst>
                                    <p:set>
                                      <p:cBhvr>
                                        <p:cTn id="45" dur="1" fill="hold">
                                          <p:stCondLst>
                                            <p:cond delay="0"/>
                                          </p:stCondLst>
                                        </p:cTn>
                                        <p:tgtEl>
                                          <p:spTgt spid="875"/>
                                        </p:tgtEl>
                                        <p:attrNameLst>
                                          <p:attrName>style.visibility</p:attrName>
                                        </p:attrNameLst>
                                      </p:cBhvr>
                                      <p:to>
                                        <p:strVal val="visible"/>
                                      </p:to>
                                    </p:set>
                                    <p:anim calcmode="lin" valueType="num">
                                      <p:cBhvr additive="base">
                                        <p:cTn id="46" dur="500"/>
                                        <p:tgtEl>
                                          <p:spTgt spid="875"/>
                                        </p:tgtEl>
                                        <p:attrNameLst>
                                          <p:attrName>ppt_w</p:attrName>
                                        </p:attrNameLst>
                                      </p:cBhvr>
                                      <p:tavLst>
                                        <p:tav tm="0">
                                          <p:val>
                                            <p:strVal val="0"/>
                                          </p:val>
                                        </p:tav>
                                        <p:tav tm="100000">
                                          <p:val>
                                            <p:strVal val="#ppt_w"/>
                                          </p:val>
                                        </p:tav>
                                      </p:tavLst>
                                    </p:anim>
                                    <p:anim calcmode="lin" valueType="num">
                                      <p:cBhvr additive="base">
                                        <p:cTn id="47" dur="500"/>
                                        <p:tgtEl>
                                          <p:spTgt spid="875"/>
                                        </p:tgtEl>
                                        <p:attrNameLst>
                                          <p:attrName>ppt_h</p:attrName>
                                        </p:attrNameLst>
                                      </p:cBhvr>
                                      <p:tavLst>
                                        <p:tav tm="0">
                                          <p:val>
                                            <p:strVal val="0"/>
                                          </p:val>
                                        </p:tav>
                                        <p:tav tm="100000">
                                          <p:val>
                                            <p:strVal val="#ppt_h"/>
                                          </p:val>
                                        </p:tav>
                                      </p:tavLst>
                                    </p:anim>
                                  </p:childTnLst>
                                </p:cTn>
                              </p:par>
                              <p:par>
                                <p:cTn id="48" presetID="23" presetClass="entr" presetSubtype="16" fill="hold" nodeType="withEffect">
                                  <p:stCondLst>
                                    <p:cond delay="950"/>
                                  </p:stCondLst>
                                  <p:childTnLst>
                                    <p:set>
                                      <p:cBhvr>
                                        <p:cTn id="49" dur="1" fill="hold">
                                          <p:stCondLst>
                                            <p:cond delay="0"/>
                                          </p:stCondLst>
                                        </p:cTn>
                                        <p:tgtEl>
                                          <p:spTgt spid="874"/>
                                        </p:tgtEl>
                                        <p:attrNameLst>
                                          <p:attrName>style.visibility</p:attrName>
                                        </p:attrNameLst>
                                      </p:cBhvr>
                                      <p:to>
                                        <p:strVal val="visible"/>
                                      </p:to>
                                    </p:set>
                                    <p:anim calcmode="lin" valueType="num">
                                      <p:cBhvr additive="base">
                                        <p:cTn id="50" dur="500"/>
                                        <p:tgtEl>
                                          <p:spTgt spid="874"/>
                                        </p:tgtEl>
                                        <p:attrNameLst>
                                          <p:attrName>ppt_w</p:attrName>
                                        </p:attrNameLst>
                                      </p:cBhvr>
                                      <p:tavLst>
                                        <p:tav tm="0">
                                          <p:val>
                                            <p:strVal val="0"/>
                                          </p:val>
                                        </p:tav>
                                        <p:tav tm="100000">
                                          <p:val>
                                            <p:strVal val="#ppt_w"/>
                                          </p:val>
                                        </p:tav>
                                      </p:tavLst>
                                    </p:anim>
                                    <p:anim calcmode="lin" valueType="num">
                                      <p:cBhvr additive="base">
                                        <p:cTn id="51" dur="500"/>
                                        <p:tgtEl>
                                          <p:spTgt spid="874"/>
                                        </p:tgtEl>
                                        <p:attrNameLst>
                                          <p:attrName>ppt_h</p:attrName>
                                        </p:attrNameLst>
                                      </p:cBhvr>
                                      <p:tavLst>
                                        <p:tav tm="0">
                                          <p:val>
                                            <p:strVal val="0"/>
                                          </p:val>
                                        </p:tav>
                                        <p:tav tm="100000">
                                          <p:val>
                                            <p:strVal val="#ppt_h"/>
                                          </p:val>
                                        </p:tav>
                                      </p:tavLst>
                                    </p:anim>
                                  </p:childTnLst>
                                </p:cTn>
                              </p:par>
                              <p:par>
                                <p:cTn id="52" presetID="23" presetClass="entr" presetSubtype="16" fill="hold" nodeType="withEffect">
                                  <p:stCondLst>
                                    <p:cond delay="650"/>
                                  </p:stCondLst>
                                  <p:childTnLst>
                                    <p:set>
                                      <p:cBhvr>
                                        <p:cTn id="53" dur="1" fill="hold">
                                          <p:stCondLst>
                                            <p:cond delay="0"/>
                                          </p:stCondLst>
                                        </p:cTn>
                                        <p:tgtEl>
                                          <p:spTgt spid="869"/>
                                        </p:tgtEl>
                                        <p:attrNameLst>
                                          <p:attrName>style.visibility</p:attrName>
                                        </p:attrNameLst>
                                      </p:cBhvr>
                                      <p:to>
                                        <p:strVal val="visible"/>
                                      </p:to>
                                    </p:set>
                                    <p:anim calcmode="lin" valueType="num">
                                      <p:cBhvr additive="base">
                                        <p:cTn id="54" dur="500"/>
                                        <p:tgtEl>
                                          <p:spTgt spid="869"/>
                                        </p:tgtEl>
                                        <p:attrNameLst>
                                          <p:attrName>ppt_w</p:attrName>
                                        </p:attrNameLst>
                                      </p:cBhvr>
                                      <p:tavLst>
                                        <p:tav tm="0">
                                          <p:val>
                                            <p:strVal val="0"/>
                                          </p:val>
                                        </p:tav>
                                        <p:tav tm="100000">
                                          <p:val>
                                            <p:strVal val="#ppt_w"/>
                                          </p:val>
                                        </p:tav>
                                      </p:tavLst>
                                    </p:anim>
                                    <p:anim calcmode="lin" valueType="num">
                                      <p:cBhvr additive="base">
                                        <p:cTn id="55" dur="500"/>
                                        <p:tgtEl>
                                          <p:spTgt spid="869"/>
                                        </p:tgtEl>
                                        <p:attrNameLst>
                                          <p:attrName>ppt_h</p:attrName>
                                        </p:attrNameLst>
                                      </p:cBhvr>
                                      <p:tavLst>
                                        <p:tav tm="0">
                                          <p:val>
                                            <p:strVal val="0"/>
                                          </p:val>
                                        </p:tav>
                                        <p:tav tm="100000">
                                          <p:val>
                                            <p:strVal val="#ppt_h"/>
                                          </p:val>
                                        </p:tav>
                                      </p:tavLst>
                                    </p:anim>
                                  </p:childTnLst>
                                </p:cTn>
                              </p:par>
                              <p:par>
                                <p:cTn id="56" presetID="23" presetClass="entr" presetSubtype="16" fill="hold" nodeType="withEffect">
                                  <p:stCondLst>
                                    <p:cond delay="800"/>
                                  </p:stCondLst>
                                  <p:childTnLst>
                                    <p:set>
                                      <p:cBhvr>
                                        <p:cTn id="57" dur="1" fill="hold">
                                          <p:stCondLst>
                                            <p:cond delay="0"/>
                                          </p:stCondLst>
                                        </p:cTn>
                                        <p:tgtEl>
                                          <p:spTgt spid="870"/>
                                        </p:tgtEl>
                                        <p:attrNameLst>
                                          <p:attrName>style.visibility</p:attrName>
                                        </p:attrNameLst>
                                      </p:cBhvr>
                                      <p:to>
                                        <p:strVal val="visible"/>
                                      </p:to>
                                    </p:set>
                                    <p:anim calcmode="lin" valueType="num">
                                      <p:cBhvr additive="base">
                                        <p:cTn id="58" dur="500"/>
                                        <p:tgtEl>
                                          <p:spTgt spid="870"/>
                                        </p:tgtEl>
                                        <p:attrNameLst>
                                          <p:attrName>ppt_w</p:attrName>
                                        </p:attrNameLst>
                                      </p:cBhvr>
                                      <p:tavLst>
                                        <p:tav tm="0">
                                          <p:val>
                                            <p:strVal val="0"/>
                                          </p:val>
                                        </p:tav>
                                        <p:tav tm="100000">
                                          <p:val>
                                            <p:strVal val="#ppt_w"/>
                                          </p:val>
                                        </p:tav>
                                      </p:tavLst>
                                    </p:anim>
                                    <p:anim calcmode="lin" valueType="num">
                                      <p:cBhvr additive="base">
                                        <p:cTn id="59" dur="500"/>
                                        <p:tgtEl>
                                          <p:spTgt spid="870"/>
                                        </p:tgtEl>
                                        <p:attrNameLst>
                                          <p:attrName>ppt_h</p:attrName>
                                        </p:attrNameLst>
                                      </p:cBhvr>
                                      <p:tavLst>
                                        <p:tav tm="0">
                                          <p:val>
                                            <p:strVal val="0"/>
                                          </p:val>
                                        </p:tav>
                                        <p:tav tm="100000">
                                          <p:val>
                                            <p:strVal val="#ppt_h"/>
                                          </p:val>
                                        </p:tav>
                                      </p:tavLst>
                                    </p:anim>
                                  </p:childTnLst>
                                </p:cTn>
                              </p:par>
                              <p:par>
                                <p:cTn id="60" presetID="23" presetClass="entr" presetSubtype="16" fill="hold" nodeType="withEffect">
                                  <p:stCondLst>
                                    <p:cond delay="950"/>
                                  </p:stCondLst>
                                  <p:childTnLst>
                                    <p:set>
                                      <p:cBhvr>
                                        <p:cTn id="61" dur="1" fill="hold">
                                          <p:stCondLst>
                                            <p:cond delay="0"/>
                                          </p:stCondLst>
                                        </p:cTn>
                                        <p:tgtEl>
                                          <p:spTgt spid="871"/>
                                        </p:tgtEl>
                                        <p:attrNameLst>
                                          <p:attrName>style.visibility</p:attrName>
                                        </p:attrNameLst>
                                      </p:cBhvr>
                                      <p:to>
                                        <p:strVal val="visible"/>
                                      </p:to>
                                    </p:set>
                                    <p:anim calcmode="lin" valueType="num">
                                      <p:cBhvr additive="base">
                                        <p:cTn id="62" dur="500"/>
                                        <p:tgtEl>
                                          <p:spTgt spid="871"/>
                                        </p:tgtEl>
                                        <p:attrNameLst>
                                          <p:attrName>ppt_w</p:attrName>
                                        </p:attrNameLst>
                                      </p:cBhvr>
                                      <p:tavLst>
                                        <p:tav tm="0">
                                          <p:val>
                                            <p:strVal val="0"/>
                                          </p:val>
                                        </p:tav>
                                        <p:tav tm="100000">
                                          <p:val>
                                            <p:strVal val="#ppt_w"/>
                                          </p:val>
                                        </p:tav>
                                      </p:tavLst>
                                    </p:anim>
                                    <p:anim calcmode="lin" valueType="num">
                                      <p:cBhvr additive="base">
                                        <p:cTn id="63" dur="500"/>
                                        <p:tgtEl>
                                          <p:spTgt spid="871"/>
                                        </p:tgtEl>
                                        <p:attrNameLst>
                                          <p:attrName>ppt_h</p:attrName>
                                        </p:attrNameLst>
                                      </p:cBhvr>
                                      <p:tavLst>
                                        <p:tav tm="0">
                                          <p:val>
                                            <p:strVal val="0"/>
                                          </p:val>
                                        </p:tav>
                                        <p:tav tm="100000">
                                          <p:val>
                                            <p:strVal val="#ppt_h"/>
                                          </p:val>
                                        </p:tav>
                                      </p:tavLst>
                                    </p:anim>
                                  </p:childTnLst>
                                </p:cTn>
                              </p:par>
                              <p:par>
                                <p:cTn id="64" presetID="10" presetClass="entr" presetSubtype="0" fill="hold" nodeType="withEffect">
                                  <p:stCondLst>
                                    <p:cond delay="950"/>
                                  </p:stCondLst>
                                  <p:childTnLst>
                                    <p:set>
                                      <p:cBhvr>
                                        <p:cTn id="65" dur="1" fill="hold">
                                          <p:stCondLst>
                                            <p:cond delay="0"/>
                                          </p:stCondLst>
                                        </p:cTn>
                                        <p:tgtEl>
                                          <p:spTgt spid="839"/>
                                        </p:tgtEl>
                                        <p:attrNameLst>
                                          <p:attrName>style.visibility</p:attrName>
                                        </p:attrNameLst>
                                      </p:cBhvr>
                                      <p:to>
                                        <p:strVal val="visible"/>
                                      </p:to>
                                    </p:set>
                                    <p:animEffect transition="in" filter="fade">
                                      <p:cBhvr>
                                        <p:cTn id="66" dur="500"/>
                                        <p:tgtEl>
                                          <p:spTgt spid="839"/>
                                        </p:tgtEl>
                                      </p:cBhvr>
                                    </p:animEffect>
                                  </p:childTnLst>
                                </p:cTn>
                              </p:par>
                              <p:par>
                                <p:cTn id="67" presetID="10" presetClass="entr" presetSubtype="0" fill="hold" nodeType="withEffect">
                                  <p:stCondLst>
                                    <p:cond delay="600"/>
                                  </p:stCondLst>
                                  <p:childTnLst>
                                    <p:set>
                                      <p:cBhvr>
                                        <p:cTn id="68" dur="1" fill="hold">
                                          <p:stCondLst>
                                            <p:cond delay="0"/>
                                          </p:stCondLst>
                                        </p:cTn>
                                        <p:tgtEl>
                                          <p:spTgt spid="861"/>
                                        </p:tgtEl>
                                        <p:attrNameLst>
                                          <p:attrName>style.visibility</p:attrName>
                                        </p:attrNameLst>
                                      </p:cBhvr>
                                      <p:to>
                                        <p:strVal val="visible"/>
                                      </p:to>
                                    </p:set>
                                    <p:animEffect transition="in" filter="fade">
                                      <p:cBhvr>
                                        <p:cTn id="69" dur="500"/>
                                        <p:tgtEl>
                                          <p:spTgt spid="861"/>
                                        </p:tgtEl>
                                      </p:cBhvr>
                                    </p:animEffect>
                                  </p:childTnLst>
                                </p:cTn>
                              </p:par>
                              <p:par>
                                <p:cTn id="70" presetID="10" presetClass="entr" presetSubtype="0" fill="hold" nodeType="withEffect">
                                  <p:stCondLst>
                                    <p:cond delay="750"/>
                                  </p:stCondLst>
                                  <p:childTnLst>
                                    <p:set>
                                      <p:cBhvr>
                                        <p:cTn id="71" dur="1" fill="hold">
                                          <p:stCondLst>
                                            <p:cond delay="0"/>
                                          </p:stCondLst>
                                        </p:cTn>
                                        <p:tgtEl>
                                          <p:spTgt spid="863"/>
                                        </p:tgtEl>
                                        <p:attrNameLst>
                                          <p:attrName>style.visibility</p:attrName>
                                        </p:attrNameLst>
                                      </p:cBhvr>
                                      <p:to>
                                        <p:strVal val="visible"/>
                                      </p:to>
                                    </p:set>
                                    <p:animEffect transition="in" filter="fade">
                                      <p:cBhvr>
                                        <p:cTn id="72" dur="500"/>
                                        <p:tgtEl>
                                          <p:spTgt spid="863"/>
                                        </p:tgtEl>
                                      </p:cBhvr>
                                    </p:animEffect>
                                  </p:childTnLst>
                                </p:cTn>
                              </p:par>
                              <p:par>
                                <p:cTn id="73" presetID="10" presetClass="entr" presetSubtype="0" fill="hold" nodeType="withEffect">
                                  <p:stCondLst>
                                    <p:cond delay="950"/>
                                  </p:stCondLst>
                                  <p:childTnLst>
                                    <p:set>
                                      <p:cBhvr>
                                        <p:cTn id="74" dur="1" fill="hold">
                                          <p:stCondLst>
                                            <p:cond delay="0"/>
                                          </p:stCondLst>
                                        </p:cTn>
                                        <p:tgtEl>
                                          <p:spTgt spid="865"/>
                                        </p:tgtEl>
                                        <p:attrNameLst>
                                          <p:attrName>style.visibility</p:attrName>
                                        </p:attrNameLst>
                                      </p:cBhvr>
                                      <p:to>
                                        <p:strVal val="visible"/>
                                      </p:to>
                                    </p:set>
                                    <p:animEffect transition="in" filter="fade">
                                      <p:cBhvr>
                                        <p:cTn id="75" dur="500"/>
                                        <p:tgtEl>
                                          <p:spTgt spid="865"/>
                                        </p:tgtEl>
                                      </p:cBhvr>
                                    </p:animEffect>
                                  </p:childTnLst>
                                </p:cTn>
                              </p:par>
                              <p:par>
                                <p:cTn id="76" presetID="10" presetClass="entr" presetSubtype="0" fill="hold" nodeType="withEffect">
                                  <p:stCondLst>
                                    <p:cond delay="1100"/>
                                  </p:stCondLst>
                                  <p:childTnLst>
                                    <p:set>
                                      <p:cBhvr>
                                        <p:cTn id="77" dur="1" fill="hold">
                                          <p:stCondLst>
                                            <p:cond delay="0"/>
                                          </p:stCondLst>
                                        </p:cTn>
                                        <p:tgtEl>
                                          <p:spTgt spid="867"/>
                                        </p:tgtEl>
                                        <p:attrNameLst>
                                          <p:attrName>style.visibility</p:attrName>
                                        </p:attrNameLst>
                                      </p:cBhvr>
                                      <p:to>
                                        <p:strVal val="visible"/>
                                      </p:to>
                                    </p:set>
                                    <p:animEffect transition="in" filter="fade">
                                      <p:cBhvr>
                                        <p:cTn id="78" dur="500"/>
                                        <p:tgtEl>
                                          <p:spTgt spid="867"/>
                                        </p:tgtEl>
                                      </p:cBhvr>
                                    </p:animEffect>
                                  </p:childTnLst>
                                </p:cTn>
                              </p:par>
                              <p:par>
                                <p:cTn id="79" presetID="10" presetClass="entr" presetSubtype="0" fill="hold" nodeType="withEffect">
                                  <p:stCondLst>
                                    <p:cond delay="750"/>
                                  </p:stCondLst>
                                  <p:childTnLst>
                                    <p:set>
                                      <p:cBhvr>
                                        <p:cTn id="80" dur="1" fill="hold">
                                          <p:stCondLst>
                                            <p:cond delay="0"/>
                                          </p:stCondLst>
                                        </p:cTn>
                                        <p:tgtEl>
                                          <p:spTgt spid="862"/>
                                        </p:tgtEl>
                                        <p:attrNameLst>
                                          <p:attrName>style.visibility</p:attrName>
                                        </p:attrNameLst>
                                      </p:cBhvr>
                                      <p:to>
                                        <p:strVal val="visible"/>
                                      </p:to>
                                    </p:set>
                                    <p:animEffect transition="in" filter="fade">
                                      <p:cBhvr>
                                        <p:cTn id="81" dur="500"/>
                                        <p:tgtEl>
                                          <p:spTgt spid="862"/>
                                        </p:tgtEl>
                                      </p:cBhvr>
                                    </p:animEffect>
                                  </p:childTnLst>
                                </p:cTn>
                              </p:par>
                              <p:par>
                                <p:cTn id="82" presetID="10" presetClass="entr" presetSubtype="0" fill="hold" nodeType="withEffect">
                                  <p:stCondLst>
                                    <p:cond delay="950"/>
                                  </p:stCondLst>
                                  <p:childTnLst>
                                    <p:set>
                                      <p:cBhvr>
                                        <p:cTn id="83" dur="1" fill="hold">
                                          <p:stCondLst>
                                            <p:cond delay="0"/>
                                          </p:stCondLst>
                                        </p:cTn>
                                        <p:tgtEl>
                                          <p:spTgt spid="864"/>
                                        </p:tgtEl>
                                        <p:attrNameLst>
                                          <p:attrName>style.visibility</p:attrName>
                                        </p:attrNameLst>
                                      </p:cBhvr>
                                      <p:to>
                                        <p:strVal val="visible"/>
                                      </p:to>
                                    </p:set>
                                    <p:animEffect transition="in" filter="fade">
                                      <p:cBhvr>
                                        <p:cTn id="84" dur="500"/>
                                        <p:tgtEl>
                                          <p:spTgt spid="864"/>
                                        </p:tgtEl>
                                      </p:cBhvr>
                                    </p:animEffect>
                                  </p:childTnLst>
                                </p:cTn>
                              </p:par>
                              <p:par>
                                <p:cTn id="85" presetID="10" presetClass="entr" presetSubtype="0" fill="hold" nodeType="withEffect">
                                  <p:stCondLst>
                                    <p:cond delay="1100"/>
                                  </p:stCondLst>
                                  <p:childTnLst>
                                    <p:set>
                                      <p:cBhvr>
                                        <p:cTn id="86" dur="1" fill="hold">
                                          <p:stCondLst>
                                            <p:cond delay="0"/>
                                          </p:stCondLst>
                                        </p:cTn>
                                        <p:tgtEl>
                                          <p:spTgt spid="866"/>
                                        </p:tgtEl>
                                        <p:attrNameLst>
                                          <p:attrName>style.visibility</p:attrName>
                                        </p:attrNameLst>
                                      </p:cBhvr>
                                      <p:to>
                                        <p:strVal val="visible"/>
                                      </p:to>
                                    </p:set>
                                    <p:animEffect transition="in" filter="fade">
                                      <p:cBhvr>
                                        <p:cTn id="87" dur="500"/>
                                        <p:tgtEl>
                                          <p:spTgt spid="866"/>
                                        </p:tgtEl>
                                      </p:cBhvr>
                                    </p:animEffect>
                                  </p:childTnLst>
                                </p:cTn>
                              </p:par>
                              <p:par>
                                <p:cTn id="88" presetID="10" presetClass="entr" presetSubtype="0" fill="hold" nodeType="withEffect">
                                  <p:stCondLst>
                                    <p:cond delay="1300"/>
                                  </p:stCondLst>
                                  <p:childTnLst>
                                    <p:set>
                                      <p:cBhvr>
                                        <p:cTn id="89" dur="1" fill="hold">
                                          <p:stCondLst>
                                            <p:cond delay="0"/>
                                          </p:stCondLst>
                                        </p:cTn>
                                        <p:tgtEl>
                                          <p:spTgt spid="868"/>
                                        </p:tgtEl>
                                        <p:attrNameLst>
                                          <p:attrName>style.visibility</p:attrName>
                                        </p:attrNameLst>
                                      </p:cBhvr>
                                      <p:to>
                                        <p:strVal val="visible"/>
                                      </p:to>
                                    </p:set>
                                    <p:animEffect transition="in" filter="fade">
                                      <p:cBhvr>
                                        <p:cTn id="90" dur="500"/>
                                        <p:tgtEl>
                                          <p:spTgt spid="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9"/>
          <p:cNvSpPr txBox="1">
            <a:spLocks noGrp="1"/>
          </p:cNvSpPr>
          <p:nvPr>
            <p:ph type="title"/>
          </p:nvPr>
        </p:nvSpPr>
        <p:spPr>
          <a:xfrm>
            <a:off x="1053851" y="1995165"/>
            <a:ext cx="4968547" cy="1926089"/>
          </a:xfrm>
          <a:prstGeom prst="rect">
            <a:avLst/>
          </a:prstGeom>
          <a:noFill/>
          <a:ln>
            <a:noFill/>
          </a:ln>
        </p:spPr>
        <p:txBody>
          <a:bodyPr spcFirstLastPara="1" wrap="square" lIns="0" tIns="60925" rIns="0" bIns="60925" anchor="t" anchorCtr="0">
            <a:noAutofit/>
          </a:bodyPr>
          <a:lstStyle/>
          <a:p>
            <a:pPr marL="0" lvl="0" indent="0" algn="l" rtl="0">
              <a:spcBef>
                <a:spcPts val="0"/>
              </a:spcBef>
              <a:spcAft>
                <a:spcPts val="0"/>
              </a:spcAft>
              <a:buClr>
                <a:schemeClr val="accent1"/>
              </a:buClr>
              <a:buSzPts val="4000"/>
              <a:buFont typeface="Quattrocento Sans"/>
              <a:buNone/>
            </a:pPr>
            <a:r>
              <a:rPr lang="en-US"/>
              <a:t>Travel Data App</a:t>
            </a:r>
            <a:endParaRPr/>
          </a:p>
        </p:txBody>
      </p:sp>
      <p:sp>
        <p:nvSpPr>
          <p:cNvPr id="884" name="Google Shape;884;p9"/>
          <p:cNvSpPr txBox="1"/>
          <p:nvPr/>
        </p:nvSpPr>
        <p:spPr>
          <a:xfrm>
            <a:off x="1053852" y="1685814"/>
            <a:ext cx="3312368" cy="276999"/>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a:solidFill>
                  <a:schemeClr val="accent2"/>
                </a:solidFill>
                <a:latin typeface="Quattrocento Sans"/>
                <a:ea typeface="Quattrocento Sans"/>
                <a:cs typeface="Quattrocento Sans"/>
                <a:sym typeface="Quattrocento Sans"/>
              </a:rPr>
              <a:t>Anubhav Trainings</a:t>
            </a:r>
            <a:endParaRPr/>
          </a:p>
        </p:txBody>
      </p:sp>
      <p:sp>
        <p:nvSpPr>
          <p:cNvPr id="885" name="Google Shape;885;p9"/>
          <p:cNvSpPr txBox="1"/>
          <p:nvPr/>
        </p:nvSpPr>
        <p:spPr>
          <a:xfrm>
            <a:off x="960445" y="2838670"/>
            <a:ext cx="4176464" cy="18158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Quattrocento Sans"/>
                <a:ea typeface="Quattrocento Sans"/>
                <a:cs typeface="Quattrocento Sans"/>
                <a:sym typeface="Quattrocento Sans"/>
              </a:rPr>
              <a:t>You are working in travel industry as a technical developer, your organization collected the travel data of many countries over last couple of years with top tourist locations, you would like to design an application in cloud to present the same data with a report.</a:t>
            </a:r>
            <a:endParaRPr/>
          </a:p>
        </p:txBody>
      </p:sp>
      <p:sp>
        <p:nvSpPr>
          <p:cNvPr id="886" name="Google Shape;886;p9"/>
          <p:cNvSpPr/>
          <p:nvPr/>
        </p:nvSpPr>
        <p:spPr>
          <a:xfrm>
            <a:off x="6104617" y="1340768"/>
            <a:ext cx="4104456" cy="1311020"/>
          </a:xfrm>
          <a:prstGeom prst="snip2DiagRect">
            <a:avLst>
              <a:gd name="adj1" fmla="val 13108"/>
              <a:gd name="adj2" fmla="val 34542"/>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87" name="Google Shape;887;p9"/>
          <p:cNvSpPr/>
          <p:nvPr/>
        </p:nvSpPr>
        <p:spPr>
          <a:xfrm flipH="1">
            <a:off x="6104616" y="2807243"/>
            <a:ext cx="4454291" cy="1311020"/>
          </a:xfrm>
          <a:prstGeom prst="snip2DiagRect">
            <a:avLst>
              <a:gd name="adj1" fmla="val 13108"/>
              <a:gd name="adj2" fmla="val 34542"/>
            </a:avLst>
          </a:prstGeom>
          <a:gradFill>
            <a:gsLst>
              <a:gs pos="0">
                <a:schemeClr val="accent2"/>
              </a:gs>
              <a:gs pos="9500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88" name="Google Shape;888;p9"/>
          <p:cNvSpPr/>
          <p:nvPr/>
        </p:nvSpPr>
        <p:spPr>
          <a:xfrm>
            <a:off x="6331715" y="4278220"/>
            <a:ext cx="4227191" cy="1311020"/>
          </a:xfrm>
          <a:prstGeom prst="snip2DiagRect">
            <a:avLst>
              <a:gd name="adj1" fmla="val 16510"/>
              <a:gd name="adj2" fmla="val 34542"/>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89" name="Google Shape;889;p9"/>
          <p:cNvSpPr txBox="1"/>
          <p:nvPr/>
        </p:nvSpPr>
        <p:spPr>
          <a:xfrm>
            <a:off x="6586514" y="1547375"/>
            <a:ext cx="157799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Understand</a:t>
            </a:r>
            <a:endParaRPr/>
          </a:p>
        </p:txBody>
      </p:sp>
      <p:sp>
        <p:nvSpPr>
          <p:cNvPr id="890" name="Google Shape;890;p9"/>
          <p:cNvSpPr txBox="1"/>
          <p:nvPr/>
        </p:nvSpPr>
        <p:spPr>
          <a:xfrm>
            <a:off x="6586514" y="1969676"/>
            <a:ext cx="254703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Understand the data model and requirements</a:t>
            </a:r>
            <a:endParaRPr/>
          </a:p>
        </p:txBody>
      </p:sp>
      <p:sp>
        <p:nvSpPr>
          <p:cNvPr id="891" name="Google Shape;891;p9"/>
          <p:cNvSpPr txBox="1"/>
          <p:nvPr/>
        </p:nvSpPr>
        <p:spPr>
          <a:xfrm>
            <a:off x="7068073" y="2958303"/>
            <a:ext cx="157799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Quattrocento Sans"/>
                <a:ea typeface="Quattrocento Sans"/>
                <a:cs typeface="Quattrocento Sans"/>
                <a:sym typeface="Quattrocento Sans"/>
              </a:rPr>
              <a:t>Design</a:t>
            </a:r>
            <a:endParaRPr/>
          </a:p>
        </p:txBody>
      </p:sp>
      <p:sp>
        <p:nvSpPr>
          <p:cNvPr id="892" name="Google Shape;892;p9"/>
          <p:cNvSpPr txBox="1"/>
          <p:nvPr/>
        </p:nvSpPr>
        <p:spPr>
          <a:xfrm>
            <a:off x="7068073" y="3380604"/>
            <a:ext cx="254703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Quattrocento Sans"/>
                <a:ea typeface="Quattrocento Sans"/>
                <a:cs typeface="Quattrocento Sans"/>
                <a:sym typeface="Quattrocento Sans"/>
              </a:rPr>
              <a:t>Create the project skeleton and models</a:t>
            </a:r>
            <a:endParaRPr/>
          </a:p>
        </p:txBody>
      </p:sp>
      <p:sp>
        <p:nvSpPr>
          <p:cNvPr id="893" name="Google Shape;893;p9"/>
          <p:cNvSpPr txBox="1"/>
          <p:nvPr/>
        </p:nvSpPr>
        <p:spPr>
          <a:xfrm>
            <a:off x="6813613" y="4450760"/>
            <a:ext cx="157799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Develop</a:t>
            </a:r>
            <a:endParaRPr/>
          </a:p>
        </p:txBody>
      </p:sp>
      <p:sp>
        <p:nvSpPr>
          <p:cNvPr id="894" name="Google Shape;894;p9"/>
          <p:cNvSpPr txBox="1"/>
          <p:nvPr/>
        </p:nvSpPr>
        <p:spPr>
          <a:xfrm>
            <a:off x="6813613" y="4873061"/>
            <a:ext cx="254703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Develop the application and test</a:t>
            </a:r>
            <a:endParaRPr/>
          </a:p>
        </p:txBody>
      </p:sp>
      <p:sp>
        <p:nvSpPr>
          <p:cNvPr id="895" name="Google Shape;895;p9"/>
          <p:cNvSpPr txBox="1"/>
          <p:nvPr/>
        </p:nvSpPr>
        <p:spPr>
          <a:xfrm>
            <a:off x="9521720" y="2173267"/>
            <a:ext cx="59396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chemeClr val="dk1"/>
                </a:solidFill>
                <a:latin typeface="Quattrocento Sans"/>
                <a:ea typeface="Quattrocento Sans"/>
                <a:cs typeface="Quattrocento Sans"/>
                <a:sym typeface="Quattrocento Sans"/>
              </a:rPr>
              <a:t>01</a:t>
            </a:r>
            <a:endParaRPr/>
          </a:p>
        </p:txBody>
      </p:sp>
      <p:sp>
        <p:nvSpPr>
          <p:cNvPr id="896" name="Google Shape;896;p9"/>
          <p:cNvSpPr txBox="1"/>
          <p:nvPr/>
        </p:nvSpPr>
        <p:spPr>
          <a:xfrm>
            <a:off x="6104616" y="3644244"/>
            <a:ext cx="59396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b="1">
                <a:solidFill>
                  <a:schemeClr val="lt1"/>
                </a:solidFill>
                <a:latin typeface="Quattrocento Sans"/>
                <a:ea typeface="Quattrocento Sans"/>
                <a:cs typeface="Quattrocento Sans"/>
                <a:sym typeface="Quattrocento Sans"/>
              </a:rPr>
              <a:t>02</a:t>
            </a:r>
            <a:endParaRPr/>
          </a:p>
        </p:txBody>
      </p:sp>
      <p:sp>
        <p:nvSpPr>
          <p:cNvPr id="897" name="Google Shape;897;p9"/>
          <p:cNvSpPr txBox="1"/>
          <p:nvPr/>
        </p:nvSpPr>
        <p:spPr>
          <a:xfrm>
            <a:off x="9842545" y="5147900"/>
            <a:ext cx="593966"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chemeClr val="dk1"/>
                </a:solidFill>
                <a:latin typeface="Quattrocento Sans"/>
                <a:ea typeface="Quattrocento Sans"/>
                <a:cs typeface="Quattrocento Sans"/>
                <a:sym typeface="Quattrocento Sans"/>
              </a:rPr>
              <a:t>03</a:t>
            </a:r>
            <a:endParaRPr/>
          </a:p>
        </p:txBody>
      </p:sp>
      <p:sp>
        <p:nvSpPr>
          <p:cNvPr id="898" name="Google Shape;898;p9"/>
          <p:cNvSpPr/>
          <p:nvPr/>
        </p:nvSpPr>
        <p:spPr>
          <a:xfrm rot="-3518362" flipH="1">
            <a:off x="1026208" y="3863300"/>
            <a:ext cx="1879612" cy="4552860"/>
          </a:xfrm>
          <a:custGeom>
            <a:avLst/>
            <a:gdLst/>
            <a:ahLst/>
            <a:cxnLst/>
            <a:rect l="l" t="t" r="r" b="b"/>
            <a:pathLst>
              <a:path w="2999369" h="7265173" extrusionOk="0">
                <a:moveTo>
                  <a:pt x="1040783" y="681031"/>
                </a:moveTo>
                <a:cubicBezTo>
                  <a:pt x="1084757" y="610587"/>
                  <a:pt x="1129969" y="540994"/>
                  <a:pt x="1176389" y="472284"/>
                </a:cubicBezTo>
                <a:lnTo>
                  <a:pt x="1529556" y="0"/>
                </a:lnTo>
                <a:lnTo>
                  <a:pt x="1533767" y="2566"/>
                </a:lnTo>
                <a:lnTo>
                  <a:pt x="1885015" y="472283"/>
                </a:lnTo>
                <a:cubicBezTo>
                  <a:pt x="2442048" y="1296803"/>
                  <a:pt x="2825251" y="2248412"/>
                  <a:pt x="2982037" y="3274524"/>
                </a:cubicBezTo>
                <a:lnTo>
                  <a:pt x="2999369" y="3426274"/>
                </a:lnTo>
                <a:lnTo>
                  <a:pt x="659714" y="7265173"/>
                </a:lnTo>
                <a:lnTo>
                  <a:pt x="477785" y="6849243"/>
                </a:lnTo>
                <a:cubicBezTo>
                  <a:pt x="169405" y="6067192"/>
                  <a:pt x="0" y="5215142"/>
                  <a:pt x="0" y="4323524"/>
                </a:cubicBezTo>
                <a:cubicBezTo>
                  <a:pt x="0" y="2986101"/>
                  <a:pt x="381162" y="1737700"/>
                  <a:pt x="1040783" y="681031"/>
                </a:cubicBezTo>
                <a:close/>
              </a:path>
            </a:pathLst>
          </a:custGeom>
          <a:gradFill>
            <a:gsLst>
              <a:gs pos="0">
                <a:schemeClr val="accent2"/>
              </a:gs>
              <a:gs pos="95000">
                <a:schemeClr val="accent1"/>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899" name="Google Shape;899;p9"/>
          <p:cNvSpPr/>
          <p:nvPr/>
        </p:nvSpPr>
        <p:spPr>
          <a:xfrm rot="-829101" flipH="1">
            <a:off x="-276770" y="4136642"/>
            <a:ext cx="1950844" cy="3014914"/>
          </a:xfrm>
          <a:custGeom>
            <a:avLst/>
            <a:gdLst/>
            <a:ahLst/>
            <a:cxnLst/>
            <a:rect l="l" t="t" r="r" b="b"/>
            <a:pathLst>
              <a:path w="3113036" h="4811014" extrusionOk="0">
                <a:moveTo>
                  <a:pt x="2118036" y="0"/>
                </a:moveTo>
                <a:lnTo>
                  <a:pt x="3113036" y="4045322"/>
                </a:lnTo>
                <a:lnTo>
                  <a:pt x="0" y="4811014"/>
                </a:lnTo>
                <a:lnTo>
                  <a:pt x="1823" y="4797362"/>
                </a:lnTo>
                <a:cubicBezTo>
                  <a:pt x="232842" y="3285423"/>
                  <a:pt x="797475" y="1883262"/>
                  <a:pt x="1618243" y="6683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900" name="Google Shape;900;p9"/>
          <p:cNvPicPr preferRelativeResize="0"/>
          <p:nvPr/>
        </p:nvPicPr>
        <p:blipFill rotWithShape="1">
          <a:blip r:embed="rId3">
            <a:alphaModFix/>
          </a:blip>
          <a:srcRect/>
          <a:stretch/>
        </p:blipFill>
        <p:spPr>
          <a:xfrm>
            <a:off x="11088469" y="53543"/>
            <a:ext cx="929479" cy="9180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83"/>
                                        </p:tgtEl>
                                        <p:attrNameLst>
                                          <p:attrName>style.visibility</p:attrName>
                                        </p:attrNameLst>
                                      </p:cBhvr>
                                      <p:to>
                                        <p:strVal val="visible"/>
                                      </p:to>
                                    </p:set>
                                    <p:animEffect transition="in" filter="fade">
                                      <p:cBhvr>
                                        <p:cTn id="7" dur="500"/>
                                        <p:tgtEl>
                                          <p:spTgt spid="883"/>
                                        </p:tgtEl>
                                      </p:cBhvr>
                                    </p:animEffect>
                                  </p:childTnLst>
                                </p:cTn>
                              </p:par>
                              <p:par>
                                <p:cTn id="8" presetID="10" presetClass="entr" presetSubtype="0" fill="hold" nodeType="withEffect">
                                  <p:stCondLst>
                                    <p:cond delay="150"/>
                                  </p:stCondLst>
                                  <p:childTnLst>
                                    <p:set>
                                      <p:cBhvr>
                                        <p:cTn id="9" dur="1" fill="hold">
                                          <p:stCondLst>
                                            <p:cond delay="0"/>
                                          </p:stCondLst>
                                        </p:cTn>
                                        <p:tgtEl>
                                          <p:spTgt spid="884"/>
                                        </p:tgtEl>
                                        <p:attrNameLst>
                                          <p:attrName>style.visibility</p:attrName>
                                        </p:attrNameLst>
                                      </p:cBhvr>
                                      <p:to>
                                        <p:strVal val="visible"/>
                                      </p:to>
                                    </p:set>
                                    <p:animEffect transition="in" filter="fade">
                                      <p:cBhvr>
                                        <p:cTn id="10" dur="500"/>
                                        <p:tgtEl>
                                          <p:spTgt spid="884"/>
                                        </p:tgtEl>
                                      </p:cBhvr>
                                    </p:animEffect>
                                  </p:childTnLst>
                                </p:cTn>
                              </p:par>
                              <p:par>
                                <p:cTn id="11" presetID="10" presetClass="entr" presetSubtype="0" fill="hold" nodeType="withEffect">
                                  <p:stCondLst>
                                    <p:cond delay="350"/>
                                  </p:stCondLst>
                                  <p:childTnLst>
                                    <p:set>
                                      <p:cBhvr>
                                        <p:cTn id="12" dur="1" fill="hold">
                                          <p:stCondLst>
                                            <p:cond delay="0"/>
                                          </p:stCondLst>
                                        </p:cTn>
                                        <p:tgtEl>
                                          <p:spTgt spid="885"/>
                                        </p:tgtEl>
                                        <p:attrNameLst>
                                          <p:attrName>style.visibility</p:attrName>
                                        </p:attrNameLst>
                                      </p:cBhvr>
                                      <p:to>
                                        <p:strVal val="visible"/>
                                      </p:to>
                                    </p:set>
                                    <p:animEffect transition="in" filter="fade">
                                      <p:cBhvr>
                                        <p:cTn id="13" dur="500"/>
                                        <p:tgtEl>
                                          <p:spTgt spid="885"/>
                                        </p:tgtEl>
                                      </p:cBhvr>
                                    </p:animEffect>
                                  </p:childTnLst>
                                </p:cTn>
                              </p:par>
                              <p:par>
                                <p:cTn id="14" presetID="2" presetClass="entr" presetSubtype="4" fill="hold" nodeType="withEffect">
                                  <p:stCondLst>
                                    <p:cond delay="550"/>
                                  </p:stCondLst>
                                  <p:childTnLst>
                                    <p:set>
                                      <p:cBhvr>
                                        <p:cTn id="15" dur="1" fill="hold">
                                          <p:stCondLst>
                                            <p:cond delay="0"/>
                                          </p:stCondLst>
                                        </p:cTn>
                                        <p:tgtEl>
                                          <p:spTgt spid="898"/>
                                        </p:tgtEl>
                                        <p:attrNameLst>
                                          <p:attrName>style.visibility</p:attrName>
                                        </p:attrNameLst>
                                      </p:cBhvr>
                                      <p:to>
                                        <p:strVal val="visible"/>
                                      </p:to>
                                    </p:set>
                                    <p:anim calcmode="lin" valueType="num">
                                      <p:cBhvr additive="base">
                                        <p:cTn id="16" dur="500"/>
                                        <p:tgtEl>
                                          <p:spTgt spid="898"/>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350"/>
                                  </p:stCondLst>
                                  <p:childTnLst>
                                    <p:set>
                                      <p:cBhvr>
                                        <p:cTn id="18" dur="1" fill="hold">
                                          <p:stCondLst>
                                            <p:cond delay="0"/>
                                          </p:stCondLst>
                                        </p:cTn>
                                        <p:tgtEl>
                                          <p:spTgt spid="899"/>
                                        </p:tgtEl>
                                        <p:attrNameLst>
                                          <p:attrName>style.visibility</p:attrName>
                                        </p:attrNameLst>
                                      </p:cBhvr>
                                      <p:to>
                                        <p:strVal val="visible"/>
                                      </p:to>
                                    </p:set>
                                    <p:anim calcmode="lin" valueType="num">
                                      <p:cBhvr additive="base">
                                        <p:cTn id="19" dur="500"/>
                                        <p:tgtEl>
                                          <p:spTgt spid="899"/>
                                        </p:tgtEl>
                                        <p:attrNameLst>
                                          <p:attrName>ppt_y</p:attrName>
                                        </p:attrNameLst>
                                      </p:cBhvr>
                                      <p:tavLst>
                                        <p:tav tm="0">
                                          <p:val>
                                            <p:strVal val="#ppt_y+1"/>
                                          </p:val>
                                        </p:tav>
                                        <p:tav tm="100000">
                                          <p:val>
                                            <p:strVal val="#ppt_y"/>
                                          </p:val>
                                        </p:tav>
                                      </p:tavLst>
                                    </p:anim>
                                  </p:childTnLst>
                                </p:cTn>
                              </p:par>
                              <p:par>
                                <p:cTn id="20" presetID="2" presetClass="entr" presetSubtype="2" fill="hold" nodeType="withEffect">
                                  <p:stCondLst>
                                    <p:cond delay="350"/>
                                  </p:stCondLst>
                                  <p:childTnLst>
                                    <p:set>
                                      <p:cBhvr>
                                        <p:cTn id="21" dur="1" fill="hold">
                                          <p:stCondLst>
                                            <p:cond delay="0"/>
                                          </p:stCondLst>
                                        </p:cTn>
                                        <p:tgtEl>
                                          <p:spTgt spid="886"/>
                                        </p:tgtEl>
                                        <p:attrNameLst>
                                          <p:attrName>style.visibility</p:attrName>
                                        </p:attrNameLst>
                                      </p:cBhvr>
                                      <p:to>
                                        <p:strVal val="visible"/>
                                      </p:to>
                                    </p:set>
                                    <p:anim calcmode="lin" valueType="num">
                                      <p:cBhvr additive="base">
                                        <p:cTn id="22" dur="500"/>
                                        <p:tgtEl>
                                          <p:spTgt spid="886"/>
                                        </p:tgtEl>
                                        <p:attrNameLst>
                                          <p:attrName>ppt_x</p:attrName>
                                        </p:attrNameLst>
                                      </p:cBhvr>
                                      <p:tavLst>
                                        <p:tav tm="0">
                                          <p:val>
                                            <p:strVal val="#ppt_x+1"/>
                                          </p:val>
                                        </p:tav>
                                        <p:tav tm="100000">
                                          <p:val>
                                            <p:strVal val="#ppt_x"/>
                                          </p:val>
                                        </p:tav>
                                      </p:tavLst>
                                    </p:anim>
                                  </p:childTnLst>
                                </p:cTn>
                              </p:par>
                              <p:par>
                                <p:cTn id="23" presetID="2" presetClass="entr" presetSubtype="2" fill="hold" nodeType="withEffect">
                                  <p:stCondLst>
                                    <p:cond delay="500"/>
                                  </p:stCondLst>
                                  <p:childTnLst>
                                    <p:set>
                                      <p:cBhvr>
                                        <p:cTn id="24" dur="1" fill="hold">
                                          <p:stCondLst>
                                            <p:cond delay="0"/>
                                          </p:stCondLst>
                                        </p:cTn>
                                        <p:tgtEl>
                                          <p:spTgt spid="887"/>
                                        </p:tgtEl>
                                        <p:attrNameLst>
                                          <p:attrName>style.visibility</p:attrName>
                                        </p:attrNameLst>
                                      </p:cBhvr>
                                      <p:to>
                                        <p:strVal val="visible"/>
                                      </p:to>
                                    </p:set>
                                    <p:anim calcmode="lin" valueType="num">
                                      <p:cBhvr additive="base">
                                        <p:cTn id="25" dur="500"/>
                                        <p:tgtEl>
                                          <p:spTgt spid="887"/>
                                        </p:tgtEl>
                                        <p:attrNameLst>
                                          <p:attrName>ppt_x</p:attrName>
                                        </p:attrNameLst>
                                      </p:cBhvr>
                                      <p:tavLst>
                                        <p:tav tm="0">
                                          <p:val>
                                            <p:strVal val="#ppt_x+1"/>
                                          </p:val>
                                        </p:tav>
                                        <p:tav tm="100000">
                                          <p:val>
                                            <p:strVal val="#ppt_x"/>
                                          </p:val>
                                        </p:tav>
                                      </p:tavLst>
                                    </p:anim>
                                  </p:childTnLst>
                                </p:cTn>
                              </p:par>
                              <p:par>
                                <p:cTn id="26" presetID="2" presetClass="entr" presetSubtype="2" fill="hold" nodeType="withEffect">
                                  <p:stCondLst>
                                    <p:cond delay="650"/>
                                  </p:stCondLst>
                                  <p:childTnLst>
                                    <p:set>
                                      <p:cBhvr>
                                        <p:cTn id="27" dur="1" fill="hold">
                                          <p:stCondLst>
                                            <p:cond delay="0"/>
                                          </p:stCondLst>
                                        </p:cTn>
                                        <p:tgtEl>
                                          <p:spTgt spid="888"/>
                                        </p:tgtEl>
                                        <p:attrNameLst>
                                          <p:attrName>style.visibility</p:attrName>
                                        </p:attrNameLst>
                                      </p:cBhvr>
                                      <p:to>
                                        <p:strVal val="visible"/>
                                      </p:to>
                                    </p:set>
                                    <p:anim calcmode="lin" valueType="num">
                                      <p:cBhvr additive="base">
                                        <p:cTn id="28" dur="500"/>
                                        <p:tgtEl>
                                          <p:spTgt spid="888"/>
                                        </p:tgtEl>
                                        <p:attrNameLst>
                                          <p:attrName>ppt_x</p:attrName>
                                        </p:attrNameLst>
                                      </p:cBhvr>
                                      <p:tavLst>
                                        <p:tav tm="0">
                                          <p:val>
                                            <p:strVal val="#ppt_x+1"/>
                                          </p:val>
                                        </p:tav>
                                        <p:tav tm="100000">
                                          <p:val>
                                            <p:strVal val="#ppt_x"/>
                                          </p:val>
                                        </p:tav>
                                      </p:tavLst>
                                    </p:anim>
                                  </p:childTnLst>
                                </p:cTn>
                              </p:par>
                              <p:par>
                                <p:cTn id="29" presetID="10" presetClass="entr" presetSubtype="0" fill="hold" nodeType="withEffect">
                                  <p:stCondLst>
                                    <p:cond delay="500"/>
                                  </p:stCondLst>
                                  <p:childTnLst>
                                    <p:set>
                                      <p:cBhvr>
                                        <p:cTn id="30" dur="1" fill="hold">
                                          <p:stCondLst>
                                            <p:cond delay="0"/>
                                          </p:stCondLst>
                                        </p:cTn>
                                        <p:tgtEl>
                                          <p:spTgt spid="889"/>
                                        </p:tgtEl>
                                        <p:attrNameLst>
                                          <p:attrName>style.visibility</p:attrName>
                                        </p:attrNameLst>
                                      </p:cBhvr>
                                      <p:to>
                                        <p:strVal val="visible"/>
                                      </p:to>
                                    </p:set>
                                    <p:animEffect transition="in" filter="fade">
                                      <p:cBhvr>
                                        <p:cTn id="31" dur="500"/>
                                        <p:tgtEl>
                                          <p:spTgt spid="889"/>
                                        </p:tgtEl>
                                      </p:cBhvr>
                                    </p:animEffect>
                                  </p:childTnLst>
                                </p:cTn>
                              </p:par>
                              <p:par>
                                <p:cTn id="32" presetID="10" presetClass="entr" presetSubtype="0" fill="hold" nodeType="withEffect">
                                  <p:stCondLst>
                                    <p:cond delay="650"/>
                                  </p:stCondLst>
                                  <p:childTnLst>
                                    <p:set>
                                      <p:cBhvr>
                                        <p:cTn id="33" dur="1" fill="hold">
                                          <p:stCondLst>
                                            <p:cond delay="0"/>
                                          </p:stCondLst>
                                        </p:cTn>
                                        <p:tgtEl>
                                          <p:spTgt spid="891"/>
                                        </p:tgtEl>
                                        <p:attrNameLst>
                                          <p:attrName>style.visibility</p:attrName>
                                        </p:attrNameLst>
                                      </p:cBhvr>
                                      <p:to>
                                        <p:strVal val="visible"/>
                                      </p:to>
                                    </p:set>
                                    <p:animEffect transition="in" filter="fade">
                                      <p:cBhvr>
                                        <p:cTn id="34" dur="500"/>
                                        <p:tgtEl>
                                          <p:spTgt spid="891"/>
                                        </p:tgtEl>
                                      </p:cBhvr>
                                    </p:animEffect>
                                  </p:childTnLst>
                                </p:cTn>
                              </p:par>
                              <p:par>
                                <p:cTn id="35" presetID="10" presetClass="entr" presetSubtype="0" fill="hold" nodeType="withEffect">
                                  <p:stCondLst>
                                    <p:cond delay="800"/>
                                  </p:stCondLst>
                                  <p:childTnLst>
                                    <p:set>
                                      <p:cBhvr>
                                        <p:cTn id="36" dur="1" fill="hold">
                                          <p:stCondLst>
                                            <p:cond delay="0"/>
                                          </p:stCondLst>
                                        </p:cTn>
                                        <p:tgtEl>
                                          <p:spTgt spid="893"/>
                                        </p:tgtEl>
                                        <p:attrNameLst>
                                          <p:attrName>style.visibility</p:attrName>
                                        </p:attrNameLst>
                                      </p:cBhvr>
                                      <p:to>
                                        <p:strVal val="visible"/>
                                      </p:to>
                                    </p:set>
                                    <p:animEffect transition="in" filter="fade">
                                      <p:cBhvr>
                                        <p:cTn id="37" dur="500"/>
                                        <p:tgtEl>
                                          <p:spTgt spid="893"/>
                                        </p:tgtEl>
                                      </p:cBhvr>
                                    </p:animEffect>
                                  </p:childTnLst>
                                </p:cTn>
                              </p:par>
                              <p:par>
                                <p:cTn id="38" presetID="10" presetClass="entr" presetSubtype="0" fill="hold" nodeType="withEffect">
                                  <p:stCondLst>
                                    <p:cond delay="650"/>
                                  </p:stCondLst>
                                  <p:childTnLst>
                                    <p:set>
                                      <p:cBhvr>
                                        <p:cTn id="39" dur="1" fill="hold">
                                          <p:stCondLst>
                                            <p:cond delay="0"/>
                                          </p:stCondLst>
                                        </p:cTn>
                                        <p:tgtEl>
                                          <p:spTgt spid="890"/>
                                        </p:tgtEl>
                                        <p:attrNameLst>
                                          <p:attrName>style.visibility</p:attrName>
                                        </p:attrNameLst>
                                      </p:cBhvr>
                                      <p:to>
                                        <p:strVal val="visible"/>
                                      </p:to>
                                    </p:set>
                                    <p:animEffect transition="in" filter="fade">
                                      <p:cBhvr>
                                        <p:cTn id="40" dur="500"/>
                                        <p:tgtEl>
                                          <p:spTgt spid="890"/>
                                        </p:tgtEl>
                                      </p:cBhvr>
                                    </p:animEffect>
                                  </p:childTnLst>
                                </p:cTn>
                              </p:par>
                              <p:par>
                                <p:cTn id="41" presetID="10" presetClass="entr" presetSubtype="0" fill="hold" nodeType="withEffect">
                                  <p:stCondLst>
                                    <p:cond delay="800"/>
                                  </p:stCondLst>
                                  <p:childTnLst>
                                    <p:set>
                                      <p:cBhvr>
                                        <p:cTn id="42" dur="1" fill="hold">
                                          <p:stCondLst>
                                            <p:cond delay="0"/>
                                          </p:stCondLst>
                                        </p:cTn>
                                        <p:tgtEl>
                                          <p:spTgt spid="892"/>
                                        </p:tgtEl>
                                        <p:attrNameLst>
                                          <p:attrName>style.visibility</p:attrName>
                                        </p:attrNameLst>
                                      </p:cBhvr>
                                      <p:to>
                                        <p:strVal val="visible"/>
                                      </p:to>
                                    </p:set>
                                    <p:animEffect transition="in" filter="fade">
                                      <p:cBhvr>
                                        <p:cTn id="43" dur="500"/>
                                        <p:tgtEl>
                                          <p:spTgt spid="892"/>
                                        </p:tgtEl>
                                      </p:cBhvr>
                                    </p:animEffect>
                                  </p:childTnLst>
                                </p:cTn>
                              </p:par>
                              <p:par>
                                <p:cTn id="44" presetID="10" presetClass="entr" presetSubtype="0" fill="hold" nodeType="withEffect">
                                  <p:stCondLst>
                                    <p:cond delay="950"/>
                                  </p:stCondLst>
                                  <p:childTnLst>
                                    <p:set>
                                      <p:cBhvr>
                                        <p:cTn id="45" dur="1" fill="hold">
                                          <p:stCondLst>
                                            <p:cond delay="0"/>
                                          </p:stCondLst>
                                        </p:cTn>
                                        <p:tgtEl>
                                          <p:spTgt spid="894"/>
                                        </p:tgtEl>
                                        <p:attrNameLst>
                                          <p:attrName>style.visibility</p:attrName>
                                        </p:attrNameLst>
                                      </p:cBhvr>
                                      <p:to>
                                        <p:strVal val="visible"/>
                                      </p:to>
                                    </p:set>
                                    <p:animEffect transition="in" filter="fade">
                                      <p:cBhvr>
                                        <p:cTn id="46" dur="500"/>
                                        <p:tgtEl>
                                          <p:spTgt spid="894"/>
                                        </p:tgtEl>
                                      </p:cBhvr>
                                    </p:animEffect>
                                  </p:childTnLst>
                                </p:cTn>
                              </p:par>
                              <p:par>
                                <p:cTn id="47" presetID="23" presetClass="entr" presetSubtype="16" fill="hold" nodeType="withEffect">
                                  <p:stCondLst>
                                    <p:cond delay="800"/>
                                  </p:stCondLst>
                                  <p:childTnLst>
                                    <p:set>
                                      <p:cBhvr>
                                        <p:cTn id="48" dur="1" fill="hold">
                                          <p:stCondLst>
                                            <p:cond delay="0"/>
                                          </p:stCondLst>
                                        </p:cTn>
                                        <p:tgtEl>
                                          <p:spTgt spid="895"/>
                                        </p:tgtEl>
                                        <p:attrNameLst>
                                          <p:attrName>style.visibility</p:attrName>
                                        </p:attrNameLst>
                                      </p:cBhvr>
                                      <p:to>
                                        <p:strVal val="visible"/>
                                      </p:to>
                                    </p:set>
                                    <p:anim calcmode="lin" valueType="num">
                                      <p:cBhvr additive="base">
                                        <p:cTn id="49" dur="500"/>
                                        <p:tgtEl>
                                          <p:spTgt spid="895"/>
                                        </p:tgtEl>
                                        <p:attrNameLst>
                                          <p:attrName>ppt_w</p:attrName>
                                        </p:attrNameLst>
                                      </p:cBhvr>
                                      <p:tavLst>
                                        <p:tav tm="0">
                                          <p:val>
                                            <p:strVal val="0"/>
                                          </p:val>
                                        </p:tav>
                                        <p:tav tm="100000">
                                          <p:val>
                                            <p:strVal val="#ppt_w"/>
                                          </p:val>
                                        </p:tav>
                                      </p:tavLst>
                                    </p:anim>
                                    <p:anim calcmode="lin" valueType="num">
                                      <p:cBhvr additive="base">
                                        <p:cTn id="50" dur="500"/>
                                        <p:tgtEl>
                                          <p:spTgt spid="895"/>
                                        </p:tgtEl>
                                        <p:attrNameLst>
                                          <p:attrName>ppt_h</p:attrName>
                                        </p:attrNameLst>
                                      </p:cBhvr>
                                      <p:tavLst>
                                        <p:tav tm="0">
                                          <p:val>
                                            <p:strVal val="0"/>
                                          </p:val>
                                        </p:tav>
                                        <p:tav tm="100000">
                                          <p:val>
                                            <p:strVal val="#ppt_h"/>
                                          </p:val>
                                        </p:tav>
                                      </p:tavLst>
                                    </p:anim>
                                  </p:childTnLst>
                                </p:cTn>
                              </p:par>
                              <p:par>
                                <p:cTn id="51" presetID="23" presetClass="entr" presetSubtype="16" fill="hold" nodeType="withEffect">
                                  <p:stCondLst>
                                    <p:cond delay="950"/>
                                  </p:stCondLst>
                                  <p:childTnLst>
                                    <p:set>
                                      <p:cBhvr>
                                        <p:cTn id="52" dur="1" fill="hold">
                                          <p:stCondLst>
                                            <p:cond delay="0"/>
                                          </p:stCondLst>
                                        </p:cTn>
                                        <p:tgtEl>
                                          <p:spTgt spid="896"/>
                                        </p:tgtEl>
                                        <p:attrNameLst>
                                          <p:attrName>style.visibility</p:attrName>
                                        </p:attrNameLst>
                                      </p:cBhvr>
                                      <p:to>
                                        <p:strVal val="visible"/>
                                      </p:to>
                                    </p:set>
                                    <p:anim calcmode="lin" valueType="num">
                                      <p:cBhvr additive="base">
                                        <p:cTn id="53" dur="500"/>
                                        <p:tgtEl>
                                          <p:spTgt spid="896"/>
                                        </p:tgtEl>
                                        <p:attrNameLst>
                                          <p:attrName>ppt_w</p:attrName>
                                        </p:attrNameLst>
                                      </p:cBhvr>
                                      <p:tavLst>
                                        <p:tav tm="0">
                                          <p:val>
                                            <p:strVal val="0"/>
                                          </p:val>
                                        </p:tav>
                                        <p:tav tm="100000">
                                          <p:val>
                                            <p:strVal val="#ppt_w"/>
                                          </p:val>
                                        </p:tav>
                                      </p:tavLst>
                                    </p:anim>
                                    <p:anim calcmode="lin" valueType="num">
                                      <p:cBhvr additive="base">
                                        <p:cTn id="54" dur="500"/>
                                        <p:tgtEl>
                                          <p:spTgt spid="896"/>
                                        </p:tgtEl>
                                        <p:attrNameLst>
                                          <p:attrName>ppt_h</p:attrName>
                                        </p:attrNameLst>
                                      </p:cBhvr>
                                      <p:tavLst>
                                        <p:tav tm="0">
                                          <p:val>
                                            <p:strVal val="0"/>
                                          </p:val>
                                        </p:tav>
                                        <p:tav tm="100000">
                                          <p:val>
                                            <p:strVal val="#ppt_h"/>
                                          </p:val>
                                        </p:tav>
                                      </p:tavLst>
                                    </p:anim>
                                  </p:childTnLst>
                                </p:cTn>
                              </p:par>
                              <p:par>
                                <p:cTn id="55" presetID="23" presetClass="entr" presetSubtype="16" fill="hold" nodeType="withEffect">
                                  <p:stCondLst>
                                    <p:cond delay="1150"/>
                                  </p:stCondLst>
                                  <p:childTnLst>
                                    <p:set>
                                      <p:cBhvr>
                                        <p:cTn id="56" dur="1" fill="hold">
                                          <p:stCondLst>
                                            <p:cond delay="0"/>
                                          </p:stCondLst>
                                        </p:cTn>
                                        <p:tgtEl>
                                          <p:spTgt spid="897"/>
                                        </p:tgtEl>
                                        <p:attrNameLst>
                                          <p:attrName>style.visibility</p:attrName>
                                        </p:attrNameLst>
                                      </p:cBhvr>
                                      <p:to>
                                        <p:strVal val="visible"/>
                                      </p:to>
                                    </p:set>
                                    <p:anim calcmode="lin" valueType="num">
                                      <p:cBhvr additive="base">
                                        <p:cTn id="57" dur="500"/>
                                        <p:tgtEl>
                                          <p:spTgt spid="897"/>
                                        </p:tgtEl>
                                        <p:attrNameLst>
                                          <p:attrName>ppt_w</p:attrName>
                                        </p:attrNameLst>
                                      </p:cBhvr>
                                      <p:tavLst>
                                        <p:tav tm="0">
                                          <p:val>
                                            <p:strVal val="0"/>
                                          </p:val>
                                        </p:tav>
                                        <p:tav tm="100000">
                                          <p:val>
                                            <p:strVal val="#ppt_w"/>
                                          </p:val>
                                        </p:tav>
                                      </p:tavLst>
                                    </p:anim>
                                    <p:anim calcmode="lin" valueType="num">
                                      <p:cBhvr additive="base">
                                        <p:cTn id="58" dur="500"/>
                                        <p:tgtEl>
                                          <p:spTgt spid="89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p10"/>
          <p:cNvSpPr/>
          <p:nvPr/>
        </p:nvSpPr>
        <p:spPr>
          <a:xfrm>
            <a:off x="9118748" y="4579888"/>
            <a:ext cx="3070076" cy="2276872"/>
          </a:xfrm>
          <a:prstGeom prst="rect">
            <a:avLst/>
          </a:prstGeom>
          <a:gradFill>
            <a:gsLst>
              <a:gs pos="0">
                <a:schemeClr val="accent1"/>
              </a:gs>
              <a:gs pos="99000">
                <a:schemeClr val="accent2"/>
              </a:gs>
              <a:gs pos="100000">
                <a:schemeClr val="accent2"/>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907" name="Google Shape;907;p10"/>
          <p:cNvSpPr/>
          <p:nvPr/>
        </p:nvSpPr>
        <p:spPr>
          <a:xfrm flipH="1">
            <a:off x="4222204" y="0"/>
            <a:ext cx="5040560" cy="2059107"/>
          </a:xfrm>
          <a:prstGeom prst="parallelogram">
            <a:avLst>
              <a:gd name="adj" fmla="val 56304"/>
            </a:avLst>
          </a:prstGeom>
          <a:gradFill>
            <a:gsLst>
              <a:gs pos="0">
                <a:schemeClr val="accent1"/>
              </a:gs>
              <a:gs pos="99000">
                <a:schemeClr val="accent2"/>
              </a:gs>
              <a:gs pos="100000">
                <a:schemeClr val="accent2"/>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908" name="Google Shape;908;p10"/>
          <p:cNvSpPr/>
          <p:nvPr/>
        </p:nvSpPr>
        <p:spPr>
          <a:xfrm flipH="1">
            <a:off x="5374331" y="0"/>
            <a:ext cx="6814493" cy="6858000"/>
          </a:xfrm>
          <a:prstGeom prst="snip2DiagRect">
            <a:avLst>
              <a:gd name="adj1" fmla="val 0"/>
              <a:gd name="adj2" fmla="val 30169"/>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909" name="Google Shape;909;p10" descr="A person with a blurry image of the same color&#10;&#10;AI-generated content may be incorrect."/>
          <p:cNvPicPr preferRelativeResize="0">
            <a:picLocks noGrp="1"/>
          </p:cNvPicPr>
          <p:nvPr>
            <p:ph type="pic" idx="2"/>
          </p:nvPr>
        </p:nvPicPr>
        <p:blipFill rotWithShape="1">
          <a:blip r:embed="rId3">
            <a:alphaModFix/>
          </a:blip>
          <a:srcRect t="15728" b="15728"/>
          <a:stretch/>
        </p:blipFill>
        <p:spPr>
          <a:xfrm>
            <a:off x="1053851" y="3491413"/>
            <a:ext cx="5040561" cy="2304256"/>
          </a:xfrm>
          <a:prstGeom prst="rect">
            <a:avLst/>
          </a:prstGeom>
          <a:noFill/>
          <a:ln>
            <a:noFill/>
          </a:ln>
        </p:spPr>
      </p:pic>
      <p:sp>
        <p:nvSpPr>
          <p:cNvPr id="910" name="Google Shape;910;p10"/>
          <p:cNvSpPr txBox="1">
            <a:spLocks noGrp="1"/>
          </p:cNvSpPr>
          <p:nvPr>
            <p:ph type="title"/>
          </p:nvPr>
        </p:nvSpPr>
        <p:spPr>
          <a:xfrm>
            <a:off x="1053851" y="1995165"/>
            <a:ext cx="4968547" cy="1926089"/>
          </a:xfrm>
          <a:prstGeom prst="rect">
            <a:avLst/>
          </a:prstGeom>
          <a:noFill/>
          <a:ln>
            <a:noFill/>
          </a:ln>
        </p:spPr>
        <p:txBody>
          <a:bodyPr spcFirstLastPara="1" wrap="square" lIns="0" tIns="60925" rIns="0" bIns="60925" anchor="t" anchorCtr="0">
            <a:noAutofit/>
          </a:bodyPr>
          <a:lstStyle/>
          <a:p>
            <a:pPr marL="0" lvl="0" indent="0" algn="l" rtl="0">
              <a:spcBef>
                <a:spcPts val="0"/>
              </a:spcBef>
              <a:spcAft>
                <a:spcPts val="0"/>
              </a:spcAft>
              <a:buClr>
                <a:schemeClr val="accent1"/>
              </a:buClr>
              <a:buSzPts val="4000"/>
              <a:buFont typeface="Quattrocento Sans"/>
              <a:buNone/>
            </a:pPr>
            <a:r>
              <a:rPr lang="en-US"/>
              <a:t>New Updated Content</a:t>
            </a:r>
            <a:endParaRPr/>
          </a:p>
        </p:txBody>
      </p:sp>
      <p:sp>
        <p:nvSpPr>
          <p:cNvPr id="911" name="Google Shape;911;p10"/>
          <p:cNvSpPr txBox="1"/>
          <p:nvPr/>
        </p:nvSpPr>
        <p:spPr>
          <a:xfrm>
            <a:off x="1053852" y="1685814"/>
            <a:ext cx="3312368" cy="276999"/>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a:solidFill>
                  <a:schemeClr val="accent2"/>
                </a:solidFill>
                <a:latin typeface="Quattrocento Sans"/>
                <a:ea typeface="Quattrocento Sans"/>
                <a:cs typeface="Quattrocento Sans"/>
                <a:sym typeface="Quattrocento Sans"/>
              </a:rPr>
              <a:t>Anubhav Trainings</a:t>
            </a:r>
            <a:endParaRPr/>
          </a:p>
        </p:txBody>
      </p:sp>
      <p:sp>
        <p:nvSpPr>
          <p:cNvPr id="912" name="Google Shape;912;p10"/>
          <p:cNvSpPr txBox="1"/>
          <p:nvPr/>
        </p:nvSpPr>
        <p:spPr>
          <a:xfrm>
            <a:off x="8047562" y="449713"/>
            <a:ext cx="157799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Quattrocento Sans"/>
                <a:ea typeface="Quattrocento Sans"/>
                <a:cs typeface="Quattrocento Sans"/>
                <a:sym typeface="Quattrocento Sans"/>
              </a:rPr>
              <a:t>Attachments</a:t>
            </a:r>
            <a:endParaRPr/>
          </a:p>
        </p:txBody>
      </p:sp>
      <p:sp>
        <p:nvSpPr>
          <p:cNvPr id="913" name="Google Shape;913;p10"/>
          <p:cNvSpPr txBox="1"/>
          <p:nvPr/>
        </p:nvSpPr>
        <p:spPr>
          <a:xfrm>
            <a:off x="8047562" y="872014"/>
            <a:ext cx="2547034"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Quattrocento Sans"/>
                <a:ea typeface="Quattrocento Sans"/>
                <a:cs typeface="Quattrocento Sans"/>
                <a:sym typeface="Quattrocento Sans"/>
              </a:rPr>
              <a:t>Understanding support for data attachments using CAPM</a:t>
            </a:r>
            <a:endParaRPr/>
          </a:p>
        </p:txBody>
      </p:sp>
      <p:sp>
        <p:nvSpPr>
          <p:cNvPr id="914" name="Google Shape;914;p10"/>
          <p:cNvSpPr txBox="1"/>
          <p:nvPr/>
        </p:nvSpPr>
        <p:spPr>
          <a:xfrm>
            <a:off x="7030366" y="295824"/>
            <a:ext cx="1017196" cy="64633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3600">
                <a:solidFill>
                  <a:schemeClr val="accent2"/>
                </a:solidFill>
                <a:latin typeface="Quattrocento Sans"/>
                <a:ea typeface="Quattrocento Sans"/>
                <a:cs typeface="Quattrocento Sans"/>
                <a:sym typeface="Quattrocento Sans"/>
              </a:rPr>
              <a:t>01</a:t>
            </a:r>
            <a:endParaRPr/>
          </a:p>
        </p:txBody>
      </p:sp>
      <p:sp>
        <p:nvSpPr>
          <p:cNvPr id="915" name="Google Shape;915;p10"/>
          <p:cNvSpPr txBox="1"/>
          <p:nvPr/>
        </p:nvSpPr>
        <p:spPr>
          <a:xfrm>
            <a:off x="8105832" y="2012661"/>
            <a:ext cx="157799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Quattrocento Sans"/>
                <a:ea typeface="Quattrocento Sans"/>
                <a:cs typeface="Quattrocento Sans"/>
                <a:sym typeface="Quattrocento Sans"/>
              </a:rPr>
              <a:t>Multi-tenancy</a:t>
            </a:r>
            <a:endParaRPr/>
          </a:p>
        </p:txBody>
      </p:sp>
      <p:sp>
        <p:nvSpPr>
          <p:cNvPr id="916" name="Google Shape;916;p10"/>
          <p:cNvSpPr txBox="1"/>
          <p:nvPr/>
        </p:nvSpPr>
        <p:spPr>
          <a:xfrm>
            <a:off x="8105832" y="2434962"/>
            <a:ext cx="2547034"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Quattrocento Sans"/>
                <a:ea typeface="Quattrocento Sans"/>
                <a:cs typeface="Quattrocento Sans"/>
                <a:sym typeface="Quattrocento Sans"/>
              </a:rPr>
              <a:t>Develop and Deploy multi-tenant CAP applications with Data separation</a:t>
            </a:r>
            <a:endParaRPr/>
          </a:p>
        </p:txBody>
      </p:sp>
      <p:sp>
        <p:nvSpPr>
          <p:cNvPr id="917" name="Google Shape;917;p10"/>
          <p:cNvSpPr txBox="1"/>
          <p:nvPr/>
        </p:nvSpPr>
        <p:spPr>
          <a:xfrm>
            <a:off x="7007169" y="1908900"/>
            <a:ext cx="1017196" cy="64633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3600">
                <a:solidFill>
                  <a:schemeClr val="accent2"/>
                </a:solidFill>
                <a:latin typeface="Quattrocento Sans"/>
                <a:ea typeface="Quattrocento Sans"/>
                <a:cs typeface="Quattrocento Sans"/>
                <a:sym typeface="Quattrocento Sans"/>
              </a:rPr>
              <a:t>02</a:t>
            </a:r>
            <a:endParaRPr/>
          </a:p>
        </p:txBody>
      </p:sp>
      <p:sp>
        <p:nvSpPr>
          <p:cNvPr id="918" name="Google Shape;918;p10"/>
          <p:cNvSpPr txBox="1"/>
          <p:nvPr/>
        </p:nvSpPr>
        <p:spPr>
          <a:xfrm>
            <a:off x="8137437" y="3501836"/>
            <a:ext cx="157799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Quattrocento Sans"/>
                <a:ea typeface="Quattrocento Sans"/>
                <a:cs typeface="Quattrocento Sans"/>
                <a:sym typeface="Quattrocento Sans"/>
              </a:rPr>
              <a:t>SAP Joule</a:t>
            </a:r>
            <a:endParaRPr/>
          </a:p>
        </p:txBody>
      </p:sp>
      <p:sp>
        <p:nvSpPr>
          <p:cNvPr id="919" name="Google Shape;919;p10"/>
          <p:cNvSpPr txBox="1"/>
          <p:nvPr/>
        </p:nvSpPr>
        <p:spPr>
          <a:xfrm>
            <a:off x="8137437" y="3924137"/>
            <a:ext cx="2547034"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Quattrocento Sans"/>
                <a:ea typeface="Quattrocento Sans"/>
                <a:cs typeface="Quattrocento Sans"/>
                <a:sym typeface="Quattrocento Sans"/>
              </a:rPr>
              <a:t>Power the application development with SAP Joule for CAP Developers in Build Code</a:t>
            </a:r>
            <a:endParaRPr/>
          </a:p>
        </p:txBody>
      </p:sp>
      <p:sp>
        <p:nvSpPr>
          <p:cNvPr id="920" name="Google Shape;920;p10"/>
          <p:cNvSpPr txBox="1"/>
          <p:nvPr/>
        </p:nvSpPr>
        <p:spPr>
          <a:xfrm>
            <a:off x="7038774" y="3398075"/>
            <a:ext cx="1017196" cy="64633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3600">
                <a:solidFill>
                  <a:schemeClr val="accent2"/>
                </a:solidFill>
                <a:latin typeface="Quattrocento Sans"/>
                <a:ea typeface="Quattrocento Sans"/>
                <a:cs typeface="Quattrocento Sans"/>
                <a:sym typeface="Quattrocento Sans"/>
              </a:rPr>
              <a:t>03</a:t>
            </a:r>
            <a:endParaRPr/>
          </a:p>
        </p:txBody>
      </p:sp>
      <p:cxnSp>
        <p:nvCxnSpPr>
          <p:cNvPr id="921" name="Google Shape;921;p10"/>
          <p:cNvCxnSpPr/>
          <p:nvPr/>
        </p:nvCxnSpPr>
        <p:spPr>
          <a:xfrm>
            <a:off x="7469862" y="1744494"/>
            <a:ext cx="2926728" cy="0"/>
          </a:xfrm>
          <a:prstGeom prst="straightConnector1">
            <a:avLst/>
          </a:prstGeom>
          <a:noFill/>
          <a:ln w="25400" cap="rnd" cmpd="sng">
            <a:solidFill>
              <a:schemeClr val="accent1"/>
            </a:solidFill>
            <a:prstDash val="solid"/>
            <a:round/>
            <a:headEnd type="none" w="sm" len="sm"/>
            <a:tailEnd type="none" w="sm" len="sm"/>
          </a:ln>
        </p:spPr>
      </p:cxnSp>
      <p:cxnSp>
        <p:nvCxnSpPr>
          <p:cNvPr id="922" name="Google Shape;922;p10"/>
          <p:cNvCxnSpPr/>
          <p:nvPr/>
        </p:nvCxnSpPr>
        <p:spPr>
          <a:xfrm>
            <a:off x="7519226" y="3284984"/>
            <a:ext cx="2926728" cy="0"/>
          </a:xfrm>
          <a:prstGeom prst="straightConnector1">
            <a:avLst/>
          </a:prstGeom>
          <a:noFill/>
          <a:ln w="25400" cap="rnd" cmpd="sng">
            <a:solidFill>
              <a:schemeClr val="accent1"/>
            </a:solidFill>
            <a:prstDash val="solid"/>
            <a:round/>
            <a:headEnd type="none" w="sm" len="sm"/>
            <a:tailEnd type="none" w="sm" len="sm"/>
          </a:ln>
        </p:spPr>
      </p:cxnSp>
      <p:pic>
        <p:nvPicPr>
          <p:cNvPr id="923" name="Google Shape;923;p10"/>
          <p:cNvPicPr preferRelativeResize="0"/>
          <p:nvPr/>
        </p:nvPicPr>
        <p:blipFill rotWithShape="1">
          <a:blip r:embed="rId4">
            <a:alphaModFix/>
          </a:blip>
          <a:srcRect/>
          <a:stretch/>
        </p:blipFill>
        <p:spPr>
          <a:xfrm>
            <a:off x="11088469" y="53543"/>
            <a:ext cx="929479" cy="918051"/>
          </a:xfrm>
          <a:prstGeom prst="rect">
            <a:avLst/>
          </a:prstGeom>
          <a:noFill/>
          <a:ln>
            <a:noFill/>
          </a:ln>
        </p:spPr>
      </p:pic>
      <p:sp>
        <p:nvSpPr>
          <p:cNvPr id="924" name="Google Shape;924;p10"/>
          <p:cNvSpPr txBox="1"/>
          <p:nvPr/>
        </p:nvSpPr>
        <p:spPr>
          <a:xfrm>
            <a:off x="8260834" y="5231011"/>
            <a:ext cx="273012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Quattrocento Sans"/>
                <a:ea typeface="Quattrocento Sans"/>
                <a:cs typeface="Quattrocento Sans"/>
                <a:sym typeface="Quattrocento Sans"/>
              </a:rPr>
              <a:t>Syntax and Features</a:t>
            </a:r>
            <a:endParaRPr/>
          </a:p>
        </p:txBody>
      </p:sp>
      <p:sp>
        <p:nvSpPr>
          <p:cNvPr id="925" name="Google Shape;925;p10"/>
          <p:cNvSpPr txBox="1"/>
          <p:nvPr/>
        </p:nvSpPr>
        <p:spPr>
          <a:xfrm>
            <a:off x="8260834" y="5653312"/>
            <a:ext cx="2547034"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Quattrocento Sans"/>
                <a:ea typeface="Quattrocento Sans"/>
                <a:cs typeface="Quattrocento Sans"/>
                <a:sym typeface="Quattrocento Sans"/>
              </a:rPr>
              <a:t>New CAP language syntax and features like consume external services and RFCs</a:t>
            </a:r>
            <a:endParaRPr/>
          </a:p>
        </p:txBody>
      </p:sp>
      <p:sp>
        <p:nvSpPr>
          <p:cNvPr id="926" name="Google Shape;926;p10"/>
          <p:cNvSpPr txBox="1"/>
          <p:nvPr/>
        </p:nvSpPr>
        <p:spPr>
          <a:xfrm>
            <a:off x="7162171" y="5127250"/>
            <a:ext cx="1017196" cy="64633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3600">
                <a:solidFill>
                  <a:schemeClr val="accent2"/>
                </a:solidFill>
                <a:latin typeface="Quattrocento Sans"/>
                <a:ea typeface="Quattrocento Sans"/>
                <a:cs typeface="Quattrocento Sans"/>
                <a:sym typeface="Quattrocento Sans"/>
              </a:rPr>
              <a:t>04</a:t>
            </a:r>
            <a:endParaRPr/>
          </a:p>
        </p:txBody>
      </p:sp>
      <p:cxnSp>
        <p:nvCxnSpPr>
          <p:cNvPr id="927" name="Google Shape;927;p10"/>
          <p:cNvCxnSpPr/>
          <p:nvPr/>
        </p:nvCxnSpPr>
        <p:spPr>
          <a:xfrm>
            <a:off x="7519226" y="4941168"/>
            <a:ext cx="2926728" cy="0"/>
          </a:xfrm>
          <a:prstGeom prst="straightConnector1">
            <a:avLst/>
          </a:prstGeom>
          <a:noFill/>
          <a:ln w="25400" cap="rnd" cmpd="sng">
            <a:solidFill>
              <a:schemeClr val="accent1"/>
            </a:solidFill>
            <a:prstDash val="solid"/>
            <a:round/>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10"/>
                                        </p:tgtEl>
                                        <p:attrNameLst>
                                          <p:attrName>style.visibility</p:attrName>
                                        </p:attrNameLst>
                                      </p:cBhvr>
                                      <p:to>
                                        <p:strVal val="visible"/>
                                      </p:to>
                                    </p:set>
                                    <p:animEffect transition="in" filter="fade">
                                      <p:cBhvr>
                                        <p:cTn id="7" dur="500"/>
                                        <p:tgtEl>
                                          <p:spTgt spid="910"/>
                                        </p:tgtEl>
                                      </p:cBhvr>
                                    </p:animEffect>
                                  </p:childTnLst>
                                </p:cTn>
                              </p:par>
                              <p:par>
                                <p:cTn id="8" presetID="10" presetClass="entr" presetSubtype="0" fill="hold" nodeType="withEffect">
                                  <p:stCondLst>
                                    <p:cond delay="150"/>
                                  </p:stCondLst>
                                  <p:childTnLst>
                                    <p:set>
                                      <p:cBhvr>
                                        <p:cTn id="9" dur="1" fill="hold">
                                          <p:stCondLst>
                                            <p:cond delay="0"/>
                                          </p:stCondLst>
                                        </p:cTn>
                                        <p:tgtEl>
                                          <p:spTgt spid="911"/>
                                        </p:tgtEl>
                                        <p:attrNameLst>
                                          <p:attrName>style.visibility</p:attrName>
                                        </p:attrNameLst>
                                      </p:cBhvr>
                                      <p:to>
                                        <p:strVal val="visible"/>
                                      </p:to>
                                    </p:set>
                                    <p:animEffect transition="in" filter="fade">
                                      <p:cBhvr>
                                        <p:cTn id="10" dur="500"/>
                                        <p:tgtEl>
                                          <p:spTgt spid="911"/>
                                        </p:tgtEl>
                                      </p:cBhvr>
                                    </p:animEffect>
                                  </p:childTnLst>
                                </p:cTn>
                              </p:par>
                              <p:par>
                                <p:cTn id="11" presetID="2" presetClass="entr" presetSubtype="4" fill="hold" nodeType="withEffect">
                                  <p:stCondLst>
                                    <p:cond delay="150"/>
                                  </p:stCondLst>
                                  <p:childTnLst>
                                    <p:set>
                                      <p:cBhvr>
                                        <p:cTn id="12" dur="1" fill="hold">
                                          <p:stCondLst>
                                            <p:cond delay="0"/>
                                          </p:stCondLst>
                                        </p:cTn>
                                        <p:tgtEl>
                                          <p:spTgt spid="909"/>
                                        </p:tgtEl>
                                        <p:attrNameLst>
                                          <p:attrName>style.visibility</p:attrName>
                                        </p:attrNameLst>
                                      </p:cBhvr>
                                      <p:to>
                                        <p:strVal val="visible"/>
                                      </p:to>
                                    </p:set>
                                    <p:anim calcmode="lin" valueType="num">
                                      <p:cBhvr additive="base">
                                        <p:cTn id="13" dur="500"/>
                                        <p:tgtEl>
                                          <p:spTgt spid="909"/>
                                        </p:tgtEl>
                                        <p:attrNameLst>
                                          <p:attrName>ppt_y</p:attrName>
                                        </p:attrNameLst>
                                      </p:cBhvr>
                                      <p:tavLst>
                                        <p:tav tm="0">
                                          <p:val>
                                            <p:strVal val="#ppt_y+1"/>
                                          </p:val>
                                        </p:tav>
                                        <p:tav tm="100000">
                                          <p:val>
                                            <p:strVal val="#ppt_y"/>
                                          </p:val>
                                        </p:tav>
                                      </p:tavLst>
                                    </p:anim>
                                  </p:childTnLst>
                                </p:cTn>
                              </p:par>
                              <p:par>
                                <p:cTn id="14" presetID="2" presetClass="entr" presetSubtype="2" fill="hold" nodeType="withEffect">
                                  <p:stCondLst>
                                    <p:cond delay="300"/>
                                  </p:stCondLst>
                                  <p:childTnLst>
                                    <p:set>
                                      <p:cBhvr>
                                        <p:cTn id="15" dur="1" fill="hold">
                                          <p:stCondLst>
                                            <p:cond delay="0"/>
                                          </p:stCondLst>
                                        </p:cTn>
                                        <p:tgtEl>
                                          <p:spTgt spid="908"/>
                                        </p:tgtEl>
                                        <p:attrNameLst>
                                          <p:attrName>style.visibility</p:attrName>
                                        </p:attrNameLst>
                                      </p:cBhvr>
                                      <p:to>
                                        <p:strVal val="visible"/>
                                      </p:to>
                                    </p:set>
                                    <p:anim calcmode="lin" valueType="num">
                                      <p:cBhvr additive="base">
                                        <p:cTn id="16" dur="500"/>
                                        <p:tgtEl>
                                          <p:spTgt spid="908"/>
                                        </p:tgtEl>
                                        <p:attrNameLst>
                                          <p:attrName>ppt_x</p:attrName>
                                        </p:attrNameLst>
                                      </p:cBhvr>
                                      <p:tavLst>
                                        <p:tav tm="0">
                                          <p:val>
                                            <p:strVal val="#ppt_x+1"/>
                                          </p:val>
                                        </p:tav>
                                        <p:tav tm="100000">
                                          <p:val>
                                            <p:strVal val="#ppt_x"/>
                                          </p:val>
                                        </p:tav>
                                      </p:tavLst>
                                    </p:anim>
                                  </p:childTnLst>
                                </p:cTn>
                              </p:par>
                              <p:par>
                                <p:cTn id="17" presetID="10" presetClass="entr" presetSubtype="0" fill="hold" nodeType="withEffect">
                                  <p:stCondLst>
                                    <p:cond delay="550"/>
                                  </p:stCondLst>
                                  <p:childTnLst>
                                    <p:set>
                                      <p:cBhvr>
                                        <p:cTn id="18" dur="1" fill="hold">
                                          <p:stCondLst>
                                            <p:cond delay="0"/>
                                          </p:stCondLst>
                                        </p:cTn>
                                        <p:tgtEl>
                                          <p:spTgt spid="907"/>
                                        </p:tgtEl>
                                        <p:attrNameLst>
                                          <p:attrName>style.visibility</p:attrName>
                                        </p:attrNameLst>
                                      </p:cBhvr>
                                      <p:to>
                                        <p:strVal val="visible"/>
                                      </p:to>
                                    </p:set>
                                    <p:animEffect transition="in" filter="fade">
                                      <p:cBhvr>
                                        <p:cTn id="19" dur="500"/>
                                        <p:tgtEl>
                                          <p:spTgt spid="907"/>
                                        </p:tgtEl>
                                      </p:cBhvr>
                                    </p:animEffect>
                                  </p:childTnLst>
                                </p:cTn>
                              </p:par>
                              <p:par>
                                <p:cTn id="20" presetID="10" presetClass="entr" presetSubtype="0" fill="hold" nodeType="withEffect">
                                  <p:stCondLst>
                                    <p:cond delay="550"/>
                                  </p:stCondLst>
                                  <p:childTnLst>
                                    <p:set>
                                      <p:cBhvr>
                                        <p:cTn id="21" dur="1" fill="hold">
                                          <p:stCondLst>
                                            <p:cond delay="0"/>
                                          </p:stCondLst>
                                        </p:cTn>
                                        <p:tgtEl>
                                          <p:spTgt spid="906"/>
                                        </p:tgtEl>
                                        <p:attrNameLst>
                                          <p:attrName>style.visibility</p:attrName>
                                        </p:attrNameLst>
                                      </p:cBhvr>
                                      <p:to>
                                        <p:strVal val="visible"/>
                                      </p:to>
                                    </p:set>
                                    <p:animEffect transition="in" filter="fade">
                                      <p:cBhvr>
                                        <p:cTn id="22" dur="500"/>
                                        <p:tgtEl>
                                          <p:spTgt spid="906"/>
                                        </p:tgtEl>
                                      </p:cBhvr>
                                    </p:animEffect>
                                  </p:childTnLst>
                                </p:cTn>
                              </p:par>
                              <p:par>
                                <p:cTn id="23" presetID="23" presetClass="entr" presetSubtype="16" fill="hold" nodeType="withEffect">
                                  <p:stCondLst>
                                    <p:cond delay="450"/>
                                  </p:stCondLst>
                                  <p:childTnLst>
                                    <p:set>
                                      <p:cBhvr>
                                        <p:cTn id="24" dur="1" fill="hold">
                                          <p:stCondLst>
                                            <p:cond delay="0"/>
                                          </p:stCondLst>
                                        </p:cTn>
                                        <p:tgtEl>
                                          <p:spTgt spid="914"/>
                                        </p:tgtEl>
                                        <p:attrNameLst>
                                          <p:attrName>style.visibility</p:attrName>
                                        </p:attrNameLst>
                                      </p:cBhvr>
                                      <p:to>
                                        <p:strVal val="visible"/>
                                      </p:to>
                                    </p:set>
                                    <p:anim calcmode="lin" valueType="num">
                                      <p:cBhvr additive="base">
                                        <p:cTn id="25" dur="500"/>
                                        <p:tgtEl>
                                          <p:spTgt spid="914"/>
                                        </p:tgtEl>
                                        <p:attrNameLst>
                                          <p:attrName>ppt_w</p:attrName>
                                        </p:attrNameLst>
                                      </p:cBhvr>
                                      <p:tavLst>
                                        <p:tav tm="0">
                                          <p:val>
                                            <p:strVal val="0"/>
                                          </p:val>
                                        </p:tav>
                                        <p:tav tm="100000">
                                          <p:val>
                                            <p:strVal val="#ppt_w"/>
                                          </p:val>
                                        </p:tav>
                                      </p:tavLst>
                                    </p:anim>
                                    <p:anim calcmode="lin" valueType="num">
                                      <p:cBhvr additive="base">
                                        <p:cTn id="26" dur="500"/>
                                        <p:tgtEl>
                                          <p:spTgt spid="914"/>
                                        </p:tgtEl>
                                        <p:attrNameLst>
                                          <p:attrName>ppt_h</p:attrName>
                                        </p:attrNameLst>
                                      </p:cBhvr>
                                      <p:tavLst>
                                        <p:tav tm="0">
                                          <p:val>
                                            <p:strVal val="0"/>
                                          </p:val>
                                        </p:tav>
                                        <p:tav tm="100000">
                                          <p:val>
                                            <p:strVal val="#ppt_h"/>
                                          </p:val>
                                        </p:tav>
                                      </p:tavLst>
                                    </p:anim>
                                  </p:childTnLst>
                                </p:cTn>
                              </p:par>
                              <p:par>
                                <p:cTn id="27" presetID="23" presetClass="entr" presetSubtype="16" fill="hold" nodeType="withEffect">
                                  <p:stCondLst>
                                    <p:cond delay="600"/>
                                  </p:stCondLst>
                                  <p:childTnLst>
                                    <p:set>
                                      <p:cBhvr>
                                        <p:cTn id="28" dur="1" fill="hold">
                                          <p:stCondLst>
                                            <p:cond delay="0"/>
                                          </p:stCondLst>
                                        </p:cTn>
                                        <p:tgtEl>
                                          <p:spTgt spid="917"/>
                                        </p:tgtEl>
                                        <p:attrNameLst>
                                          <p:attrName>style.visibility</p:attrName>
                                        </p:attrNameLst>
                                      </p:cBhvr>
                                      <p:to>
                                        <p:strVal val="visible"/>
                                      </p:to>
                                    </p:set>
                                    <p:anim calcmode="lin" valueType="num">
                                      <p:cBhvr additive="base">
                                        <p:cTn id="29" dur="500"/>
                                        <p:tgtEl>
                                          <p:spTgt spid="917"/>
                                        </p:tgtEl>
                                        <p:attrNameLst>
                                          <p:attrName>ppt_w</p:attrName>
                                        </p:attrNameLst>
                                      </p:cBhvr>
                                      <p:tavLst>
                                        <p:tav tm="0">
                                          <p:val>
                                            <p:strVal val="0"/>
                                          </p:val>
                                        </p:tav>
                                        <p:tav tm="100000">
                                          <p:val>
                                            <p:strVal val="#ppt_w"/>
                                          </p:val>
                                        </p:tav>
                                      </p:tavLst>
                                    </p:anim>
                                    <p:anim calcmode="lin" valueType="num">
                                      <p:cBhvr additive="base">
                                        <p:cTn id="30" dur="500"/>
                                        <p:tgtEl>
                                          <p:spTgt spid="917"/>
                                        </p:tgtEl>
                                        <p:attrNameLst>
                                          <p:attrName>ppt_h</p:attrName>
                                        </p:attrNameLst>
                                      </p:cBhvr>
                                      <p:tavLst>
                                        <p:tav tm="0">
                                          <p:val>
                                            <p:strVal val="0"/>
                                          </p:val>
                                        </p:tav>
                                        <p:tav tm="100000">
                                          <p:val>
                                            <p:strVal val="#ppt_h"/>
                                          </p:val>
                                        </p:tav>
                                      </p:tavLst>
                                    </p:anim>
                                  </p:childTnLst>
                                </p:cTn>
                              </p:par>
                              <p:par>
                                <p:cTn id="31" presetID="23" presetClass="entr" presetSubtype="16" fill="hold" nodeType="withEffect">
                                  <p:stCondLst>
                                    <p:cond delay="750"/>
                                  </p:stCondLst>
                                  <p:childTnLst>
                                    <p:set>
                                      <p:cBhvr>
                                        <p:cTn id="32" dur="1" fill="hold">
                                          <p:stCondLst>
                                            <p:cond delay="0"/>
                                          </p:stCondLst>
                                        </p:cTn>
                                        <p:tgtEl>
                                          <p:spTgt spid="920"/>
                                        </p:tgtEl>
                                        <p:attrNameLst>
                                          <p:attrName>style.visibility</p:attrName>
                                        </p:attrNameLst>
                                      </p:cBhvr>
                                      <p:to>
                                        <p:strVal val="visible"/>
                                      </p:to>
                                    </p:set>
                                    <p:anim calcmode="lin" valueType="num">
                                      <p:cBhvr additive="base">
                                        <p:cTn id="33" dur="500"/>
                                        <p:tgtEl>
                                          <p:spTgt spid="920"/>
                                        </p:tgtEl>
                                        <p:attrNameLst>
                                          <p:attrName>ppt_w</p:attrName>
                                        </p:attrNameLst>
                                      </p:cBhvr>
                                      <p:tavLst>
                                        <p:tav tm="0">
                                          <p:val>
                                            <p:strVal val="0"/>
                                          </p:val>
                                        </p:tav>
                                        <p:tav tm="100000">
                                          <p:val>
                                            <p:strVal val="#ppt_w"/>
                                          </p:val>
                                        </p:tav>
                                      </p:tavLst>
                                    </p:anim>
                                    <p:anim calcmode="lin" valueType="num">
                                      <p:cBhvr additive="base">
                                        <p:cTn id="34" dur="500"/>
                                        <p:tgtEl>
                                          <p:spTgt spid="920"/>
                                        </p:tgtEl>
                                        <p:attrNameLst>
                                          <p:attrName>ppt_h</p:attrName>
                                        </p:attrNameLst>
                                      </p:cBhvr>
                                      <p:tavLst>
                                        <p:tav tm="0">
                                          <p:val>
                                            <p:strVal val="0"/>
                                          </p:val>
                                        </p:tav>
                                        <p:tav tm="100000">
                                          <p:val>
                                            <p:strVal val="#ppt_h"/>
                                          </p:val>
                                        </p:tav>
                                      </p:tavLst>
                                    </p:anim>
                                  </p:childTnLst>
                                </p:cTn>
                              </p:par>
                              <p:par>
                                <p:cTn id="35" presetID="10" presetClass="entr" presetSubtype="0" fill="hold" nodeType="withEffect">
                                  <p:stCondLst>
                                    <p:cond delay="600"/>
                                  </p:stCondLst>
                                  <p:childTnLst>
                                    <p:set>
                                      <p:cBhvr>
                                        <p:cTn id="36" dur="1" fill="hold">
                                          <p:stCondLst>
                                            <p:cond delay="0"/>
                                          </p:stCondLst>
                                        </p:cTn>
                                        <p:tgtEl>
                                          <p:spTgt spid="912"/>
                                        </p:tgtEl>
                                        <p:attrNameLst>
                                          <p:attrName>style.visibility</p:attrName>
                                        </p:attrNameLst>
                                      </p:cBhvr>
                                      <p:to>
                                        <p:strVal val="visible"/>
                                      </p:to>
                                    </p:set>
                                    <p:animEffect transition="in" filter="fade">
                                      <p:cBhvr>
                                        <p:cTn id="37" dur="500"/>
                                        <p:tgtEl>
                                          <p:spTgt spid="912"/>
                                        </p:tgtEl>
                                      </p:cBhvr>
                                    </p:animEffect>
                                  </p:childTnLst>
                                </p:cTn>
                              </p:par>
                              <p:par>
                                <p:cTn id="38" presetID="10" presetClass="entr" presetSubtype="0" fill="hold" nodeType="withEffect">
                                  <p:stCondLst>
                                    <p:cond delay="750"/>
                                  </p:stCondLst>
                                  <p:childTnLst>
                                    <p:set>
                                      <p:cBhvr>
                                        <p:cTn id="39" dur="1" fill="hold">
                                          <p:stCondLst>
                                            <p:cond delay="0"/>
                                          </p:stCondLst>
                                        </p:cTn>
                                        <p:tgtEl>
                                          <p:spTgt spid="915"/>
                                        </p:tgtEl>
                                        <p:attrNameLst>
                                          <p:attrName>style.visibility</p:attrName>
                                        </p:attrNameLst>
                                      </p:cBhvr>
                                      <p:to>
                                        <p:strVal val="visible"/>
                                      </p:to>
                                    </p:set>
                                    <p:animEffect transition="in" filter="fade">
                                      <p:cBhvr>
                                        <p:cTn id="40" dur="500"/>
                                        <p:tgtEl>
                                          <p:spTgt spid="915"/>
                                        </p:tgtEl>
                                      </p:cBhvr>
                                    </p:animEffect>
                                  </p:childTnLst>
                                </p:cTn>
                              </p:par>
                              <p:par>
                                <p:cTn id="41" presetID="10" presetClass="entr" presetSubtype="0" fill="hold" nodeType="withEffect">
                                  <p:stCondLst>
                                    <p:cond delay="950"/>
                                  </p:stCondLst>
                                  <p:childTnLst>
                                    <p:set>
                                      <p:cBhvr>
                                        <p:cTn id="42" dur="1" fill="hold">
                                          <p:stCondLst>
                                            <p:cond delay="0"/>
                                          </p:stCondLst>
                                        </p:cTn>
                                        <p:tgtEl>
                                          <p:spTgt spid="918"/>
                                        </p:tgtEl>
                                        <p:attrNameLst>
                                          <p:attrName>style.visibility</p:attrName>
                                        </p:attrNameLst>
                                      </p:cBhvr>
                                      <p:to>
                                        <p:strVal val="visible"/>
                                      </p:to>
                                    </p:set>
                                    <p:animEffect transition="in" filter="fade">
                                      <p:cBhvr>
                                        <p:cTn id="43" dur="500"/>
                                        <p:tgtEl>
                                          <p:spTgt spid="918"/>
                                        </p:tgtEl>
                                      </p:cBhvr>
                                    </p:animEffect>
                                  </p:childTnLst>
                                </p:cTn>
                              </p:par>
                              <p:par>
                                <p:cTn id="44" presetID="10" presetClass="entr" presetSubtype="0" fill="hold" nodeType="withEffect">
                                  <p:stCondLst>
                                    <p:cond delay="750"/>
                                  </p:stCondLst>
                                  <p:childTnLst>
                                    <p:set>
                                      <p:cBhvr>
                                        <p:cTn id="45" dur="1" fill="hold">
                                          <p:stCondLst>
                                            <p:cond delay="0"/>
                                          </p:stCondLst>
                                        </p:cTn>
                                        <p:tgtEl>
                                          <p:spTgt spid="913"/>
                                        </p:tgtEl>
                                        <p:attrNameLst>
                                          <p:attrName>style.visibility</p:attrName>
                                        </p:attrNameLst>
                                      </p:cBhvr>
                                      <p:to>
                                        <p:strVal val="visible"/>
                                      </p:to>
                                    </p:set>
                                    <p:animEffect transition="in" filter="fade">
                                      <p:cBhvr>
                                        <p:cTn id="46" dur="500"/>
                                        <p:tgtEl>
                                          <p:spTgt spid="913"/>
                                        </p:tgtEl>
                                      </p:cBhvr>
                                    </p:animEffect>
                                  </p:childTnLst>
                                </p:cTn>
                              </p:par>
                              <p:par>
                                <p:cTn id="47" presetID="10" presetClass="entr" presetSubtype="0" fill="hold" nodeType="withEffect">
                                  <p:stCondLst>
                                    <p:cond delay="950"/>
                                  </p:stCondLst>
                                  <p:childTnLst>
                                    <p:set>
                                      <p:cBhvr>
                                        <p:cTn id="48" dur="1" fill="hold">
                                          <p:stCondLst>
                                            <p:cond delay="0"/>
                                          </p:stCondLst>
                                        </p:cTn>
                                        <p:tgtEl>
                                          <p:spTgt spid="916"/>
                                        </p:tgtEl>
                                        <p:attrNameLst>
                                          <p:attrName>style.visibility</p:attrName>
                                        </p:attrNameLst>
                                      </p:cBhvr>
                                      <p:to>
                                        <p:strVal val="visible"/>
                                      </p:to>
                                    </p:set>
                                    <p:animEffect transition="in" filter="fade">
                                      <p:cBhvr>
                                        <p:cTn id="49" dur="500"/>
                                        <p:tgtEl>
                                          <p:spTgt spid="916"/>
                                        </p:tgtEl>
                                      </p:cBhvr>
                                    </p:animEffect>
                                  </p:childTnLst>
                                </p:cTn>
                              </p:par>
                              <p:par>
                                <p:cTn id="50" presetID="10" presetClass="entr" presetSubtype="0" fill="hold" nodeType="withEffect">
                                  <p:stCondLst>
                                    <p:cond delay="1100"/>
                                  </p:stCondLst>
                                  <p:childTnLst>
                                    <p:set>
                                      <p:cBhvr>
                                        <p:cTn id="51" dur="1" fill="hold">
                                          <p:stCondLst>
                                            <p:cond delay="0"/>
                                          </p:stCondLst>
                                        </p:cTn>
                                        <p:tgtEl>
                                          <p:spTgt spid="919"/>
                                        </p:tgtEl>
                                        <p:attrNameLst>
                                          <p:attrName>style.visibility</p:attrName>
                                        </p:attrNameLst>
                                      </p:cBhvr>
                                      <p:to>
                                        <p:strVal val="visible"/>
                                      </p:to>
                                    </p:set>
                                    <p:animEffect transition="in" filter="fade">
                                      <p:cBhvr>
                                        <p:cTn id="52" dur="500"/>
                                        <p:tgtEl>
                                          <p:spTgt spid="919"/>
                                        </p:tgtEl>
                                      </p:cBhvr>
                                    </p:animEffect>
                                  </p:childTnLst>
                                </p:cTn>
                              </p:par>
                              <p:par>
                                <p:cTn id="53" presetID="10" presetClass="entr" presetSubtype="0" fill="hold" nodeType="withEffect">
                                  <p:stCondLst>
                                    <p:cond delay="950"/>
                                  </p:stCondLst>
                                  <p:childTnLst>
                                    <p:set>
                                      <p:cBhvr>
                                        <p:cTn id="54" dur="1" fill="hold">
                                          <p:stCondLst>
                                            <p:cond delay="0"/>
                                          </p:stCondLst>
                                        </p:cTn>
                                        <p:tgtEl>
                                          <p:spTgt spid="921"/>
                                        </p:tgtEl>
                                        <p:attrNameLst>
                                          <p:attrName>style.visibility</p:attrName>
                                        </p:attrNameLst>
                                      </p:cBhvr>
                                      <p:to>
                                        <p:strVal val="visible"/>
                                      </p:to>
                                    </p:set>
                                    <p:animEffect transition="in" filter="fade">
                                      <p:cBhvr>
                                        <p:cTn id="55" dur="500"/>
                                        <p:tgtEl>
                                          <p:spTgt spid="921"/>
                                        </p:tgtEl>
                                      </p:cBhvr>
                                    </p:animEffect>
                                  </p:childTnLst>
                                </p:cTn>
                              </p:par>
                              <p:par>
                                <p:cTn id="56" presetID="10" presetClass="entr" presetSubtype="0" fill="hold" nodeType="withEffect">
                                  <p:stCondLst>
                                    <p:cond delay="1100"/>
                                  </p:stCondLst>
                                  <p:childTnLst>
                                    <p:set>
                                      <p:cBhvr>
                                        <p:cTn id="57" dur="1" fill="hold">
                                          <p:stCondLst>
                                            <p:cond delay="0"/>
                                          </p:stCondLst>
                                        </p:cTn>
                                        <p:tgtEl>
                                          <p:spTgt spid="922"/>
                                        </p:tgtEl>
                                        <p:attrNameLst>
                                          <p:attrName>style.visibility</p:attrName>
                                        </p:attrNameLst>
                                      </p:cBhvr>
                                      <p:to>
                                        <p:strVal val="visible"/>
                                      </p:to>
                                    </p:set>
                                    <p:animEffect transition="in" filter="fade">
                                      <p:cBhvr>
                                        <p:cTn id="58" dur="500"/>
                                        <p:tgtEl>
                                          <p:spTgt spid="922"/>
                                        </p:tgtEl>
                                      </p:cBhvr>
                                    </p:animEffect>
                                  </p:childTnLst>
                                </p:cTn>
                              </p:par>
                              <p:par>
                                <p:cTn id="59" presetID="23" presetClass="entr" presetSubtype="16" fill="hold" nodeType="withEffect">
                                  <p:stCondLst>
                                    <p:cond delay="750"/>
                                  </p:stCondLst>
                                  <p:childTnLst>
                                    <p:set>
                                      <p:cBhvr>
                                        <p:cTn id="60" dur="1" fill="hold">
                                          <p:stCondLst>
                                            <p:cond delay="0"/>
                                          </p:stCondLst>
                                        </p:cTn>
                                        <p:tgtEl>
                                          <p:spTgt spid="926"/>
                                        </p:tgtEl>
                                        <p:attrNameLst>
                                          <p:attrName>style.visibility</p:attrName>
                                        </p:attrNameLst>
                                      </p:cBhvr>
                                      <p:to>
                                        <p:strVal val="visible"/>
                                      </p:to>
                                    </p:set>
                                    <p:anim calcmode="lin" valueType="num">
                                      <p:cBhvr additive="base">
                                        <p:cTn id="61" dur="500"/>
                                        <p:tgtEl>
                                          <p:spTgt spid="926"/>
                                        </p:tgtEl>
                                        <p:attrNameLst>
                                          <p:attrName>ppt_w</p:attrName>
                                        </p:attrNameLst>
                                      </p:cBhvr>
                                      <p:tavLst>
                                        <p:tav tm="0">
                                          <p:val>
                                            <p:strVal val="0"/>
                                          </p:val>
                                        </p:tav>
                                        <p:tav tm="100000">
                                          <p:val>
                                            <p:strVal val="#ppt_w"/>
                                          </p:val>
                                        </p:tav>
                                      </p:tavLst>
                                    </p:anim>
                                    <p:anim calcmode="lin" valueType="num">
                                      <p:cBhvr additive="base">
                                        <p:cTn id="62" dur="500"/>
                                        <p:tgtEl>
                                          <p:spTgt spid="926"/>
                                        </p:tgtEl>
                                        <p:attrNameLst>
                                          <p:attrName>ppt_h</p:attrName>
                                        </p:attrNameLst>
                                      </p:cBhvr>
                                      <p:tavLst>
                                        <p:tav tm="0">
                                          <p:val>
                                            <p:strVal val="0"/>
                                          </p:val>
                                        </p:tav>
                                        <p:tav tm="100000">
                                          <p:val>
                                            <p:strVal val="#ppt_h"/>
                                          </p:val>
                                        </p:tav>
                                      </p:tavLst>
                                    </p:anim>
                                  </p:childTnLst>
                                </p:cTn>
                              </p:par>
                              <p:par>
                                <p:cTn id="63" presetID="10" presetClass="entr" presetSubtype="0" fill="hold" nodeType="withEffect">
                                  <p:stCondLst>
                                    <p:cond delay="950"/>
                                  </p:stCondLst>
                                  <p:childTnLst>
                                    <p:set>
                                      <p:cBhvr>
                                        <p:cTn id="64" dur="1" fill="hold">
                                          <p:stCondLst>
                                            <p:cond delay="0"/>
                                          </p:stCondLst>
                                        </p:cTn>
                                        <p:tgtEl>
                                          <p:spTgt spid="924"/>
                                        </p:tgtEl>
                                        <p:attrNameLst>
                                          <p:attrName>style.visibility</p:attrName>
                                        </p:attrNameLst>
                                      </p:cBhvr>
                                      <p:to>
                                        <p:strVal val="visible"/>
                                      </p:to>
                                    </p:set>
                                    <p:animEffect transition="in" filter="fade">
                                      <p:cBhvr>
                                        <p:cTn id="65" dur="500"/>
                                        <p:tgtEl>
                                          <p:spTgt spid="924"/>
                                        </p:tgtEl>
                                      </p:cBhvr>
                                    </p:animEffect>
                                  </p:childTnLst>
                                </p:cTn>
                              </p:par>
                              <p:par>
                                <p:cTn id="66" presetID="10" presetClass="entr" presetSubtype="0" fill="hold" nodeType="withEffect">
                                  <p:stCondLst>
                                    <p:cond delay="1100"/>
                                  </p:stCondLst>
                                  <p:childTnLst>
                                    <p:set>
                                      <p:cBhvr>
                                        <p:cTn id="67" dur="1" fill="hold">
                                          <p:stCondLst>
                                            <p:cond delay="0"/>
                                          </p:stCondLst>
                                        </p:cTn>
                                        <p:tgtEl>
                                          <p:spTgt spid="925"/>
                                        </p:tgtEl>
                                        <p:attrNameLst>
                                          <p:attrName>style.visibility</p:attrName>
                                        </p:attrNameLst>
                                      </p:cBhvr>
                                      <p:to>
                                        <p:strVal val="visible"/>
                                      </p:to>
                                    </p:set>
                                    <p:animEffect transition="in" filter="fade">
                                      <p:cBhvr>
                                        <p:cTn id="68" dur="500"/>
                                        <p:tgtEl>
                                          <p:spTgt spid="925"/>
                                        </p:tgtEl>
                                      </p:cBhvr>
                                    </p:animEffect>
                                  </p:childTnLst>
                                </p:cTn>
                              </p:par>
                              <p:par>
                                <p:cTn id="69" presetID="10" presetClass="entr" presetSubtype="0" fill="hold" nodeType="withEffect">
                                  <p:stCondLst>
                                    <p:cond delay="1100"/>
                                  </p:stCondLst>
                                  <p:childTnLst>
                                    <p:set>
                                      <p:cBhvr>
                                        <p:cTn id="70" dur="1" fill="hold">
                                          <p:stCondLst>
                                            <p:cond delay="0"/>
                                          </p:stCondLst>
                                        </p:cTn>
                                        <p:tgtEl>
                                          <p:spTgt spid="927"/>
                                        </p:tgtEl>
                                        <p:attrNameLst>
                                          <p:attrName>style.visibility</p:attrName>
                                        </p:attrNameLst>
                                      </p:cBhvr>
                                      <p:to>
                                        <p:strVal val="visible"/>
                                      </p:to>
                                    </p:set>
                                    <p:animEffect transition="in" filter="fade">
                                      <p:cBhvr>
                                        <p:cTn id="71" dur="500"/>
                                        <p:tgtEl>
                                          <p:spTgt spid="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2"/>
        <p:cNvGrpSpPr/>
        <p:nvPr/>
      </p:nvGrpSpPr>
      <p:grpSpPr>
        <a:xfrm>
          <a:off x="0" y="0"/>
          <a:ext cx="0" cy="0"/>
          <a:chOff x="0" y="0"/>
          <a:chExt cx="0" cy="0"/>
        </a:xfrm>
      </p:grpSpPr>
      <p:sp>
        <p:nvSpPr>
          <p:cNvPr id="953" name="Google Shape;953;p14"/>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ON-PREMISE V/S CLOUD</a:t>
            </a:r>
            <a:endParaRPr/>
          </a:p>
        </p:txBody>
      </p:sp>
      <p:sp>
        <p:nvSpPr>
          <p:cNvPr id="954" name="Google Shape;954;p14"/>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955" name="Google Shape;955;p14"/>
          <p:cNvPicPr preferRelativeResize="0"/>
          <p:nvPr/>
        </p:nvPicPr>
        <p:blipFill rotWithShape="1">
          <a:blip r:embed="rId3">
            <a:alphaModFix/>
          </a:blip>
          <a:srcRect/>
          <a:stretch/>
        </p:blipFill>
        <p:spPr>
          <a:xfrm>
            <a:off x="11088469" y="53543"/>
            <a:ext cx="929479" cy="918051"/>
          </a:xfrm>
          <a:prstGeom prst="rect">
            <a:avLst/>
          </a:prstGeom>
          <a:noFill/>
          <a:ln>
            <a:noFill/>
          </a:ln>
        </p:spPr>
      </p:pic>
      <p:pic>
        <p:nvPicPr>
          <p:cNvPr id="956" name="Google Shape;956;p14"/>
          <p:cNvPicPr preferRelativeResize="0"/>
          <p:nvPr/>
        </p:nvPicPr>
        <p:blipFill rotWithShape="1">
          <a:blip r:embed="rId4">
            <a:alphaModFix/>
          </a:blip>
          <a:srcRect/>
          <a:stretch/>
        </p:blipFill>
        <p:spPr>
          <a:xfrm>
            <a:off x="655150" y="1472893"/>
            <a:ext cx="2445595" cy="4626446"/>
          </a:xfrm>
          <a:prstGeom prst="rect">
            <a:avLst/>
          </a:prstGeom>
          <a:noFill/>
          <a:ln>
            <a:noFill/>
          </a:ln>
        </p:spPr>
      </p:pic>
      <p:pic>
        <p:nvPicPr>
          <p:cNvPr id="957" name="Google Shape;957;p14" descr="C:\Users\I062040\AppData\Local\Temp\SNAGHTML2c7ed6b0.PNG"/>
          <p:cNvPicPr preferRelativeResize="0"/>
          <p:nvPr/>
        </p:nvPicPr>
        <p:blipFill rotWithShape="1">
          <a:blip r:embed="rId5">
            <a:alphaModFix/>
          </a:blip>
          <a:srcRect/>
          <a:stretch/>
        </p:blipFill>
        <p:spPr>
          <a:xfrm>
            <a:off x="3316941" y="1472893"/>
            <a:ext cx="2708748" cy="4626446"/>
          </a:xfrm>
          <a:prstGeom prst="rect">
            <a:avLst/>
          </a:prstGeom>
          <a:noFill/>
          <a:ln>
            <a:noFill/>
          </a:ln>
        </p:spPr>
      </p:pic>
      <p:pic>
        <p:nvPicPr>
          <p:cNvPr id="958" name="Google Shape;958;p14"/>
          <p:cNvPicPr preferRelativeResize="0"/>
          <p:nvPr/>
        </p:nvPicPr>
        <p:blipFill rotWithShape="1">
          <a:blip r:embed="rId6">
            <a:alphaModFix/>
          </a:blip>
          <a:srcRect/>
          <a:stretch/>
        </p:blipFill>
        <p:spPr>
          <a:xfrm>
            <a:off x="6241884" y="1472893"/>
            <a:ext cx="2773198" cy="4626446"/>
          </a:xfrm>
          <a:prstGeom prst="rect">
            <a:avLst/>
          </a:prstGeom>
          <a:noFill/>
          <a:ln>
            <a:noFill/>
          </a:ln>
        </p:spPr>
      </p:pic>
      <p:pic>
        <p:nvPicPr>
          <p:cNvPr id="959" name="Google Shape;959;p14"/>
          <p:cNvPicPr preferRelativeResize="0"/>
          <p:nvPr/>
        </p:nvPicPr>
        <p:blipFill rotWithShape="1">
          <a:blip r:embed="rId7">
            <a:alphaModFix/>
          </a:blip>
          <a:srcRect/>
          <a:stretch/>
        </p:blipFill>
        <p:spPr>
          <a:xfrm>
            <a:off x="9231277" y="1472893"/>
            <a:ext cx="2369408" cy="462644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56"/>
                                        </p:tgtEl>
                                        <p:attrNameLst>
                                          <p:attrName>style.visibility</p:attrName>
                                        </p:attrNameLst>
                                      </p:cBhvr>
                                      <p:to>
                                        <p:strVal val="visible"/>
                                      </p:to>
                                    </p:set>
                                    <p:anim calcmode="lin" valueType="num">
                                      <p:cBhvr additive="base">
                                        <p:cTn id="7" dur="500"/>
                                        <p:tgtEl>
                                          <p:spTgt spid="956"/>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57"/>
                                        </p:tgtEl>
                                        <p:attrNameLst>
                                          <p:attrName>style.visibility</p:attrName>
                                        </p:attrNameLst>
                                      </p:cBhvr>
                                      <p:to>
                                        <p:strVal val="visible"/>
                                      </p:to>
                                    </p:set>
                                    <p:anim calcmode="lin" valueType="num">
                                      <p:cBhvr additive="base">
                                        <p:cTn id="12" dur="500"/>
                                        <p:tgtEl>
                                          <p:spTgt spid="957"/>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58"/>
                                        </p:tgtEl>
                                        <p:attrNameLst>
                                          <p:attrName>style.visibility</p:attrName>
                                        </p:attrNameLst>
                                      </p:cBhvr>
                                      <p:to>
                                        <p:strVal val="visible"/>
                                      </p:to>
                                    </p:set>
                                    <p:anim calcmode="lin" valueType="num">
                                      <p:cBhvr additive="base">
                                        <p:cTn id="17" dur="500"/>
                                        <p:tgtEl>
                                          <p:spTgt spid="958"/>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959"/>
                                        </p:tgtEl>
                                        <p:attrNameLst>
                                          <p:attrName>style.visibility</p:attrName>
                                        </p:attrNameLst>
                                      </p:cBhvr>
                                      <p:to>
                                        <p:strVal val="visible"/>
                                      </p:to>
                                    </p:set>
                                    <p:anim calcmode="lin" valueType="num">
                                      <p:cBhvr additive="base">
                                        <p:cTn id="22" dur="500"/>
                                        <p:tgtEl>
                                          <p:spTgt spid="9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3"/>
        <p:cNvGrpSpPr/>
        <p:nvPr/>
      </p:nvGrpSpPr>
      <p:grpSpPr>
        <a:xfrm>
          <a:off x="0" y="0"/>
          <a:ext cx="0" cy="0"/>
          <a:chOff x="0" y="0"/>
          <a:chExt cx="0" cy="0"/>
        </a:xfrm>
      </p:grpSpPr>
      <p:sp>
        <p:nvSpPr>
          <p:cNvPr id="964" name="Google Shape;964;p15"/>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TYPE OF CLOUD OFFERINGS</a:t>
            </a:r>
            <a:endParaRPr/>
          </a:p>
        </p:txBody>
      </p:sp>
      <p:sp>
        <p:nvSpPr>
          <p:cNvPr id="965" name="Google Shape;965;p15"/>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966" name="Google Shape;966;p15"/>
          <p:cNvPicPr preferRelativeResize="0"/>
          <p:nvPr/>
        </p:nvPicPr>
        <p:blipFill rotWithShape="1">
          <a:blip r:embed="rId3">
            <a:alphaModFix/>
          </a:blip>
          <a:srcRect/>
          <a:stretch/>
        </p:blipFill>
        <p:spPr>
          <a:xfrm>
            <a:off x="11088469" y="53543"/>
            <a:ext cx="929479" cy="918051"/>
          </a:xfrm>
          <a:prstGeom prst="rect">
            <a:avLst/>
          </a:prstGeom>
          <a:noFill/>
          <a:ln>
            <a:noFill/>
          </a:ln>
        </p:spPr>
      </p:pic>
      <p:grpSp>
        <p:nvGrpSpPr>
          <p:cNvPr id="967" name="Google Shape;967;p15"/>
          <p:cNvGrpSpPr/>
          <p:nvPr/>
        </p:nvGrpSpPr>
        <p:grpSpPr>
          <a:xfrm>
            <a:off x="369350" y="1330003"/>
            <a:ext cx="3936650" cy="944905"/>
            <a:chOff x="674246" y="1335315"/>
            <a:chExt cx="3937675" cy="945151"/>
          </a:xfrm>
        </p:grpSpPr>
        <p:sp>
          <p:nvSpPr>
            <p:cNvPr id="968" name="Google Shape;968;p15"/>
            <p:cNvSpPr/>
            <p:nvPr/>
          </p:nvSpPr>
          <p:spPr>
            <a:xfrm>
              <a:off x="674246" y="1837902"/>
              <a:ext cx="2119638" cy="44256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Data</a:t>
              </a:r>
              <a:endParaRPr/>
            </a:p>
          </p:txBody>
        </p:sp>
        <p:sp>
          <p:nvSpPr>
            <p:cNvPr id="969" name="Google Shape;969;p15"/>
            <p:cNvSpPr/>
            <p:nvPr/>
          </p:nvSpPr>
          <p:spPr>
            <a:xfrm>
              <a:off x="674246" y="1335315"/>
              <a:ext cx="2119638" cy="44256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Application</a:t>
              </a:r>
              <a:endParaRPr/>
            </a:p>
          </p:txBody>
        </p:sp>
        <p:sp>
          <p:nvSpPr>
            <p:cNvPr id="970" name="Google Shape;970;p15"/>
            <p:cNvSpPr/>
            <p:nvPr/>
          </p:nvSpPr>
          <p:spPr>
            <a:xfrm>
              <a:off x="2851865" y="1335315"/>
              <a:ext cx="1760056" cy="945150"/>
            </a:xfrm>
            <a:prstGeom prst="rect">
              <a:avLst/>
            </a:prstGeom>
            <a:solidFill>
              <a:srgbClr val="5F49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Application As a Service</a:t>
              </a:r>
              <a:endParaRPr/>
            </a:p>
          </p:txBody>
        </p:sp>
      </p:grpSp>
      <p:grpSp>
        <p:nvGrpSpPr>
          <p:cNvPr id="971" name="Google Shape;971;p15"/>
          <p:cNvGrpSpPr/>
          <p:nvPr/>
        </p:nvGrpSpPr>
        <p:grpSpPr>
          <a:xfrm>
            <a:off x="350429" y="2334916"/>
            <a:ext cx="3955570" cy="1949817"/>
            <a:chOff x="655321" y="2340489"/>
            <a:chExt cx="3956600" cy="1950325"/>
          </a:xfrm>
        </p:grpSpPr>
        <p:sp>
          <p:nvSpPr>
            <p:cNvPr id="972" name="Google Shape;972;p15"/>
            <p:cNvSpPr/>
            <p:nvPr/>
          </p:nvSpPr>
          <p:spPr>
            <a:xfrm>
              <a:off x="655321" y="3848250"/>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OS</a:t>
              </a:r>
              <a:endParaRPr/>
            </a:p>
          </p:txBody>
        </p:sp>
        <p:sp>
          <p:nvSpPr>
            <p:cNvPr id="973" name="Google Shape;973;p15"/>
            <p:cNvSpPr/>
            <p:nvPr/>
          </p:nvSpPr>
          <p:spPr>
            <a:xfrm>
              <a:off x="655321" y="3345663"/>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Database</a:t>
              </a:r>
              <a:endParaRPr/>
            </a:p>
          </p:txBody>
        </p:sp>
        <p:sp>
          <p:nvSpPr>
            <p:cNvPr id="974" name="Google Shape;974;p15"/>
            <p:cNvSpPr/>
            <p:nvPr/>
          </p:nvSpPr>
          <p:spPr>
            <a:xfrm>
              <a:off x="655321" y="2843076"/>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Middleware</a:t>
              </a:r>
              <a:endParaRPr/>
            </a:p>
          </p:txBody>
        </p:sp>
        <p:sp>
          <p:nvSpPr>
            <p:cNvPr id="975" name="Google Shape;975;p15"/>
            <p:cNvSpPr/>
            <p:nvPr/>
          </p:nvSpPr>
          <p:spPr>
            <a:xfrm>
              <a:off x="655321" y="2340489"/>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Runtime</a:t>
              </a:r>
              <a:endParaRPr/>
            </a:p>
          </p:txBody>
        </p:sp>
        <p:sp>
          <p:nvSpPr>
            <p:cNvPr id="976" name="Google Shape;976;p15"/>
            <p:cNvSpPr/>
            <p:nvPr/>
          </p:nvSpPr>
          <p:spPr>
            <a:xfrm>
              <a:off x="2851865" y="2340489"/>
              <a:ext cx="1760056" cy="1950325"/>
            </a:xfrm>
            <a:prstGeom prst="rect">
              <a:avLst/>
            </a:prstGeom>
            <a:solidFill>
              <a:srgbClr val="5F49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Platform as a Service</a:t>
              </a:r>
              <a:endParaRPr/>
            </a:p>
          </p:txBody>
        </p:sp>
      </p:grpSp>
      <p:grpSp>
        <p:nvGrpSpPr>
          <p:cNvPr id="977" name="Google Shape;977;p15"/>
          <p:cNvGrpSpPr/>
          <p:nvPr/>
        </p:nvGrpSpPr>
        <p:grpSpPr>
          <a:xfrm>
            <a:off x="350429" y="4344739"/>
            <a:ext cx="3955570" cy="1949819"/>
            <a:chOff x="655321" y="4350836"/>
            <a:chExt cx="3956600" cy="1950327"/>
          </a:xfrm>
        </p:grpSpPr>
        <p:sp>
          <p:nvSpPr>
            <p:cNvPr id="978" name="Google Shape;978;p15"/>
            <p:cNvSpPr/>
            <p:nvPr/>
          </p:nvSpPr>
          <p:spPr>
            <a:xfrm>
              <a:off x="655321" y="5858599"/>
              <a:ext cx="2119638" cy="44256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Networking</a:t>
              </a:r>
              <a:endParaRPr/>
            </a:p>
          </p:txBody>
        </p:sp>
        <p:sp>
          <p:nvSpPr>
            <p:cNvPr id="979" name="Google Shape;979;p15"/>
            <p:cNvSpPr/>
            <p:nvPr/>
          </p:nvSpPr>
          <p:spPr>
            <a:xfrm>
              <a:off x="655321" y="5356010"/>
              <a:ext cx="2119638" cy="44256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Storage</a:t>
              </a:r>
              <a:endParaRPr/>
            </a:p>
          </p:txBody>
        </p:sp>
        <p:sp>
          <p:nvSpPr>
            <p:cNvPr id="980" name="Google Shape;980;p15"/>
            <p:cNvSpPr/>
            <p:nvPr/>
          </p:nvSpPr>
          <p:spPr>
            <a:xfrm>
              <a:off x="655321" y="4853423"/>
              <a:ext cx="2119638" cy="44256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Servers</a:t>
              </a:r>
              <a:endParaRPr/>
            </a:p>
          </p:txBody>
        </p:sp>
        <p:sp>
          <p:nvSpPr>
            <p:cNvPr id="981" name="Google Shape;981;p15"/>
            <p:cNvSpPr/>
            <p:nvPr/>
          </p:nvSpPr>
          <p:spPr>
            <a:xfrm>
              <a:off x="655321" y="4350836"/>
              <a:ext cx="2119638" cy="44256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Virtualization</a:t>
              </a:r>
              <a:endParaRPr/>
            </a:p>
          </p:txBody>
        </p:sp>
        <p:sp>
          <p:nvSpPr>
            <p:cNvPr id="982" name="Google Shape;982;p15"/>
            <p:cNvSpPr/>
            <p:nvPr/>
          </p:nvSpPr>
          <p:spPr>
            <a:xfrm>
              <a:off x="2851865" y="4350837"/>
              <a:ext cx="1760056" cy="1950325"/>
            </a:xfrm>
            <a:prstGeom prst="rect">
              <a:avLst/>
            </a:prstGeom>
            <a:solidFill>
              <a:srgbClr val="31859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Infrastructure as a Service</a:t>
              </a:r>
              <a:endParaRPr/>
            </a:p>
          </p:txBody>
        </p:sp>
      </p:grpSp>
      <p:sp>
        <p:nvSpPr>
          <p:cNvPr id="983" name="Google Shape;983;p15"/>
          <p:cNvSpPr/>
          <p:nvPr/>
        </p:nvSpPr>
        <p:spPr>
          <a:xfrm>
            <a:off x="4382885" y="1330002"/>
            <a:ext cx="1759598" cy="4964555"/>
          </a:xfrm>
          <a:prstGeom prst="rect">
            <a:avLst/>
          </a:prstGeom>
          <a:solidFill>
            <a:srgbClr val="DAEE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Customer Managed</a:t>
            </a:r>
            <a:endParaRPr/>
          </a:p>
        </p:txBody>
      </p:sp>
      <p:grpSp>
        <p:nvGrpSpPr>
          <p:cNvPr id="984" name="Google Shape;984;p15"/>
          <p:cNvGrpSpPr/>
          <p:nvPr/>
        </p:nvGrpSpPr>
        <p:grpSpPr>
          <a:xfrm>
            <a:off x="6219368" y="1330004"/>
            <a:ext cx="1759598" cy="4964553"/>
            <a:chOff x="6525789" y="1335316"/>
            <a:chExt cx="1760056" cy="4965846"/>
          </a:xfrm>
        </p:grpSpPr>
        <p:sp>
          <p:nvSpPr>
            <p:cNvPr id="985" name="Google Shape;985;p15"/>
            <p:cNvSpPr/>
            <p:nvPr/>
          </p:nvSpPr>
          <p:spPr>
            <a:xfrm>
              <a:off x="6525789" y="4350837"/>
              <a:ext cx="1760056" cy="1950325"/>
            </a:xfrm>
            <a:prstGeom prst="rect">
              <a:avLst/>
            </a:prstGeom>
            <a:solidFill>
              <a:srgbClr val="DAEE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SAP/Partner Managed</a:t>
              </a:r>
              <a:endParaRPr/>
            </a:p>
          </p:txBody>
        </p:sp>
        <p:sp>
          <p:nvSpPr>
            <p:cNvPr id="986" name="Google Shape;986;p15"/>
            <p:cNvSpPr/>
            <p:nvPr/>
          </p:nvSpPr>
          <p:spPr>
            <a:xfrm>
              <a:off x="6525789" y="1335316"/>
              <a:ext cx="1760056" cy="2955497"/>
            </a:xfrm>
            <a:prstGeom prst="rect">
              <a:avLst/>
            </a:prstGeom>
            <a:solidFill>
              <a:srgbClr val="DAEE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Customer Managed</a:t>
              </a:r>
              <a:endParaRPr/>
            </a:p>
          </p:txBody>
        </p:sp>
      </p:grpSp>
      <p:grpSp>
        <p:nvGrpSpPr>
          <p:cNvPr id="987" name="Google Shape;987;p15"/>
          <p:cNvGrpSpPr/>
          <p:nvPr/>
        </p:nvGrpSpPr>
        <p:grpSpPr>
          <a:xfrm>
            <a:off x="8055852" y="1330004"/>
            <a:ext cx="1759598" cy="4964553"/>
            <a:chOff x="8362751" y="1335316"/>
            <a:chExt cx="1760056" cy="4965846"/>
          </a:xfrm>
        </p:grpSpPr>
        <p:sp>
          <p:nvSpPr>
            <p:cNvPr id="988" name="Google Shape;988;p15"/>
            <p:cNvSpPr/>
            <p:nvPr/>
          </p:nvSpPr>
          <p:spPr>
            <a:xfrm>
              <a:off x="8362751" y="2340489"/>
              <a:ext cx="1760056" cy="3960673"/>
            </a:xfrm>
            <a:prstGeom prst="rect">
              <a:avLst/>
            </a:prstGeom>
            <a:solidFill>
              <a:srgbClr val="DAEE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SAP/Partner Managed</a:t>
              </a:r>
              <a:endParaRPr/>
            </a:p>
          </p:txBody>
        </p:sp>
        <p:sp>
          <p:nvSpPr>
            <p:cNvPr id="989" name="Google Shape;989;p15"/>
            <p:cNvSpPr/>
            <p:nvPr/>
          </p:nvSpPr>
          <p:spPr>
            <a:xfrm>
              <a:off x="8362751" y="1335316"/>
              <a:ext cx="1760056" cy="947087"/>
            </a:xfrm>
            <a:prstGeom prst="rect">
              <a:avLst/>
            </a:prstGeom>
            <a:solidFill>
              <a:srgbClr val="DAEE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Customer Managed</a:t>
              </a:r>
              <a:endParaRPr/>
            </a:p>
          </p:txBody>
        </p:sp>
      </p:grpSp>
      <p:sp>
        <p:nvSpPr>
          <p:cNvPr id="990" name="Google Shape;990;p15"/>
          <p:cNvSpPr/>
          <p:nvPr/>
        </p:nvSpPr>
        <p:spPr>
          <a:xfrm>
            <a:off x="9892338" y="1330003"/>
            <a:ext cx="1759598" cy="4943840"/>
          </a:xfrm>
          <a:prstGeom prst="rect">
            <a:avLst/>
          </a:prstGeom>
          <a:solidFill>
            <a:srgbClr val="DAEE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SAP Managed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77"/>
                                        </p:tgtEl>
                                        <p:attrNameLst>
                                          <p:attrName>style.visibility</p:attrName>
                                        </p:attrNameLst>
                                      </p:cBhvr>
                                      <p:to>
                                        <p:strVal val="visible"/>
                                      </p:to>
                                    </p:set>
                                    <p:anim calcmode="lin" valueType="num">
                                      <p:cBhvr additive="base">
                                        <p:cTn id="7" dur="500"/>
                                        <p:tgtEl>
                                          <p:spTgt spid="977"/>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71"/>
                                        </p:tgtEl>
                                        <p:attrNameLst>
                                          <p:attrName>style.visibility</p:attrName>
                                        </p:attrNameLst>
                                      </p:cBhvr>
                                      <p:to>
                                        <p:strVal val="visible"/>
                                      </p:to>
                                    </p:set>
                                    <p:anim calcmode="lin" valueType="num">
                                      <p:cBhvr additive="base">
                                        <p:cTn id="12" dur="500"/>
                                        <p:tgtEl>
                                          <p:spTgt spid="971"/>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67"/>
                                        </p:tgtEl>
                                        <p:attrNameLst>
                                          <p:attrName>style.visibility</p:attrName>
                                        </p:attrNameLst>
                                      </p:cBhvr>
                                      <p:to>
                                        <p:strVal val="visible"/>
                                      </p:to>
                                    </p:set>
                                    <p:anim calcmode="lin" valueType="num">
                                      <p:cBhvr additive="base">
                                        <p:cTn id="17" dur="500"/>
                                        <p:tgtEl>
                                          <p:spTgt spid="967"/>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983"/>
                                        </p:tgtEl>
                                        <p:attrNameLst>
                                          <p:attrName>style.visibility</p:attrName>
                                        </p:attrNameLst>
                                      </p:cBhvr>
                                      <p:to>
                                        <p:strVal val="visible"/>
                                      </p:to>
                                    </p:set>
                                    <p:anim calcmode="lin" valueType="num">
                                      <p:cBhvr additive="base">
                                        <p:cTn id="22" dur="500"/>
                                        <p:tgtEl>
                                          <p:spTgt spid="98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84"/>
                                        </p:tgtEl>
                                        <p:attrNameLst>
                                          <p:attrName>style.visibility</p:attrName>
                                        </p:attrNameLst>
                                      </p:cBhvr>
                                      <p:to>
                                        <p:strVal val="visible"/>
                                      </p:to>
                                    </p:set>
                                    <p:anim calcmode="lin" valueType="num">
                                      <p:cBhvr additive="base">
                                        <p:cTn id="27" dur="500"/>
                                        <p:tgtEl>
                                          <p:spTgt spid="98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987"/>
                                        </p:tgtEl>
                                        <p:attrNameLst>
                                          <p:attrName>style.visibility</p:attrName>
                                        </p:attrNameLst>
                                      </p:cBhvr>
                                      <p:to>
                                        <p:strVal val="visible"/>
                                      </p:to>
                                    </p:set>
                                    <p:anim calcmode="lin" valueType="num">
                                      <p:cBhvr additive="base">
                                        <p:cTn id="32" dur="500"/>
                                        <p:tgtEl>
                                          <p:spTgt spid="987"/>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90"/>
                                        </p:tgtEl>
                                        <p:attrNameLst>
                                          <p:attrName>style.visibility</p:attrName>
                                        </p:attrNameLst>
                                      </p:cBhvr>
                                      <p:to>
                                        <p:strVal val="visible"/>
                                      </p:to>
                                    </p:set>
                                    <p:anim calcmode="lin" valueType="num">
                                      <p:cBhvr additive="base">
                                        <p:cTn id="37" dur="500"/>
                                        <p:tgtEl>
                                          <p:spTgt spid="9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4"/>
        <p:cNvGrpSpPr/>
        <p:nvPr/>
      </p:nvGrpSpPr>
      <p:grpSpPr>
        <a:xfrm>
          <a:off x="0" y="0"/>
          <a:ext cx="0" cy="0"/>
          <a:chOff x="0" y="0"/>
          <a:chExt cx="0" cy="0"/>
        </a:xfrm>
      </p:grpSpPr>
      <p:sp>
        <p:nvSpPr>
          <p:cNvPr id="995" name="Google Shape;995;p16"/>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WHAT IS SAP CLOUD FOUNDRY?</a:t>
            </a:r>
            <a:endParaRPr/>
          </a:p>
        </p:txBody>
      </p:sp>
      <p:sp>
        <p:nvSpPr>
          <p:cNvPr id="996" name="Google Shape;996;p16"/>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997" name="Google Shape;997;p16"/>
          <p:cNvPicPr preferRelativeResize="0"/>
          <p:nvPr/>
        </p:nvPicPr>
        <p:blipFill rotWithShape="1">
          <a:blip r:embed="rId3">
            <a:alphaModFix/>
          </a:blip>
          <a:srcRect/>
          <a:stretch/>
        </p:blipFill>
        <p:spPr>
          <a:xfrm>
            <a:off x="11088469" y="53543"/>
            <a:ext cx="929479" cy="918051"/>
          </a:xfrm>
          <a:prstGeom prst="rect">
            <a:avLst/>
          </a:prstGeom>
          <a:noFill/>
          <a:ln>
            <a:noFill/>
          </a:ln>
        </p:spPr>
      </p:pic>
      <p:sp>
        <p:nvSpPr>
          <p:cNvPr id="998" name="Google Shape;998;p16"/>
          <p:cNvSpPr/>
          <p:nvPr/>
        </p:nvSpPr>
        <p:spPr>
          <a:xfrm>
            <a:off x="9581155" y="2171936"/>
            <a:ext cx="2132581" cy="3938928"/>
          </a:xfrm>
          <a:prstGeom prst="rect">
            <a:avLst/>
          </a:prstGeom>
          <a:solidFill>
            <a:srgbClr val="DAEE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1" i="0" u="none" strike="noStrike" cap="none">
              <a:solidFill>
                <a:srgbClr val="000000"/>
              </a:solidFill>
              <a:latin typeface="Calibri"/>
              <a:ea typeface="Calibri"/>
              <a:cs typeface="Calibri"/>
              <a:sym typeface="Calibri"/>
            </a:endParaRPr>
          </a:p>
        </p:txBody>
      </p:sp>
      <p:grpSp>
        <p:nvGrpSpPr>
          <p:cNvPr id="999" name="Google Shape;999;p16"/>
          <p:cNvGrpSpPr/>
          <p:nvPr/>
        </p:nvGrpSpPr>
        <p:grpSpPr>
          <a:xfrm>
            <a:off x="3088083" y="1167025"/>
            <a:ext cx="2119086" cy="944905"/>
            <a:chOff x="3149848" y="1335315"/>
            <a:chExt cx="2119638" cy="945151"/>
          </a:xfrm>
        </p:grpSpPr>
        <p:sp>
          <p:nvSpPr>
            <p:cNvPr id="1000" name="Google Shape;1000;p16"/>
            <p:cNvSpPr/>
            <p:nvPr/>
          </p:nvSpPr>
          <p:spPr>
            <a:xfrm>
              <a:off x="3149848" y="1837902"/>
              <a:ext cx="2119638" cy="44256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Data</a:t>
              </a:r>
              <a:endParaRPr/>
            </a:p>
          </p:txBody>
        </p:sp>
        <p:sp>
          <p:nvSpPr>
            <p:cNvPr id="1001" name="Google Shape;1001;p16"/>
            <p:cNvSpPr/>
            <p:nvPr/>
          </p:nvSpPr>
          <p:spPr>
            <a:xfrm>
              <a:off x="3149848" y="1335315"/>
              <a:ext cx="2119638" cy="44256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Application</a:t>
              </a:r>
              <a:endParaRPr/>
            </a:p>
          </p:txBody>
        </p:sp>
      </p:grpSp>
      <p:grpSp>
        <p:nvGrpSpPr>
          <p:cNvPr id="1002" name="Google Shape;1002;p16"/>
          <p:cNvGrpSpPr/>
          <p:nvPr/>
        </p:nvGrpSpPr>
        <p:grpSpPr>
          <a:xfrm>
            <a:off x="3069163" y="2171937"/>
            <a:ext cx="3955570" cy="1949817"/>
            <a:chOff x="3130923" y="2340489"/>
            <a:chExt cx="3956600" cy="1950325"/>
          </a:xfrm>
        </p:grpSpPr>
        <p:sp>
          <p:nvSpPr>
            <p:cNvPr id="1003" name="Google Shape;1003;p16"/>
            <p:cNvSpPr/>
            <p:nvPr/>
          </p:nvSpPr>
          <p:spPr>
            <a:xfrm>
              <a:off x="3130923" y="3848250"/>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OS</a:t>
              </a:r>
              <a:endParaRPr/>
            </a:p>
          </p:txBody>
        </p:sp>
        <p:sp>
          <p:nvSpPr>
            <p:cNvPr id="1004" name="Google Shape;1004;p16"/>
            <p:cNvSpPr/>
            <p:nvPr/>
          </p:nvSpPr>
          <p:spPr>
            <a:xfrm>
              <a:off x="3130923" y="3345663"/>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Database</a:t>
              </a:r>
              <a:endParaRPr/>
            </a:p>
          </p:txBody>
        </p:sp>
        <p:sp>
          <p:nvSpPr>
            <p:cNvPr id="1005" name="Google Shape;1005;p16"/>
            <p:cNvSpPr/>
            <p:nvPr/>
          </p:nvSpPr>
          <p:spPr>
            <a:xfrm>
              <a:off x="3130923" y="2843076"/>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Middleware</a:t>
              </a:r>
              <a:endParaRPr/>
            </a:p>
          </p:txBody>
        </p:sp>
        <p:sp>
          <p:nvSpPr>
            <p:cNvPr id="1006" name="Google Shape;1006;p16"/>
            <p:cNvSpPr/>
            <p:nvPr/>
          </p:nvSpPr>
          <p:spPr>
            <a:xfrm>
              <a:off x="3130923" y="2340489"/>
              <a:ext cx="2119638" cy="44256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Runtime</a:t>
              </a:r>
              <a:endParaRPr/>
            </a:p>
          </p:txBody>
        </p:sp>
        <p:sp>
          <p:nvSpPr>
            <p:cNvPr id="1007" name="Google Shape;1007;p16"/>
            <p:cNvSpPr/>
            <p:nvPr/>
          </p:nvSpPr>
          <p:spPr>
            <a:xfrm>
              <a:off x="5327467" y="2340489"/>
              <a:ext cx="1760056" cy="1950325"/>
            </a:xfrm>
            <a:prstGeom prst="rect">
              <a:avLst/>
            </a:prstGeom>
            <a:solidFill>
              <a:srgbClr val="5F49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Platform as a Service</a:t>
              </a:r>
              <a:endParaRPr/>
            </a:p>
          </p:txBody>
        </p:sp>
      </p:grpSp>
      <p:grpSp>
        <p:nvGrpSpPr>
          <p:cNvPr id="1008" name="Google Shape;1008;p16"/>
          <p:cNvGrpSpPr/>
          <p:nvPr/>
        </p:nvGrpSpPr>
        <p:grpSpPr>
          <a:xfrm>
            <a:off x="3069163" y="4181760"/>
            <a:ext cx="3955570" cy="1949819"/>
            <a:chOff x="3130923" y="4350836"/>
            <a:chExt cx="3956600" cy="1950327"/>
          </a:xfrm>
        </p:grpSpPr>
        <p:sp>
          <p:nvSpPr>
            <p:cNvPr id="1009" name="Google Shape;1009;p16"/>
            <p:cNvSpPr/>
            <p:nvPr/>
          </p:nvSpPr>
          <p:spPr>
            <a:xfrm>
              <a:off x="3130923" y="5858599"/>
              <a:ext cx="2119638" cy="44256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Networking</a:t>
              </a:r>
              <a:endParaRPr/>
            </a:p>
          </p:txBody>
        </p:sp>
        <p:sp>
          <p:nvSpPr>
            <p:cNvPr id="1010" name="Google Shape;1010;p16"/>
            <p:cNvSpPr/>
            <p:nvPr/>
          </p:nvSpPr>
          <p:spPr>
            <a:xfrm>
              <a:off x="3130923" y="5356010"/>
              <a:ext cx="2119638" cy="44256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Storage</a:t>
              </a:r>
              <a:endParaRPr/>
            </a:p>
          </p:txBody>
        </p:sp>
        <p:sp>
          <p:nvSpPr>
            <p:cNvPr id="1011" name="Google Shape;1011;p16"/>
            <p:cNvSpPr/>
            <p:nvPr/>
          </p:nvSpPr>
          <p:spPr>
            <a:xfrm>
              <a:off x="3130923" y="4853423"/>
              <a:ext cx="2119638" cy="44256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Servers</a:t>
              </a:r>
              <a:endParaRPr/>
            </a:p>
          </p:txBody>
        </p:sp>
        <p:sp>
          <p:nvSpPr>
            <p:cNvPr id="1012" name="Google Shape;1012;p16"/>
            <p:cNvSpPr/>
            <p:nvPr/>
          </p:nvSpPr>
          <p:spPr>
            <a:xfrm>
              <a:off x="3130923" y="4350836"/>
              <a:ext cx="2119638" cy="44256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Virtualization</a:t>
              </a:r>
              <a:endParaRPr/>
            </a:p>
          </p:txBody>
        </p:sp>
        <p:sp>
          <p:nvSpPr>
            <p:cNvPr id="1013" name="Google Shape;1013;p16"/>
            <p:cNvSpPr/>
            <p:nvPr/>
          </p:nvSpPr>
          <p:spPr>
            <a:xfrm>
              <a:off x="5327467" y="4350837"/>
              <a:ext cx="1760056" cy="1950325"/>
            </a:xfrm>
            <a:prstGeom prst="rect">
              <a:avLst/>
            </a:prstGeom>
            <a:solidFill>
              <a:srgbClr val="31859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Infrastructure as a Service</a:t>
              </a:r>
              <a:endParaRPr/>
            </a:p>
          </p:txBody>
        </p:sp>
      </p:grpSp>
      <p:sp>
        <p:nvSpPr>
          <p:cNvPr id="1014" name="Google Shape;1014;p16"/>
          <p:cNvSpPr/>
          <p:nvPr/>
        </p:nvSpPr>
        <p:spPr>
          <a:xfrm>
            <a:off x="2485782" y="2187172"/>
            <a:ext cx="492037" cy="1949817"/>
          </a:xfrm>
          <a:prstGeom prst="leftBrace">
            <a:avLst>
              <a:gd name="adj1" fmla="val 22848"/>
              <a:gd name="adj2" fmla="val 50000"/>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sp>
        <p:nvSpPr>
          <p:cNvPr id="1015" name="Google Shape;1015;p16"/>
          <p:cNvSpPr txBox="1"/>
          <p:nvPr/>
        </p:nvSpPr>
        <p:spPr>
          <a:xfrm>
            <a:off x="684550" y="2423608"/>
            <a:ext cx="1705204" cy="119950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Managed by SAP implementing open source CF</a:t>
            </a:r>
            <a:endParaRPr/>
          </a:p>
        </p:txBody>
      </p:sp>
      <p:sp>
        <p:nvSpPr>
          <p:cNvPr id="1016" name="Google Shape;1016;p16"/>
          <p:cNvSpPr txBox="1"/>
          <p:nvPr/>
        </p:nvSpPr>
        <p:spPr>
          <a:xfrm>
            <a:off x="684550" y="4256137"/>
            <a:ext cx="1705204" cy="1476301"/>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Managed by Infrastructure </a:t>
            </a:r>
            <a:endParaRPr/>
          </a:p>
          <a:p>
            <a:pPr marL="0" marR="0" lvl="0" indent="0" algn="r"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providers </a:t>
            </a:r>
            <a:endParaRPr/>
          </a:p>
          <a:p>
            <a:pPr marL="0" marR="0" lvl="0" indent="0" algn="r" rtl="0">
              <a:lnSpc>
                <a:spcPct val="100000"/>
              </a:lnSpc>
              <a:spcBef>
                <a:spcPts val="0"/>
              </a:spcBef>
              <a:spcAft>
                <a:spcPts val="0"/>
              </a:spcAft>
              <a:buClr>
                <a:srgbClr val="000000"/>
              </a:buClr>
              <a:buSzPts val="1799"/>
              <a:buFont typeface="Calibri"/>
              <a:buNone/>
            </a:pPr>
            <a:r>
              <a:rPr lang="en-US" sz="1799" b="0" i="0" u="sng" strike="noStrike" cap="none">
                <a:solidFill>
                  <a:srgbClr val="0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Data Centers</a:t>
            </a:r>
            <a:endParaRPr sz="1799" b="0" i="0" u="none" strike="noStrike" cap="none">
              <a:solidFill>
                <a:srgbClr val="000000"/>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799"/>
              <a:buFont typeface="Calibri"/>
              <a:buNone/>
            </a:pPr>
            <a:r>
              <a:rPr lang="en-US" sz="1799" b="0" i="0" u="sng" strike="noStrike" cap="none">
                <a:solidFill>
                  <a:srgbClr val="000000"/>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Service Portfolio</a:t>
            </a:r>
            <a:endParaRPr sz="1799" b="0" i="0" u="none" strike="noStrike" cap="none">
              <a:solidFill>
                <a:srgbClr val="000000"/>
              </a:solidFill>
              <a:latin typeface="Calibri"/>
              <a:ea typeface="Calibri"/>
              <a:cs typeface="Calibri"/>
              <a:sym typeface="Calibri"/>
            </a:endParaRPr>
          </a:p>
        </p:txBody>
      </p:sp>
      <p:pic>
        <p:nvPicPr>
          <p:cNvPr id="1017" name="Google Shape;1017;p16" descr="SAP - Wikipedia"/>
          <p:cNvPicPr preferRelativeResize="0"/>
          <p:nvPr/>
        </p:nvPicPr>
        <p:blipFill rotWithShape="1">
          <a:blip r:embed="rId6">
            <a:alphaModFix/>
          </a:blip>
          <a:srcRect/>
          <a:stretch/>
        </p:blipFill>
        <p:spPr>
          <a:xfrm>
            <a:off x="10148969" y="2509203"/>
            <a:ext cx="996953" cy="508447"/>
          </a:xfrm>
          <a:prstGeom prst="rect">
            <a:avLst/>
          </a:prstGeom>
          <a:noFill/>
          <a:ln>
            <a:noFill/>
          </a:ln>
        </p:spPr>
      </p:pic>
      <p:pic>
        <p:nvPicPr>
          <p:cNvPr id="1018" name="Google Shape;1018;p16" descr="StrongLoop - Deploying LoopBack mBaaS on Cloud Foundry"/>
          <p:cNvPicPr preferRelativeResize="0"/>
          <p:nvPr/>
        </p:nvPicPr>
        <p:blipFill rotWithShape="1">
          <a:blip r:embed="rId7">
            <a:alphaModFix/>
          </a:blip>
          <a:srcRect/>
          <a:stretch/>
        </p:blipFill>
        <p:spPr>
          <a:xfrm>
            <a:off x="10148969" y="3396533"/>
            <a:ext cx="996953" cy="996953"/>
          </a:xfrm>
          <a:prstGeom prst="rect">
            <a:avLst/>
          </a:prstGeom>
          <a:noFill/>
          <a:ln>
            <a:noFill/>
          </a:ln>
        </p:spPr>
      </p:pic>
      <p:pic>
        <p:nvPicPr>
          <p:cNvPr id="1019" name="Google Shape;1019;p16" descr="2018-11-07 Cloud Providers Comparison for IoT Applications: Amazon vs.  Microsoft vs. Google | ThingForward"/>
          <p:cNvPicPr preferRelativeResize="0"/>
          <p:nvPr/>
        </p:nvPicPr>
        <p:blipFill rotWithShape="1">
          <a:blip r:embed="rId8">
            <a:alphaModFix/>
          </a:blip>
          <a:srcRect/>
          <a:stretch/>
        </p:blipFill>
        <p:spPr>
          <a:xfrm>
            <a:off x="9707616" y="4772369"/>
            <a:ext cx="1879659" cy="1074930"/>
          </a:xfrm>
          <a:prstGeom prst="rect">
            <a:avLst/>
          </a:prstGeom>
          <a:noFill/>
          <a:ln>
            <a:noFill/>
          </a:ln>
        </p:spPr>
      </p:pic>
      <p:sp>
        <p:nvSpPr>
          <p:cNvPr id="1020" name="Google Shape;1020;p16"/>
          <p:cNvSpPr/>
          <p:nvPr/>
        </p:nvSpPr>
        <p:spPr>
          <a:xfrm>
            <a:off x="8723585" y="1430526"/>
            <a:ext cx="766418" cy="417902"/>
          </a:xfrm>
          <a:prstGeom prst="rightArrow">
            <a:avLst>
              <a:gd name="adj1" fmla="val 50000"/>
              <a:gd name="adj2" fmla="val 50000"/>
            </a:avLst>
          </a:prstGeom>
          <a:solidFill>
            <a:srgbClr val="1F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021" name="Google Shape;1021;p16"/>
          <p:cNvSpPr txBox="1"/>
          <p:nvPr/>
        </p:nvSpPr>
        <p:spPr>
          <a:xfrm>
            <a:off x="7361837" y="3005701"/>
            <a:ext cx="1950212" cy="2307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Fully ready landscape with reusable services</a:t>
            </a:r>
            <a:endParaRPr/>
          </a:p>
          <a:p>
            <a:pPr marL="0" marR="0" lvl="0" indent="0" algn="l"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a:p>
            <a:pPr marL="285664" marR="0" lvl="0" indent="-285664" algn="l" rtl="0">
              <a:lnSpc>
                <a:spcPct val="100000"/>
              </a:lnSpc>
              <a:spcBef>
                <a:spcPts val="0"/>
              </a:spcBef>
              <a:spcAft>
                <a:spcPts val="0"/>
              </a:spcAft>
              <a:buClr>
                <a:srgbClr val="000000"/>
              </a:buClr>
              <a:buSzPts val="1799"/>
              <a:buFont typeface="Arial"/>
              <a:buChar char="•"/>
            </a:pPr>
            <a:r>
              <a:rPr lang="en-US" sz="1799" b="0" i="0" u="none" strike="noStrike" cap="none">
                <a:solidFill>
                  <a:srgbClr val="000000"/>
                </a:solidFill>
                <a:latin typeface="Calibri"/>
                <a:ea typeface="Calibri"/>
                <a:cs typeface="Calibri"/>
                <a:sym typeface="Calibri"/>
              </a:rPr>
              <a:t>Scalability</a:t>
            </a:r>
            <a:endParaRPr/>
          </a:p>
          <a:p>
            <a:pPr marL="285664" marR="0" lvl="0" indent="-285664" algn="l" rtl="0">
              <a:lnSpc>
                <a:spcPct val="100000"/>
              </a:lnSpc>
              <a:spcBef>
                <a:spcPts val="0"/>
              </a:spcBef>
              <a:spcAft>
                <a:spcPts val="0"/>
              </a:spcAft>
              <a:buClr>
                <a:srgbClr val="000000"/>
              </a:buClr>
              <a:buSzPts val="1799"/>
              <a:buFont typeface="Arial"/>
              <a:buChar char="•"/>
            </a:pPr>
            <a:r>
              <a:rPr lang="en-US" sz="1799" b="0" i="0" u="none" strike="noStrike" cap="none">
                <a:solidFill>
                  <a:srgbClr val="000000"/>
                </a:solidFill>
                <a:latin typeface="Calibri"/>
                <a:ea typeface="Calibri"/>
                <a:cs typeface="Calibri"/>
                <a:sym typeface="Calibri"/>
              </a:rPr>
              <a:t>Elasticity</a:t>
            </a:r>
            <a:endParaRPr/>
          </a:p>
          <a:p>
            <a:pPr marL="285664" marR="0" lvl="0" indent="-285664" algn="l" rtl="0">
              <a:lnSpc>
                <a:spcPct val="100000"/>
              </a:lnSpc>
              <a:spcBef>
                <a:spcPts val="0"/>
              </a:spcBef>
              <a:spcAft>
                <a:spcPts val="0"/>
              </a:spcAft>
              <a:buClr>
                <a:srgbClr val="000000"/>
              </a:buClr>
              <a:buSzPts val="1799"/>
              <a:buFont typeface="Arial"/>
              <a:buChar char="•"/>
            </a:pPr>
            <a:r>
              <a:rPr lang="en-US" sz="1799" b="0" i="0" u="none" strike="noStrike" cap="none">
                <a:solidFill>
                  <a:srgbClr val="000000"/>
                </a:solidFill>
                <a:latin typeface="Calibri"/>
                <a:ea typeface="Calibri"/>
                <a:cs typeface="Calibri"/>
                <a:sym typeface="Calibri"/>
              </a:rPr>
              <a:t>Low TCO</a:t>
            </a:r>
            <a:endParaRPr/>
          </a:p>
          <a:p>
            <a:pPr marL="285664" marR="0" lvl="0" indent="-171428" algn="l" rtl="0">
              <a:lnSpc>
                <a:spcPct val="100000"/>
              </a:lnSpc>
              <a:spcBef>
                <a:spcPts val="0"/>
              </a:spcBef>
              <a:spcAft>
                <a:spcPts val="0"/>
              </a:spcAft>
              <a:buClr>
                <a:schemeClr val="dk1"/>
              </a:buClr>
              <a:buSzPts val="1799"/>
              <a:buFont typeface="Arial"/>
              <a:buNone/>
            </a:pPr>
            <a:endParaRPr sz="1799" b="0" i="0" u="none" strike="noStrike" cap="none">
              <a:solidFill>
                <a:srgbClr val="000000"/>
              </a:solidFill>
              <a:latin typeface="Calibri"/>
              <a:ea typeface="Calibri"/>
              <a:cs typeface="Calibri"/>
              <a:sym typeface="Calibri"/>
            </a:endParaRPr>
          </a:p>
        </p:txBody>
      </p:sp>
      <p:sp>
        <p:nvSpPr>
          <p:cNvPr id="1022" name="Google Shape;1022;p16"/>
          <p:cNvSpPr/>
          <p:nvPr/>
        </p:nvSpPr>
        <p:spPr>
          <a:xfrm>
            <a:off x="2485782" y="4158164"/>
            <a:ext cx="492037" cy="1949817"/>
          </a:xfrm>
          <a:prstGeom prst="leftBrace">
            <a:avLst>
              <a:gd name="adj1" fmla="val 22848"/>
              <a:gd name="adj2" fmla="val 50000"/>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sp>
        <p:nvSpPr>
          <p:cNvPr id="1023" name="Google Shape;1023;p16"/>
          <p:cNvSpPr/>
          <p:nvPr/>
        </p:nvSpPr>
        <p:spPr>
          <a:xfrm>
            <a:off x="9024087" y="2159988"/>
            <a:ext cx="492037" cy="3947992"/>
          </a:xfrm>
          <a:prstGeom prst="leftBrace">
            <a:avLst>
              <a:gd name="adj1" fmla="val 22848"/>
              <a:gd name="adj2" fmla="val 50000"/>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grpSp>
        <p:nvGrpSpPr>
          <p:cNvPr id="1024" name="Google Shape;1024;p16"/>
          <p:cNvGrpSpPr/>
          <p:nvPr/>
        </p:nvGrpSpPr>
        <p:grpSpPr>
          <a:xfrm>
            <a:off x="9594649" y="1167025"/>
            <a:ext cx="2119086" cy="944905"/>
            <a:chOff x="9658109" y="1335315"/>
            <a:chExt cx="2119638" cy="945151"/>
          </a:xfrm>
        </p:grpSpPr>
        <p:sp>
          <p:nvSpPr>
            <p:cNvPr id="1025" name="Google Shape;1025;p16"/>
            <p:cNvSpPr/>
            <p:nvPr/>
          </p:nvSpPr>
          <p:spPr>
            <a:xfrm>
              <a:off x="9658109" y="1837902"/>
              <a:ext cx="2119638" cy="44256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Data</a:t>
              </a:r>
              <a:endParaRPr/>
            </a:p>
          </p:txBody>
        </p:sp>
        <p:sp>
          <p:nvSpPr>
            <p:cNvPr id="1026" name="Google Shape;1026;p16"/>
            <p:cNvSpPr/>
            <p:nvPr/>
          </p:nvSpPr>
          <p:spPr>
            <a:xfrm>
              <a:off x="9658109" y="1335315"/>
              <a:ext cx="2119638" cy="442564"/>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0" i="0" u="none" strike="noStrike" cap="none">
                  <a:solidFill>
                    <a:srgbClr val="FFFFFF"/>
                  </a:solidFill>
                  <a:latin typeface="Calibri"/>
                  <a:ea typeface="Calibri"/>
                  <a:cs typeface="Calibri"/>
                  <a:sym typeface="Calibri"/>
                </a:rPr>
                <a:t>Application</a:t>
              </a:r>
              <a:endParaRPr/>
            </a:p>
          </p:txBody>
        </p:sp>
      </p:grpSp>
      <p:pic>
        <p:nvPicPr>
          <p:cNvPr id="1027" name="Google Shape;1027;p16" descr="Developer Icon of Flat style - Available in SVG, PNG, EPS, AI &amp; Icon fonts"/>
          <p:cNvPicPr preferRelativeResize="0"/>
          <p:nvPr/>
        </p:nvPicPr>
        <p:blipFill rotWithShape="1">
          <a:blip r:embed="rId9">
            <a:alphaModFix/>
          </a:blip>
          <a:srcRect/>
          <a:stretch/>
        </p:blipFill>
        <p:spPr>
          <a:xfrm>
            <a:off x="7302620" y="999890"/>
            <a:ext cx="1264262" cy="12642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08"/>
                                        </p:tgtEl>
                                        <p:attrNameLst>
                                          <p:attrName>style.visibility</p:attrName>
                                        </p:attrNameLst>
                                      </p:cBhvr>
                                      <p:to>
                                        <p:strVal val="visible"/>
                                      </p:to>
                                    </p:set>
                                    <p:anim calcmode="lin" valueType="num">
                                      <p:cBhvr additive="base">
                                        <p:cTn id="7" dur="500"/>
                                        <p:tgtEl>
                                          <p:spTgt spid="100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002"/>
                                        </p:tgtEl>
                                        <p:attrNameLst>
                                          <p:attrName>style.visibility</p:attrName>
                                        </p:attrNameLst>
                                      </p:cBhvr>
                                      <p:to>
                                        <p:strVal val="visible"/>
                                      </p:to>
                                    </p:set>
                                    <p:anim calcmode="lin" valueType="num">
                                      <p:cBhvr additive="base">
                                        <p:cTn id="10" dur="500"/>
                                        <p:tgtEl>
                                          <p:spTgt spid="1002"/>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999"/>
                                        </p:tgtEl>
                                        <p:attrNameLst>
                                          <p:attrName>style.visibility</p:attrName>
                                        </p:attrNameLst>
                                      </p:cBhvr>
                                      <p:to>
                                        <p:strVal val="visible"/>
                                      </p:to>
                                    </p:set>
                                    <p:anim calcmode="lin" valueType="num">
                                      <p:cBhvr additive="base">
                                        <p:cTn id="13" dur="500"/>
                                        <p:tgtEl>
                                          <p:spTgt spid="999"/>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024"/>
                                        </p:tgtEl>
                                        <p:attrNameLst>
                                          <p:attrName>style.visibility</p:attrName>
                                        </p:attrNameLst>
                                      </p:cBhvr>
                                      <p:to>
                                        <p:strVal val="visible"/>
                                      </p:to>
                                    </p:set>
                                    <p:anim calcmode="lin" valueType="num">
                                      <p:cBhvr additive="base">
                                        <p:cTn id="16" dur="500"/>
                                        <p:tgtEl>
                                          <p:spTgt spid="10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17"/>
          <p:cNvSpPr txBox="1">
            <a:spLocks noGrp="1"/>
          </p:cNvSpPr>
          <p:nvPr>
            <p:ph type="title"/>
          </p:nvPr>
        </p:nvSpPr>
        <p:spPr>
          <a:xfrm>
            <a:off x="0" y="3698"/>
            <a:ext cx="10969943" cy="711081"/>
          </a:xfrm>
          <a:prstGeom prst="rect">
            <a:avLst/>
          </a:prstGeom>
          <a:noFill/>
          <a:ln>
            <a:noFill/>
          </a:ln>
        </p:spPr>
        <p:txBody>
          <a:bodyPr spcFirstLastPara="1" wrap="square" lIns="121875" tIns="60925" rIns="121875" bIns="60925" anchor="ctr" anchorCtr="0">
            <a:noAutofit/>
          </a:bodyPr>
          <a:lstStyle/>
          <a:p>
            <a:pPr marL="0" lvl="0" indent="0" algn="l" rtl="0">
              <a:spcBef>
                <a:spcPts val="0"/>
              </a:spcBef>
              <a:spcAft>
                <a:spcPts val="0"/>
              </a:spcAft>
              <a:buClr>
                <a:schemeClr val="dk1"/>
              </a:buClr>
              <a:buSzPts val="3500"/>
              <a:buFont typeface="Corben"/>
              <a:buNone/>
            </a:pPr>
            <a:r>
              <a:rPr lang="en-US">
                <a:latin typeface="Corben"/>
                <a:ea typeface="Corben"/>
                <a:cs typeface="Corben"/>
                <a:sym typeface="Corben"/>
              </a:rPr>
              <a:t>What is SAP BTP?</a:t>
            </a:r>
            <a:endParaRPr/>
          </a:p>
        </p:txBody>
      </p:sp>
      <p:sp>
        <p:nvSpPr>
          <p:cNvPr id="1033" name="Google Shape;1033;p17"/>
          <p:cNvSpPr txBox="1"/>
          <p:nvPr/>
        </p:nvSpPr>
        <p:spPr>
          <a:xfrm>
            <a:off x="117748" y="764704"/>
            <a:ext cx="11953328" cy="40934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1" u="none" strike="noStrike" cap="none">
                <a:solidFill>
                  <a:srgbClr val="000000"/>
                </a:solidFill>
                <a:latin typeface="Calibri"/>
                <a:ea typeface="Calibri"/>
                <a:cs typeface="Calibri"/>
                <a:sym typeface="Calibri"/>
              </a:rPr>
              <a:t>SAP BTP is a Platform As A Service (PaaS) by SAP where the Infrastructure is provided by SAP partners (GCP, AWS, Azure). The platform can be used by development teams to design, develop, package, deploy, and manage end to end cloud applications (SaaS) for the business users.</a:t>
            </a:r>
            <a:endParaRPr/>
          </a:p>
          <a:p>
            <a:pPr marL="0" marR="0" lvl="0" indent="0" algn="l" rtl="0">
              <a:lnSpc>
                <a:spcPct val="100000"/>
              </a:lnSpc>
              <a:spcBef>
                <a:spcPts val="0"/>
              </a:spcBef>
              <a:spcAft>
                <a:spcPts val="0"/>
              </a:spcAft>
              <a:buClr>
                <a:schemeClr val="dk1"/>
              </a:buClr>
              <a:buSzPts val="2000"/>
              <a:buFont typeface="Calibri"/>
              <a:buNone/>
            </a:pPr>
            <a:endParaRPr sz="2000" b="0" i="1"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a:solidFill>
                  <a:srgbClr val="000000"/>
                </a:solidFill>
                <a:latin typeface="Calibri"/>
                <a:ea typeface="Calibri"/>
                <a:cs typeface="Calibri"/>
                <a:sym typeface="Calibri"/>
              </a:rPr>
              <a:t>The advantage of this platform is Scalability, Elasticity, Lower TCO. BTP is not just only used by development teams to develop applications but can be used to perform</a:t>
            </a:r>
            <a:endParaRPr/>
          </a:p>
          <a:p>
            <a:pPr marL="342900" marR="0" lvl="0" indent="-342900" algn="l"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alibri"/>
                <a:ea typeface="Calibri"/>
                <a:cs typeface="Calibri"/>
                <a:sym typeface="Calibri"/>
              </a:rPr>
              <a:t>Analytics</a:t>
            </a:r>
            <a:endParaRPr/>
          </a:p>
          <a:p>
            <a:pPr marL="342900" marR="0" lvl="0" indent="-342900" algn="l" rtl="0">
              <a:lnSpc>
                <a:spcPct val="100000"/>
              </a:lnSpc>
              <a:spcBef>
                <a:spcPts val="0"/>
              </a:spcBef>
              <a:spcAft>
                <a:spcPts val="0"/>
              </a:spcAft>
              <a:buClr>
                <a:srgbClr val="000000"/>
              </a:buClr>
              <a:buSzPts val="2000"/>
              <a:buFont typeface="Arial"/>
              <a:buChar char="•"/>
            </a:pPr>
            <a:r>
              <a:rPr lang="en-US" sz="2000">
                <a:solidFill>
                  <a:srgbClr val="000000"/>
                </a:solidFill>
                <a:latin typeface="Calibri"/>
                <a:ea typeface="Calibri"/>
                <a:cs typeface="Calibri"/>
                <a:sym typeface="Calibri"/>
              </a:rPr>
              <a:t>Integration</a:t>
            </a:r>
            <a:endParaRPr/>
          </a:p>
          <a:p>
            <a:pPr marL="342900" marR="0" lvl="0" indent="-342900" algn="l"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alibri"/>
                <a:ea typeface="Calibri"/>
                <a:cs typeface="Calibri"/>
                <a:sym typeface="Calibri"/>
              </a:rPr>
              <a:t>AI Scena</a:t>
            </a:r>
            <a:r>
              <a:rPr lang="en-US" sz="2000">
                <a:solidFill>
                  <a:srgbClr val="000000"/>
                </a:solidFill>
                <a:latin typeface="Calibri"/>
                <a:ea typeface="Calibri"/>
                <a:cs typeface="Calibri"/>
                <a:sym typeface="Calibri"/>
              </a:rPr>
              <a:t>rios</a:t>
            </a:r>
            <a:endParaRPr sz="2000">
              <a:solidFill>
                <a:srgbClr val="000000"/>
              </a:solidFill>
              <a:latin typeface="Calibri"/>
              <a:ea typeface="Calibri"/>
              <a:cs typeface="Calibri"/>
              <a:sym typeface="Calibri"/>
            </a:endParaRPr>
          </a:p>
          <a:p>
            <a:pPr marL="342900" marR="0" lvl="0" indent="-342900" algn="l"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alibri"/>
                <a:ea typeface="Calibri"/>
                <a:cs typeface="Calibri"/>
                <a:sym typeface="Calibri"/>
              </a:rPr>
              <a:t>Process Development and orchestration</a:t>
            </a:r>
            <a:endParaRPr/>
          </a:p>
          <a:p>
            <a:pPr marL="342900" marR="0" lvl="0" indent="-342900" algn="l" rtl="0">
              <a:lnSpc>
                <a:spcPct val="100000"/>
              </a:lnSpc>
              <a:spcBef>
                <a:spcPts val="0"/>
              </a:spcBef>
              <a:spcAft>
                <a:spcPts val="0"/>
              </a:spcAft>
              <a:buClr>
                <a:srgbClr val="000000"/>
              </a:buClr>
              <a:buSzPts val="2000"/>
              <a:buFont typeface="Arial"/>
              <a:buChar char="•"/>
            </a:pPr>
            <a:r>
              <a:rPr lang="en-US" sz="2000">
                <a:solidFill>
                  <a:srgbClr val="000000"/>
                </a:solidFill>
                <a:latin typeface="Calibri"/>
                <a:ea typeface="Calibri"/>
                <a:cs typeface="Calibri"/>
                <a:sym typeface="Calibri"/>
              </a:rPr>
              <a:t>Data mining and data warehousing</a:t>
            </a:r>
            <a:endParaRPr/>
          </a:p>
          <a:p>
            <a:pPr marL="0" marR="0" lvl="0" indent="0" algn="l" rtl="0">
              <a:lnSpc>
                <a:spcPct val="100000"/>
              </a:lnSpc>
              <a:spcBef>
                <a:spcPts val="0"/>
              </a:spcBef>
              <a:spcAft>
                <a:spcPts val="0"/>
              </a:spcAft>
              <a:buNone/>
            </a:pPr>
            <a:r>
              <a:rPr lang="en-US" sz="2000">
                <a:solidFill>
                  <a:srgbClr val="000000"/>
                </a:solidFill>
                <a:latin typeface="Calibri"/>
                <a:ea typeface="Calibri"/>
                <a:cs typeface="Calibri"/>
                <a:sym typeface="Calibri"/>
              </a:rPr>
              <a:t>SAP make their own SaaS solutions based on top of BTP. E.g. CALM, Joule, SAC, Success Factors, S/4HANA Cloud, Datasphere.</a:t>
            </a:r>
            <a:endParaRPr sz="20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p18"/>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rgbClr val="000000"/>
              </a:buClr>
              <a:buSzPts val="3200"/>
              <a:buFont typeface="Corben"/>
              <a:buNone/>
            </a:pPr>
            <a:r>
              <a:rPr lang="en-US" sz="3200" b="0" i="0" u="none" strike="noStrike" cap="none">
                <a:solidFill>
                  <a:srgbClr val="000000"/>
                </a:solidFill>
                <a:latin typeface="Corben"/>
                <a:ea typeface="Corben"/>
                <a:cs typeface="Corben"/>
                <a:sym typeface="Corben"/>
              </a:rPr>
              <a:t>SAP BTP Overview</a:t>
            </a:r>
            <a:endParaRPr sz="3200" b="0" i="0" u="none" strike="noStrike" cap="none">
              <a:solidFill>
                <a:srgbClr val="000000"/>
              </a:solidFill>
              <a:latin typeface="Corben"/>
              <a:ea typeface="Corben"/>
              <a:cs typeface="Corben"/>
              <a:sym typeface="Corben"/>
            </a:endParaRPr>
          </a:p>
        </p:txBody>
      </p:sp>
      <p:sp>
        <p:nvSpPr>
          <p:cNvPr id="1039" name="Google Shape;1039;p18"/>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2060"/>
              </a:buClr>
              <a:buSzPts val="1200"/>
              <a:buFont typeface="Corben"/>
              <a:buNone/>
            </a:pPr>
            <a:r>
              <a:rPr lang="en-US" sz="1200" b="0" i="0" u="none" strike="noStrike" cap="none">
                <a:solidFill>
                  <a:srgbClr val="002060"/>
                </a:solidFill>
                <a:latin typeface="Corben"/>
                <a:ea typeface="Corben"/>
                <a:cs typeface="Corben"/>
                <a:sym typeface="Corben"/>
              </a:rPr>
              <a:t>www.anubhavtrainings.com</a:t>
            </a:r>
            <a:endParaRPr sz="1200" b="0" i="0" u="none" strike="noStrike" cap="none">
              <a:solidFill>
                <a:srgbClr val="002060"/>
              </a:solidFill>
              <a:latin typeface="Corben"/>
              <a:ea typeface="Corben"/>
              <a:cs typeface="Corben"/>
              <a:sym typeface="Corben"/>
            </a:endParaRPr>
          </a:p>
        </p:txBody>
      </p:sp>
      <p:pic>
        <p:nvPicPr>
          <p:cNvPr id="1040" name="Google Shape;1040;p18"/>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1041" name="Google Shape;1041;p18"/>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11</a:t>
            </a:r>
            <a:endParaRPr sz="1100" b="0" i="0" u="none" strike="noStrike" cap="none">
              <a:solidFill>
                <a:srgbClr val="000000"/>
              </a:solidFill>
              <a:latin typeface="Calibri"/>
              <a:ea typeface="Calibri"/>
              <a:cs typeface="Calibri"/>
              <a:sym typeface="Calibri"/>
            </a:endParaRPr>
          </a:p>
        </p:txBody>
      </p:sp>
      <p:pic>
        <p:nvPicPr>
          <p:cNvPr id="1042" name="Google Shape;1042;p18" descr="SAP Business Technology Platform (SAP BTP) - Vorteile und Integration"/>
          <p:cNvPicPr preferRelativeResize="0"/>
          <p:nvPr/>
        </p:nvPicPr>
        <p:blipFill rotWithShape="1">
          <a:blip r:embed="rId4">
            <a:alphaModFix/>
          </a:blip>
          <a:srcRect t="8179" b="3505"/>
          <a:stretch/>
        </p:blipFill>
        <p:spPr>
          <a:xfrm>
            <a:off x="1174997" y="1344623"/>
            <a:ext cx="9838829" cy="5257541"/>
          </a:xfrm>
          <a:prstGeom prst="rect">
            <a:avLst/>
          </a:prstGeom>
          <a:noFill/>
          <a:ln>
            <a:noFill/>
          </a:ln>
        </p:spPr>
      </p:pic>
      <p:pic>
        <p:nvPicPr>
          <p:cNvPr id="1043" name="Google Shape;1043;p18"/>
          <p:cNvPicPr preferRelativeResize="0"/>
          <p:nvPr/>
        </p:nvPicPr>
        <p:blipFill rotWithShape="1">
          <a:blip r:embed="rId5">
            <a:alphaModFix/>
          </a:blip>
          <a:srcRect l="38337" t="25310" r="39021" b="65966"/>
          <a:stretch/>
        </p:blipFill>
        <p:spPr>
          <a:xfrm>
            <a:off x="7822605" y="3103709"/>
            <a:ext cx="1800200" cy="325291"/>
          </a:xfrm>
          <a:prstGeom prst="rect">
            <a:avLst/>
          </a:prstGeom>
          <a:noFill/>
          <a:ln>
            <a:noFill/>
          </a:ln>
        </p:spPr>
      </p:pic>
      <p:pic>
        <p:nvPicPr>
          <p:cNvPr id="1044" name="Google Shape;1044;p18"/>
          <p:cNvPicPr preferRelativeResize="0"/>
          <p:nvPr/>
        </p:nvPicPr>
        <p:blipFill rotWithShape="1">
          <a:blip r:embed="rId5">
            <a:alphaModFix/>
          </a:blip>
          <a:srcRect l="21348" r="24311" b="79053"/>
          <a:stretch/>
        </p:blipFill>
        <p:spPr>
          <a:xfrm>
            <a:off x="4798268" y="307288"/>
            <a:ext cx="6048673" cy="103733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2"/>
                                        </p:tgtEl>
                                        <p:attrNameLst>
                                          <p:attrName>style.visibility</p:attrName>
                                        </p:attrNameLst>
                                      </p:cBhvr>
                                      <p:to>
                                        <p:strVal val="visible"/>
                                      </p:to>
                                    </p:set>
                                    <p:animEffect transition="in" filter="fade">
                                      <p:cBhvr>
                                        <p:cTn id="7" dur="500"/>
                                        <p:tgtEl>
                                          <p:spTgt spid="1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8"/>
        <p:cNvGrpSpPr/>
        <p:nvPr/>
      </p:nvGrpSpPr>
      <p:grpSpPr>
        <a:xfrm>
          <a:off x="0" y="0"/>
          <a:ext cx="0" cy="0"/>
          <a:chOff x="0" y="0"/>
          <a:chExt cx="0" cy="0"/>
        </a:xfrm>
      </p:grpSpPr>
      <p:sp>
        <p:nvSpPr>
          <p:cNvPr id="1049" name="Google Shape;1049;p19"/>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SAP CLOUD FOUNDRY ARCHITECTURE</a:t>
            </a:r>
            <a:endParaRPr/>
          </a:p>
        </p:txBody>
      </p:sp>
      <p:sp>
        <p:nvSpPr>
          <p:cNvPr id="1050" name="Google Shape;1050;p19"/>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1051" name="Google Shape;1051;p19"/>
          <p:cNvPicPr preferRelativeResize="0"/>
          <p:nvPr/>
        </p:nvPicPr>
        <p:blipFill rotWithShape="1">
          <a:blip r:embed="rId3">
            <a:alphaModFix/>
          </a:blip>
          <a:srcRect/>
          <a:stretch/>
        </p:blipFill>
        <p:spPr>
          <a:xfrm>
            <a:off x="11088469" y="53543"/>
            <a:ext cx="929479" cy="918051"/>
          </a:xfrm>
          <a:prstGeom prst="rect">
            <a:avLst/>
          </a:prstGeom>
          <a:noFill/>
          <a:ln>
            <a:noFill/>
          </a:ln>
        </p:spPr>
      </p:pic>
      <p:grpSp>
        <p:nvGrpSpPr>
          <p:cNvPr id="1052" name="Google Shape;1052;p19"/>
          <p:cNvGrpSpPr/>
          <p:nvPr/>
        </p:nvGrpSpPr>
        <p:grpSpPr>
          <a:xfrm>
            <a:off x="603035" y="1167529"/>
            <a:ext cx="11130886" cy="4952139"/>
            <a:chOff x="419987" y="1098452"/>
            <a:chExt cx="11133785" cy="4953429"/>
          </a:xfrm>
        </p:grpSpPr>
        <p:pic>
          <p:nvPicPr>
            <p:cNvPr id="1053" name="Google Shape;1053;p19"/>
            <p:cNvPicPr preferRelativeResize="0"/>
            <p:nvPr/>
          </p:nvPicPr>
          <p:blipFill rotWithShape="1">
            <a:blip r:embed="rId4">
              <a:alphaModFix/>
            </a:blip>
            <a:srcRect/>
            <a:stretch/>
          </p:blipFill>
          <p:spPr>
            <a:xfrm>
              <a:off x="419987" y="1098452"/>
              <a:ext cx="11133785" cy="4953429"/>
            </a:xfrm>
            <a:prstGeom prst="rect">
              <a:avLst/>
            </a:prstGeom>
            <a:noFill/>
            <a:ln>
              <a:noFill/>
            </a:ln>
          </p:spPr>
        </p:pic>
        <p:sp>
          <p:nvSpPr>
            <p:cNvPr id="1054" name="Google Shape;1054;p19"/>
            <p:cNvSpPr/>
            <p:nvPr/>
          </p:nvSpPr>
          <p:spPr>
            <a:xfrm>
              <a:off x="2927929" y="1523324"/>
              <a:ext cx="1967346" cy="387928"/>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US" sz="1400" b="1" i="0" u="none" strike="noStrike" cap="none">
                  <a:solidFill>
                    <a:srgbClr val="000000"/>
                  </a:solidFill>
                  <a:latin typeface="Calibri"/>
                  <a:ea typeface="Calibri"/>
                  <a:cs typeface="Calibri"/>
                  <a:sym typeface="Calibri"/>
                </a:rPr>
                <a:t>SAP Business Application Studio</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8"/>
        <p:cNvGrpSpPr/>
        <p:nvPr/>
      </p:nvGrpSpPr>
      <p:grpSpPr>
        <a:xfrm>
          <a:off x="0" y="0"/>
          <a:ext cx="0" cy="0"/>
          <a:chOff x="0" y="0"/>
          <a:chExt cx="0" cy="0"/>
        </a:xfrm>
      </p:grpSpPr>
      <p:sp>
        <p:nvSpPr>
          <p:cNvPr id="1059" name="Google Shape;1059;p20"/>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Why CF (1)</a:t>
            </a:r>
            <a:endParaRPr/>
          </a:p>
        </p:txBody>
      </p:sp>
      <p:sp>
        <p:nvSpPr>
          <p:cNvPr id="1060" name="Google Shape;1060;p20"/>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1061" name="Google Shape;1061;p20"/>
          <p:cNvPicPr preferRelativeResize="0"/>
          <p:nvPr/>
        </p:nvPicPr>
        <p:blipFill rotWithShape="1">
          <a:blip r:embed="rId3">
            <a:alphaModFix/>
          </a:blip>
          <a:srcRect/>
          <a:stretch/>
        </p:blipFill>
        <p:spPr>
          <a:xfrm>
            <a:off x="11088469" y="53543"/>
            <a:ext cx="929479" cy="918051"/>
          </a:xfrm>
          <a:prstGeom prst="rect">
            <a:avLst/>
          </a:prstGeom>
          <a:noFill/>
          <a:ln>
            <a:noFill/>
          </a:ln>
        </p:spPr>
      </p:pic>
      <p:sp>
        <p:nvSpPr>
          <p:cNvPr id="1062" name="Google Shape;1062;p20"/>
          <p:cNvSpPr txBox="1"/>
          <p:nvPr/>
        </p:nvSpPr>
        <p:spPr>
          <a:xfrm>
            <a:off x="1144837" y="1063745"/>
            <a:ext cx="6921547" cy="4000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999"/>
              <a:buFont typeface="Calibri"/>
              <a:buNone/>
            </a:pPr>
            <a:r>
              <a:rPr lang="en-US" sz="1999" b="1" i="0" u="none" strike="noStrike" cap="none">
                <a:solidFill>
                  <a:srgbClr val="000000"/>
                </a:solidFill>
                <a:latin typeface="Calibri"/>
                <a:ea typeface="Calibri"/>
                <a:cs typeface="Calibri"/>
                <a:sym typeface="Calibri"/>
              </a:rPr>
              <a:t>Support full development lifecycle</a:t>
            </a:r>
            <a:endParaRPr/>
          </a:p>
        </p:txBody>
      </p:sp>
      <p:pic>
        <p:nvPicPr>
          <p:cNvPr id="1063" name="Google Shape;1063;p20" descr="StrongLoop - Deploying LoopBack mBaaS on Cloud Foundry"/>
          <p:cNvPicPr preferRelativeResize="0"/>
          <p:nvPr/>
        </p:nvPicPr>
        <p:blipFill rotWithShape="1">
          <a:blip r:embed="rId4">
            <a:alphaModFix/>
          </a:blip>
          <a:srcRect/>
          <a:stretch/>
        </p:blipFill>
        <p:spPr>
          <a:xfrm>
            <a:off x="655150" y="1338808"/>
            <a:ext cx="3057747" cy="3057747"/>
          </a:xfrm>
          <a:prstGeom prst="rect">
            <a:avLst/>
          </a:prstGeom>
          <a:noFill/>
          <a:ln>
            <a:noFill/>
          </a:ln>
        </p:spPr>
      </p:pic>
      <p:sp>
        <p:nvSpPr>
          <p:cNvPr id="1064" name="Google Shape;1064;p20"/>
          <p:cNvSpPr txBox="1"/>
          <p:nvPr/>
        </p:nvSpPr>
        <p:spPr>
          <a:xfrm>
            <a:off x="655151" y="4302286"/>
            <a:ext cx="3326876" cy="170265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Continuous Delivery (CD) = Code 🡺 Push 🡺 Test 🡺 Build</a:t>
            </a:r>
            <a:endParaRPr/>
          </a:p>
          <a:p>
            <a:pPr marL="0" marR="0" lvl="0" indent="0" algn="l" rtl="0">
              <a:lnSpc>
                <a:spcPct val="15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Continuous Integration (CI) = Dev 🡺 Quality 🡺 Production </a:t>
            </a:r>
            <a:endParaRPr/>
          </a:p>
        </p:txBody>
      </p:sp>
      <p:grpSp>
        <p:nvGrpSpPr>
          <p:cNvPr id="1065" name="Google Shape;1065;p20"/>
          <p:cNvGrpSpPr/>
          <p:nvPr/>
        </p:nvGrpSpPr>
        <p:grpSpPr>
          <a:xfrm>
            <a:off x="5815764" y="1794554"/>
            <a:ext cx="4357942" cy="4554841"/>
            <a:chOff x="2740025" y="1176338"/>
            <a:chExt cx="3443288" cy="3598862"/>
          </a:xfrm>
        </p:grpSpPr>
        <p:sp>
          <p:nvSpPr>
            <p:cNvPr id="1066" name="Google Shape;1066;p20"/>
            <p:cNvSpPr/>
            <p:nvPr/>
          </p:nvSpPr>
          <p:spPr>
            <a:xfrm>
              <a:off x="4587875" y="2592388"/>
              <a:ext cx="1595438" cy="2182812"/>
            </a:xfrm>
            <a:custGeom>
              <a:avLst/>
              <a:gdLst/>
              <a:ahLst/>
              <a:cxnLst/>
              <a:rect l="l" t="t" r="r" b="b"/>
              <a:pathLst>
                <a:path w="8041" h="11002" extrusionOk="0">
                  <a:moveTo>
                    <a:pt x="5408" y="210"/>
                  </a:moveTo>
                  <a:lnTo>
                    <a:pt x="5412" y="182"/>
                  </a:lnTo>
                  <a:lnTo>
                    <a:pt x="5418" y="154"/>
                  </a:lnTo>
                  <a:lnTo>
                    <a:pt x="5422" y="142"/>
                  </a:lnTo>
                  <a:lnTo>
                    <a:pt x="5426" y="129"/>
                  </a:lnTo>
                  <a:lnTo>
                    <a:pt x="5431" y="118"/>
                  </a:lnTo>
                  <a:lnTo>
                    <a:pt x="5436" y="107"/>
                  </a:lnTo>
                  <a:lnTo>
                    <a:pt x="5443" y="95"/>
                  </a:lnTo>
                  <a:lnTo>
                    <a:pt x="5448" y="85"/>
                  </a:lnTo>
                  <a:lnTo>
                    <a:pt x="5455" y="76"/>
                  </a:lnTo>
                  <a:lnTo>
                    <a:pt x="5463" y="67"/>
                  </a:lnTo>
                  <a:lnTo>
                    <a:pt x="5471" y="58"/>
                  </a:lnTo>
                  <a:lnTo>
                    <a:pt x="5480" y="50"/>
                  </a:lnTo>
                  <a:lnTo>
                    <a:pt x="5489" y="42"/>
                  </a:lnTo>
                  <a:lnTo>
                    <a:pt x="5499" y="35"/>
                  </a:lnTo>
                  <a:lnTo>
                    <a:pt x="5509" y="30"/>
                  </a:lnTo>
                  <a:lnTo>
                    <a:pt x="5521" y="24"/>
                  </a:lnTo>
                  <a:lnTo>
                    <a:pt x="5532" y="18"/>
                  </a:lnTo>
                  <a:lnTo>
                    <a:pt x="5545" y="14"/>
                  </a:lnTo>
                  <a:lnTo>
                    <a:pt x="5558" y="10"/>
                  </a:lnTo>
                  <a:lnTo>
                    <a:pt x="5572" y="7"/>
                  </a:lnTo>
                  <a:lnTo>
                    <a:pt x="5586" y="4"/>
                  </a:lnTo>
                  <a:lnTo>
                    <a:pt x="5601" y="3"/>
                  </a:lnTo>
                  <a:lnTo>
                    <a:pt x="5617" y="1"/>
                  </a:lnTo>
                  <a:lnTo>
                    <a:pt x="5634" y="0"/>
                  </a:lnTo>
                  <a:lnTo>
                    <a:pt x="5651" y="0"/>
                  </a:lnTo>
                  <a:lnTo>
                    <a:pt x="5669" y="1"/>
                  </a:lnTo>
                  <a:lnTo>
                    <a:pt x="5687" y="3"/>
                  </a:lnTo>
                  <a:lnTo>
                    <a:pt x="5706" y="5"/>
                  </a:lnTo>
                  <a:lnTo>
                    <a:pt x="5727" y="7"/>
                  </a:lnTo>
                  <a:lnTo>
                    <a:pt x="5747" y="10"/>
                  </a:lnTo>
                  <a:lnTo>
                    <a:pt x="7717" y="1152"/>
                  </a:lnTo>
                  <a:lnTo>
                    <a:pt x="7750" y="1177"/>
                  </a:lnTo>
                  <a:lnTo>
                    <a:pt x="7781" y="1203"/>
                  </a:lnTo>
                  <a:lnTo>
                    <a:pt x="7810" y="1231"/>
                  </a:lnTo>
                  <a:lnTo>
                    <a:pt x="7837" y="1260"/>
                  </a:lnTo>
                  <a:lnTo>
                    <a:pt x="7865" y="1290"/>
                  </a:lnTo>
                  <a:lnTo>
                    <a:pt x="7888" y="1321"/>
                  </a:lnTo>
                  <a:lnTo>
                    <a:pt x="7912" y="1354"/>
                  </a:lnTo>
                  <a:lnTo>
                    <a:pt x="7932" y="1388"/>
                  </a:lnTo>
                  <a:lnTo>
                    <a:pt x="7953" y="1423"/>
                  </a:lnTo>
                  <a:lnTo>
                    <a:pt x="7971" y="1459"/>
                  </a:lnTo>
                  <a:lnTo>
                    <a:pt x="7987" y="1498"/>
                  </a:lnTo>
                  <a:lnTo>
                    <a:pt x="8001" y="1536"/>
                  </a:lnTo>
                  <a:lnTo>
                    <a:pt x="8014" y="1577"/>
                  </a:lnTo>
                  <a:lnTo>
                    <a:pt x="8024" y="1619"/>
                  </a:lnTo>
                  <a:lnTo>
                    <a:pt x="8033" y="1662"/>
                  </a:lnTo>
                  <a:lnTo>
                    <a:pt x="8041" y="1707"/>
                  </a:lnTo>
                  <a:lnTo>
                    <a:pt x="8036" y="7477"/>
                  </a:lnTo>
                  <a:lnTo>
                    <a:pt x="8039" y="7502"/>
                  </a:lnTo>
                  <a:lnTo>
                    <a:pt x="8040" y="7526"/>
                  </a:lnTo>
                  <a:lnTo>
                    <a:pt x="8041" y="7549"/>
                  </a:lnTo>
                  <a:lnTo>
                    <a:pt x="8041" y="7573"/>
                  </a:lnTo>
                  <a:lnTo>
                    <a:pt x="8040" y="7596"/>
                  </a:lnTo>
                  <a:lnTo>
                    <a:pt x="8039" y="7619"/>
                  </a:lnTo>
                  <a:lnTo>
                    <a:pt x="8038" y="7640"/>
                  </a:lnTo>
                  <a:lnTo>
                    <a:pt x="8034" y="7662"/>
                  </a:lnTo>
                  <a:lnTo>
                    <a:pt x="8031" y="7682"/>
                  </a:lnTo>
                  <a:lnTo>
                    <a:pt x="8027" y="7701"/>
                  </a:lnTo>
                  <a:lnTo>
                    <a:pt x="8023" y="7722"/>
                  </a:lnTo>
                  <a:lnTo>
                    <a:pt x="8017" y="7740"/>
                  </a:lnTo>
                  <a:lnTo>
                    <a:pt x="8012" y="7758"/>
                  </a:lnTo>
                  <a:lnTo>
                    <a:pt x="8005" y="7776"/>
                  </a:lnTo>
                  <a:lnTo>
                    <a:pt x="7997" y="7793"/>
                  </a:lnTo>
                  <a:lnTo>
                    <a:pt x="7989" y="7810"/>
                  </a:lnTo>
                  <a:lnTo>
                    <a:pt x="7980" y="7826"/>
                  </a:lnTo>
                  <a:lnTo>
                    <a:pt x="7971" y="7842"/>
                  </a:lnTo>
                  <a:lnTo>
                    <a:pt x="7961" y="7857"/>
                  </a:lnTo>
                  <a:lnTo>
                    <a:pt x="7949" y="7871"/>
                  </a:lnTo>
                  <a:lnTo>
                    <a:pt x="7938" y="7886"/>
                  </a:lnTo>
                  <a:lnTo>
                    <a:pt x="7926" y="7898"/>
                  </a:lnTo>
                  <a:lnTo>
                    <a:pt x="7913" y="7912"/>
                  </a:lnTo>
                  <a:lnTo>
                    <a:pt x="7900" y="7925"/>
                  </a:lnTo>
                  <a:lnTo>
                    <a:pt x="7885" y="7936"/>
                  </a:lnTo>
                  <a:lnTo>
                    <a:pt x="7870" y="7947"/>
                  </a:lnTo>
                  <a:lnTo>
                    <a:pt x="7854" y="7957"/>
                  </a:lnTo>
                  <a:lnTo>
                    <a:pt x="7839" y="7968"/>
                  </a:lnTo>
                  <a:lnTo>
                    <a:pt x="7822" y="7978"/>
                  </a:lnTo>
                  <a:lnTo>
                    <a:pt x="7805" y="7987"/>
                  </a:lnTo>
                  <a:lnTo>
                    <a:pt x="7786" y="7995"/>
                  </a:lnTo>
                  <a:lnTo>
                    <a:pt x="7767" y="8003"/>
                  </a:lnTo>
                  <a:lnTo>
                    <a:pt x="2710" y="10927"/>
                  </a:lnTo>
                  <a:lnTo>
                    <a:pt x="2670" y="10944"/>
                  </a:lnTo>
                  <a:lnTo>
                    <a:pt x="2632" y="10958"/>
                  </a:lnTo>
                  <a:lnTo>
                    <a:pt x="2592" y="10971"/>
                  </a:lnTo>
                  <a:lnTo>
                    <a:pt x="2554" y="10982"/>
                  </a:lnTo>
                  <a:lnTo>
                    <a:pt x="2516" y="10990"/>
                  </a:lnTo>
                  <a:lnTo>
                    <a:pt x="2478" y="10995"/>
                  </a:lnTo>
                  <a:lnTo>
                    <a:pt x="2441" y="11000"/>
                  </a:lnTo>
                  <a:lnTo>
                    <a:pt x="2403" y="11002"/>
                  </a:lnTo>
                  <a:lnTo>
                    <a:pt x="2366" y="11002"/>
                  </a:lnTo>
                  <a:lnTo>
                    <a:pt x="2329" y="11000"/>
                  </a:lnTo>
                  <a:lnTo>
                    <a:pt x="2292" y="10995"/>
                  </a:lnTo>
                  <a:lnTo>
                    <a:pt x="2256" y="10988"/>
                  </a:lnTo>
                  <a:lnTo>
                    <a:pt x="2220" y="10979"/>
                  </a:lnTo>
                  <a:lnTo>
                    <a:pt x="2184" y="10968"/>
                  </a:lnTo>
                  <a:lnTo>
                    <a:pt x="2149" y="10956"/>
                  </a:lnTo>
                  <a:lnTo>
                    <a:pt x="2114" y="10940"/>
                  </a:lnTo>
                  <a:lnTo>
                    <a:pt x="76" y="9765"/>
                  </a:lnTo>
                  <a:lnTo>
                    <a:pt x="66" y="9752"/>
                  </a:lnTo>
                  <a:lnTo>
                    <a:pt x="57" y="9738"/>
                  </a:lnTo>
                  <a:lnTo>
                    <a:pt x="48" y="9725"/>
                  </a:lnTo>
                  <a:lnTo>
                    <a:pt x="40" y="9711"/>
                  </a:lnTo>
                  <a:lnTo>
                    <a:pt x="32" y="9697"/>
                  </a:lnTo>
                  <a:lnTo>
                    <a:pt x="26" y="9684"/>
                  </a:lnTo>
                  <a:lnTo>
                    <a:pt x="20" y="9670"/>
                  </a:lnTo>
                  <a:lnTo>
                    <a:pt x="14" y="9657"/>
                  </a:lnTo>
                  <a:lnTo>
                    <a:pt x="10" y="9643"/>
                  </a:lnTo>
                  <a:lnTo>
                    <a:pt x="6" y="9629"/>
                  </a:lnTo>
                  <a:lnTo>
                    <a:pt x="3" y="9616"/>
                  </a:lnTo>
                  <a:lnTo>
                    <a:pt x="1" y="9602"/>
                  </a:lnTo>
                  <a:lnTo>
                    <a:pt x="0" y="9589"/>
                  </a:lnTo>
                  <a:lnTo>
                    <a:pt x="0" y="9575"/>
                  </a:lnTo>
                  <a:lnTo>
                    <a:pt x="0" y="9561"/>
                  </a:lnTo>
                  <a:lnTo>
                    <a:pt x="1" y="9548"/>
                  </a:lnTo>
                  <a:lnTo>
                    <a:pt x="3" y="9535"/>
                  </a:lnTo>
                  <a:lnTo>
                    <a:pt x="5" y="9522"/>
                  </a:lnTo>
                  <a:lnTo>
                    <a:pt x="9" y="9508"/>
                  </a:lnTo>
                  <a:lnTo>
                    <a:pt x="13" y="9494"/>
                  </a:lnTo>
                  <a:lnTo>
                    <a:pt x="19" y="9482"/>
                  </a:lnTo>
                  <a:lnTo>
                    <a:pt x="24" y="9468"/>
                  </a:lnTo>
                  <a:lnTo>
                    <a:pt x="32" y="9455"/>
                  </a:lnTo>
                  <a:lnTo>
                    <a:pt x="40" y="9442"/>
                  </a:lnTo>
                  <a:lnTo>
                    <a:pt x="49" y="9429"/>
                  </a:lnTo>
                  <a:lnTo>
                    <a:pt x="60" y="9416"/>
                  </a:lnTo>
                  <a:lnTo>
                    <a:pt x="70" y="9403"/>
                  </a:lnTo>
                  <a:lnTo>
                    <a:pt x="82" y="9390"/>
                  </a:lnTo>
                  <a:lnTo>
                    <a:pt x="95" y="9378"/>
                  </a:lnTo>
                  <a:lnTo>
                    <a:pt x="108" y="9364"/>
                  </a:lnTo>
                  <a:lnTo>
                    <a:pt x="123" y="9352"/>
                  </a:lnTo>
                  <a:lnTo>
                    <a:pt x="139" y="9339"/>
                  </a:lnTo>
                  <a:lnTo>
                    <a:pt x="1865" y="8377"/>
                  </a:lnTo>
                  <a:lnTo>
                    <a:pt x="1895" y="8356"/>
                  </a:lnTo>
                  <a:lnTo>
                    <a:pt x="1924" y="8337"/>
                  </a:lnTo>
                  <a:lnTo>
                    <a:pt x="1952" y="8316"/>
                  </a:lnTo>
                  <a:lnTo>
                    <a:pt x="1979" y="8294"/>
                  </a:lnTo>
                  <a:lnTo>
                    <a:pt x="2005" y="8271"/>
                  </a:lnTo>
                  <a:lnTo>
                    <a:pt x="2030" y="8248"/>
                  </a:lnTo>
                  <a:lnTo>
                    <a:pt x="2055" y="8224"/>
                  </a:lnTo>
                  <a:lnTo>
                    <a:pt x="2078" y="8199"/>
                  </a:lnTo>
                  <a:lnTo>
                    <a:pt x="2100" y="8173"/>
                  </a:lnTo>
                  <a:lnTo>
                    <a:pt x="2122" y="8146"/>
                  </a:lnTo>
                  <a:lnTo>
                    <a:pt x="2142" y="8118"/>
                  </a:lnTo>
                  <a:lnTo>
                    <a:pt x="2161" y="8090"/>
                  </a:lnTo>
                  <a:lnTo>
                    <a:pt x="2179" y="8062"/>
                  </a:lnTo>
                  <a:lnTo>
                    <a:pt x="2197" y="8032"/>
                  </a:lnTo>
                  <a:lnTo>
                    <a:pt x="2213" y="8002"/>
                  </a:lnTo>
                  <a:lnTo>
                    <a:pt x="2229" y="7970"/>
                  </a:lnTo>
                  <a:lnTo>
                    <a:pt x="2244" y="7938"/>
                  </a:lnTo>
                  <a:lnTo>
                    <a:pt x="2257" y="7905"/>
                  </a:lnTo>
                  <a:lnTo>
                    <a:pt x="2271" y="7871"/>
                  </a:lnTo>
                  <a:lnTo>
                    <a:pt x="2282" y="7837"/>
                  </a:lnTo>
                  <a:lnTo>
                    <a:pt x="2294" y="7802"/>
                  </a:lnTo>
                  <a:lnTo>
                    <a:pt x="2304" y="7766"/>
                  </a:lnTo>
                  <a:lnTo>
                    <a:pt x="2313" y="7728"/>
                  </a:lnTo>
                  <a:lnTo>
                    <a:pt x="2321" y="7691"/>
                  </a:lnTo>
                  <a:lnTo>
                    <a:pt x="2328" y="7654"/>
                  </a:lnTo>
                  <a:lnTo>
                    <a:pt x="2334" y="7614"/>
                  </a:lnTo>
                  <a:lnTo>
                    <a:pt x="2340" y="7574"/>
                  </a:lnTo>
                  <a:lnTo>
                    <a:pt x="2344" y="7533"/>
                  </a:lnTo>
                  <a:lnTo>
                    <a:pt x="2348" y="7493"/>
                  </a:lnTo>
                  <a:lnTo>
                    <a:pt x="2351" y="7451"/>
                  </a:lnTo>
                  <a:lnTo>
                    <a:pt x="2352" y="7408"/>
                  </a:lnTo>
                  <a:lnTo>
                    <a:pt x="2354" y="7365"/>
                  </a:lnTo>
                  <a:lnTo>
                    <a:pt x="2326" y="4955"/>
                  </a:lnTo>
                  <a:lnTo>
                    <a:pt x="2328" y="4911"/>
                  </a:lnTo>
                  <a:lnTo>
                    <a:pt x="2331" y="4866"/>
                  </a:lnTo>
                  <a:lnTo>
                    <a:pt x="2334" y="4845"/>
                  </a:lnTo>
                  <a:lnTo>
                    <a:pt x="2337" y="4824"/>
                  </a:lnTo>
                  <a:lnTo>
                    <a:pt x="2341" y="4804"/>
                  </a:lnTo>
                  <a:lnTo>
                    <a:pt x="2346" y="4784"/>
                  </a:lnTo>
                  <a:lnTo>
                    <a:pt x="2351" y="4763"/>
                  </a:lnTo>
                  <a:lnTo>
                    <a:pt x="2357" y="4744"/>
                  </a:lnTo>
                  <a:lnTo>
                    <a:pt x="2364" y="4725"/>
                  </a:lnTo>
                  <a:lnTo>
                    <a:pt x="2372" y="4705"/>
                  </a:lnTo>
                  <a:lnTo>
                    <a:pt x="2380" y="4686"/>
                  </a:lnTo>
                  <a:lnTo>
                    <a:pt x="2389" y="4667"/>
                  </a:lnTo>
                  <a:lnTo>
                    <a:pt x="2399" y="4649"/>
                  </a:lnTo>
                  <a:lnTo>
                    <a:pt x="2410" y="4629"/>
                  </a:lnTo>
                  <a:lnTo>
                    <a:pt x="2421" y="4611"/>
                  </a:lnTo>
                  <a:lnTo>
                    <a:pt x="2435" y="4593"/>
                  </a:lnTo>
                  <a:lnTo>
                    <a:pt x="2449" y="4575"/>
                  </a:lnTo>
                  <a:lnTo>
                    <a:pt x="2463" y="4557"/>
                  </a:lnTo>
                  <a:lnTo>
                    <a:pt x="2479" y="4539"/>
                  </a:lnTo>
                  <a:lnTo>
                    <a:pt x="2496" y="4522"/>
                  </a:lnTo>
                  <a:lnTo>
                    <a:pt x="2513" y="4504"/>
                  </a:lnTo>
                  <a:lnTo>
                    <a:pt x="2532" y="4486"/>
                  </a:lnTo>
                  <a:lnTo>
                    <a:pt x="2553" y="4469"/>
                  </a:lnTo>
                  <a:lnTo>
                    <a:pt x="2573" y="4450"/>
                  </a:lnTo>
                  <a:lnTo>
                    <a:pt x="2596" y="4433"/>
                  </a:lnTo>
                  <a:lnTo>
                    <a:pt x="2619" y="4415"/>
                  </a:lnTo>
                  <a:lnTo>
                    <a:pt x="2644" y="4398"/>
                  </a:lnTo>
                  <a:lnTo>
                    <a:pt x="2670" y="4380"/>
                  </a:lnTo>
                  <a:lnTo>
                    <a:pt x="2697" y="4363"/>
                  </a:lnTo>
                  <a:lnTo>
                    <a:pt x="2726" y="4345"/>
                  </a:lnTo>
                  <a:lnTo>
                    <a:pt x="4866" y="3097"/>
                  </a:lnTo>
                  <a:lnTo>
                    <a:pt x="4901" y="3079"/>
                  </a:lnTo>
                  <a:lnTo>
                    <a:pt x="4935" y="3061"/>
                  </a:lnTo>
                  <a:lnTo>
                    <a:pt x="4969" y="3041"/>
                  </a:lnTo>
                  <a:lnTo>
                    <a:pt x="5000" y="3022"/>
                  </a:lnTo>
                  <a:lnTo>
                    <a:pt x="5031" y="3002"/>
                  </a:lnTo>
                  <a:lnTo>
                    <a:pt x="5060" y="2980"/>
                  </a:lnTo>
                  <a:lnTo>
                    <a:pt x="5089" y="2958"/>
                  </a:lnTo>
                  <a:lnTo>
                    <a:pt x="5116" y="2935"/>
                  </a:lnTo>
                  <a:lnTo>
                    <a:pt x="5142" y="2911"/>
                  </a:lnTo>
                  <a:lnTo>
                    <a:pt x="5166" y="2886"/>
                  </a:lnTo>
                  <a:lnTo>
                    <a:pt x="5189" y="2861"/>
                  </a:lnTo>
                  <a:lnTo>
                    <a:pt x="5212" y="2835"/>
                  </a:lnTo>
                  <a:lnTo>
                    <a:pt x="5233" y="2808"/>
                  </a:lnTo>
                  <a:lnTo>
                    <a:pt x="5254" y="2781"/>
                  </a:lnTo>
                  <a:lnTo>
                    <a:pt x="5272" y="2752"/>
                  </a:lnTo>
                  <a:lnTo>
                    <a:pt x="5290" y="2723"/>
                  </a:lnTo>
                  <a:lnTo>
                    <a:pt x="5307" y="2693"/>
                  </a:lnTo>
                  <a:lnTo>
                    <a:pt x="5322" y="2663"/>
                  </a:lnTo>
                  <a:lnTo>
                    <a:pt x="5336" y="2631"/>
                  </a:lnTo>
                  <a:lnTo>
                    <a:pt x="5350" y="2598"/>
                  </a:lnTo>
                  <a:lnTo>
                    <a:pt x="5361" y="2565"/>
                  </a:lnTo>
                  <a:lnTo>
                    <a:pt x="5373" y="2531"/>
                  </a:lnTo>
                  <a:lnTo>
                    <a:pt x="5382" y="2497"/>
                  </a:lnTo>
                  <a:lnTo>
                    <a:pt x="5391" y="2462"/>
                  </a:lnTo>
                  <a:lnTo>
                    <a:pt x="5397" y="2426"/>
                  </a:lnTo>
                  <a:lnTo>
                    <a:pt x="5404" y="2389"/>
                  </a:lnTo>
                  <a:lnTo>
                    <a:pt x="5409" y="2351"/>
                  </a:lnTo>
                  <a:lnTo>
                    <a:pt x="5412" y="2313"/>
                  </a:lnTo>
                  <a:lnTo>
                    <a:pt x="5416" y="2273"/>
                  </a:lnTo>
                  <a:lnTo>
                    <a:pt x="5417" y="2233"/>
                  </a:lnTo>
                  <a:lnTo>
                    <a:pt x="5417" y="2192"/>
                  </a:lnTo>
                  <a:lnTo>
                    <a:pt x="5417" y="2150"/>
                  </a:lnTo>
                  <a:lnTo>
                    <a:pt x="5408" y="210"/>
                  </a:lnTo>
                  <a:close/>
                </a:path>
              </a:pathLst>
            </a:custGeom>
            <a:solidFill>
              <a:schemeClr val="accent3"/>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sp>
          <p:nvSpPr>
            <p:cNvPr id="1067" name="Google Shape;1067;p20"/>
            <p:cNvSpPr/>
            <p:nvPr/>
          </p:nvSpPr>
          <p:spPr>
            <a:xfrm>
              <a:off x="2740025" y="2592388"/>
              <a:ext cx="1595438" cy="2182812"/>
            </a:xfrm>
            <a:custGeom>
              <a:avLst/>
              <a:gdLst/>
              <a:ahLst/>
              <a:cxnLst/>
              <a:rect l="l" t="t" r="r" b="b"/>
              <a:pathLst>
                <a:path w="8041" h="11002" extrusionOk="0">
                  <a:moveTo>
                    <a:pt x="2633" y="210"/>
                  </a:moveTo>
                  <a:lnTo>
                    <a:pt x="2629" y="182"/>
                  </a:lnTo>
                  <a:lnTo>
                    <a:pt x="2623" y="154"/>
                  </a:lnTo>
                  <a:lnTo>
                    <a:pt x="2619" y="142"/>
                  </a:lnTo>
                  <a:lnTo>
                    <a:pt x="2615" y="129"/>
                  </a:lnTo>
                  <a:lnTo>
                    <a:pt x="2610" y="118"/>
                  </a:lnTo>
                  <a:lnTo>
                    <a:pt x="2605" y="107"/>
                  </a:lnTo>
                  <a:lnTo>
                    <a:pt x="2598" y="95"/>
                  </a:lnTo>
                  <a:lnTo>
                    <a:pt x="2593" y="85"/>
                  </a:lnTo>
                  <a:lnTo>
                    <a:pt x="2586" y="76"/>
                  </a:lnTo>
                  <a:lnTo>
                    <a:pt x="2578" y="67"/>
                  </a:lnTo>
                  <a:lnTo>
                    <a:pt x="2570" y="58"/>
                  </a:lnTo>
                  <a:lnTo>
                    <a:pt x="2561" y="50"/>
                  </a:lnTo>
                  <a:lnTo>
                    <a:pt x="2552" y="42"/>
                  </a:lnTo>
                  <a:lnTo>
                    <a:pt x="2542" y="35"/>
                  </a:lnTo>
                  <a:lnTo>
                    <a:pt x="2532" y="30"/>
                  </a:lnTo>
                  <a:lnTo>
                    <a:pt x="2520" y="24"/>
                  </a:lnTo>
                  <a:lnTo>
                    <a:pt x="2509" y="18"/>
                  </a:lnTo>
                  <a:lnTo>
                    <a:pt x="2496" y="14"/>
                  </a:lnTo>
                  <a:lnTo>
                    <a:pt x="2483" y="10"/>
                  </a:lnTo>
                  <a:lnTo>
                    <a:pt x="2469" y="7"/>
                  </a:lnTo>
                  <a:lnTo>
                    <a:pt x="2455" y="4"/>
                  </a:lnTo>
                  <a:lnTo>
                    <a:pt x="2440" y="3"/>
                  </a:lnTo>
                  <a:lnTo>
                    <a:pt x="2424" y="1"/>
                  </a:lnTo>
                  <a:lnTo>
                    <a:pt x="2407" y="0"/>
                  </a:lnTo>
                  <a:lnTo>
                    <a:pt x="2390" y="0"/>
                  </a:lnTo>
                  <a:lnTo>
                    <a:pt x="2372" y="1"/>
                  </a:lnTo>
                  <a:lnTo>
                    <a:pt x="2354" y="3"/>
                  </a:lnTo>
                  <a:lnTo>
                    <a:pt x="2335" y="5"/>
                  </a:lnTo>
                  <a:lnTo>
                    <a:pt x="2314" y="7"/>
                  </a:lnTo>
                  <a:lnTo>
                    <a:pt x="2294" y="10"/>
                  </a:lnTo>
                  <a:lnTo>
                    <a:pt x="324" y="1152"/>
                  </a:lnTo>
                  <a:lnTo>
                    <a:pt x="291" y="1177"/>
                  </a:lnTo>
                  <a:lnTo>
                    <a:pt x="260" y="1203"/>
                  </a:lnTo>
                  <a:lnTo>
                    <a:pt x="231" y="1231"/>
                  </a:lnTo>
                  <a:lnTo>
                    <a:pt x="204" y="1260"/>
                  </a:lnTo>
                  <a:lnTo>
                    <a:pt x="176" y="1290"/>
                  </a:lnTo>
                  <a:lnTo>
                    <a:pt x="153" y="1321"/>
                  </a:lnTo>
                  <a:lnTo>
                    <a:pt x="129" y="1354"/>
                  </a:lnTo>
                  <a:lnTo>
                    <a:pt x="109" y="1388"/>
                  </a:lnTo>
                  <a:lnTo>
                    <a:pt x="88" y="1423"/>
                  </a:lnTo>
                  <a:lnTo>
                    <a:pt x="70" y="1459"/>
                  </a:lnTo>
                  <a:lnTo>
                    <a:pt x="54" y="1498"/>
                  </a:lnTo>
                  <a:lnTo>
                    <a:pt x="40" y="1536"/>
                  </a:lnTo>
                  <a:lnTo>
                    <a:pt x="27" y="1577"/>
                  </a:lnTo>
                  <a:lnTo>
                    <a:pt x="17" y="1619"/>
                  </a:lnTo>
                  <a:lnTo>
                    <a:pt x="8" y="1662"/>
                  </a:lnTo>
                  <a:lnTo>
                    <a:pt x="0" y="1707"/>
                  </a:lnTo>
                  <a:lnTo>
                    <a:pt x="5" y="7477"/>
                  </a:lnTo>
                  <a:lnTo>
                    <a:pt x="2" y="7502"/>
                  </a:lnTo>
                  <a:lnTo>
                    <a:pt x="1" y="7526"/>
                  </a:lnTo>
                  <a:lnTo>
                    <a:pt x="0" y="7549"/>
                  </a:lnTo>
                  <a:lnTo>
                    <a:pt x="0" y="7573"/>
                  </a:lnTo>
                  <a:lnTo>
                    <a:pt x="1" y="7596"/>
                  </a:lnTo>
                  <a:lnTo>
                    <a:pt x="2" y="7619"/>
                  </a:lnTo>
                  <a:lnTo>
                    <a:pt x="3" y="7640"/>
                  </a:lnTo>
                  <a:lnTo>
                    <a:pt x="7" y="7662"/>
                  </a:lnTo>
                  <a:lnTo>
                    <a:pt x="10" y="7682"/>
                  </a:lnTo>
                  <a:lnTo>
                    <a:pt x="14" y="7701"/>
                  </a:lnTo>
                  <a:lnTo>
                    <a:pt x="18" y="7722"/>
                  </a:lnTo>
                  <a:lnTo>
                    <a:pt x="24" y="7740"/>
                  </a:lnTo>
                  <a:lnTo>
                    <a:pt x="29" y="7758"/>
                  </a:lnTo>
                  <a:lnTo>
                    <a:pt x="36" y="7776"/>
                  </a:lnTo>
                  <a:lnTo>
                    <a:pt x="44" y="7793"/>
                  </a:lnTo>
                  <a:lnTo>
                    <a:pt x="52" y="7810"/>
                  </a:lnTo>
                  <a:lnTo>
                    <a:pt x="61" y="7826"/>
                  </a:lnTo>
                  <a:lnTo>
                    <a:pt x="70" y="7842"/>
                  </a:lnTo>
                  <a:lnTo>
                    <a:pt x="80" y="7857"/>
                  </a:lnTo>
                  <a:lnTo>
                    <a:pt x="92" y="7871"/>
                  </a:lnTo>
                  <a:lnTo>
                    <a:pt x="103" y="7886"/>
                  </a:lnTo>
                  <a:lnTo>
                    <a:pt x="115" y="7898"/>
                  </a:lnTo>
                  <a:lnTo>
                    <a:pt x="128" y="7912"/>
                  </a:lnTo>
                  <a:lnTo>
                    <a:pt x="141" y="7925"/>
                  </a:lnTo>
                  <a:lnTo>
                    <a:pt x="156" y="7936"/>
                  </a:lnTo>
                  <a:lnTo>
                    <a:pt x="171" y="7947"/>
                  </a:lnTo>
                  <a:lnTo>
                    <a:pt x="187" y="7957"/>
                  </a:lnTo>
                  <a:lnTo>
                    <a:pt x="202" y="7968"/>
                  </a:lnTo>
                  <a:lnTo>
                    <a:pt x="219" y="7978"/>
                  </a:lnTo>
                  <a:lnTo>
                    <a:pt x="236" y="7987"/>
                  </a:lnTo>
                  <a:lnTo>
                    <a:pt x="255" y="7995"/>
                  </a:lnTo>
                  <a:lnTo>
                    <a:pt x="274" y="8003"/>
                  </a:lnTo>
                  <a:lnTo>
                    <a:pt x="5331" y="10927"/>
                  </a:lnTo>
                  <a:lnTo>
                    <a:pt x="5371" y="10944"/>
                  </a:lnTo>
                  <a:lnTo>
                    <a:pt x="5409" y="10958"/>
                  </a:lnTo>
                  <a:lnTo>
                    <a:pt x="5449" y="10971"/>
                  </a:lnTo>
                  <a:lnTo>
                    <a:pt x="5487" y="10982"/>
                  </a:lnTo>
                  <a:lnTo>
                    <a:pt x="5525" y="10990"/>
                  </a:lnTo>
                  <a:lnTo>
                    <a:pt x="5563" y="10995"/>
                  </a:lnTo>
                  <a:lnTo>
                    <a:pt x="5600" y="11000"/>
                  </a:lnTo>
                  <a:lnTo>
                    <a:pt x="5638" y="11002"/>
                  </a:lnTo>
                  <a:lnTo>
                    <a:pt x="5675" y="11002"/>
                  </a:lnTo>
                  <a:lnTo>
                    <a:pt x="5712" y="11000"/>
                  </a:lnTo>
                  <a:lnTo>
                    <a:pt x="5749" y="10995"/>
                  </a:lnTo>
                  <a:lnTo>
                    <a:pt x="5785" y="10988"/>
                  </a:lnTo>
                  <a:lnTo>
                    <a:pt x="5821" y="10979"/>
                  </a:lnTo>
                  <a:lnTo>
                    <a:pt x="5857" y="10968"/>
                  </a:lnTo>
                  <a:lnTo>
                    <a:pt x="5892" y="10956"/>
                  </a:lnTo>
                  <a:lnTo>
                    <a:pt x="5927" y="10940"/>
                  </a:lnTo>
                  <a:lnTo>
                    <a:pt x="7965" y="9765"/>
                  </a:lnTo>
                  <a:lnTo>
                    <a:pt x="7975" y="9752"/>
                  </a:lnTo>
                  <a:lnTo>
                    <a:pt x="7984" y="9738"/>
                  </a:lnTo>
                  <a:lnTo>
                    <a:pt x="7993" y="9725"/>
                  </a:lnTo>
                  <a:lnTo>
                    <a:pt x="8001" y="9711"/>
                  </a:lnTo>
                  <a:lnTo>
                    <a:pt x="8009" y="9697"/>
                  </a:lnTo>
                  <a:lnTo>
                    <a:pt x="8015" y="9684"/>
                  </a:lnTo>
                  <a:lnTo>
                    <a:pt x="8021" y="9670"/>
                  </a:lnTo>
                  <a:lnTo>
                    <a:pt x="8027" y="9657"/>
                  </a:lnTo>
                  <a:lnTo>
                    <a:pt x="8031" y="9643"/>
                  </a:lnTo>
                  <a:lnTo>
                    <a:pt x="8035" y="9629"/>
                  </a:lnTo>
                  <a:lnTo>
                    <a:pt x="8038" y="9616"/>
                  </a:lnTo>
                  <a:lnTo>
                    <a:pt x="8040" y="9602"/>
                  </a:lnTo>
                  <a:lnTo>
                    <a:pt x="8041" y="9589"/>
                  </a:lnTo>
                  <a:lnTo>
                    <a:pt x="8041" y="9575"/>
                  </a:lnTo>
                  <a:lnTo>
                    <a:pt x="8041" y="9561"/>
                  </a:lnTo>
                  <a:lnTo>
                    <a:pt x="8040" y="9548"/>
                  </a:lnTo>
                  <a:lnTo>
                    <a:pt x="8038" y="9535"/>
                  </a:lnTo>
                  <a:lnTo>
                    <a:pt x="8036" y="9522"/>
                  </a:lnTo>
                  <a:lnTo>
                    <a:pt x="8032" y="9508"/>
                  </a:lnTo>
                  <a:lnTo>
                    <a:pt x="8028" y="9494"/>
                  </a:lnTo>
                  <a:lnTo>
                    <a:pt x="8022" y="9482"/>
                  </a:lnTo>
                  <a:lnTo>
                    <a:pt x="8017" y="9468"/>
                  </a:lnTo>
                  <a:lnTo>
                    <a:pt x="8009" y="9455"/>
                  </a:lnTo>
                  <a:lnTo>
                    <a:pt x="8001" y="9442"/>
                  </a:lnTo>
                  <a:lnTo>
                    <a:pt x="7992" y="9429"/>
                  </a:lnTo>
                  <a:lnTo>
                    <a:pt x="7981" y="9416"/>
                  </a:lnTo>
                  <a:lnTo>
                    <a:pt x="7971" y="9403"/>
                  </a:lnTo>
                  <a:lnTo>
                    <a:pt x="7959" y="9390"/>
                  </a:lnTo>
                  <a:lnTo>
                    <a:pt x="7946" y="9378"/>
                  </a:lnTo>
                  <a:lnTo>
                    <a:pt x="7933" y="9364"/>
                  </a:lnTo>
                  <a:lnTo>
                    <a:pt x="7918" y="9352"/>
                  </a:lnTo>
                  <a:lnTo>
                    <a:pt x="7902" y="9339"/>
                  </a:lnTo>
                  <a:lnTo>
                    <a:pt x="6176" y="8377"/>
                  </a:lnTo>
                  <a:lnTo>
                    <a:pt x="6146" y="8356"/>
                  </a:lnTo>
                  <a:lnTo>
                    <a:pt x="6117" y="8337"/>
                  </a:lnTo>
                  <a:lnTo>
                    <a:pt x="6089" y="8316"/>
                  </a:lnTo>
                  <a:lnTo>
                    <a:pt x="6062" y="8294"/>
                  </a:lnTo>
                  <a:lnTo>
                    <a:pt x="6036" y="8271"/>
                  </a:lnTo>
                  <a:lnTo>
                    <a:pt x="6011" y="8248"/>
                  </a:lnTo>
                  <a:lnTo>
                    <a:pt x="5986" y="8224"/>
                  </a:lnTo>
                  <a:lnTo>
                    <a:pt x="5963" y="8199"/>
                  </a:lnTo>
                  <a:lnTo>
                    <a:pt x="5941" y="8173"/>
                  </a:lnTo>
                  <a:lnTo>
                    <a:pt x="5919" y="8146"/>
                  </a:lnTo>
                  <a:lnTo>
                    <a:pt x="5899" y="8118"/>
                  </a:lnTo>
                  <a:lnTo>
                    <a:pt x="5880" y="8090"/>
                  </a:lnTo>
                  <a:lnTo>
                    <a:pt x="5862" y="8062"/>
                  </a:lnTo>
                  <a:lnTo>
                    <a:pt x="5844" y="8032"/>
                  </a:lnTo>
                  <a:lnTo>
                    <a:pt x="5828" y="8002"/>
                  </a:lnTo>
                  <a:lnTo>
                    <a:pt x="5812" y="7970"/>
                  </a:lnTo>
                  <a:lnTo>
                    <a:pt x="5797" y="7938"/>
                  </a:lnTo>
                  <a:lnTo>
                    <a:pt x="5784" y="7905"/>
                  </a:lnTo>
                  <a:lnTo>
                    <a:pt x="5770" y="7871"/>
                  </a:lnTo>
                  <a:lnTo>
                    <a:pt x="5759" y="7837"/>
                  </a:lnTo>
                  <a:lnTo>
                    <a:pt x="5747" y="7802"/>
                  </a:lnTo>
                  <a:lnTo>
                    <a:pt x="5737" y="7766"/>
                  </a:lnTo>
                  <a:lnTo>
                    <a:pt x="5728" y="7728"/>
                  </a:lnTo>
                  <a:lnTo>
                    <a:pt x="5720" y="7691"/>
                  </a:lnTo>
                  <a:lnTo>
                    <a:pt x="5713" y="7654"/>
                  </a:lnTo>
                  <a:lnTo>
                    <a:pt x="5707" y="7614"/>
                  </a:lnTo>
                  <a:lnTo>
                    <a:pt x="5701" y="7574"/>
                  </a:lnTo>
                  <a:lnTo>
                    <a:pt x="5697" y="7533"/>
                  </a:lnTo>
                  <a:lnTo>
                    <a:pt x="5693" y="7493"/>
                  </a:lnTo>
                  <a:lnTo>
                    <a:pt x="5690" y="7451"/>
                  </a:lnTo>
                  <a:lnTo>
                    <a:pt x="5689" y="7408"/>
                  </a:lnTo>
                  <a:lnTo>
                    <a:pt x="5687" y="7365"/>
                  </a:lnTo>
                  <a:lnTo>
                    <a:pt x="5715" y="4955"/>
                  </a:lnTo>
                  <a:lnTo>
                    <a:pt x="5713" y="4911"/>
                  </a:lnTo>
                  <a:lnTo>
                    <a:pt x="5710" y="4866"/>
                  </a:lnTo>
                  <a:lnTo>
                    <a:pt x="5707" y="4845"/>
                  </a:lnTo>
                  <a:lnTo>
                    <a:pt x="5704" y="4824"/>
                  </a:lnTo>
                  <a:lnTo>
                    <a:pt x="5700" y="4804"/>
                  </a:lnTo>
                  <a:lnTo>
                    <a:pt x="5695" y="4784"/>
                  </a:lnTo>
                  <a:lnTo>
                    <a:pt x="5690" y="4763"/>
                  </a:lnTo>
                  <a:lnTo>
                    <a:pt x="5684" y="4744"/>
                  </a:lnTo>
                  <a:lnTo>
                    <a:pt x="5677" y="4725"/>
                  </a:lnTo>
                  <a:lnTo>
                    <a:pt x="5669" y="4705"/>
                  </a:lnTo>
                  <a:lnTo>
                    <a:pt x="5661" y="4686"/>
                  </a:lnTo>
                  <a:lnTo>
                    <a:pt x="5652" y="4667"/>
                  </a:lnTo>
                  <a:lnTo>
                    <a:pt x="5642" y="4649"/>
                  </a:lnTo>
                  <a:lnTo>
                    <a:pt x="5631" y="4629"/>
                  </a:lnTo>
                  <a:lnTo>
                    <a:pt x="5620" y="4611"/>
                  </a:lnTo>
                  <a:lnTo>
                    <a:pt x="5606" y="4593"/>
                  </a:lnTo>
                  <a:lnTo>
                    <a:pt x="5592" y="4575"/>
                  </a:lnTo>
                  <a:lnTo>
                    <a:pt x="5578" y="4557"/>
                  </a:lnTo>
                  <a:lnTo>
                    <a:pt x="5562" y="4539"/>
                  </a:lnTo>
                  <a:lnTo>
                    <a:pt x="5545" y="4522"/>
                  </a:lnTo>
                  <a:lnTo>
                    <a:pt x="5528" y="4504"/>
                  </a:lnTo>
                  <a:lnTo>
                    <a:pt x="5509" y="4486"/>
                  </a:lnTo>
                  <a:lnTo>
                    <a:pt x="5488" y="4469"/>
                  </a:lnTo>
                  <a:lnTo>
                    <a:pt x="5468" y="4450"/>
                  </a:lnTo>
                  <a:lnTo>
                    <a:pt x="5445" y="4433"/>
                  </a:lnTo>
                  <a:lnTo>
                    <a:pt x="5422" y="4415"/>
                  </a:lnTo>
                  <a:lnTo>
                    <a:pt x="5397" y="4398"/>
                  </a:lnTo>
                  <a:lnTo>
                    <a:pt x="5371" y="4380"/>
                  </a:lnTo>
                  <a:lnTo>
                    <a:pt x="5344" y="4363"/>
                  </a:lnTo>
                  <a:lnTo>
                    <a:pt x="5315" y="4345"/>
                  </a:lnTo>
                  <a:lnTo>
                    <a:pt x="3175" y="3097"/>
                  </a:lnTo>
                  <a:lnTo>
                    <a:pt x="3140" y="3079"/>
                  </a:lnTo>
                  <a:lnTo>
                    <a:pt x="3106" y="3061"/>
                  </a:lnTo>
                  <a:lnTo>
                    <a:pt x="3072" y="3041"/>
                  </a:lnTo>
                  <a:lnTo>
                    <a:pt x="3041" y="3022"/>
                  </a:lnTo>
                  <a:lnTo>
                    <a:pt x="3010" y="3002"/>
                  </a:lnTo>
                  <a:lnTo>
                    <a:pt x="2981" y="2980"/>
                  </a:lnTo>
                  <a:lnTo>
                    <a:pt x="2952" y="2958"/>
                  </a:lnTo>
                  <a:lnTo>
                    <a:pt x="2925" y="2935"/>
                  </a:lnTo>
                  <a:lnTo>
                    <a:pt x="2899" y="2911"/>
                  </a:lnTo>
                  <a:lnTo>
                    <a:pt x="2875" y="2886"/>
                  </a:lnTo>
                  <a:lnTo>
                    <a:pt x="2852" y="2861"/>
                  </a:lnTo>
                  <a:lnTo>
                    <a:pt x="2829" y="2835"/>
                  </a:lnTo>
                  <a:lnTo>
                    <a:pt x="2808" y="2808"/>
                  </a:lnTo>
                  <a:lnTo>
                    <a:pt x="2787" y="2781"/>
                  </a:lnTo>
                  <a:lnTo>
                    <a:pt x="2769" y="2752"/>
                  </a:lnTo>
                  <a:lnTo>
                    <a:pt x="2751" y="2723"/>
                  </a:lnTo>
                  <a:lnTo>
                    <a:pt x="2734" y="2693"/>
                  </a:lnTo>
                  <a:lnTo>
                    <a:pt x="2719" y="2663"/>
                  </a:lnTo>
                  <a:lnTo>
                    <a:pt x="2705" y="2631"/>
                  </a:lnTo>
                  <a:lnTo>
                    <a:pt x="2691" y="2598"/>
                  </a:lnTo>
                  <a:lnTo>
                    <a:pt x="2680" y="2565"/>
                  </a:lnTo>
                  <a:lnTo>
                    <a:pt x="2668" y="2531"/>
                  </a:lnTo>
                  <a:lnTo>
                    <a:pt x="2659" y="2497"/>
                  </a:lnTo>
                  <a:lnTo>
                    <a:pt x="2650" y="2462"/>
                  </a:lnTo>
                  <a:lnTo>
                    <a:pt x="2644" y="2426"/>
                  </a:lnTo>
                  <a:lnTo>
                    <a:pt x="2637" y="2389"/>
                  </a:lnTo>
                  <a:lnTo>
                    <a:pt x="2632" y="2351"/>
                  </a:lnTo>
                  <a:lnTo>
                    <a:pt x="2629" y="2313"/>
                  </a:lnTo>
                  <a:lnTo>
                    <a:pt x="2625" y="2273"/>
                  </a:lnTo>
                  <a:lnTo>
                    <a:pt x="2624" y="2233"/>
                  </a:lnTo>
                  <a:lnTo>
                    <a:pt x="2624" y="2192"/>
                  </a:lnTo>
                  <a:lnTo>
                    <a:pt x="2624" y="2150"/>
                  </a:lnTo>
                  <a:lnTo>
                    <a:pt x="2633" y="210"/>
                  </a:lnTo>
                  <a:close/>
                </a:path>
              </a:pathLst>
            </a:custGeom>
            <a:solidFill>
              <a:schemeClr val="accent4"/>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sp>
          <p:nvSpPr>
            <p:cNvPr id="1068" name="Google Shape;1068;p20"/>
            <p:cNvSpPr/>
            <p:nvPr/>
          </p:nvSpPr>
          <p:spPr>
            <a:xfrm>
              <a:off x="3340100" y="1176338"/>
              <a:ext cx="2241550" cy="1279525"/>
            </a:xfrm>
            <a:custGeom>
              <a:avLst/>
              <a:gdLst/>
              <a:ahLst/>
              <a:cxnLst/>
              <a:rect l="l" t="t" r="r" b="b"/>
              <a:pathLst>
                <a:path w="11299" h="6451" extrusionOk="0">
                  <a:moveTo>
                    <a:pt x="10957" y="6057"/>
                  </a:moveTo>
                  <a:lnTo>
                    <a:pt x="10984" y="6069"/>
                  </a:lnTo>
                  <a:lnTo>
                    <a:pt x="11010" y="6077"/>
                  </a:lnTo>
                  <a:lnTo>
                    <a:pt x="11022" y="6080"/>
                  </a:lnTo>
                  <a:lnTo>
                    <a:pt x="11036" y="6082"/>
                  </a:lnTo>
                  <a:lnTo>
                    <a:pt x="11048" y="6085"/>
                  </a:lnTo>
                  <a:lnTo>
                    <a:pt x="11061" y="6085"/>
                  </a:lnTo>
                  <a:lnTo>
                    <a:pt x="11072" y="6086"/>
                  </a:lnTo>
                  <a:lnTo>
                    <a:pt x="11085" y="6085"/>
                  </a:lnTo>
                  <a:lnTo>
                    <a:pt x="11097" y="6083"/>
                  </a:lnTo>
                  <a:lnTo>
                    <a:pt x="11108" y="6081"/>
                  </a:lnTo>
                  <a:lnTo>
                    <a:pt x="11120" y="6079"/>
                  </a:lnTo>
                  <a:lnTo>
                    <a:pt x="11131" y="6076"/>
                  </a:lnTo>
                  <a:lnTo>
                    <a:pt x="11142" y="6071"/>
                  </a:lnTo>
                  <a:lnTo>
                    <a:pt x="11154" y="6066"/>
                  </a:lnTo>
                  <a:lnTo>
                    <a:pt x="11164" y="6060"/>
                  </a:lnTo>
                  <a:lnTo>
                    <a:pt x="11174" y="6053"/>
                  </a:lnTo>
                  <a:lnTo>
                    <a:pt x="11185" y="6046"/>
                  </a:lnTo>
                  <a:lnTo>
                    <a:pt x="11195" y="6037"/>
                  </a:lnTo>
                  <a:lnTo>
                    <a:pt x="11204" y="6028"/>
                  </a:lnTo>
                  <a:lnTo>
                    <a:pt x="11215" y="6018"/>
                  </a:lnTo>
                  <a:lnTo>
                    <a:pt x="11224" y="6006"/>
                  </a:lnTo>
                  <a:lnTo>
                    <a:pt x="11234" y="5994"/>
                  </a:lnTo>
                  <a:lnTo>
                    <a:pt x="11243" y="5980"/>
                  </a:lnTo>
                  <a:lnTo>
                    <a:pt x="11251" y="5967"/>
                  </a:lnTo>
                  <a:lnTo>
                    <a:pt x="11260" y="5952"/>
                  </a:lnTo>
                  <a:lnTo>
                    <a:pt x="11268" y="5936"/>
                  </a:lnTo>
                  <a:lnTo>
                    <a:pt x="11277" y="5919"/>
                  </a:lnTo>
                  <a:lnTo>
                    <a:pt x="11285" y="5901"/>
                  </a:lnTo>
                  <a:lnTo>
                    <a:pt x="11292" y="5882"/>
                  </a:lnTo>
                  <a:lnTo>
                    <a:pt x="11299" y="5862"/>
                  </a:lnTo>
                  <a:lnTo>
                    <a:pt x="11298" y="3576"/>
                  </a:lnTo>
                  <a:lnTo>
                    <a:pt x="11293" y="3534"/>
                  </a:lnTo>
                  <a:lnTo>
                    <a:pt x="11285" y="3495"/>
                  </a:lnTo>
                  <a:lnTo>
                    <a:pt x="11276" y="3455"/>
                  </a:lnTo>
                  <a:lnTo>
                    <a:pt x="11264" y="3416"/>
                  </a:lnTo>
                  <a:lnTo>
                    <a:pt x="11252" y="3379"/>
                  </a:lnTo>
                  <a:lnTo>
                    <a:pt x="11237" y="3342"/>
                  </a:lnTo>
                  <a:lnTo>
                    <a:pt x="11220" y="3305"/>
                  </a:lnTo>
                  <a:lnTo>
                    <a:pt x="11202" y="3270"/>
                  </a:lnTo>
                  <a:lnTo>
                    <a:pt x="11181" y="3235"/>
                  </a:lnTo>
                  <a:lnTo>
                    <a:pt x="11158" y="3201"/>
                  </a:lnTo>
                  <a:lnTo>
                    <a:pt x="11133" y="3168"/>
                  </a:lnTo>
                  <a:lnTo>
                    <a:pt x="11107" y="3136"/>
                  </a:lnTo>
                  <a:lnTo>
                    <a:pt x="11078" y="3105"/>
                  </a:lnTo>
                  <a:lnTo>
                    <a:pt x="11047" y="3074"/>
                  </a:lnTo>
                  <a:lnTo>
                    <a:pt x="11014" y="3045"/>
                  </a:lnTo>
                  <a:lnTo>
                    <a:pt x="10979" y="3016"/>
                  </a:lnTo>
                  <a:lnTo>
                    <a:pt x="5976" y="127"/>
                  </a:lnTo>
                  <a:lnTo>
                    <a:pt x="5956" y="112"/>
                  </a:lnTo>
                  <a:lnTo>
                    <a:pt x="5936" y="99"/>
                  </a:lnTo>
                  <a:lnTo>
                    <a:pt x="5915" y="86"/>
                  </a:lnTo>
                  <a:lnTo>
                    <a:pt x="5895" y="74"/>
                  </a:lnTo>
                  <a:lnTo>
                    <a:pt x="5874" y="63"/>
                  </a:lnTo>
                  <a:lnTo>
                    <a:pt x="5854" y="53"/>
                  </a:lnTo>
                  <a:lnTo>
                    <a:pt x="5835" y="44"/>
                  </a:lnTo>
                  <a:lnTo>
                    <a:pt x="5816" y="35"/>
                  </a:lnTo>
                  <a:lnTo>
                    <a:pt x="5795" y="28"/>
                  </a:lnTo>
                  <a:lnTo>
                    <a:pt x="5776" y="22"/>
                  </a:lnTo>
                  <a:lnTo>
                    <a:pt x="5757" y="16"/>
                  </a:lnTo>
                  <a:lnTo>
                    <a:pt x="5738" y="11"/>
                  </a:lnTo>
                  <a:lnTo>
                    <a:pt x="5719" y="7"/>
                  </a:lnTo>
                  <a:lnTo>
                    <a:pt x="5700" y="3"/>
                  </a:lnTo>
                  <a:lnTo>
                    <a:pt x="5681" y="2"/>
                  </a:lnTo>
                  <a:lnTo>
                    <a:pt x="5663" y="0"/>
                  </a:lnTo>
                  <a:lnTo>
                    <a:pt x="5645" y="0"/>
                  </a:lnTo>
                  <a:lnTo>
                    <a:pt x="5627" y="0"/>
                  </a:lnTo>
                  <a:lnTo>
                    <a:pt x="5609" y="2"/>
                  </a:lnTo>
                  <a:lnTo>
                    <a:pt x="5591" y="3"/>
                  </a:lnTo>
                  <a:lnTo>
                    <a:pt x="5572" y="7"/>
                  </a:lnTo>
                  <a:lnTo>
                    <a:pt x="5554" y="10"/>
                  </a:lnTo>
                  <a:lnTo>
                    <a:pt x="5537" y="16"/>
                  </a:lnTo>
                  <a:lnTo>
                    <a:pt x="5519" y="22"/>
                  </a:lnTo>
                  <a:lnTo>
                    <a:pt x="5502" y="27"/>
                  </a:lnTo>
                  <a:lnTo>
                    <a:pt x="5485" y="35"/>
                  </a:lnTo>
                  <a:lnTo>
                    <a:pt x="5468" y="43"/>
                  </a:lnTo>
                  <a:lnTo>
                    <a:pt x="5451" y="52"/>
                  </a:lnTo>
                  <a:lnTo>
                    <a:pt x="5434" y="62"/>
                  </a:lnTo>
                  <a:lnTo>
                    <a:pt x="5417" y="73"/>
                  </a:lnTo>
                  <a:lnTo>
                    <a:pt x="5402" y="84"/>
                  </a:lnTo>
                  <a:lnTo>
                    <a:pt x="5385" y="96"/>
                  </a:lnTo>
                  <a:lnTo>
                    <a:pt x="314" y="3032"/>
                  </a:lnTo>
                  <a:lnTo>
                    <a:pt x="280" y="3058"/>
                  </a:lnTo>
                  <a:lnTo>
                    <a:pt x="248" y="3084"/>
                  </a:lnTo>
                  <a:lnTo>
                    <a:pt x="218" y="3113"/>
                  </a:lnTo>
                  <a:lnTo>
                    <a:pt x="189" y="3140"/>
                  </a:lnTo>
                  <a:lnTo>
                    <a:pt x="163" y="3169"/>
                  </a:lnTo>
                  <a:lnTo>
                    <a:pt x="138" y="3199"/>
                  </a:lnTo>
                  <a:lnTo>
                    <a:pt x="116" y="3230"/>
                  </a:lnTo>
                  <a:lnTo>
                    <a:pt x="95" y="3261"/>
                  </a:lnTo>
                  <a:lnTo>
                    <a:pt x="77" y="3294"/>
                  </a:lnTo>
                  <a:lnTo>
                    <a:pt x="60" y="3327"/>
                  </a:lnTo>
                  <a:lnTo>
                    <a:pt x="47" y="3361"/>
                  </a:lnTo>
                  <a:lnTo>
                    <a:pt x="34" y="3396"/>
                  </a:lnTo>
                  <a:lnTo>
                    <a:pt x="23" y="3432"/>
                  </a:lnTo>
                  <a:lnTo>
                    <a:pt x="15" y="3469"/>
                  </a:lnTo>
                  <a:lnTo>
                    <a:pt x="8" y="3506"/>
                  </a:lnTo>
                  <a:lnTo>
                    <a:pt x="5" y="3544"/>
                  </a:lnTo>
                  <a:lnTo>
                    <a:pt x="0" y="5906"/>
                  </a:lnTo>
                  <a:lnTo>
                    <a:pt x="7" y="5921"/>
                  </a:lnTo>
                  <a:lnTo>
                    <a:pt x="14" y="5937"/>
                  </a:lnTo>
                  <a:lnTo>
                    <a:pt x="22" y="5952"/>
                  </a:lnTo>
                  <a:lnTo>
                    <a:pt x="30" y="5966"/>
                  </a:lnTo>
                  <a:lnTo>
                    <a:pt x="38" y="5979"/>
                  </a:lnTo>
                  <a:lnTo>
                    <a:pt x="47" y="5992"/>
                  </a:lnTo>
                  <a:lnTo>
                    <a:pt x="55" y="6004"/>
                  </a:lnTo>
                  <a:lnTo>
                    <a:pt x="65" y="6015"/>
                  </a:lnTo>
                  <a:lnTo>
                    <a:pt x="74" y="6026"/>
                  </a:lnTo>
                  <a:lnTo>
                    <a:pt x="84" y="6036"/>
                  </a:lnTo>
                  <a:lnTo>
                    <a:pt x="94" y="6046"/>
                  </a:lnTo>
                  <a:lnTo>
                    <a:pt x="104" y="6054"/>
                  </a:lnTo>
                  <a:lnTo>
                    <a:pt x="116" y="6062"/>
                  </a:lnTo>
                  <a:lnTo>
                    <a:pt x="127" y="6070"/>
                  </a:lnTo>
                  <a:lnTo>
                    <a:pt x="138" y="6076"/>
                  </a:lnTo>
                  <a:lnTo>
                    <a:pt x="151" y="6081"/>
                  </a:lnTo>
                  <a:lnTo>
                    <a:pt x="163" y="6087"/>
                  </a:lnTo>
                  <a:lnTo>
                    <a:pt x="177" y="6091"/>
                  </a:lnTo>
                  <a:lnTo>
                    <a:pt x="189" y="6095"/>
                  </a:lnTo>
                  <a:lnTo>
                    <a:pt x="204" y="6097"/>
                  </a:lnTo>
                  <a:lnTo>
                    <a:pt x="218" y="6099"/>
                  </a:lnTo>
                  <a:lnTo>
                    <a:pt x="232" y="6100"/>
                  </a:lnTo>
                  <a:lnTo>
                    <a:pt x="247" y="6100"/>
                  </a:lnTo>
                  <a:lnTo>
                    <a:pt x="263" y="6100"/>
                  </a:lnTo>
                  <a:lnTo>
                    <a:pt x="279" y="6099"/>
                  </a:lnTo>
                  <a:lnTo>
                    <a:pt x="294" y="6097"/>
                  </a:lnTo>
                  <a:lnTo>
                    <a:pt x="311" y="6094"/>
                  </a:lnTo>
                  <a:lnTo>
                    <a:pt x="328" y="6090"/>
                  </a:lnTo>
                  <a:lnTo>
                    <a:pt x="346" y="6086"/>
                  </a:lnTo>
                  <a:lnTo>
                    <a:pt x="365" y="6080"/>
                  </a:lnTo>
                  <a:lnTo>
                    <a:pt x="383" y="6073"/>
                  </a:lnTo>
                  <a:lnTo>
                    <a:pt x="402" y="6066"/>
                  </a:lnTo>
                  <a:lnTo>
                    <a:pt x="2101" y="5046"/>
                  </a:lnTo>
                  <a:lnTo>
                    <a:pt x="2134" y="5030"/>
                  </a:lnTo>
                  <a:lnTo>
                    <a:pt x="2165" y="5015"/>
                  </a:lnTo>
                  <a:lnTo>
                    <a:pt x="2198" y="5001"/>
                  </a:lnTo>
                  <a:lnTo>
                    <a:pt x="2230" y="4989"/>
                  </a:lnTo>
                  <a:lnTo>
                    <a:pt x="2263" y="4977"/>
                  </a:lnTo>
                  <a:lnTo>
                    <a:pt x="2295" y="4967"/>
                  </a:lnTo>
                  <a:lnTo>
                    <a:pt x="2329" y="4958"/>
                  </a:lnTo>
                  <a:lnTo>
                    <a:pt x="2362" y="4950"/>
                  </a:lnTo>
                  <a:lnTo>
                    <a:pt x="2396" y="4944"/>
                  </a:lnTo>
                  <a:lnTo>
                    <a:pt x="2430" y="4939"/>
                  </a:lnTo>
                  <a:lnTo>
                    <a:pt x="2464" y="4935"/>
                  </a:lnTo>
                  <a:lnTo>
                    <a:pt x="2498" y="4932"/>
                  </a:lnTo>
                  <a:lnTo>
                    <a:pt x="2532" y="4931"/>
                  </a:lnTo>
                  <a:lnTo>
                    <a:pt x="2567" y="4931"/>
                  </a:lnTo>
                  <a:lnTo>
                    <a:pt x="2601" y="4931"/>
                  </a:lnTo>
                  <a:lnTo>
                    <a:pt x="2636" y="4933"/>
                  </a:lnTo>
                  <a:lnTo>
                    <a:pt x="2672" y="4936"/>
                  </a:lnTo>
                  <a:lnTo>
                    <a:pt x="2707" y="4941"/>
                  </a:lnTo>
                  <a:lnTo>
                    <a:pt x="2742" y="4947"/>
                  </a:lnTo>
                  <a:lnTo>
                    <a:pt x="2778" y="4953"/>
                  </a:lnTo>
                  <a:lnTo>
                    <a:pt x="2815" y="4961"/>
                  </a:lnTo>
                  <a:lnTo>
                    <a:pt x="2851" y="4972"/>
                  </a:lnTo>
                  <a:lnTo>
                    <a:pt x="2887" y="4982"/>
                  </a:lnTo>
                  <a:lnTo>
                    <a:pt x="2923" y="4993"/>
                  </a:lnTo>
                  <a:lnTo>
                    <a:pt x="2961" y="5006"/>
                  </a:lnTo>
                  <a:lnTo>
                    <a:pt x="2998" y="5020"/>
                  </a:lnTo>
                  <a:lnTo>
                    <a:pt x="3034" y="5035"/>
                  </a:lnTo>
                  <a:lnTo>
                    <a:pt x="3071" y="5052"/>
                  </a:lnTo>
                  <a:lnTo>
                    <a:pt x="3110" y="5069"/>
                  </a:lnTo>
                  <a:lnTo>
                    <a:pt x="3147" y="5088"/>
                  </a:lnTo>
                  <a:lnTo>
                    <a:pt x="3186" y="5108"/>
                  </a:lnTo>
                  <a:lnTo>
                    <a:pt x="3223" y="5129"/>
                  </a:lnTo>
                  <a:lnTo>
                    <a:pt x="5298" y="6361"/>
                  </a:lnTo>
                  <a:lnTo>
                    <a:pt x="5338" y="6383"/>
                  </a:lnTo>
                  <a:lnTo>
                    <a:pt x="5377" y="6401"/>
                  </a:lnTo>
                  <a:lnTo>
                    <a:pt x="5397" y="6409"/>
                  </a:lnTo>
                  <a:lnTo>
                    <a:pt x="5416" y="6417"/>
                  </a:lnTo>
                  <a:lnTo>
                    <a:pt x="5437" y="6424"/>
                  </a:lnTo>
                  <a:lnTo>
                    <a:pt x="5457" y="6429"/>
                  </a:lnTo>
                  <a:lnTo>
                    <a:pt x="5476" y="6435"/>
                  </a:lnTo>
                  <a:lnTo>
                    <a:pt x="5497" y="6439"/>
                  </a:lnTo>
                  <a:lnTo>
                    <a:pt x="5517" y="6444"/>
                  </a:lnTo>
                  <a:lnTo>
                    <a:pt x="5537" y="6446"/>
                  </a:lnTo>
                  <a:lnTo>
                    <a:pt x="5559" y="6448"/>
                  </a:lnTo>
                  <a:lnTo>
                    <a:pt x="5579" y="6451"/>
                  </a:lnTo>
                  <a:lnTo>
                    <a:pt x="5601" y="6451"/>
                  </a:lnTo>
                  <a:lnTo>
                    <a:pt x="5622" y="6451"/>
                  </a:lnTo>
                  <a:lnTo>
                    <a:pt x="5644" y="6450"/>
                  </a:lnTo>
                  <a:lnTo>
                    <a:pt x="5666" y="6447"/>
                  </a:lnTo>
                  <a:lnTo>
                    <a:pt x="5689" y="6445"/>
                  </a:lnTo>
                  <a:lnTo>
                    <a:pt x="5712" y="6442"/>
                  </a:lnTo>
                  <a:lnTo>
                    <a:pt x="5735" y="6436"/>
                  </a:lnTo>
                  <a:lnTo>
                    <a:pt x="5759" y="6430"/>
                  </a:lnTo>
                  <a:lnTo>
                    <a:pt x="5783" y="6425"/>
                  </a:lnTo>
                  <a:lnTo>
                    <a:pt x="5808" y="6417"/>
                  </a:lnTo>
                  <a:lnTo>
                    <a:pt x="5834" y="6408"/>
                  </a:lnTo>
                  <a:lnTo>
                    <a:pt x="5860" y="6399"/>
                  </a:lnTo>
                  <a:lnTo>
                    <a:pt x="5886" y="6387"/>
                  </a:lnTo>
                  <a:lnTo>
                    <a:pt x="5913" y="6376"/>
                  </a:lnTo>
                  <a:lnTo>
                    <a:pt x="5940" y="6363"/>
                  </a:lnTo>
                  <a:lnTo>
                    <a:pt x="5968" y="6350"/>
                  </a:lnTo>
                  <a:lnTo>
                    <a:pt x="5998" y="6335"/>
                  </a:lnTo>
                  <a:lnTo>
                    <a:pt x="6027" y="6318"/>
                  </a:lnTo>
                  <a:lnTo>
                    <a:pt x="8183" y="5083"/>
                  </a:lnTo>
                  <a:lnTo>
                    <a:pt x="8216" y="5060"/>
                  </a:lnTo>
                  <a:lnTo>
                    <a:pt x="8249" y="5040"/>
                  </a:lnTo>
                  <a:lnTo>
                    <a:pt x="8282" y="5020"/>
                  </a:lnTo>
                  <a:lnTo>
                    <a:pt x="8314" y="5003"/>
                  </a:lnTo>
                  <a:lnTo>
                    <a:pt x="8347" y="4986"/>
                  </a:lnTo>
                  <a:lnTo>
                    <a:pt x="8381" y="4972"/>
                  </a:lnTo>
                  <a:lnTo>
                    <a:pt x="8414" y="4958"/>
                  </a:lnTo>
                  <a:lnTo>
                    <a:pt x="8448" y="4947"/>
                  </a:lnTo>
                  <a:lnTo>
                    <a:pt x="8482" y="4935"/>
                  </a:lnTo>
                  <a:lnTo>
                    <a:pt x="8515" y="4926"/>
                  </a:lnTo>
                  <a:lnTo>
                    <a:pt x="8549" y="4918"/>
                  </a:lnTo>
                  <a:lnTo>
                    <a:pt x="8582" y="4911"/>
                  </a:lnTo>
                  <a:lnTo>
                    <a:pt x="8616" y="4907"/>
                  </a:lnTo>
                  <a:lnTo>
                    <a:pt x="8650" y="4904"/>
                  </a:lnTo>
                  <a:lnTo>
                    <a:pt x="8684" y="4901"/>
                  </a:lnTo>
                  <a:lnTo>
                    <a:pt x="8719" y="4900"/>
                  </a:lnTo>
                  <a:lnTo>
                    <a:pt x="8753" y="4901"/>
                  </a:lnTo>
                  <a:lnTo>
                    <a:pt x="8787" y="4902"/>
                  </a:lnTo>
                  <a:lnTo>
                    <a:pt x="8822" y="4906"/>
                  </a:lnTo>
                  <a:lnTo>
                    <a:pt x="8856" y="4911"/>
                  </a:lnTo>
                  <a:lnTo>
                    <a:pt x="8891" y="4917"/>
                  </a:lnTo>
                  <a:lnTo>
                    <a:pt x="8926" y="4925"/>
                  </a:lnTo>
                  <a:lnTo>
                    <a:pt x="8960" y="4934"/>
                  </a:lnTo>
                  <a:lnTo>
                    <a:pt x="8995" y="4944"/>
                  </a:lnTo>
                  <a:lnTo>
                    <a:pt x="9030" y="4956"/>
                  </a:lnTo>
                  <a:lnTo>
                    <a:pt x="9065" y="4969"/>
                  </a:lnTo>
                  <a:lnTo>
                    <a:pt x="9101" y="4984"/>
                  </a:lnTo>
                  <a:lnTo>
                    <a:pt x="9137" y="5000"/>
                  </a:lnTo>
                  <a:lnTo>
                    <a:pt x="9172" y="5017"/>
                  </a:lnTo>
                  <a:lnTo>
                    <a:pt x="9207" y="5036"/>
                  </a:lnTo>
                  <a:lnTo>
                    <a:pt x="9243" y="5055"/>
                  </a:lnTo>
                  <a:lnTo>
                    <a:pt x="9278" y="5077"/>
                  </a:lnTo>
                  <a:lnTo>
                    <a:pt x="10957" y="6057"/>
                  </a:lnTo>
                  <a:close/>
                </a:path>
              </a:pathLst>
            </a:custGeom>
            <a:solidFill>
              <a:schemeClr val="accent5"/>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sp>
          <p:nvSpPr>
            <p:cNvPr id="1069" name="Google Shape;1069;p20"/>
            <p:cNvSpPr/>
            <p:nvPr/>
          </p:nvSpPr>
          <p:spPr>
            <a:xfrm>
              <a:off x="4581525" y="2238375"/>
              <a:ext cx="996950" cy="1130300"/>
            </a:xfrm>
            <a:custGeom>
              <a:avLst/>
              <a:gdLst/>
              <a:ahLst/>
              <a:cxnLst/>
              <a:rect l="l" t="t" r="r" b="b"/>
              <a:pathLst>
                <a:path w="5021" h="5696" extrusionOk="0">
                  <a:moveTo>
                    <a:pt x="86" y="1598"/>
                  </a:moveTo>
                  <a:lnTo>
                    <a:pt x="66" y="1576"/>
                  </a:lnTo>
                  <a:lnTo>
                    <a:pt x="47" y="1555"/>
                  </a:lnTo>
                  <a:lnTo>
                    <a:pt x="39" y="1544"/>
                  </a:lnTo>
                  <a:lnTo>
                    <a:pt x="33" y="1533"/>
                  </a:lnTo>
                  <a:lnTo>
                    <a:pt x="26" y="1523"/>
                  </a:lnTo>
                  <a:lnTo>
                    <a:pt x="20" y="1512"/>
                  </a:lnTo>
                  <a:lnTo>
                    <a:pt x="16" y="1501"/>
                  </a:lnTo>
                  <a:lnTo>
                    <a:pt x="11" y="1491"/>
                  </a:lnTo>
                  <a:lnTo>
                    <a:pt x="7" y="1480"/>
                  </a:lnTo>
                  <a:lnTo>
                    <a:pt x="4" y="1470"/>
                  </a:lnTo>
                  <a:lnTo>
                    <a:pt x="2" y="1458"/>
                  </a:lnTo>
                  <a:lnTo>
                    <a:pt x="1" y="1448"/>
                  </a:lnTo>
                  <a:lnTo>
                    <a:pt x="0" y="1437"/>
                  </a:lnTo>
                  <a:lnTo>
                    <a:pt x="0" y="1427"/>
                  </a:lnTo>
                  <a:lnTo>
                    <a:pt x="1" y="1416"/>
                  </a:lnTo>
                  <a:lnTo>
                    <a:pt x="2" y="1405"/>
                  </a:lnTo>
                  <a:lnTo>
                    <a:pt x="6" y="1395"/>
                  </a:lnTo>
                  <a:lnTo>
                    <a:pt x="9" y="1384"/>
                  </a:lnTo>
                  <a:lnTo>
                    <a:pt x="12" y="1373"/>
                  </a:lnTo>
                  <a:lnTo>
                    <a:pt x="18" y="1362"/>
                  </a:lnTo>
                  <a:lnTo>
                    <a:pt x="24" y="1352"/>
                  </a:lnTo>
                  <a:lnTo>
                    <a:pt x="30" y="1342"/>
                  </a:lnTo>
                  <a:lnTo>
                    <a:pt x="37" y="1330"/>
                  </a:lnTo>
                  <a:lnTo>
                    <a:pt x="46" y="1320"/>
                  </a:lnTo>
                  <a:lnTo>
                    <a:pt x="55" y="1309"/>
                  </a:lnTo>
                  <a:lnTo>
                    <a:pt x="66" y="1299"/>
                  </a:lnTo>
                  <a:lnTo>
                    <a:pt x="77" y="1287"/>
                  </a:lnTo>
                  <a:lnTo>
                    <a:pt x="89" y="1277"/>
                  </a:lnTo>
                  <a:lnTo>
                    <a:pt x="103" y="1267"/>
                  </a:lnTo>
                  <a:lnTo>
                    <a:pt x="116" y="1255"/>
                  </a:lnTo>
                  <a:lnTo>
                    <a:pt x="2145" y="73"/>
                  </a:lnTo>
                  <a:lnTo>
                    <a:pt x="2174" y="58"/>
                  </a:lnTo>
                  <a:lnTo>
                    <a:pt x="2205" y="45"/>
                  </a:lnTo>
                  <a:lnTo>
                    <a:pt x="2235" y="34"/>
                  </a:lnTo>
                  <a:lnTo>
                    <a:pt x="2267" y="24"/>
                  </a:lnTo>
                  <a:lnTo>
                    <a:pt x="2297" y="17"/>
                  </a:lnTo>
                  <a:lnTo>
                    <a:pt x="2330" y="11"/>
                  </a:lnTo>
                  <a:lnTo>
                    <a:pt x="2363" y="6"/>
                  </a:lnTo>
                  <a:lnTo>
                    <a:pt x="2396" y="3"/>
                  </a:lnTo>
                  <a:lnTo>
                    <a:pt x="2430" y="1"/>
                  </a:lnTo>
                  <a:lnTo>
                    <a:pt x="2465" y="0"/>
                  </a:lnTo>
                  <a:lnTo>
                    <a:pt x="2501" y="0"/>
                  </a:lnTo>
                  <a:lnTo>
                    <a:pt x="2537" y="1"/>
                  </a:lnTo>
                  <a:lnTo>
                    <a:pt x="2613" y="5"/>
                  </a:lnTo>
                  <a:lnTo>
                    <a:pt x="2693" y="11"/>
                  </a:lnTo>
                  <a:lnTo>
                    <a:pt x="4784" y="1225"/>
                  </a:lnTo>
                  <a:lnTo>
                    <a:pt x="4812" y="1242"/>
                  </a:lnTo>
                  <a:lnTo>
                    <a:pt x="4839" y="1260"/>
                  </a:lnTo>
                  <a:lnTo>
                    <a:pt x="4864" y="1278"/>
                  </a:lnTo>
                  <a:lnTo>
                    <a:pt x="4888" y="1299"/>
                  </a:lnTo>
                  <a:lnTo>
                    <a:pt x="4909" y="1319"/>
                  </a:lnTo>
                  <a:lnTo>
                    <a:pt x="4930" y="1340"/>
                  </a:lnTo>
                  <a:lnTo>
                    <a:pt x="4946" y="1363"/>
                  </a:lnTo>
                  <a:lnTo>
                    <a:pt x="4963" y="1387"/>
                  </a:lnTo>
                  <a:lnTo>
                    <a:pt x="4977" y="1411"/>
                  </a:lnTo>
                  <a:lnTo>
                    <a:pt x="4989" y="1436"/>
                  </a:lnTo>
                  <a:lnTo>
                    <a:pt x="5000" y="1462"/>
                  </a:lnTo>
                  <a:lnTo>
                    <a:pt x="5008" y="1489"/>
                  </a:lnTo>
                  <a:lnTo>
                    <a:pt x="5014" y="1517"/>
                  </a:lnTo>
                  <a:lnTo>
                    <a:pt x="5019" y="1547"/>
                  </a:lnTo>
                  <a:lnTo>
                    <a:pt x="5021" y="1577"/>
                  </a:lnTo>
                  <a:lnTo>
                    <a:pt x="5021" y="1608"/>
                  </a:lnTo>
                  <a:lnTo>
                    <a:pt x="5021" y="4025"/>
                  </a:lnTo>
                  <a:lnTo>
                    <a:pt x="5014" y="4060"/>
                  </a:lnTo>
                  <a:lnTo>
                    <a:pt x="5005" y="4094"/>
                  </a:lnTo>
                  <a:lnTo>
                    <a:pt x="4995" y="4128"/>
                  </a:lnTo>
                  <a:lnTo>
                    <a:pt x="4983" y="4161"/>
                  </a:lnTo>
                  <a:lnTo>
                    <a:pt x="4969" y="4191"/>
                  </a:lnTo>
                  <a:lnTo>
                    <a:pt x="4954" y="4222"/>
                  </a:lnTo>
                  <a:lnTo>
                    <a:pt x="4939" y="4252"/>
                  </a:lnTo>
                  <a:lnTo>
                    <a:pt x="4920" y="4281"/>
                  </a:lnTo>
                  <a:lnTo>
                    <a:pt x="4901" y="4309"/>
                  </a:lnTo>
                  <a:lnTo>
                    <a:pt x="4881" y="4335"/>
                  </a:lnTo>
                  <a:lnTo>
                    <a:pt x="4859" y="4361"/>
                  </a:lnTo>
                  <a:lnTo>
                    <a:pt x="4836" y="4387"/>
                  </a:lnTo>
                  <a:lnTo>
                    <a:pt x="4812" y="4411"/>
                  </a:lnTo>
                  <a:lnTo>
                    <a:pt x="4786" y="4435"/>
                  </a:lnTo>
                  <a:lnTo>
                    <a:pt x="4760" y="4458"/>
                  </a:lnTo>
                  <a:lnTo>
                    <a:pt x="4732" y="4480"/>
                  </a:lnTo>
                  <a:lnTo>
                    <a:pt x="2828" y="5621"/>
                  </a:lnTo>
                  <a:lnTo>
                    <a:pt x="2806" y="5632"/>
                  </a:lnTo>
                  <a:lnTo>
                    <a:pt x="2785" y="5643"/>
                  </a:lnTo>
                  <a:lnTo>
                    <a:pt x="2764" y="5652"/>
                  </a:lnTo>
                  <a:lnTo>
                    <a:pt x="2744" y="5661"/>
                  </a:lnTo>
                  <a:lnTo>
                    <a:pt x="2725" y="5668"/>
                  </a:lnTo>
                  <a:lnTo>
                    <a:pt x="2707" y="5675"/>
                  </a:lnTo>
                  <a:lnTo>
                    <a:pt x="2689" y="5681"/>
                  </a:lnTo>
                  <a:lnTo>
                    <a:pt x="2671" y="5685"/>
                  </a:lnTo>
                  <a:lnTo>
                    <a:pt x="2654" y="5690"/>
                  </a:lnTo>
                  <a:lnTo>
                    <a:pt x="2638" y="5692"/>
                  </a:lnTo>
                  <a:lnTo>
                    <a:pt x="2621" y="5694"/>
                  </a:lnTo>
                  <a:lnTo>
                    <a:pt x="2606" y="5695"/>
                  </a:lnTo>
                  <a:lnTo>
                    <a:pt x="2590" y="5696"/>
                  </a:lnTo>
                  <a:lnTo>
                    <a:pt x="2577" y="5695"/>
                  </a:lnTo>
                  <a:lnTo>
                    <a:pt x="2562" y="5694"/>
                  </a:lnTo>
                  <a:lnTo>
                    <a:pt x="2550" y="5692"/>
                  </a:lnTo>
                  <a:lnTo>
                    <a:pt x="2536" y="5690"/>
                  </a:lnTo>
                  <a:lnTo>
                    <a:pt x="2524" y="5685"/>
                  </a:lnTo>
                  <a:lnTo>
                    <a:pt x="2511" y="5681"/>
                  </a:lnTo>
                  <a:lnTo>
                    <a:pt x="2500" y="5676"/>
                  </a:lnTo>
                  <a:lnTo>
                    <a:pt x="2488" y="5670"/>
                  </a:lnTo>
                  <a:lnTo>
                    <a:pt x="2478" y="5664"/>
                  </a:lnTo>
                  <a:lnTo>
                    <a:pt x="2468" y="5656"/>
                  </a:lnTo>
                  <a:lnTo>
                    <a:pt x="2458" y="5648"/>
                  </a:lnTo>
                  <a:lnTo>
                    <a:pt x="2449" y="5639"/>
                  </a:lnTo>
                  <a:lnTo>
                    <a:pt x="2440" y="5630"/>
                  </a:lnTo>
                  <a:lnTo>
                    <a:pt x="2431" y="5619"/>
                  </a:lnTo>
                  <a:lnTo>
                    <a:pt x="2423" y="5608"/>
                  </a:lnTo>
                  <a:lnTo>
                    <a:pt x="2415" y="5597"/>
                  </a:lnTo>
                  <a:lnTo>
                    <a:pt x="2407" y="5584"/>
                  </a:lnTo>
                  <a:lnTo>
                    <a:pt x="2400" y="5572"/>
                  </a:lnTo>
                  <a:lnTo>
                    <a:pt x="2393" y="5558"/>
                  </a:lnTo>
                  <a:lnTo>
                    <a:pt x="2382" y="3423"/>
                  </a:lnTo>
                  <a:lnTo>
                    <a:pt x="2381" y="3392"/>
                  </a:lnTo>
                  <a:lnTo>
                    <a:pt x="2380" y="3363"/>
                  </a:lnTo>
                  <a:lnTo>
                    <a:pt x="2376" y="3332"/>
                  </a:lnTo>
                  <a:lnTo>
                    <a:pt x="2374" y="3303"/>
                  </a:lnTo>
                  <a:lnTo>
                    <a:pt x="2370" y="3274"/>
                  </a:lnTo>
                  <a:lnTo>
                    <a:pt x="2365" y="3245"/>
                  </a:lnTo>
                  <a:lnTo>
                    <a:pt x="2360" y="3216"/>
                  </a:lnTo>
                  <a:lnTo>
                    <a:pt x="2354" y="3188"/>
                  </a:lnTo>
                  <a:lnTo>
                    <a:pt x="2347" y="3161"/>
                  </a:lnTo>
                  <a:lnTo>
                    <a:pt x="2339" y="3134"/>
                  </a:lnTo>
                  <a:lnTo>
                    <a:pt x="2331" y="3106"/>
                  </a:lnTo>
                  <a:lnTo>
                    <a:pt x="2322" y="3079"/>
                  </a:lnTo>
                  <a:lnTo>
                    <a:pt x="2312" y="3053"/>
                  </a:lnTo>
                  <a:lnTo>
                    <a:pt x="2301" y="3027"/>
                  </a:lnTo>
                  <a:lnTo>
                    <a:pt x="2289" y="3002"/>
                  </a:lnTo>
                  <a:lnTo>
                    <a:pt x="2277" y="2977"/>
                  </a:lnTo>
                  <a:lnTo>
                    <a:pt x="2263" y="2952"/>
                  </a:lnTo>
                  <a:lnTo>
                    <a:pt x="2249" y="2927"/>
                  </a:lnTo>
                  <a:lnTo>
                    <a:pt x="2234" y="2904"/>
                  </a:lnTo>
                  <a:lnTo>
                    <a:pt x="2217" y="2881"/>
                  </a:lnTo>
                  <a:lnTo>
                    <a:pt x="2200" y="2857"/>
                  </a:lnTo>
                  <a:lnTo>
                    <a:pt x="2183" y="2834"/>
                  </a:lnTo>
                  <a:lnTo>
                    <a:pt x="2164" y="2813"/>
                  </a:lnTo>
                  <a:lnTo>
                    <a:pt x="2143" y="2791"/>
                  </a:lnTo>
                  <a:lnTo>
                    <a:pt x="2123" y="2770"/>
                  </a:lnTo>
                  <a:lnTo>
                    <a:pt x="2100" y="2749"/>
                  </a:lnTo>
                  <a:lnTo>
                    <a:pt x="2078" y="2729"/>
                  </a:lnTo>
                  <a:lnTo>
                    <a:pt x="2054" y="2709"/>
                  </a:lnTo>
                  <a:lnTo>
                    <a:pt x="2029" y="2689"/>
                  </a:lnTo>
                  <a:lnTo>
                    <a:pt x="2003" y="2671"/>
                  </a:lnTo>
                  <a:lnTo>
                    <a:pt x="1976" y="2652"/>
                  </a:lnTo>
                  <a:lnTo>
                    <a:pt x="1948" y="2635"/>
                  </a:lnTo>
                  <a:lnTo>
                    <a:pt x="86" y="1598"/>
                  </a:lnTo>
                  <a:close/>
                </a:path>
              </a:pathLst>
            </a:custGeom>
            <a:solidFill>
              <a:schemeClr val="accent5"/>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sp>
          <p:nvSpPr>
            <p:cNvPr id="1070" name="Google Shape;1070;p20"/>
            <p:cNvSpPr/>
            <p:nvPr/>
          </p:nvSpPr>
          <p:spPr>
            <a:xfrm>
              <a:off x="3343275" y="2246313"/>
              <a:ext cx="995363" cy="1130300"/>
            </a:xfrm>
            <a:custGeom>
              <a:avLst/>
              <a:gdLst/>
              <a:ahLst/>
              <a:cxnLst/>
              <a:rect l="l" t="t" r="r" b="b"/>
              <a:pathLst>
                <a:path w="5020" h="5696" extrusionOk="0">
                  <a:moveTo>
                    <a:pt x="4935" y="1599"/>
                  </a:moveTo>
                  <a:lnTo>
                    <a:pt x="4956" y="1577"/>
                  </a:lnTo>
                  <a:lnTo>
                    <a:pt x="4973" y="1556"/>
                  </a:lnTo>
                  <a:lnTo>
                    <a:pt x="4981" y="1544"/>
                  </a:lnTo>
                  <a:lnTo>
                    <a:pt x="4989" y="1534"/>
                  </a:lnTo>
                  <a:lnTo>
                    <a:pt x="4994" y="1524"/>
                  </a:lnTo>
                  <a:lnTo>
                    <a:pt x="5000" y="1513"/>
                  </a:lnTo>
                  <a:lnTo>
                    <a:pt x="5006" y="1502"/>
                  </a:lnTo>
                  <a:lnTo>
                    <a:pt x="5010" y="1491"/>
                  </a:lnTo>
                  <a:lnTo>
                    <a:pt x="5013" y="1481"/>
                  </a:lnTo>
                  <a:lnTo>
                    <a:pt x="5017" y="1469"/>
                  </a:lnTo>
                  <a:lnTo>
                    <a:pt x="5019" y="1459"/>
                  </a:lnTo>
                  <a:lnTo>
                    <a:pt x="5020" y="1448"/>
                  </a:lnTo>
                  <a:lnTo>
                    <a:pt x="5020" y="1438"/>
                  </a:lnTo>
                  <a:lnTo>
                    <a:pt x="5020" y="1428"/>
                  </a:lnTo>
                  <a:lnTo>
                    <a:pt x="5020" y="1416"/>
                  </a:lnTo>
                  <a:lnTo>
                    <a:pt x="5018" y="1406"/>
                  </a:lnTo>
                  <a:lnTo>
                    <a:pt x="5016" y="1395"/>
                  </a:lnTo>
                  <a:lnTo>
                    <a:pt x="5012" y="1384"/>
                  </a:lnTo>
                  <a:lnTo>
                    <a:pt x="5008" y="1373"/>
                  </a:lnTo>
                  <a:lnTo>
                    <a:pt x="5003" y="1363"/>
                  </a:lnTo>
                  <a:lnTo>
                    <a:pt x="4998" y="1353"/>
                  </a:lnTo>
                  <a:lnTo>
                    <a:pt x="4991" y="1341"/>
                  </a:lnTo>
                  <a:lnTo>
                    <a:pt x="4983" y="1331"/>
                  </a:lnTo>
                  <a:lnTo>
                    <a:pt x="4975" y="1320"/>
                  </a:lnTo>
                  <a:lnTo>
                    <a:pt x="4965" y="1310"/>
                  </a:lnTo>
                  <a:lnTo>
                    <a:pt x="4955" y="1298"/>
                  </a:lnTo>
                  <a:lnTo>
                    <a:pt x="4943" y="1288"/>
                  </a:lnTo>
                  <a:lnTo>
                    <a:pt x="4932" y="1278"/>
                  </a:lnTo>
                  <a:lnTo>
                    <a:pt x="4918" y="1267"/>
                  </a:lnTo>
                  <a:lnTo>
                    <a:pt x="4904" y="1256"/>
                  </a:lnTo>
                  <a:lnTo>
                    <a:pt x="2877" y="74"/>
                  </a:lnTo>
                  <a:lnTo>
                    <a:pt x="2846" y="58"/>
                  </a:lnTo>
                  <a:lnTo>
                    <a:pt x="2816" y="46"/>
                  </a:lnTo>
                  <a:lnTo>
                    <a:pt x="2785" y="34"/>
                  </a:lnTo>
                  <a:lnTo>
                    <a:pt x="2755" y="25"/>
                  </a:lnTo>
                  <a:lnTo>
                    <a:pt x="2723" y="17"/>
                  </a:lnTo>
                  <a:lnTo>
                    <a:pt x="2691" y="11"/>
                  </a:lnTo>
                  <a:lnTo>
                    <a:pt x="2658" y="6"/>
                  </a:lnTo>
                  <a:lnTo>
                    <a:pt x="2624" y="4"/>
                  </a:lnTo>
                  <a:lnTo>
                    <a:pt x="2591" y="2"/>
                  </a:lnTo>
                  <a:lnTo>
                    <a:pt x="2555" y="0"/>
                  </a:lnTo>
                  <a:lnTo>
                    <a:pt x="2520" y="0"/>
                  </a:lnTo>
                  <a:lnTo>
                    <a:pt x="2483" y="2"/>
                  </a:lnTo>
                  <a:lnTo>
                    <a:pt x="2407" y="6"/>
                  </a:lnTo>
                  <a:lnTo>
                    <a:pt x="2328" y="12"/>
                  </a:lnTo>
                  <a:lnTo>
                    <a:pt x="238" y="1225"/>
                  </a:lnTo>
                  <a:lnTo>
                    <a:pt x="208" y="1242"/>
                  </a:lnTo>
                  <a:lnTo>
                    <a:pt x="182" y="1260"/>
                  </a:lnTo>
                  <a:lnTo>
                    <a:pt x="156" y="1279"/>
                  </a:lnTo>
                  <a:lnTo>
                    <a:pt x="134" y="1298"/>
                  </a:lnTo>
                  <a:lnTo>
                    <a:pt x="112" y="1320"/>
                  </a:lnTo>
                  <a:lnTo>
                    <a:pt x="92" y="1341"/>
                  </a:lnTo>
                  <a:lnTo>
                    <a:pt x="74" y="1364"/>
                  </a:lnTo>
                  <a:lnTo>
                    <a:pt x="58" y="1387"/>
                  </a:lnTo>
                  <a:lnTo>
                    <a:pt x="43" y="1412"/>
                  </a:lnTo>
                  <a:lnTo>
                    <a:pt x="32" y="1437"/>
                  </a:lnTo>
                  <a:lnTo>
                    <a:pt x="22" y="1463"/>
                  </a:lnTo>
                  <a:lnTo>
                    <a:pt x="13" y="1490"/>
                  </a:lnTo>
                  <a:lnTo>
                    <a:pt x="7" y="1518"/>
                  </a:lnTo>
                  <a:lnTo>
                    <a:pt x="2" y="1548"/>
                  </a:lnTo>
                  <a:lnTo>
                    <a:pt x="0" y="1577"/>
                  </a:lnTo>
                  <a:lnTo>
                    <a:pt x="0" y="1609"/>
                  </a:lnTo>
                  <a:lnTo>
                    <a:pt x="0" y="4024"/>
                  </a:lnTo>
                  <a:lnTo>
                    <a:pt x="7" y="4060"/>
                  </a:lnTo>
                  <a:lnTo>
                    <a:pt x="16" y="4095"/>
                  </a:lnTo>
                  <a:lnTo>
                    <a:pt x="26" y="4128"/>
                  </a:lnTo>
                  <a:lnTo>
                    <a:pt x="39" y="4160"/>
                  </a:lnTo>
                  <a:lnTo>
                    <a:pt x="51" y="4192"/>
                  </a:lnTo>
                  <a:lnTo>
                    <a:pt x="67" y="4223"/>
                  </a:lnTo>
                  <a:lnTo>
                    <a:pt x="83" y="4252"/>
                  </a:lnTo>
                  <a:lnTo>
                    <a:pt x="101" y="4282"/>
                  </a:lnTo>
                  <a:lnTo>
                    <a:pt x="120" y="4309"/>
                  </a:lnTo>
                  <a:lnTo>
                    <a:pt x="140" y="4336"/>
                  </a:lnTo>
                  <a:lnTo>
                    <a:pt x="162" y="4362"/>
                  </a:lnTo>
                  <a:lnTo>
                    <a:pt x="185" y="4387"/>
                  </a:lnTo>
                  <a:lnTo>
                    <a:pt x="209" y="4412"/>
                  </a:lnTo>
                  <a:lnTo>
                    <a:pt x="234" y="4436"/>
                  </a:lnTo>
                  <a:lnTo>
                    <a:pt x="261" y="4459"/>
                  </a:lnTo>
                  <a:lnTo>
                    <a:pt x="290" y="4481"/>
                  </a:lnTo>
                  <a:lnTo>
                    <a:pt x="2193" y="5621"/>
                  </a:lnTo>
                  <a:lnTo>
                    <a:pt x="2215" y="5633"/>
                  </a:lnTo>
                  <a:lnTo>
                    <a:pt x="2236" y="5643"/>
                  </a:lnTo>
                  <a:lnTo>
                    <a:pt x="2257" y="5653"/>
                  </a:lnTo>
                  <a:lnTo>
                    <a:pt x="2276" y="5661"/>
                  </a:lnTo>
                  <a:lnTo>
                    <a:pt x="2295" y="5669"/>
                  </a:lnTo>
                  <a:lnTo>
                    <a:pt x="2315" y="5676"/>
                  </a:lnTo>
                  <a:lnTo>
                    <a:pt x="2333" y="5682"/>
                  </a:lnTo>
                  <a:lnTo>
                    <a:pt x="2350" y="5686"/>
                  </a:lnTo>
                  <a:lnTo>
                    <a:pt x="2367" y="5689"/>
                  </a:lnTo>
                  <a:lnTo>
                    <a:pt x="2384" y="5693"/>
                  </a:lnTo>
                  <a:lnTo>
                    <a:pt x="2399" y="5695"/>
                  </a:lnTo>
                  <a:lnTo>
                    <a:pt x="2415" y="5696"/>
                  </a:lnTo>
                  <a:lnTo>
                    <a:pt x="2430" y="5696"/>
                  </a:lnTo>
                  <a:lnTo>
                    <a:pt x="2445" y="5696"/>
                  </a:lnTo>
                  <a:lnTo>
                    <a:pt x="2458" y="5695"/>
                  </a:lnTo>
                  <a:lnTo>
                    <a:pt x="2472" y="5693"/>
                  </a:lnTo>
                  <a:lnTo>
                    <a:pt x="2485" y="5689"/>
                  </a:lnTo>
                  <a:lnTo>
                    <a:pt x="2498" y="5686"/>
                  </a:lnTo>
                  <a:lnTo>
                    <a:pt x="2509" y="5682"/>
                  </a:lnTo>
                  <a:lnTo>
                    <a:pt x="2520" y="5676"/>
                  </a:lnTo>
                  <a:lnTo>
                    <a:pt x="2532" y="5670"/>
                  </a:lnTo>
                  <a:lnTo>
                    <a:pt x="2543" y="5663"/>
                  </a:lnTo>
                  <a:lnTo>
                    <a:pt x="2553" y="5657"/>
                  </a:lnTo>
                  <a:lnTo>
                    <a:pt x="2563" y="5648"/>
                  </a:lnTo>
                  <a:lnTo>
                    <a:pt x="2572" y="5640"/>
                  </a:lnTo>
                  <a:lnTo>
                    <a:pt x="2581" y="5629"/>
                  </a:lnTo>
                  <a:lnTo>
                    <a:pt x="2591" y="5619"/>
                  </a:lnTo>
                  <a:lnTo>
                    <a:pt x="2598" y="5609"/>
                  </a:lnTo>
                  <a:lnTo>
                    <a:pt x="2606" y="5598"/>
                  </a:lnTo>
                  <a:lnTo>
                    <a:pt x="2614" y="5585"/>
                  </a:lnTo>
                  <a:lnTo>
                    <a:pt x="2621" y="5573"/>
                  </a:lnTo>
                  <a:lnTo>
                    <a:pt x="2628" y="5559"/>
                  </a:lnTo>
                  <a:lnTo>
                    <a:pt x="2638" y="3424"/>
                  </a:lnTo>
                  <a:lnTo>
                    <a:pt x="2639" y="3393"/>
                  </a:lnTo>
                  <a:lnTo>
                    <a:pt x="2641" y="3362"/>
                  </a:lnTo>
                  <a:lnTo>
                    <a:pt x="2644" y="3333"/>
                  </a:lnTo>
                  <a:lnTo>
                    <a:pt x="2647" y="3303"/>
                  </a:lnTo>
                  <a:lnTo>
                    <a:pt x="2650" y="3274"/>
                  </a:lnTo>
                  <a:lnTo>
                    <a:pt x="2655" y="3246"/>
                  </a:lnTo>
                  <a:lnTo>
                    <a:pt x="2661" y="3217"/>
                  </a:lnTo>
                  <a:lnTo>
                    <a:pt x="2667" y="3189"/>
                  </a:lnTo>
                  <a:lnTo>
                    <a:pt x="2674" y="3161"/>
                  </a:lnTo>
                  <a:lnTo>
                    <a:pt x="2681" y="3133"/>
                  </a:lnTo>
                  <a:lnTo>
                    <a:pt x="2690" y="3106"/>
                  </a:lnTo>
                  <a:lnTo>
                    <a:pt x="2699" y="3080"/>
                  </a:lnTo>
                  <a:lnTo>
                    <a:pt x="2709" y="3054"/>
                  </a:lnTo>
                  <a:lnTo>
                    <a:pt x="2719" y="3028"/>
                  </a:lnTo>
                  <a:lnTo>
                    <a:pt x="2732" y="3002"/>
                  </a:lnTo>
                  <a:lnTo>
                    <a:pt x="2744" y="2977"/>
                  </a:lnTo>
                  <a:lnTo>
                    <a:pt x="2758" y="2952"/>
                  </a:lnTo>
                  <a:lnTo>
                    <a:pt x="2772" y="2928"/>
                  </a:lnTo>
                  <a:lnTo>
                    <a:pt x="2787" y="2904"/>
                  </a:lnTo>
                  <a:lnTo>
                    <a:pt x="2803" y="2881"/>
                  </a:lnTo>
                  <a:lnTo>
                    <a:pt x="2820" y="2858"/>
                  </a:lnTo>
                  <a:lnTo>
                    <a:pt x="2838" y="2835"/>
                  </a:lnTo>
                  <a:lnTo>
                    <a:pt x="2857" y="2813"/>
                  </a:lnTo>
                  <a:lnTo>
                    <a:pt x="2877" y="2791"/>
                  </a:lnTo>
                  <a:lnTo>
                    <a:pt x="2898" y="2771"/>
                  </a:lnTo>
                  <a:lnTo>
                    <a:pt x="2920" y="2749"/>
                  </a:lnTo>
                  <a:lnTo>
                    <a:pt x="2942" y="2729"/>
                  </a:lnTo>
                  <a:lnTo>
                    <a:pt x="2967" y="2710"/>
                  </a:lnTo>
                  <a:lnTo>
                    <a:pt x="2992" y="2690"/>
                  </a:lnTo>
                  <a:lnTo>
                    <a:pt x="3018" y="2671"/>
                  </a:lnTo>
                  <a:lnTo>
                    <a:pt x="3044" y="2653"/>
                  </a:lnTo>
                  <a:lnTo>
                    <a:pt x="3072" y="2635"/>
                  </a:lnTo>
                  <a:lnTo>
                    <a:pt x="4935" y="1599"/>
                  </a:lnTo>
                  <a:close/>
                </a:path>
              </a:pathLst>
            </a:custGeom>
            <a:solidFill>
              <a:schemeClr val="accent4"/>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sp>
          <p:nvSpPr>
            <p:cNvPr id="1071" name="Google Shape;1071;p20"/>
            <p:cNvSpPr/>
            <p:nvPr/>
          </p:nvSpPr>
          <p:spPr>
            <a:xfrm>
              <a:off x="3957638" y="3570288"/>
              <a:ext cx="1019175" cy="863600"/>
            </a:xfrm>
            <a:custGeom>
              <a:avLst/>
              <a:gdLst/>
              <a:ahLst/>
              <a:cxnLst/>
              <a:rect l="l" t="t" r="r" b="b"/>
              <a:pathLst>
                <a:path w="5136" h="4353" extrusionOk="0">
                  <a:moveTo>
                    <a:pt x="287" y="14"/>
                  </a:moveTo>
                  <a:lnTo>
                    <a:pt x="259" y="7"/>
                  </a:lnTo>
                  <a:lnTo>
                    <a:pt x="232" y="3"/>
                  </a:lnTo>
                  <a:lnTo>
                    <a:pt x="218" y="2"/>
                  </a:lnTo>
                  <a:lnTo>
                    <a:pt x="206" y="0"/>
                  </a:lnTo>
                  <a:lnTo>
                    <a:pt x="194" y="0"/>
                  </a:lnTo>
                  <a:lnTo>
                    <a:pt x="181" y="0"/>
                  </a:lnTo>
                  <a:lnTo>
                    <a:pt x="169" y="2"/>
                  </a:lnTo>
                  <a:lnTo>
                    <a:pt x="157" y="4"/>
                  </a:lnTo>
                  <a:lnTo>
                    <a:pt x="146" y="5"/>
                  </a:lnTo>
                  <a:lnTo>
                    <a:pt x="136" y="8"/>
                  </a:lnTo>
                  <a:lnTo>
                    <a:pt x="126" y="12"/>
                  </a:lnTo>
                  <a:lnTo>
                    <a:pt x="116" y="15"/>
                  </a:lnTo>
                  <a:lnTo>
                    <a:pt x="106" y="21"/>
                  </a:lnTo>
                  <a:lnTo>
                    <a:pt x="96" y="25"/>
                  </a:lnTo>
                  <a:lnTo>
                    <a:pt x="88" y="32"/>
                  </a:lnTo>
                  <a:lnTo>
                    <a:pt x="79" y="39"/>
                  </a:lnTo>
                  <a:lnTo>
                    <a:pt x="71" y="47"/>
                  </a:lnTo>
                  <a:lnTo>
                    <a:pt x="63" y="55"/>
                  </a:lnTo>
                  <a:lnTo>
                    <a:pt x="57" y="64"/>
                  </a:lnTo>
                  <a:lnTo>
                    <a:pt x="50" y="73"/>
                  </a:lnTo>
                  <a:lnTo>
                    <a:pt x="44" y="83"/>
                  </a:lnTo>
                  <a:lnTo>
                    <a:pt x="37" y="95"/>
                  </a:lnTo>
                  <a:lnTo>
                    <a:pt x="33" y="107"/>
                  </a:lnTo>
                  <a:lnTo>
                    <a:pt x="27" y="119"/>
                  </a:lnTo>
                  <a:lnTo>
                    <a:pt x="23" y="133"/>
                  </a:lnTo>
                  <a:lnTo>
                    <a:pt x="19" y="148"/>
                  </a:lnTo>
                  <a:lnTo>
                    <a:pt x="15" y="163"/>
                  </a:lnTo>
                  <a:lnTo>
                    <a:pt x="13" y="178"/>
                  </a:lnTo>
                  <a:lnTo>
                    <a:pt x="9" y="195"/>
                  </a:lnTo>
                  <a:lnTo>
                    <a:pt x="7" y="212"/>
                  </a:lnTo>
                  <a:lnTo>
                    <a:pt x="0" y="2563"/>
                  </a:lnTo>
                  <a:lnTo>
                    <a:pt x="1" y="2597"/>
                  </a:lnTo>
                  <a:lnTo>
                    <a:pt x="5" y="2630"/>
                  </a:lnTo>
                  <a:lnTo>
                    <a:pt x="10" y="2662"/>
                  </a:lnTo>
                  <a:lnTo>
                    <a:pt x="18" y="2694"/>
                  </a:lnTo>
                  <a:lnTo>
                    <a:pt x="27" y="2725"/>
                  </a:lnTo>
                  <a:lnTo>
                    <a:pt x="37" y="2756"/>
                  </a:lnTo>
                  <a:lnTo>
                    <a:pt x="50" y="2787"/>
                  </a:lnTo>
                  <a:lnTo>
                    <a:pt x="65" y="2817"/>
                  </a:lnTo>
                  <a:lnTo>
                    <a:pt x="79" y="2848"/>
                  </a:lnTo>
                  <a:lnTo>
                    <a:pt x="96" y="2878"/>
                  </a:lnTo>
                  <a:lnTo>
                    <a:pt x="114" y="2909"/>
                  </a:lnTo>
                  <a:lnTo>
                    <a:pt x="134" y="2941"/>
                  </a:lnTo>
                  <a:lnTo>
                    <a:pt x="174" y="3004"/>
                  </a:lnTo>
                  <a:lnTo>
                    <a:pt x="220" y="3071"/>
                  </a:lnTo>
                  <a:lnTo>
                    <a:pt x="2313" y="4278"/>
                  </a:lnTo>
                  <a:lnTo>
                    <a:pt x="2343" y="4294"/>
                  </a:lnTo>
                  <a:lnTo>
                    <a:pt x="2372" y="4309"/>
                  </a:lnTo>
                  <a:lnTo>
                    <a:pt x="2400" y="4321"/>
                  </a:lnTo>
                  <a:lnTo>
                    <a:pt x="2430" y="4332"/>
                  </a:lnTo>
                  <a:lnTo>
                    <a:pt x="2458" y="4339"/>
                  </a:lnTo>
                  <a:lnTo>
                    <a:pt x="2486" y="4346"/>
                  </a:lnTo>
                  <a:lnTo>
                    <a:pt x="2516" y="4351"/>
                  </a:lnTo>
                  <a:lnTo>
                    <a:pt x="2543" y="4353"/>
                  </a:lnTo>
                  <a:lnTo>
                    <a:pt x="2571" y="4353"/>
                  </a:lnTo>
                  <a:lnTo>
                    <a:pt x="2600" y="4351"/>
                  </a:lnTo>
                  <a:lnTo>
                    <a:pt x="2628" y="4346"/>
                  </a:lnTo>
                  <a:lnTo>
                    <a:pt x="2655" y="4341"/>
                  </a:lnTo>
                  <a:lnTo>
                    <a:pt x="2682" y="4332"/>
                  </a:lnTo>
                  <a:lnTo>
                    <a:pt x="2710" y="4321"/>
                  </a:lnTo>
                  <a:lnTo>
                    <a:pt x="2738" y="4308"/>
                  </a:lnTo>
                  <a:lnTo>
                    <a:pt x="2765" y="4293"/>
                  </a:lnTo>
                  <a:lnTo>
                    <a:pt x="4852" y="3085"/>
                  </a:lnTo>
                  <a:lnTo>
                    <a:pt x="4879" y="3061"/>
                  </a:lnTo>
                  <a:lnTo>
                    <a:pt x="4905" y="3036"/>
                  </a:lnTo>
                  <a:lnTo>
                    <a:pt x="4929" y="3010"/>
                  </a:lnTo>
                  <a:lnTo>
                    <a:pt x="4950" y="2983"/>
                  </a:lnTo>
                  <a:lnTo>
                    <a:pt x="4970" y="2955"/>
                  </a:lnTo>
                  <a:lnTo>
                    <a:pt x="4990" y="2927"/>
                  </a:lnTo>
                  <a:lnTo>
                    <a:pt x="5008" y="2899"/>
                  </a:lnTo>
                  <a:lnTo>
                    <a:pt x="5024" y="2869"/>
                  </a:lnTo>
                  <a:lnTo>
                    <a:pt x="5038" y="2839"/>
                  </a:lnTo>
                  <a:lnTo>
                    <a:pt x="5051" y="2807"/>
                  </a:lnTo>
                  <a:lnTo>
                    <a:pt x="5063" y="2775"/>
                  </a:lnTo>
                  <a:lnTo>
                    <a:pt x="5073" y="2742"/>
                  </a:lnTo>
                  <a:lnTo>
                    <a:pt x="5082" y="2710"/>
                  </a:lnTo>
                  <a:lnTo>
                    <a:pt x="5090" y="2676"/>
                  </a:lnTo>
                  <a:lnTo>
                    <a:pt x="5096" y="2640"/>
                  </a:lnTo>
                  <a:lnTo>
                    <a:pt x="5102" y="2605"/>
                  </a:lnTo>
                  <a:lnTo>
                    <a:pt x="5136" y="382"/>
                  </a:lnTo>
                  <a:lnTo>
                    <a:pt x="5134" y="357"/>
                  </a:lnTo>
                  <a:lnTo>
                    <a:pt x="5133" y="335"/>
                  </a:lnTo>
                  <a:lnTo>
                    <a:pt x="5131" y="312"/>
                  </a:lnTo>
                  <a:lnTo>
                    <a:pt x="5129" y="291"/>
                  </a:lnTo>
                  <a:lnTo>
                    <a:pt x="5125" y="270"/>
                  </a:lnTo>
                  <a:lnTo>
                    <a:pt x="5122" y="250"/>
                  </a:lnTo>
                  <a:lnTo>
                    <a:pt x="5118" y="232"/>
                  </a:lnTo>
                  <a:lnTo>
                    <a:pt x="5113" y="215"/>
                  </a:lnTo>
                  <a:lnTo>
                    <a:pt x="5107" y="198"/>
                  </a:lnTo>
                  <a:lnTo>
                    <a:pt x="5102" y="182"/>
                  </a:lnTo>
                  <a:lnTo>
                    <a:pt x="5096" y="167"/>
                  </a:lnTo>
                  <a:lnTo>
                    <a:pt x="5089" y="152"/>
                  </a:lnTo>
                  <a:lnTo>
                    <a:pt x="5082" y="140"/>
                  </a:lnTo>
                  <a:lnTo>
                    <a:pt x="5075" y="127"/>
                  </a:lnTo>
                  <a:lnTo>
                    <a:pt x="5067" y="116"/>
                  </a:lnTo>
                  <a:lnTo>
                    <a:pt x="5058" y="105"/>
                  </a:lnTo>
                  <a:lnTo>
                    <a:pt x="5049" y="96"/>
                  </a:lnTo>
                  <a:lnTo>
                    <a:pt x="5039" y="87"/>
                  </a:lnTo>
                  <a:lnTo>
                    <a:pt x="5029" y="79"/>
                  </a:lnTo>
                  <a:lnTo>
                    <a:pt x="5019" y="71"/>
                  </a:lnTo>
                  <a:lnTo>
                    <a:pt x="5008" y="64"/>
                  </a:lnTo>
                  <a:lnTo>
                    <a:pt x="4998" y="58"/>
                  </a:lnTo>
                  <a:lnTo>
                    <a:pt x="4985" y="53"/>
                  </a:lnTo>
                  <a:lnTo>
                    <a:pt x="4974" y="48"/>
                  </a:lnTo>
                  <a:lnTo>
                    <a:pt x="4961" y="45"/>
                  </a:lnTo>
                  <a:lnTo>
                    <a:pt x="4949" y="41"/>
                  </a:lnTo>
                  <a:lnTo>
                    <a:pt x="4935" y="39"/>
                  </a:lnTo>
                  <a:lnTo>
                    <a:pt x="4922" y="37"/>
                  </a:lnTo>
                  <a:lnTo>
                    <a:pt x="4908" y="36"/>
                  </a:lnTo>
                  <a:lnTo>
                    <a:pt x="4894" y="36"/>
                  </a:lnTo>
                  <a:lnTo>
                    <a:pt x="4879" y="36"/>
                  </a:lnTo>
                  <a:lnTo>
                    <a:pt x="4864" y="37"/>
                  </a:lnTo>
                  <a:lnTo>
                    <a:pt x="3014" y="1095"/>
                  </a:lnTo>
                  <a:lnTo>
                    <a:pt x="2986" y="1110"/>
                  </a:lnTo>
                  <a:lnTo>
                    <a:pt x="2959" y="1123"/>
                  </a:lnTo>
                  <a:lnTo>
                    <a:pt x="2932" y="1136"/>
                  </a:lnTo>
                  <a:lnTo>
                    <a:pt x="2905" y="1148"/>
                  </a:lnTo>
                  <a:lnTo>
                    <a:pt x="2878" y="1159"/>
                  </a:lnTo>
                  <a:lnTo>
                    <a:pt x="2851" y="1169"/>
                  </a:lnTo>
                  <a:lnTo>
                    <a:pt x="2824" y="1179"/>
                  </a:lnTo>
                  <a:lnTo>
                    <a:pt x="2796" y="1187"/>
                  </a:lnTo>
                  <a:lnTo>
                    <a:pt x="2769" y="1195"/>
                  </a:lnTo>
                  <a:lnTo>
                    <a:pt x="2741" y="1203"/>
                  </a:lnTo>
                  <a:lnTo>
                    <a:pt x="2714" y="1209"/>
                  </a:lnTo>
                  <a:lnTo>
                    <a:pt x="2687" y="1214"/>
                  </a:lnTo>
                  <a:lnTo>
                    <a:pt x="2658" y="1219"/>
                  </a:lnTo>
                  <a:lnTo>
                    <a:pt x="2630" y="1222"/>
                  </a:lnTo>
                  <a:lnTo>
                    <a:pt x="2603" y="1225"/>
                  </a:lnTo>
                  <a:lnTo>
                    <a:pt x="2575" y="1227"/>
                  </a:lnTo>
                  <a:lnTo>
                    <a:pt x="2546" y="1227"/>
                  </a:lnTo>
                  <a:lnTo>
                    <a:pt x="2518" y="1227"/>
                  </a:lnTo>
                  <a:lnTo>
                    <a:pt x="2490" y="1226"/>
                  </a:lnTo>
                  <a:lnTo>
                    <a:pt x="2462" y="1223"/>
                  </a:lnTo>
                  <a:lnTo>
                    <a:pt x="2433" y="1220"/>
                  </a:lnTo>
                  <a:lnTo>
                    <a:pt x="2405" y="1216"/>
                  </a:lnTo>
                  <a:lnTo>
                    <a:pt x="2377" y="1210"/>
                  </a:lnTo>
                  <a:lnTo>
                    <a:pt x="2347" y="1204"/>
                  </a:lnTo>
                  <a:lnTo>
                    <a:pt x="2319" y="1196"/>
                  </a:lnTo>
                  <a:lnTo>
                    <a:pt x="2290" y="1188"/>
                  </a:lnTo>
                  <a:lnTo>
                    <a:pt x="2261" y="1178"/>
                  </a:lnTo>
                  <a:lnTo>
                    <a:pt x="2232" y="1167"/>
                  </a:lnTo>
                  <a:lnTo>
                    <a:pt x="2203" y="1155"/>
                  </a:lnTo>
                  <a:lnTo>
                    <a:pt x="2173" y="1142"/>
                  </a:lnTo>
                  <a:lnTo>
                    <a:pt x="2144" y="1128"/>
                  </a:lnTo>
                  <a:lnTo>
                    <a:pt x="2114" y="1112"/>
                  </a:lnTo>
                  <a:lnTo>
                    <a:pt x="287" y="14"/>
                  </a:lnTo>
                  <a:close/>
                </a:path>
              </a:pathLst>
            </a:custGeom>
            <a:solidFill>
              <a:schemeClr val="accent3"/>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grpSp>
      <p:sp>
        <p:nvSpPr>
          <p:cNvPr id="1072" name="Google Shape;1072;p20"/>
          <p:cNvSpPr txBox="1"/>
          <p:nvPr/>
        </p:nvSpPr>
        <p:spPr>
          <a:xfrm>
            <a:off x="7160838" y="2508148"/>
            <a:ext cx="1680578" cy="3772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799"/>
              <a:buFont typeface="Calibri"/>
              <a:buNone/>
            </a:pPr>
            <a:r>
              <a:rPr lang="en-US" sz="1799" b="1" i="0" u="none" strike="noStrike" cap="none">
                <a:solidFill>
                  <a:srgbClr val="FFFFFF"/>
                </a:solidFill>
                <a:latin typeface="Calibri"/>
                <a:ea typeface="Calibri"/>
                <a:cs typeface="Calibri"/>
                <a:sym typeface="Calibri"/>
              </a:rPr>
              <a:t>Development</a:t>
            </a:r>
            <a:endParaRPr/>
          </a:p>
        </p:txBody>
      </p:sp>
      <p:sp>
        <p:nvSpPr>
          <p:cNvPr id="1073" name="Google Shape;1073;p20"/>
          <p:cNvSpPr txBox="1"/>
          <p:nvPr/>
        </p:nvSpPr>
        <p:spPr>
          <a:xfrm>
            <a:off x="5791306" y="4658478"/>
            <a:ext cx="1530647" cy="3772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799"/>
              <a:buFont typeface="Calibri"/>
              <a:buNone/>
            </a:pPr>
            <a:r>
              <a:rPr lang="en-US" sz="1799" b="1" i="0" u="none" strike="noStrike" cap="none">
                <a:solidFill>
                  <a:srgbClr val="FFFFFF"/>
                </a:solidFill>
                <a:latin typeface="Calibri"/>
                <a:ea typeface="Calibri"/>
                <a:cs typeface="Calibri"/>
                <a:sym typeface="Calibri"/>
              </a:rPr>
              <a:t>Deployment</a:t>
            </a:r>
            <a:endParaRPr/>
          </a:p>
        </p:txBody>
      </p:sp>
      <p:sp>
        <p:nvSpPr>
          <p:cNvPr id="1074" name="Google Shape;1074;p20"/>
          <p:cNvSpPr txBox="1"/>
          <p:nvPr/>
        </p:nvSpPr>
        <p:spPr>
          <a:xfrm>
            <a:off x="8654755" y="4658478"/>
            <a:ext cx="1680578" cy="37729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799"/>
              <a:buFont typeface="Calibri"/>
              <a:buNone/>
            </a:pPr>
            <a:r>
              <a:rPr lang="en-US" sz="1799" b="1" i="0" u="none" strike="noStrike" cap="none">
                <a:solidFill>
                  <a:srgbClr val="FFFFFF"/>
                </a:solidFill>
                <a:latin typeface="Calibri"/>
                <a:ea typeface="Calibri"/>
                <a:cs typeface="Calibri"/>
                <a:sym typeface="Calibri"/>
              </a:rPr>
              <a:t>Testing</a:t>
            </a:r>
            <a:endParaRPr/>
          </a:p>
        </p:txBody>
      </p:sp>
      <p:sp>
        <p:nvSpPr>
          <p:cNvPr id="1075" name="Google Shape;1075;p20"/>
          <p:cNvSpPr txBox="1"/>
          <p:nvPr/>
        </p:nvSpPr>
        <p:spPr>
          <a:xfrm>
            <a:off x="4297470" y="4524043"/>
            <a:ext cx="1338923" cy="646163"/>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Up and Down</a:t>
            </a:r>
            <a:endParaRPr/>
          </a:p>
        </p:txBody>
      </p:sp>
      <p:sp>
        <p:nvSpPr>
          <p:cNvPr id="1076" name="Google Shape;1076;p20"/>
          <p:cNvSpPr txBox="1"/>
          <p:nvPr/>
        </p:nvSpPr>
        <p:spPr>
          <a:xfrm>
            <a:off x="6931688" y="1125098"/>
            <a:ext cx="2160883" cy="6461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Build Application &amp; Services</a:t>
            </a:r>
            <a:endParaRPr/>
          </a:p>
        </p:txBody>
      </p:sp>
      <p:sp>
        <p:nvSpPr>
          <p:cNvPr id="1077" name="Google Shape;1077;p20"/>
          <p:cNvSpPr txBox="1"/>
          <p:nvPr/>
        </p:nvSpPr>
        <p:spPr>
          <a:xfrm>
            <a:off x="10262383" y="4524043"/>
            <a:ext cx="1680578" cy="6461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Monitor and Upgrade</a:t>
            </a:r>
            <a:endParaRPr/>
          </a:p>
        </p:txBody>
      </p:sp>
      <p:sp>
        <p:nvSpPr>
          <p:cNvPr id="1078" name="Google Shape;1078;p20" descr="Repeat with solid fill"/>
          <p:cNvSpPr/>
          <p:nvPr/>
        </p:nvSpPr>
        <p:spPr>
          <a:xfrm>
            <a:off x="7537653" y="3818314"/>
            <a:ext cx="914162" cy="914162"/>
          </a:xfrm>
          <a:prstGeom prst="rect">
            <a:avLst/>
          </a:prstGeom>
          <a:noFill/>
          <a:ln>
            <a:noFill/>
          </a:ln>
        </p:spPr>
      </p:sp>
      <p:sp>
        <p:nvSpPr>
          <p:cNvPr id="1079" name="Google Shape;1079;p20" descr="Sort with solid fill"/>
          <p:cNvSpPr/>
          <p:nvPr/>
        </p:nvSpPr>
        <p:spPr>
          <a:xfrm>
            <a:off x="6664874" y="3459653"/>
            <a:ext cx="567623" cy="567623"/>
          </a:xfrm>
          <a:prstGeom prst="rect">
            <a:avLst/>
          </a:prstGeom>
          <a:noFill/>
          <a:ln>
            <a:noFill/>
          </a:ln>
        </p:spPr>
      </p:sp>
      <p:sp>
        <p:nvSpPr>
          <p:cNvPr id="1080" name="Google Shape;1080;p20" descr="Checklist with solid fill"/>
          <p:cNvSpPr/>
          <p:nvPr/>
        </p:nvSpPr>
        <p:spPr>
          <a:xfrm>
            <a:off x="7702313" y="5180526"/>
            <a:ext cx="567623" cy="567623"/>
          </a:xfrm>
          <a:prstGeom prst="rect">
            <a:avLst/>
          </a:prstGeom>
          <a:noFill/>
          <a:ln>
            <a:noFill/>
          </a:ln>
        </p:spPr>
      </p:sp>
      <p:sp>
        <p:nvSpPr>
          <p:cNvPr id="1081" name="Google Shape;1081;p20" descr="Hockey Stick Curve Graph with solid fill"/>
          <p:cNvSpPr/>
          <p:nvPr/>
        </p:nvSpPr>
        <p:spPr>
          <a:xfrm>
            <a:off x="8768051" y="3413168"/>
            <a:ext cx="567623" cy="567623"/>
          </a:xfrm>
          <a:prstGeom prst="rect">
            <a:avLst/>
          </a:prstGeom>
          <a:noFill/>
          <a:ln>
            <a:noFill/>
          </a:ln>
        </p:spPr>
      </p:sp>
      <p:grpSp>
        <p:nvGrpSpPr>
          <p:cNvPr id="1082" name="Google Shape;1082;p20"/>
          <p:cNvGrpSpPr/>
          <p:nvPr/>
        </p:nvGrpSpPr>
        <p:grpSpPr>
          <a:xfrm>
            <a:off x="655150" y="1003615"/>
            <a:ext cx="6061363" cy="489687"/>
            <a:chOff x="208378" y="1210958"/>
            <a:chExt cx="8097070" cy="654148"/>
          </a:xfrm>
        </p:grpSpPr>
        <p:sp>
          <p:nvSpPr>
            <p:cNvPr id="1083" name="Google Shape;1083;p20"/>
            <p:cNvSpPr/>
            <p:nvPr/>
          </p:nvSpPr>
          <p:spPr>
            <a:xfrm>
              <a:off x="208378" y="1210958"/>
              <a:ext cx="654148" cy="654148"/>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084" name="Google Shape;1084;p20"/>
            <p:cNvSpPr/>
            <p:nvPr/>
          </p:nvSpPr>
          <p:spPr>
            <a:xfrm>
              <a:off x="489878" y="1819386"/>
              <a:ext cx="7815570" cy="4572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085" name="Google Shape;1085;p20"/>
            <p:cNvSpPr/>
            <p:nvPr/>
          </p:nvSpPr>
          <p:spPr>
            <a:xfrm>
              <a:off x="265143" y="1267723"/>
              <a:ext cx="540618" cy="54061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9BBB59"/>
                </a:buClr>
                <a:buSzPts val="1999"/>
                <a:buFont typeface="Calibri"/>
                <a:buNone/>
              </a:pPr>
              <a:r>
                <a:rPr lang="en-US" sz="1999" b="1" i="0" u="none" strike="noStrike" cap="none">
                  <a:solidFill>
                    <a:srgbClr val="9BBB59"/>
                  </a:solidFill>
                  <a:latin typeface="Calibri"/>
                  <a:ea typeface="Calibri"/>
                  <a:cs typeface="Calibri"/>
                  <a:sym typeface="Calibri"/>
                </a:rPr>
                <a:t>1</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9"/>
        <p:cNvGrpSpPr/>
        <p:nvPr/>
      </p:nvGrpSpPr>
      <p:grpSpPr>
        <a:xfrm>
          <a:off x="0" y="0"/>
          <a:ext cx="0" cy="0"/>
          <a:chOff x="0" y="0"/>
          <a:chExt cx="0" cy="0"/>
        </a:xfrm>
      </p:grpSpPr>
      <p:sp>
        <p:nvSpPr>
          <p:cNvPr id="1090" name="Google Shape;1090;p21"/>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Why CF (2)</a:t>
            </a:r>
            <a:endParaRPr/>
          </a:p>
        </p:txBody>
      </p:sp>
      <p:sp>
        <p:nvSpPr>
          <p:cNvPr id="1091" name="Google Shape;1091;p21"/>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1092" name="Google Shape;1092;p21"/>
          <p:cNvPicPr preferRelativeResize="0"/>
          <p:nvPr/>
        </p:nvPicPr>
        <p:blipFill rotWithShape="1">
          <a:blip r:embed="rId3">
            <a:alphaModFix/>
          </a:blip>
          <a:srcRect/>
          <a:stretch/>
        </p:blipFill>
        <p:spPr>
          <a:xfrm>
            <a:off x="11088469" y="53543"/>
            <a:ext cx="929479" cy="918051"/>
          </a:xfrm>
          <a:prstGeom prst="rect">
            <a:avLst/>
          </a:prstGeom>
          <a:noFill/>
          <a:ln>
            <a:noFill/>
          </a:ln>
        </p:spPr>
      </p:pic>
      <p:grpSp>
        <p:nvGrpSpPr>
          <p:cNvPr id="1093" name="Google Shape;1093;p21"/>
          <p:cNvGrpSpPr/>
          <p:nvPr/>
        </p:nvGrpSpPr>
        <p:grpSpPr>
          <a:xfrm>
            <a:off x="6094413" y="1613572"/>
            <a:ext cx="5278380" cy="4475334"/>
            <a:chOff x="6237459" y="1535378"/>
            <a:chExt cx="2651760" cy="3293762"/>
          </a:xfrm>
        </p:grpSpPr>
        <p:sp>
          <p:nvSpPr>
            <p:cNvPr id="1094" name="Google Shape;1094;p21"/>
            <p:cNvSpPr/>
            <p:nvPr/>
          </p:nvSpPr>
          <p:spPr>
            <a:xfrm rot="10800000" flipH="1">
              <a:off x="6237459" y="1535378"/>
              <a:ext cx="2651760" cy="647148"/>
            </a:xfrm>
            <a:prstGeom prst="snip2SameRect">
              <a:avLst>
                <a:gd name="adj1" fmla="val 40871"/>
                <a:gd name="adj2" fmla="val 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350"/>
                <a:buFont typeface="Calibri"/>
                <a:buNone/>
              </a:pPr>
              <a:endParaRPr sz="1350" b="0" i="0" u="none" strike="noStrike" cap="none">
                <a:solidFill>
                  <a:srgbClr val="FFFFFF"/>
                </a:solidFill>
                <a:latin typeface="Calibri"/>
                <a:ea typeface="Calibri"/>
                <a:cs typeface="Calibri"/>
                <a:sym typeface="Calibri"/>
              </a:endParaRPr>
            </a:p>
          </p:txBody>
        </p:sp>
        <p:sp>
          <p:nvSpPr>
            <p:cNvPr id="1095" name="Google Shape;1095;p21"/>
            <p:cNvSpPr/>
            <p:nvPr/>
          </p:nvSpPr>
          <p:spPr>
            <a:xfrm>
              <a:off x="8152620" y="4192351"/>
              <a:ext cx="736599" cy="636789"/>
            </a:xfrm>
            <a:prstGeom prst="snip2SameRect">
              <a:avLst>
                <a:gd name="adj1" fmla="val 40871"/>
                <a:gd name="adj2" fmla="val 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A</a:t>
              </a:r>
              <a:endParaRPr/>
            </a:p>
          </p:txBody>
        </p:sp>
        <p:sp>
          <p:nvSpPr>
            <p:cNvPr id="1096" name="Google Shape;1096;p21"/>
            <p:cNvSpPr/>
            <p:nvPr/>
          </p:nvSpPr>
          <p:spPr>
            <a:xfrm>
              <a:off x="6286364" y="1589037"/>
              <a:ext cx="2553951" cy="3186444"/>
            </a:xfrm>
            <a:prstGeom prst="rect">
              <a:avLst/>
            </a:prstGeom>
            <a:solidFill>
              <a:schemeClr val="lt1"/>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1" i="0" u="none" strike="noStrike" cap="none" baseline="-25000">
                <a:solidFill>
                  <a:srgbClr val="C0504D"/>
                </a:solidFill>
                <a:latin typeface="Calibri"/>
                <a:ea typeface="Calibri"/>
                <a:cs typeface="Calibri"/>
                <a:sym typeface="Calibri"/>
              </a:endParaRPr>
            </a:p>
          </p:txBody>
        </p:sp>
      </p:grpSp>
      <p:sp>
        <p:nvSpPr>
          <p:cNvPr id="1097" name="Google Shape;1097;p21"/>
          <p:cNvSpPr/>
          <p:nvPr/>
        </p:nvSpPr>
        <p:spPr>
          <a:xfrm>
            <a:off x="6492098" y="2714064"/>
            <a:ext cx="4524326" cy="2159808"/>
          </a:xfrm>
          <a:prstGeom prst="rect">
            <a:avLst/>
          </a:prstGeom>
          <a:solidFill>
            <a:srgbClr val="E5DF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pic>
        <p:nvPicPr>
          <p:cNvPr id="1098" name="Google Shape;1098;p21" descr="StrongLoop - Deploying LoopBack mBaaS on Cloud Foundry"/>
          <p:cNvPicPr preferRelativeResize="0"/>
          <p:nvPr/>
        </p:nvPicPr>
        <p:blipFill rotWithShape="1">
          <a:blip r:embed="rId4">
            <a:alphaModFix/>
          </a:blip>
          <a:srcRect/>
          <a:stretch/>
        </p:blipFill>
        <p:spPr>
          <a:xfrm>
            <a:off x="655150" y="1338808"/>
            <a:ext cx="3057747" cy="3057747"/>
          </a:xfrm>
          <a:prstGeom prst="rect">
            <a:avLst/>
          </a:prstGeom>
          <a:noFill/>
          <a:ln>
            <a:noFill/>
          </a:ln>
        </p:spPr>
      </p:pic>
      <p:sp>
        <p:nvSpPr>
          <p:cNvPr id="1099" name="Google Shape;1099;p21"/>
          <p:cNvSpPr txBox="1"/>
          <p:nvPr/>
        </p:nvSpPr>
        <p:spPr>
          <a:xfrm>
            <a:off x="6963382" y="1834524"/>
            <a:ext cx="3540441" cy="4000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94429"/>
              </a:buClr>
              <a:buSzPts val="1999"/>
              <a:buFont typeface="Calibri"/>
              <a:buNone/>
            </a:pPr>
            <a:r>
              <a:rPr lang="en-US" sz="1999" b="1" i="0" u="none" strike="noStrike" cap="none">
                <a:solidFill>
                  <a:srgbClr val="494429"/>
                </a:solidFill>
                <a:latin typeface="Calibri"/>
                <a:ea typeface="Calibri"/>
                <a:cs typeface="Calibri"/>
                <a:sym typeface="Calibri"/>
              </a:rPr>
              <a:t>Cell</a:t>
            </a:r>
            <a:endParaRPr/>
          </a:p>
        </p:txBody>
      </p:sp>
      <p:sp>
        <p:nvSpPr>
          <p:cNvPr id="1100" name="Google Shape;1100;p21"/>
          <p:cNvSpPr txBox="1"/>
          <p:nvPr/>
        </p:nvSpPr>
        <p:spPr>
          <a:xfrm>
            <a:off x="6963382" y="2714064"/>
            <a:ext cx="3540441" cy="4000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94429"/>
              </a:buClr>
              <a:buSzPts val="1999"/>
              <a:buFont typeface="Calibri"/>
              <a:buNone/>
            </a:pPr>
            <a:r>
              <a:rPr lang="en-US" sz="1999" b="1" i="0" u="none" strike="noStrike" cap="none">
                <a:solidFill>
                  <a:srgbClr val="494429"/>
                </a:solidFill>
                <a:latin typeface="Calibri"/>
                <a:ea typeface="Calibri"/>
                <a:cs typeface="Calibri"/>
                <a:sym typeface="Calibri"/>
              </a:rPr>
              <a:t>Garden = execution</a:t>
            </a:r>
            <a:endParaRPr/>
          </a:p>
        </p:txBody>
      </p:sp>
      <p:grpSp>
        <p:nvGrpSpPr>
          <p:cNvPr id="1101" name="Google Shape;1101;p21"/>
          <p:cNvGrpSpPr/>
          <p:nvPr/>
        </p:nvGrpSpPr>
        <p:grpSpPr>
          <a:xfrm>
            <a:off x="6626382" y="3284542"/>
            <a:ext cx="4214441" cy="1395006"/>
            <a:chOff x="6991787" y="4217461"/>
            <a:chExt cx="2309301" cy="764393"/>
          </a:xfrm>
        </p:grpSpPr>
        <p:pic>
          <p:nvPicPr>
            <p:cNvPr id="1102" name="Google Shape;1102;p21" descr="Iris Hexagon Svg Png Icon Free Download (#561954) - OnlineWebFonts.COM"/>
            <p:cNvPicPr preferRelativeResize="0"/>
            <p:nvPr/>
          </p:nvPicPr>
          <p:blipFill rotWithShape="1">
            <a:blip r:embed="rId5">
              <a:alphaModFix/>
            </a:blip>
            <a:srcRect/>
            <a:stretch/>
          </p:blipFill>
          <p:spPr>
            <a:xfrm>
              <a:off x="6991787" y="4217461"/>
              <a:ext cx="643172" cy="745106"/>
            </a:xfrm>
            <a:prstGeom prst="rect">
              <a:avLst/>
            </a:prstGeom>
            <a:noFill/>
            <a:ln>
              <a:noFill/>
            </a:ln>
          </p:spPr>
        </p:pic>
        <p:pic>
          <p:nvPicPr>
            <p:cNvPr id="1103" name="Google Shape;1103;p21" descr="Iris Hexagon Svg Png Icon Free Download (#561954) - OnlineWebFonts.COM"/>
            <p:cNvPicPr preferRelativeResize="0"/>
            <p:nvPr/>
          </p:nvPicPr>
          <p:blipFill rotWithShape="1">
            <a:blip r:embed="rId6">
              <a:alphaModFix/>
            </a:blip>
            <a:srcRect/>
            <a:stretch/>
          </p:blipFill>
          <p:spPr>
            <a:xfrm>
              <a:off x="7797469" y="4236748"/>
              <a:ext cx="643172" cy="745106"/>
            </a:xfrm>
            <a:prstGeom prst="rect">
              <a:avLst/>
            </a:prstGeom>
            <a:noFill/>
            <a:ln>
              <a:noFill/>
            </a:ln>
          </p:spPr>
        </p:pic>
        <p:pic>
          <p:nvPicPr>
            <p:cNvPr id="1104" name="Google Shape;1104;p21" descr="Iris Hexagon Svg Png Icon Free Download (#561954) - OnlineWebFonts.COM"/>
            <p:cNvPicPr preferRelativeResize="0"/>
            <p:nvPr/>
          </p:nvPicPr>
          <p:blipFill rotWithShape="1">
            <a:blip r:embed="rId7">
              <a:alphaModFix/>
            </a:blip>
            <a:srcRect/>
            <a:stretch/>
          </p:blipFill>
          <p:spPr>
            <a:xfrm>
              <a:off x="8657916" y="4225992"/>
              <a:ext cx="643172" cy="745106"/>
            </a:xfrm>
            <a:prstGeom prst="rect">
              <a:avLst/>
            </a:prstGeom>
            <a:noFill/>
            <a:ln>
              <a:noFill/>
            </a:ln>
          </p:spPr>
        </p:pic>
      </p:grpSp>
      <p:sp>
        <p:nvSpPr>
          <p:cNvPr id="1105" name="Google Shape;1105;p21"/>
          <p:cNvSpPr txBox="1"/>
          <p:nvPr/>
        </p:nvSpPr>
        <p:spPr>
          <a:xfrm>
            <a:off x="6387450" y="5136628"/>
            <a:ext cx="1651641" cy="4000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94429"/>
              </a:buClr>
              <a:buSzPts val="1999"/>
              <a:buFont typeface="Calibri"/>
              <a:buNone/>
            </a:pPr>
            <a:r>
              <a:rPr lang="en-US" sz="1999" b="1" i="0" u="none" strike="noStrike" cap="none">
                <a:solidFill>
                  <a:srgbClr val="494429"/>
                </a:solidFill>
                <a:latin typeface="Calibri"/>
                <a:ea typeface="Calibri"/>
                <a:cs typeface="Calibri"/>
                <a:sym typeface="Calibri"/>
              </a:rPr>
              <a:t>Containers</a:t>
            </a:r>
            <a:endParaRPr/>
          </a:p>
        </p:txBody>
      </p:sp>
      <p:cxnSp>
        <p:nvCxnSpPr>
          <p:cNvPr id="1106" name="Google Shape;1106;p21"/>
          <p:cNvCxnSpPr/>
          <p:nvPr/>
        </p:nvCxnSpPr>
        <p:spPr>
          <a:xfrm>
            <a:off x="7195139" y="4679547"/>
            <a:ext cx="0" cy="457081"/>
          </a:xfrm>
          <a:prstGeom prst="straightConnector1">
            <a:avLst/>
          </a:prstGeom>
          <a:noFill/>
          <a:ln w="9525" cap="flat" cmpd="sng">
            <a:solidFill>
              <a:schemeClr val="dk1"/>
            </a:solidFill>
            <a:prstDash val="solid"/>
            <a:round/>
            <a:headEnd type="none" w="sm" len="sm"/>
            <a:tailEnd type="none" w="sm" len="sm"/>
          </a:ln>
        </p:spPr>
      </p:cxnSp>
      <p:sp>
        <p:nvSpPr>
          <p:cNvPr id="1107" name="Google Shape;1107;p21"/>
          <p:cNvSpPr txBox="1"/>
          <p:nvPr/>
        </p:nvSpPr>
        <p:spPr>
          <a:xfrm>
            <a:off x="1144837" y="1063745"/>
            <a:ext cx="6921547" cy="4000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999"/>
              <a:buFont typeface="Calibri"/>
              <a:buNone/>
            </a:pPr>
            <a:r>
              <a:rPr lang="en-US" sz="1999" b="1" i="0" u="none" strike="noStrike" cap="none">
                <a:solidFill>
                  <a:srgbClr val="000000"/>
                </a:solidFill>
                <a:latin typeface="Calibri"/>
                <a:ea typeface="Calibri"/>
                <a:cs typeface="Calibri"/>
                <a:sym typeface="Calibri"/>
              </a:rPr>
              <a:t>Self healing container management system</a:t>
            </a:r>
            <a:endParaRPr/>
          </a:p>
        </p:txBody>
      </p:sp>
      <p:grpSp>
        <p:nvGrpSpPr>
          <p:cNvPr id="1108" name="Google Shape;1108;p21"/>
          <p:cNvGrpSpPr/>
          <p:nvPr/>
        </p:nvGrpSpPr>
        <p:grpSpPr>
          <a:xfrm>
            <a:off x="655150" y="1003615"/>
            <a:ext cx="6061363" cy="489687"/>
            <a:chOff x="208378" y="1210958"/>
            <a:chExt cx="8097066" cy="654148"/>
          </a:xfrm>
        </p:grpSpPr>
        <p:sp>
          <p:nvSpPr>
            <p:cNvPr id="1109" name="Google Shape;1109;p21"/>
            <p:cNvSpPr/>
            <p:nvPr/>
          </p:nvSpPr>
          <p:spPr>
            <a:xfrm>
              <a:off x="208378" y="1210958"/>
              <a:ext cx="654148" cy="654148"/>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10" name="Google Shape;1110;p21"/>
            <p:cNvSpPr/>
            <p:nvPr/>
          </p:nvSpPr>
          <p:spPr>
            <a:xfrm>
              <a:off x="489878" y="1819386"/>
              <a:ext cx="7815566" cy="4572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11" name="Google Shape;1111;p21"/>
            <p:cNvSpPr/>
            <p:nvPr/>
          </p:nvSpPr>
          <p:spPr>
            <a:xfrm>
              <a:off x="265143" y="1267723"/>
              <a:ext cx="540618" cy="54061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9BBB59"/>
                </a:buClr>
                <a:buSzPts val="1999"/>
                <a:buFont typeface="Calibri"/>
                <a:buNone/>
              </a:pPr>
              <a:r>
                <a:rPr lang="en-US" sz="1999" b="1" i="0" u="none" strike="noStrike" cap="none">
                  <a:solidFill>
                    <a:srgbClr val="9BBB59"/>
                  </a:solidFill>
                  <a:latin typeface="Calibri"/>
                  <a:ea typeface="Calibri"/>
                  <a:cs typeface="Calibri"/>
                  <a:sym typeface="Calibri"/>
                </a:rPr>
                <a:t>2</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5"/>
        <p:cNvGrpSpPr/>
        <p:nvPr/>
      </p:nvGrpSpPr>
      <p:grpSpPr>
        <a:xfrm>
          <a:off x="0" y="0"/>
          <a:ext cx="0" cy="0"/>
          <a:chOff x="0" y="0"/>
          <a:chExt cx="0" cy="0"/>
        </a:xfrm>
      </p:grpSpPr>
      <p:sp>
        <p:nvSpPr>
          <p:cNvPr id="1116" name="Google Shape;1116;p22"/>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Why CF (3)</a:t>
            </a:r>
            <a:endParaRPr/>
          </a:p>
        </p:txBody>
      </p:sp>
      <p:sp>
        <p:nvSpPr>
          <p:cNvPr id="1117" name="Google Shape;1117;p22"/>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1118" name="Google Shape;1118;p22"/>
          <p:cNvPicPr preferRelativeResize="0"/>
          <p:nvPr/>
        </p:nvPicPr>
        <p:blipFill rotWithShape="1">
          <a:blip r:embed="rId3">
            <a:alphaModFix/>
          </a:blip>
          <a:srcRect/>
          <a:stretch/>
        </p:blipFill>
        <p:spPr>
          <a:xfrm>
            <a:off x="11088469" y="53543"/>
            <a:ext cx="929479" cy="918051"/>
          </a:xfrm>
          <a:prstGeom prst="rect">
            <a:avLst/>
          </a:prstGeom>
          <a:noFill/>
          <a:ln>
            <a:noFill/>
          </a:ln>
        </p:spPr>
      </p:pic>
      <p:sp>
        <p:nvSpPr>
          <p:cNvPr id="1119" name="Google Shape;1119;p22"/>
          <p:cNvSpPr txBox="1"/>
          <p:nvPr/>
        </p:nvSpPr>
        <p:spPr>
          <a:xfrm>
            <a:off x="1144837" y="1063745"/>
            <a:ext cx="6921547" cy="4000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999"/>
              <a:buFont typeface="Calibri"/>
              <a:buNone/>
            </a:pPr>
            <a:r>
              <a:rPr lang="en-US" sz="1999" b="1" i="0" u="none" strike="noStrike" cap="none">
                <a:solidFill>
                  <a:srgbClr val="000000"/>
                </a:solidFill>
                <a:latin typeface="Calibri"/>
                <a:ea typeface="Calibri"/>
                <a:cs typeface="Calibri"/>
                <a:sym typeface="Calibri"/>
              </a:rPr>
              <a:t>Support 12 Factor App</a:t>
            </a:r>
            <a:endParaRPr/>
          </a:p>
        </p:txBody>
      </p:sp>
      <p:grpSp>
        <p:nvGrpSpPr>
          <p:cNvPr id="1120" name="Google Shape;1120;p22"/>
          <p:cNvGrpSpPr/>
          <p:nvPr/>
        </p:nvGrpSpPr>
        <p:grpSpPr>
          <a:xfrm>
            <a:off x="655150" y="1003615"/>
            <a:ext cx="6061363" cy="489687"/>
            <a:chOff x="208378" y="1210958"/>
            <a:chExt cx="8097066" cy="654148"/>
          </a:xfrm>
        </p:grpSpPr>
        <p:sp>
          <p:nvSpPr>
            <p:cNvPr id="1121" name="Google Shape;1121;p22"/>
            <p:cNvSpPr/>
            <p:nvPr/>
          </p:nvSpPr>
          <p:spPr>
            <a:xfrm>
              <a:off x="208378" y="1210958"/>
              <a:ext cx="654148" cy="654148"/>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22" name="Google Shape;1122;p22"/>
            <p:cNvSpPr/>
            <p:nvPr/>
          </p:nvSpPr>
          <p:spPr>
            <a:xfrm>
              <a:off x="489878" y="1819386"/>
              <a:ext cx="7815566" cy="4572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23" name="Google Shape;1123;p22"/>
            <p:cNvSpPr/>
            <p:nvPr/>
          </p:nvSpPr>
          <p:spPr>
            <a:xfrm>
              <a:off x="265143" y="1267723"/>
              <a:ext cx="540618" cy="54061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9BBB59"/>
                </a:buClr>
                <a:buSzPts val="1999"/>
                <a:buFont typeface="Calibri"/>
                <a:buNone/>
              </a:pPr>
              <a:r>
                <a:rPr lang="en-US" sz="1999" b="1" i="0" u="none" strike="noStrike" cap="none">
                  <a:solidFill>
                    <a:srgbClr val="9BBB59"/>
                  </a:solidFill>
                  <a:latin typeface="Calibri"/>
                  <a:ea typeface="Calibri"/>
                  <a:cs typeface="Calibri"/>
                  <a:sym typeface="Calibri"/>
                </a:rPr>
                <a:t>3</a:t>
              </a:r>
              <a:endParaRPr/>
            </a:p>
          </p:txBody>
        </p:sp>
      </p:grpSp>
      <p:pic>
        <p:nvPicPr>
          <p:cNvPr id="1124" name="Google Shape;1124;p22"/>
          <p:cNvPicPr preferRelativeResize="0"/>
          <p:nvPr/>
        </p:nvPicPr>
        <p:blipFill rotWithShape="1">
          <a:blip r:embed="rId4">
            <a:alphaModFix/>
          </a:blip>
          <a:srcRect/>
          <a:stretch/>
        </p:blipFill>
        <p:spPr>
          <a:xfrm>
            <a:off x="697644" y="2079754"/>
            <a:ext cx="6307608" cy="3774632"/>
          </a:xfrm>
          <a:prstGeom prst="rect">
            <a:avLst/>
          </a:prstGeom>
          <a:noFill/>
          <a:ln>
            <a:noFill/>
          </a:ln>
        </p:spPr>
      </p:pic>
      <p:grpSp>
        <p:nvGrpSpPr>
          <p:cNvPr id="1125" name="Google Shape;1125;p22"/>
          <p:cNvGrpSpPr/>
          <p:nvPr/>
        </p:nvGrpSpPr>
        <p:grpSpPr>
          <a:xfrm>
            <a:off x="7461768" y="2079754"/>
            <a:ext cx="4210610" cy="3570013"/>
            <a:chOff x="6237459" y="1535378"/>
            <a:chExt cx="2651760" cy="3293762"/>
          </a:xfrm>
        </p:grpSpPr>
        <p:sp>
          <p:nvSpPr>
            <p:cNvPr id="1126" name="Google Shape;1126;p22"/>
            <p:cNvSpPr/>
            <p:nvPr/>
          </p:nvSpPr>
          <p:spPr>
            <a:xfrm rot="10800000" flipH="1">
              <a:off x="6237459" y="1535378"/>
              <a:ext cx="2651760" cy="647148"/>
            </a:xfrm>
            <a:prstGeom prst="snip2SameRect">
              <a:avLst>
                <a:gd name="adj1" fmla="val 40871"/>
                <a:gd name="adj2" fmla="val 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350"/>
                <a:buFont typeface="Calibri"/>
                <a:buNone/>
              </a:pPr>
              <a:endParaRPr sz="1350" b="0" i="0" u="none" strike="noStrike" cap="none">
                <a:solidFill>
                  <a:srgbClr val="FFFFFF"/>
                </a:solidFill>
                <a:latin typeface="Calibri"/>
                <a:ea typeface="Calibri"/>
                <a:cs typeface="Calibri"/>
                <a:sym typeface="Calibri"/>
              </a:endParaRPr>
            </a:p>
          </p:txBody>
        </p:sp>
        <p:sp>
          <p:nvSpPr>
            <p:cNvPr id="1127" name="Google Shape;1127;p22"/>
            <p:cNvSpPr/>
            <p:nvPr/>
          </p:nvSpPr>
          <p:spPr>
            <a:xfrm>
              <a:off x="8152620" y="4192351"/>
              <a:ext cx="736599" cy="636789"/>
            </a:xfrm>
            <a:prstGeom prst="snip2SameRect">
              <a:avLst>
                <a:gd name="adj1" fmla="val 40871"/>
                <a:gd name="adj2" fmla="val 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A</a:t>
              </a:r>
              <a:endParaRPr/>
            </a:p>
          </p:txBody>
        </p:sp>
        <p:sp>
          <p:nvSpPr>
            <p:cNvPr id="1128" name="Google Shape;1128;p22"/>
            <p:cNvSpPr/>
            <p:nvPr/>
          </p:nvSpPr>
          <p:spPr>
            <a:xfrm>
              <a:off x="6286364" y="1589037"/>
              <a:ext cx="2553951" cy="3186444"/>
            </a:xfrm>
            <a:prstGeom prst="rect">
              <a:avLst/>
            </a:prstGeom>
            <a:solidFill>
              <a:schemeClr val="lt1"/>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1" i="0" u="none" strike="noStrike" cap="none" baseline="-25000">
                <a:solidFill>
                  <a:srgbClr val="C0504D"/>
                </a:solidFill>
                <a:latin typeface="Calibri"/>
                <a:ea typeface="Calibri"/>
                <a:cs typeface="Calibri"/>
                <a:sym typeface="Calibri"/>
              </a:endParaRPr>
            </a:p>
          </p:txBody>
        </p:sp>
      </p:grpSp>
      <p:sp>
        <p:nvSpPr>
          <p:cNvPr id="1129" name="Google Shape;1129;p22"/>
          <p:cNvSpPr txBox="1"/>
          <p:nvPr/>
        </p:nvSpPr>
        <p:spPr>
          <a:xfrm>
            <a:off x="7851728" y="2688791"/>
            <a:ext cx="3639452" cy="6461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It is a strategy to build software-as-a-service</a:t>
            </a:r>
            <a:endParaRPr/>
          </a:p>
        </p:txBody>
      </p:sp>
      <p:sp>
        <p:nvSpPr>
          <p:cNvPr id="1130" name="Google Shape;1130;p22"/>
          <p:cNvSpPr txBox="1"/>
          <p:nvPr/>
        </p:nvSpPr>
        <p:spPr>
          <a:xfrm>
            <a:off x="7851728" y="4979486"/>
            <a:ext cx="3235843"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https://12factor.net/</a:t>
            </a:r>
            <a:endParaRPr/>
          </a:p>
        </p:txBody>
      </p:sp>
      <p:sp>
        <p:nvSpPr>
          <p:cNvPr id="1131" name="Google Shape;1131;p22" descr="Internet outline"/>
          <p:cNvSpPr/>
          <p:nvPr/>
        </p:nvSpPr>
        <p:spPr>
          <a:xfrm>
            <a:off x="7887882" y="4065324"/>
            <a:ext cx="914162" cy="914162"/>
          </a:xfrm>
          <a:prstGeom prst="rect">
            <a:avLst/>
          </a:prstGeom>
          <a:noFill/>
          <a:ln>
            <a:no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5"/>
        <p:cNvGrpSpPr/>
        <p:nvPr/>
      </p:nvGrpSpPr>
      <p:grpSpPr>
        <a:xfrm>
          <a:off x="0" y="0"/>
          <a:ext cx="0" cy="0"/>
          <a:chOff x="0" y="0"/>
          <a:chExt cx="0" cy="0"/>
        </a:xfrm>
      </p:grpSpPr>
      <p:sp>
        <p:nvSpPr>
          <p:cNvPr id="1136" name="Google Shape;1136;p23"/>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History of CF</a:t>
            </a:r>
            <a:endParaRPr/>
          </a:p>
        </p:txBody>
      </p:sp>
      <p:sp>
        <p:nvSpPr>
          <p:cNvPr id="1137" name="Google Shape;1137;p23"/>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1138" name="Google Shape;1138;p23"/>
          <p:cNvPicPr preferRelativeResize="0"/>
          <p:nvPr/>
        </p:nvPicPr>
        <p:blipFill rotWithShape="1">
          <a:blip r:embed="rId3">
            <a:alphaModFix/>
          </a:blip>
          <a:srcRect/>
          <a:stretch/>
        </p:blipFill>
        <p:spPr>
          <a:xfrm>
            <a:off x="11088469" y="53543"/>
            <a:ext cx="929479" cy="918051"/>
          </a:xfrm>
          <a:prstGeom prst="rect">
            <a:avLst/>
          </a:prstGeom>
          <a:noFill/>
          <a:ln>
            <a:noFill/>
          </a:ln>
        </p:spPr>
      </p:pic>
      <p:sp>
        <p:nvSpPr>
          <p:cNvPr id="1139" name="Google Shape;1139;p23"/>
          <p:cNvSpPr/>
          <p:nvPr/>
        </p:nvSpPr>
        <p:spPr>
          <a:xfrm>
            <a:off x="338713" y="3352820"/>
            <a:ext cx="11557770" cy="600208"/>
          </a:xfrm>
          <a:prstGeom prst="rightArrow">
            <a:avLst>
              <a:gd name="adj1" fmla="val 50000"/>
              <a:gd name="adj2"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40" name="Google Shape;1140;p23"/>
          <p:cNvSpPr/>
          <p:nvPr/>
        </p:nvSpPr>
        <p:spPr>
          <a:xfrm>
            <a:off x="910456" y="3433521"/>
            <a:ext cx="401527" cy="40152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41" name="Google Shape;1141;p23"/>
          <p:cNvSpPr txBox="1"/>
          <p:nvPr/>
        </p:nvSpPr>
        <p:spPr>
          <a:xfrm>
            <a:off x="472960" y="3066567"/>
            <a:ext cx="1276520" cy="3692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2009-2011</a:t>
            </a:r>
            <a:endParaRPr/>
          </a:p>
        </p:txBody>
      </p:sp>
      <p:sp>
        <p:nvSpPr>
          <p:cNvPr id="1142" name="Google Shape;1142;p23"/>
          <p:cNvSpPr txBox="1"/>
          <p:nvPr/>
        </p:nvSpPr>
        <p:spPr>
          <a:xfrm>
            <a:off x="2053328" y="3066567"/>
            <a:ext cx="1276520" cy="3692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2012</a:t>
            </a:r>
            <a:endParaRPr/>
          </a:p>
        </p:txBody>
      </p:sp>
      <p:sp>
        <p:nvSpPr>
          <p:cNvPr id="1143" name="Google Shape;1143;p23"/>
          <p:cNvSpPr txBox="1"/>
          <p:nvPr/>
        </p:nvSpPr>
        <p:spPr>
          <a:xfrm>
            <a:off x="3633697" y="3066567"/>
            <a:ext cx="1276520" cy="3692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2013</a:t>
            </a:r>
            <a:endParaRPr/>
          </a:p>
        </p:txBody>
      </p:sp>
      <p:sp>
        <p:nvSpPr>
          <p:cNvPr id="1144" name="Google Shape;1144;p23"/>
          <p:cNvSpPr txBox="1"/>
          <p:nvPr/>
        </p:nvSpPr>
        <p:spPr>
          <a:xfrm>
            <a:off x="5214065" y="3066567"/>
            <a:ext cx="1276520" cy="3692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2014</a:t>
            </a:r>
            <a:endParaRPr/>
          </a:p>
        </p:txBody>
      </p:sp>
      <p:sp>
        <p:nvSpPr>
          <p:cNvPr id="1145" name="Google Shape;1145;p23"/>
          <p:cNvSpPr txBox="1"/>
          <p:nvPr/>
        </p:nvSpPr>
        <p:spPr>
          <a:xfrm>
            <a:off x="6794433" y="3066567"/>
            <a:ext cx="1276520" cy="3692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2015</a:t>
            </a:r>
            <a:endParaRPr/>
          </a:p>
        </p:txBody>
      </p:sp>
      <p:sp>
        <p:nvSpPr>
          <p:cNvPr id="1146" name="Google Shape;1146;p23"/>
          <p:cNvSpPr txBox="1"/>
          <p:nvPr/>
        </p:nvSpPr>
        <p:spPr>
          <a:xfrm>
            <a:off x="9955170" y="3066567"/>
            <a:ext cx="1276520" cy="3692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2021</a:t>
            </a:r>
            <a:endParaRPr/>
          </a:p>
        </p:txBody>
      </p:sp>
      <p:sp>
        <p:nvSpPr>
          <p:cNvPr id="1147" name="Google Shape;1147;p23"/>
          <p:cNvSpPr txBox="1"/>
          <p:nvPr/>
        </p:nvSpPr>
        <p:spPr>
          <a:xfrm>
            <a:off x="285068" y="3941294"/>
            <a:ext cx="1652303" cy="3692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0" i="0" u="none" strike="noStrike" cap="none">
                <a:solidFill>
                  <a:srgbClr val="000000"/>
                </a:solidFill>
                <a:latin typeface="Calibri"/>
                <a:ea typeface="Calibri"/>
                <a:cs typeface="Calibri"/>
                <a:sym typeface="Calibri"/>
              </a:rPr>
              <a:t>VMWare</a:t>
            </a:r>
            <a:endParaRPr/>
          </a:p>
        </p:txBody>
      </p:sp>
      <p:sp>
        <p:nvSpPr>
          <p:cNvPr id="1148" name="Google Shape;1148;p23"/>
          <p:cNvSpPr/>
          <p:nvPr/>
        </p:nvSpPr>
        <p:spPr>
          <a:xfrm>
            <a:off x="3589186" y="4173105"/>
            <a:ext cx="1365539" cy="600208"/>
          </a:xfrm>
          <a:prstGeom prst="roundRect">
            <a:avLst>
              <a:gd name="adj" fmla="val 16667"/>
            </a:avLst>
          </a:prstGeom>
          <a:solidFill>
            <a:schemeClr val="accent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1799"/>
              <a:buFont typeface="Calibri"/>
              <a:buNone/>
            </a:pPr>
            <a:r>
              <a:rPr lang="en-US" sz="1799" b="1" i="0" u="none" strike="noStrike" cap="none">
                <a:solidFill>
                  <a:srgbClr val="FFFFFF"/>
                </a:solidFill>
                <a:latin typeface="Calibri"/>
                <a:ea typeface="Calibri"/>
                <a:cs typeface="Calibri"/>
                <a:sym typeface="Calibri"/>
              </a:rPr>
              <a:t>Pivotal</a:t>
            </a:r>
            <a:endParaRPr/>
          </a:p>
        </p:txBody>
      </p:sp>
      <p:sp>
        <p:nvSpPr>
          <p:cNvPr id="1149" name="Google Shape;1149;p23"/>
          <p:cNvSpPr txBox="1"/>
          <p:nvPr/>
        </p:nvSpPr>
        <p:spPr>
          <a:xfrm>
            <a:off x="1865436" y="5356289"/>
            <a:ext cx="1654633" cy="3692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EMC</a:t>
            </a:r>
            <a:endParaRPr/>
          </a:p>
        </p:txBody>
      </p:sp>
      <p:sp>
        <p:nvSpPr>
          <p:cNvPr id="1150" name="Google Shape;1150;p23"/>
          <p:cNvSpPr txBox="1"/>
          <p:nvPr/>
        </p:nvSpPr>
        <p:spPr>
          <a:xfrm>
            <a:off x="3445804" y="5356289"/>
            <a:ext cx="1654633" cy="3692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VMWare</a:t>
            </a:r>
            <a:endParaRPr/>
          </a:p>
        </p:txBody>
      </p:sp>
      <p:sp>
        <p:nvSpPr>
          <p:cNvPr id="1151" name="Google Shape;1151;p23"/>
          <p:cNvSpPr txBox="1"/>
          <p:nvPr/>
        </p:nvSpPr>
        <p:spPr>
          <a:xfrm>
            <a:off x="5026172" y="5356289"/>
            <a:ext cx="1654633" cy="6461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General Electric</a:t>
            </a:r>
            <a:endParaRPr/>
          </a:p>
        </p:txBody>
      </p:sp>
      <p:sp>
        <p:nvSpPr>
          <p:cNvPr id="1152" name="Google Shape;1152;p23"/>
          <p:cNvSpPr txBox="1"/>
          <p:nvPr/>
        </p:nvSpPr>
        <p:spPr>
          <a:xfrm>
            <a:off x="5026173" y="3941295"/>
            <a:ext cx="1652303" cy="107693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Seven platinum members and two gold members</a:t>
            </a:r>
            <a:endParaRPr/>
          </a:p>
        </p:txBody>
      </p:sp>
      <p:sp>
        <p:nvSpPr>
          <p:cNvPr id="1153" name="Google Shape;1153;p23"/>
          <p:cNvSpPr txBox="1"/>
          <p:nvPr/>
        </p:nvSpPr>
        <p:spPr>
          <a:xfrm>
            <a:off x="6606541" y="3941294"/>
            <a:ext cx="1652303" cy="3384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40+ Members</a:t>
            </a:r>
            <a:endParaRPr/>
          </a:p>
        </p:txBody>
      </p:sp>
      <p:sp>
        <p:nvSpPr>
          <p:cNvPr id="1154" name="Google Shape;1154;p23"/>
          <p:cNvSpPr txBox="1"/>
          <p:nvPr/>
        </p:nvSpPr>
        <p:spPr>
          <a:xfrm>
            <a:off x="9767278" y="3941295"/>
            <a:ext cx="1652303" cy="11077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Jan 2021</a:t>
            </a:r>
            <a:endParaRPr/>
          </a:p>
          <a:p>
            <a:pPr marL="0" marR="0" lvl="0" indent="0" algn="ctr"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Pivotal Cloud foundry closes free trials</a:t>
            </a:r>
            <a:endParaRPr/>
          </a:p>
        </p:txBody>
      </p:sp>
      <p:pic>
        <p:nvPicPr>
          <p:cNvPr id="1155" name="Google Shape;1155;p23" descr="StrongLoop - Deploying LoopBack mBaaS on Cloud Foundry"/>
          <p:cNvPicPr preferRelativeResize="0"/>
          <p:nvPr/>
        </p:nvPicPr>
        <p:blipFill rotWithShape="1">
          <a:blip r:embed="rId4">
            <a:alphaModFix/>
          </a:blip>
          <a:srcRect/>
          <a:stretch/>
        </p:blipFill>
        <p:spPr>
          <a:xfrm>
            <a:off x="472959" y="855548"/>
            <a:ext cx="2072740" cy="2072740"/>
          </a:xfrm>
          <a:prstGeom prst="rect">
            <a:avLst/>
          </a:prstGeom>
          <a:noFill/>
          <a:ln>
            <a:noFill/>
          </a:ln>
        </p:spPr>
      </p:pic>
      <p:sp>
        <p:nvSpPr>
          <p:cNvPr id="1156" name="Google Shape;1156;p23"/>
          <p:cNvSpPr txBox="1"/>
          <p:nvPr/>
        </p:nvSpPr>
        <p:spPr>
          <a:xfrm>
            <a:off x="2545700" y="1370585"/>
            <a:ext cx="2364517" cy="9227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License: Apache 2.0</a:t>
            </a:r>
            <a:endParaRPr/>
          </a:p>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Build in Ruby, Java and Go</a:t>
            </a:r>
            <a:endParaRPr/>
          </a:p>
        </p:txBody>
      </p:sp>
      <p:sp>
        <p:nvSpPr>
          <p:cNvPr id="1157" name="Google Shape;1157;p23"/>
          <p:cNvSpPr txBox="1"/>
          <p:nvPr/>
        </p:nvSpPr>
        <p:spPr>
          <a:xfrm>
            <a:off x="8374802" y="3056245"/>
            <a:ext cx="1276520" cy="3692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2019</a:t>
            </a:r>
            <a:endParaRPr/>
          </a:p>
        </p:txBody>
      </p:sp>
      <p:sp>
        <p:nvSpPr>
          <p:cNvPr id="1158" name="Google Shape;1158;p23"/>
          <p:cNvSpPr txBox="1"/>
          <p:nvPr/>
        </p:nvSpPr>
        <p:spPr>
          <a:xfrm>
            <a:off x="8186909" y="3941294"/>
            <a:ext cx="1652303" cy="3384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65+ Members</a:t>
            </a:r>
            <a:endParaRPr/>
          </a:p>
        </p:txBody>
      </p:sp>
      <p:sp>
        <p:nvSpPr>
          <p:cNvPr id="1159" name="Google Shape;1159;p23"/>
          <p:cNvSpPr/>
          <p:nvPr/>
        </p:nvSpPr>
        <p:spPr>
          <a:xfrm>
            <a:off x="2490824" y="3433521"/>
            <a:ext cx="401527" cy="40152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60" name="Google Shape;1160;p23"/>
          <p:cNvSpPr/>
          <p:nvPr/>
        </p:nvSpPr>
        <p:spPr>
          <a:xfrm>
            <a:off x="4071192" y="3433521"/>
            <a:ext cx="401527" cy="40152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61" name="Google Shape;1161;p23"/>
          <p:cNvSpPr/>
          <p:nvPr/>
        </p:nvSpPr>
        <p:spPr>
          <a:xfrm>
            <a:off x="5651561" y="3433521"/>
            <a:ext cx="401527" cy="40152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62" name="Google Shape;1162;p23"/>
          <p:cNvSpPr/>
          <p:nvPr/>
        </p:nvSpPr>
        <p:spPr>
          <a:xfrm>
            <a:off x="7231929" y="3433521"/>
            <a:ext cx="401527" cy="40152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63" name="Google Shape;1163;p23"/>
          <p:cNvSpPr/>
          <p:nvPr/>
        </p:nvSpPr>
        <p:spPr>
          <a:xfrm>
            <a:off x="8812297" y="3433521"/>
            <a:ext cx="401527" cy="40152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64" name="Google Shape;1164;p23"/>
          <p:cNvSpPr/>
          <p:nvPr/>
        </p:nvSpPr>
        <p:spPr>
          <a:xfrm>
            <a:off x="10392666" y="3433521"/>
            <a:ext cx="401527" cy="40152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799"/>
              <a:buFont typeface="Calibri"/>
              <a:buNone/>
            </a:pPr>
            <a:endParaRPr sz="1799" b="0" i="0" u="none" strike="noStrike" cap="none">
              <a:solidFill>
                <a:srgbClr val="FFFFFF"/>
              </a:solidFill>
              <a:latin typeface="Calibri"/>
              <a:ea typeface="Calibri"/>
              <a:cs typeface="Calibri"/>
              <a:sym typeface="Calibri"/>
            </a:endParaRPr>
          </a:p>
        </p:txBody>
      </p:sp>
      <p:sp>
        <p:nvSpPr>
          <p:cNvPr id="1165" name="Google Shape;1165;p23"/>
          <p:cNvSpPr/>
          <p:nvPr/>
        </p:nvSpPr>
        <p:spPr>
          <a:xfrm rot="5400000">
            <a:off x="7364572" y="494643"/>
            <a:ext cx="492037" cy="4455066"/>
          </a:xfrm>
          <a:prstGeom prst="leftBrace">
            <a:avLst>
              <a:gd name="adj1" fmla="val 22848"/>
              <a:gd name="adj2" fmla="val 50000"/>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Calibri"/>
              <a:buNone/>
            </a:pPr>
            <a:endParaRPr sz="1799" b="0" i="0" u="none" strike="noStrike" cap="none">
              <a:solidFill>
                <a:srgbClr val="000000"/>
              </a:solidFill>
              <a:latin typeface="Calibri"/>
              <a:ea typeface="Calibri"/>
              <a:cs typeface="Calibri"/>
              <a:sym typeface="Calibri"/>
            </a:endParaRPr>
          </a:p>
        </p:txBody>
      </p:sp>
      <p:sp>
        <p:nvSpPr>
          <p:cNvPr id="1166" name="Google Shape;1166;p23"/>
          <p:cNvSpPr txBox="1"/>
          <p:nvPr/>
        </p:nvSpPr>
        <p:spPr>
          <a:xfrm>
            <a:off x="6110755" y="1709386"/>
            <a:ext cx="3036973" cy="3691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Open Governance Foundation</a:t>
            </a:r>
            <a:endParaRPr/>
          </a:p>
        </p:txBody>
      </p:sp>
      <p:sp>
        <p:nvSpPr>
          <p:cNvPr id="1167" name="Google Shape;1167;p23"/>
          <p:cNvSpPr txBox="1"/>
          <p:nvPr/>
        </p:nvSpPr>
        <p:spPr>
          <a:xfrm>
            <a:off x="1865436" y="3941294"/>
            <a:ext cx="1652303" cy="8615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BOSH</a:t>
            </a:r>
            <a:endParaRPr/>
          </a:p>
          <a:p>
            <a:pPr marL="0" marR="0" lvl="0" indent="0" algn="ctr"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Open Source Tools</a:t>
            </a:r>
            <a:endParaRPr/>
          </a:p>
        </p:txBody>
      </p:sp>
      <p:cxnSp>
        <p:nvCxnSpPr>
          <p:cNvPr id="1168" name="Google Shape;1168;p23"/>
          <p:cNvCxnSpPr>
            <a:stCxn id="1151" idx="0"/>
            <a:endCxn id="1148" idx="2"/>
          </p:cNvCxnSpPr>
          <p:nvPr/>
        </p:nvCxnSpPr>
        <p:spPr>
          <a:xfrm rot="5400000" flipH="1">
            <a:off x="4771239" y="4274039"/>
            <a:ext cx="582900" cy="1581600"/>
          </a:xfrm>
          <a:prstGeom prst="bentConnector3">
            <a:avLst>
              <a:gd name="adj1" fmla="val 50007"/>
            </a:avLst>
          </a:prstGeom>
          <a:noFill/>
          <a:ln w="9525" cap="flat" cmpd="sng">
            <a:solidFill>
              <a:schemeClr val="dk1"/>
            </a:solidFill>
            <a:prstDash val="solid"/>
            <a:round/>
            <a:headEnd type="none" w="sm" len="sm"/>
            <a:tailEnd type="triangle" w="med" len="med"/>
          </a:ln>
        </p:spPr>
      </p:cxnSp>
      <p:cxnSp>
        <p:nvCxnSpPr>
          <p:cNvPr id="1169" name="Google Shape;1169;p23"/>
          <p:cNvCxnSpPr>
            <a:stCxn id="1149" idx="0"/>
            <a:endCxn id="1148" idx="2"/>
          </p:cNvCxnSpPr>
          <p:nvPr/>
        </p:nvCxnSpPr>
        <p:spPr>
          <a:xfrm rot="-5400000">
            <a:off x="3190903" y="4275239"/>
            <a:ext cx="582900" cy="1579200"/>
          </a:xfrm>
          <a:prstGeom prst="bentConnector3">
            <a:avLst>
              <a:gd name="adj1" fmla="val 50006"/>
            </a:avLst>
          </a:prstGeom>
          <a:noFill/>
          <a:ln w="9525" cap="flat" cmpd="sng">
            <a:solidFill>
              <a:schemeClr val="dk1"/>
            </a:solidFill>
            <a:prstDash val="solid"/>
            <a:round/>
            <a:headEnd type="none" w="sm" len="sm"/>
            <a:tailEnd type="triangle" w="med" len="med"/>
          </a:ln>
        </p:spPr>
      </p:cxnSp>
      <p:cxnSp>
        <p:nvCxnSpPr>
          <p:cNvPr id="1170" name="Google Shape;1170;p23"/>
          <p:cNvCxnSpPr>
            <a:stCxn id="1150" idx="0"/>
            <a:endCxn id="1148" idx="2"/>
          </p:cNvCxnSpPr>
          <p:nvPr/>
        </p:nvCxnSpPr>
        <p:spPr>
          <a:xfrm rot="10800000">
            <a:off x="4271921" y="4773389"/>
            <a:ext cx="1200" cy="582900"/>
          </a:xfrm>
          <a:prstGeom prst="straightConnector1">
            <a:avLst/>
          </a:prstGeom>
          <a:noFill/>
          <a:ln w="9525" cap="flat" cmpd="sng">
            <a:solidFill>
              <a:schemeClr val="dk1"/>
            </a:solidFill>
            <a:prstDash val="solid"/>
            <a:round/>
            <a:headEnd type="none" w="sm" len="sm"/>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p24"/>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Setup Your FREE Account</a:t>
            </a:r>
            <a:endParaRPr/>
          </a:p>
        </p:txBody>
      </p:sp>
      <p:sp>
        <p:nvSpPr>
          <p:cNvPr id="1176" name="Google Shape;1176;p24"/>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1177" name="Google Shape;1177;p24"/>
          <p:cNvPicPr preferRelativeResize="0"/>
          <p:nvPr/>
        </p:nvPicPr>
        <p:blipFill rotWithShape="1">
          <a:blip r:embed="rId3">
            <a:alphaModFix/>
          </a:blip>
          <a:srcRect/>
          <a:stretch/>
        </p:blipFill>
        <p:spPr>
          <a:xfrm>
            <a:off x="11088469" y="53543"/>
            <a:ext cx="929479" cy="918051"/>
          </a:xfrm>
          <a:prstGeom prst="rect">
            <a:avLst/>
          </a:prstGeom>
          <a:noFill/>
          <a:ln>
            <a:noFill/>
          </a:ln>
        </p:spPr>
      </p:pic>
      <p:pic>
        <p:nvPicPr>
          <p:cNvPr id="1178" name="Google Shape;1178;p24">
            <a:hlinkClick r:id="rId4"/>
          </p:cNvPr>
          <p:cNvPicPr preferRelativeResize="0"/>
          <p:nvPr/>
        </p:nvPicPr>
        <p:blipFill rotWithShape="1">
          <a:blip r:embed="rId5">
            <a:alphaModFix/>
          </a:blip>
          <a:srcRect/>
          <a:stretch/>
        </p:blipFill>
        <p:spPr>
          <a:xfrm>
            <a:off x="1629916" y="1556792"/>
            <a:ext cx="8714692" cy="4330113"/>
          </a:xfrm>
          <a:prstGeom prst="rect">
            <a:avLst/>
          </a:prstGeom>
          <a:noFill/>
          <a:ln>
            <a:noFill/>
          </a:ln>
        </p:spPr>
      </p:pic>
      <p:sp>
        <p:nvSpPr>
          <p:cNvPr id="1179" name="Google Shape;1179;p24"/>
          <p:cNvSpPr/>
          <p:nvPr/>
        </p:nvSpPr>
        <p:spPr>
          <a:xfrm>
            <a:off x="170878" y="808615"/>
            <a:ext cx="7707603" cy="46141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399"/>
              <a:buFont typeface="Calibri"/>
              <a:buNone/>
            </a:pPr>
            <a:r>
              <a:rPr lang="en-US" sz="2399" b="0" i="0" u="none" strike="noStrike" cap="none">
                <a:solidFill>
                  <a:srgbClr val="000000"/>
                </a:solidFill>
                <a:latin typeface="Calibri"/>
                <a:ea typeface="Calibri"/>
                <a:cs typeface="Calibri"/>
                <a:sym typeface="Calibri"/>
              </a:rPr>
              <a:t>https://account.hanatrial.ondemand.com/trial/#/home/trial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6"/>
        <p:cNvGrpSpPr/>
        <p:nvPr/>
      </p:nvGrpSpPr>
      <p:grpSpPr>
        <a:xfrm>
          <a:off x="0" y="0"/>
          <a:ext cx="0" cy="0"/>
          <a:chOff x="0" y="0"/>
          <a:chExt cx="0" cy="0"/>
        </a:xfrm>
      </p:grpSpPr>
      <p:sp>
        <p:nvSpPr>
          <p:cNvPr id="1197" name="Google Shape;1197;p2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BTP Account Structure</a:t>
            </a:r>
            <a:endParaRPr/>
          </a:p>
        </p:txBody>
      </p:sp>
      <p:sp>
        <p:nvSpPr>
          <p:cNvPr id="1198" name="Google Shape;1198;p27"/>
          <p:cNvSpPr/>
          <p:nvPr/>
        </p:nvSpPr>
        <p:spPr>
          <a:xfrm>
            <a:off x="405780" y="1268760"/>
            <a:ext cx="2592288" cy="2880320"/>
          </a:xfrm>
          <a:prstGeom prst="rect">
            <a:avLst/>
          </a:prstGeom>
          <a:solidFill>
            <a:schemeClr val="accent6"/>
          </a:solidFill>
          <a:ln w="25400" cap="flat" cmpd="sng">
            <a:solidFill>
              <a:srgbClr val="321B4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Global Account</a:t>
            </a:r>
            <a:endParaRPr/>
          </a:p>
          <a:p>
            <a:pPr marL="0" marR="0" lvl="0" indent="0" algn="ctr" rtl="0">
              <a:spcBef>
                <a:spcPts val="0"/>
              </a:spcBef>
              <a:spcAft>
                <a:spcPts val="0"/>
              </a:spcAft>
              <a:buNone/>
            </a:pPr>
            <a:r>
              <a:rPr lang="en-US" sz="1800" i="1">
                <a:solidFill>
                  <a:schemeClr val="lt1"/>
                </a:solidFill>
                <a:latin typeface="Quattrocento Sans"/>
                <a:ea typeface="Quattrocento Sans"/>
                <a:cs typeface="Quattrocento Sans"/>
                <a:sym typeface="Quattrocento Sans"/>
              </a:rPr>
              <a:t>Represent a SAP customer for Billing purpose</a:t>
            </a:r>
            <a:endParaRPr/>
          </a:p>
          <a:p>
            <a:pPr marL="0" marR="0" lvl="0" indent="0" algn="ctr" rtl="0">
              <a:spcBef>
                <a:spcPts val="0"/>
              </a:spcBef>
              <a:spcAft>
                <a:spcPts val="0"/>
              </a:spcAft>
              <a:buNone/>
            </a:pPr>
            <a:endParaRPr sz="1800" i="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US" sz="1800" i="1">
                <a:solidFill>
                  <a:schemeClr val="lt1"/>
                </a:solidFill>
                <a:latin typeface="Quattrocento Sans"/>
                <a:ea typeface="Quattrocento Sans"/>
                <a:cs typeface="Quattrocento Sans"/>
                <a:sym typeface="Quattrocento Sans"/>
              </a:rPr>
              <a:t>SAP allocates Entitlements</a:t>
            </a:r>
            <a:endParaRPr/>
          </a:p>
          <a:p>
            <a:pPr marL="0" marR="0" lvl="0" indent="0" algn="ctr" rtl="0">
              <a:spcBef>
                <a:spcPts val="0"/>
              </a:spcBef>
              <a:spcAft>
                <a:spcPts val="0"/>
              </a:spcAft>
              <a:buNone/>
            </a:pPr>
            <a:endParaRPr sz="1800" i="1">
              <a:solidFill>
                <a:schemeClr val="lt1"/>
              </a:solidFill>
              <a:latin typeface="Quattrocento Sans"/>
              <a:ea typeface="Quattrocento Sans"/>
              <a:cs typeface="Quattrocento Sans"/>
              <a:sym typeface="Quattrocento Sans"/>
            </a:endParaRPr>
          </a:p>
        </p:txBody>
      </p:sp>
      <p:sp>
        <p:nvSpPr>
          <p:cNvPr id="1199" name="Google Shape;1199;p27"/>
          <p:cNvSpPr/>
          <p:nvPr/>
        </p:nvSpPr>
        <p:spPr>
          <a:xfrm>
            <a:off x="4006180" y="1268760"/>
            <a:ext cx="4176464" cy="1296144"/>
          </a:xfrm>
          <a:prstGeom prst="rect">
            <a:avLst/>
          </a:prstGeom>
          <a:solidFill>
            <a:schemeClr val="accent6"/>
          </a:solidFill>
          <a:ln w="25400" cap="flat" cmpd="sng">
            <a:solidFill>
              <a:srgbClr val="321B4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Sub Account - FIN</a:t>
            </a:r>
            <a:endParaRPr/>
          </a:p>
          <a:p>
            <a:pPr marL="0" marR="0" lvl="0" indent="0" algn="ctr" rtl="0">
              <a:spcBef>
                <a:spcPts val="0"/>
              </a:spcBef>
              <a:spcAft>
                <a:spcPts val="0"/>
              </a:spcAft>
              <a:buNone/>
            </a:pPr>
            <a:r>
              <a:rPr lang="en-US" sz="1800" i="1">
                <a:solidFill>
                  <a:schemeClr val="lt1"/>
                </a:solidFill>
                <a:latin typeface="Quattrocento Sans"/>
                <a:ea typeface="Quattrocento Sans"/>
                <a:cs typeface="Quattrocento Sans"/>
                <a:sym typeface="Quattrocento Sans"/>
              </a:rPr>
              <a:t>US – AWS data centre</a:t>
            </a:r>
            <a:endParaRPr/>
          </a:p>
        </p:txBody>
      </p:sp>
      <p:sp>
        <p:nvSpPr>
          <p:cNvPr id="1200" name="Google Shape;1200;p27"/>
          <p:cNvSpPr/>
          <p:nvPr/>
        </p:nvSpPr>
        <p:spPr>
          <a:xfrm>
            <a:off x="4006180" y="2708920"/>
            <a:ext cx="4176464" cy="1296144"/>
          </a:xfrm>
          <a:prstGeom prst="rect">
            <a:avLst/>
          </a:prstGeom>
          <a:solidFill>
            <a:schemeClr val="accent6"/>
          </a:solidFill>
          <a:ln w="25400" cap="flat" cmpd="sng">
            <a:solidFill>
              <a:srgbClr val="321B4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Sub Account - Marketing</a:t>
            </a:r>
            <a:endParaRPr/>
          </a:p>
          <a:p>
            <a:pPr marL="0" marR="0" lvl="0" indent="0" algn="ctr" rtl="0">
              <a:spcBef>
                <a:spcPts val="0"/>
              </a:spcBef>
              <a:spcAft>
                <a:spcPts val="0"/>
              </a:spcAft>
              <a:buNone/>
            </a:pPr>
            <a:r>
              <a:rPr lang="en-US" sz="1800" i="1">
                <a:solidFill>
                  <a:schemeClr val="lt1"/>
                </a:solidFill>
                <a:latin typeface="Quattrocento Sans"/>
                <a:ea typeface="Quattrocento Sans"/>
                <a:cs typeface="Quattrocento Sans"/>
                <a:sym typeface="Quattrocento Sans"/>
              </a:rPr>
              <a:t>IN – Azure HYD</a:t>
            </a:r>
            <a:endParaRPr/>
          </a:p>
        </p:txBody>
      </p:sp>
      <p:sp>
        <p:nvSpPr>
          <p:cNvPr id="1201" name="Google Shape;1201;p27"/>
          <p:cNvSpPr txBox="1"/>
          <p:nvPr/>
        </p:nvSpPr>
        <p:spPr>
          <a:xfrm>
            <a:off x="2998068" y="1610797"/>
            <a:ext cx="1152128" cy="6001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chemeClr val="dk1"/>
                </a:solidFill>
                <a:latin typeface="Quattrocento Sans"/>
                <a:ea typeface="Quattrocento Sans"/>
                <a:cs typeface="Quattrocento Sans"/>
                <a:sym typeface="Quattrocento Sans"/>
              </a:rPr>
              <a:t>Entity Assignments</a:t>
            </a:r>
            <a:endParaRPr/>
          </a:p>
          <a:p>
            <a:pPr marL="0" marR="0" lvl="0" indent="0" algn="l" rtl="0">
              <a:spcBef>
                <a:spcPts val="0"/>
              </a:spcBef>
              <a:spcAft>
                <a:spcPts val="0"/>
              </a:spcAft>
              <a:buNone/>
            </a:pPr>
            <a:endParaRPr sz="1100" b="1">
              <a:solidFill>
                <a:schemeClr val="dk1"/>
              </a:solidFill>
              <a:latin typeface="Quattrocento Sans"/>
              <a:ea typeface="Quattrocento Sans"/>
              <a:cs typeface="Quattrocento Sans"/>
              <a:sym typeface="Quattrocento Sans"/>
            </a:endParaRPr>
          </a:p>
        </p:txBody>
      </p:sp>
      <p:grpSp>
        <p:nvGrpSpPr>
          <p:cNvPr id="1202" name="Google Shape;1202;p27"/>
          <p:cNvGrpSpPr/>
          <p:nvPr/>
        </p:nvGrpSpPr>
        <p:grpSpPr>
          <a:xfrm>
            <a:off x="9000424" y="1560023"/>
            <a:ext cx="3450960" cy="3231720"/>
            <a:chOff x="9000424" y="1560023"/>
            <a:chExt cx="3450960" cy="3231720"/>
          </a:xfrm>
        </p:grpSpPr>
        <p:pic>
          <p:nvPicPr>
            <p:cNvPr id="1203" name="Google Shape;1203;p27"/>
            <p:cNvPicPr preferRelativeResize="0"/>
            <p:nvPr/>
          </p:nvPicPr>
          <p:blipFill rotWithShape="1">
            <a:blip r:embed="rId3">
              <a:alphaModFix/>
            </a:blip>
            <a:srcRect/>
            <a:stretch/>
          </p:blipFill>
          <p:spPr>
            <a:xfrm>
              <a:off x="9000424" y="1668023"/>
              <a:ext cx="848520" cy="1035000"/>
            </a:xfrm>
            <a:prstGeom prst="rect">
              <a:avLst/>
            </a:prstGeom>
            <a:noFill/>
            <a:ln>
              <a:noFill/>
            </a:ln>
          </p:spPr>
        </p:pic>
        <p:pic>
          <p:nvPicPr>
            <p:cNvPr id="1204" name="Google Shape;1204;p27"/>
            <p:cNvPicPr preferRelativeResize="0"/>
            <p:nvPr/>
          </p:nvPicPr>
          <p:blipFill rotWithShape="1">
            <a:blip r:embed="rId4">
              <a:alphaModFix/>
            </a:blip>
            <a:srcRect/>
            <a:stretch/>
          </p:blipFill>
          <p:spPr>
            <a:xfrm>
              <a:off x="9061264" y="1653263"/>
              <a:ext cx="771120" cy="1068840"/>
            </a:xfrm>
            <a:prstGeom prst="rect">
              <a:avLst/>
            </a:prstGeom>
            <a:noFill/>
            <a:ln>
              <a:noFill/>
            </a:ln>
          </p:spPr>
        </p:pic>
        <p:pic>
          <p:nvPicPr>
            <p:cNvPr id="1205" name="Google Shape;1205;p27"/>
            <p:cNvPicPr preferRelativeResize="0"/>
            <p:nvPr/>
          </p:nvPicPr>
          <p:blipFill rotWithShape="1">
            <a:blip r:embed="rId5">
              <a:alphaModFix/>
            </a:blip>
            <a:srcRect/>
            <a:stretch/>
          </p:blipFill>
          <p:spPr>
            <a:xfrm>
              <a:off x="10065304" y="1619063"/>
              <a:ext cx="976320" cy="1098360"/>
            </a:xfrm>
            <a:prstGeom prst="rect">
              <a:avLst/>
            </a:prstGeom>
            <a:noFill/>
            <a:ln>
              <a:noFill/>
            </a:ln>
          </p:spPr>
        </p:pic>
        <p:pic>
          <p:nvPicPr>
            <p:cNvPr id="1206" name="Google Shape;1206;p27"/>
            <p:cNvPicPr preferRelativeResize="0"/>
            <p:nvPr/>
          </p:nvPicPr>
          <p:blipFill rotWithShape="1">
            <a:blip r:embed="rId6">
              <a:alphaModFix/>
            </a:blip>
            <a:srcRect/>
            <a:stretch/>
          </p:blipFill>
          <p:spPr>
            <a:xfrm>
              <a:off x="10077184" y="1566143"/>
              <a:ext cx="1070640" cy="1186920"/>
            </a:xfrm>
            <a:prstGeom prst="rect">
              <a:avLst/>
            </a:prstGeom>
            <a:noFill/>
            <a:ln>
              <a:noFill/>
            </a:ln>
          </p:spPr>
        </p:pic>
        <p:pic>
          <p:nvPicPr>
            <p:cNvPr id="1207" name="Google Shape;1207;p27"/>
            <p:cNvPicPr preferRelativeResize="0"/>
            <p:nvPr/>
          </p:nvPicPr>
          <p:blipFill rotWithShape="1">
            <a:blip r:embed="rId7">
              <a:alphaModFix/>
            </a:blip>
            <a:srcRect/>
            <a:stretch/>
          </p:blipFill>
          <p:spPr>
            <a:xfrm>
              <a:off x="11363104" y="1599983"/>
              <a:ext cx="900000" cy="1199520"/>
            </a:xfrm>
            <a:prstGeom prst="rect">
              <a:avLst/>
            </a:prstGeom>
            <a:noFill/>
            <a:ln>
              <a:noFill/>
            </a:ln>
          </p:spPr>
        </p:pic>
        <p:pic>
          <p:nvPicPr>
            <p:cNvPr id="1208" name="Google Shape;1208;p27"/>
            <p:cNvPicPr preferRelativeResize="0"/>
            <p:nvPr/>
          </p:nvPicPr>
          <p:blipFill rotWithShape="1">
            <a:blip r:embed="rId8">
              <a:alphaModFix/>
            </a:blip>
            <a:srcRect/>
            <a:stretch/>
          </p:blipFill>
          <p:spPr>
            <a:xfrm>
              <a:off x="11382904" y="1560023"/>
              <a:ext cx="1068480" cy="1214280"/>
            </a:xfrm>
            <a:prstGeom prst="rect">
              <a:avLst/>
            </a:prstGeom>
            <a:noFill/>
            <a:ln>
              <a:noFill/>
            </a:ln>
          </p:spPr>
        </p:pic>
        <p:pic>
          <p:nvPicPr>
            <p:cNvPr id="1209" name="Google Shape;1209;p27"/>
            <p:cNvPicPr preferRelativeResize="0"/>
            <p:nvPr/>
          </p:nvPicPr>
          <p:blipFill rotWithShape="1">
            <a:blip r:embed="rId9">
              <a:alphaModFix/>
            </a:blip>
            <a:srcRect/>
            <a:stretch/>
          </p:blipFill>
          <p:spPr>
            <a:xfrm>
              <a:off x="9182224" y="2842343"/>
              <a:ext cx="79200" cy="167040"/>
            </a:xfrm>
            <a:prstGeom prst="rect">
              <a:avLst/>
            </a:prstGeom>
            <a:noFill/>
            <a:ln>
              <a:noFill/>
            </a:ln>
          </p:spPr>
        </p:pic>
        <p:pic>
          <p:nvPicPr>
            <p:cNvPr id="1210" name="Google Shape;1210;p27"/>
            <p:cNvPicPr preferRelativeResize="0"/>
            <p:nvPr/>
          </p:nvPicPr>
          <p:blipFill rotWithShape="1">
            <a:blip r:embed="rId10">
              <a:alphaModFix/>
            </a:blip>
            <a:srcRect/>
            <a:stretch/>
          </p:blipFill>
          <p:spPr>
            <a:xfrm>
              <a:off x="9079264" y="2794463"/>
              <a:ext cx="271080" cy="243720"/>
            </a:xfrm>
            <a:prstGeom prst="rect">
              <a:avLst/>
            </a:prstGeom>
            <a:noFill/>
            <a:ln>
              <a:noFill/>
            </a:ln>
          </p:spPr>
        </p:pic>
        <p:pic>
          <p:nvPicPr>
            <p:cNvPr id="1211" name="Google Shape;1211;p27"/>
            <p:cNvPicPr preferRelativeResize="0"/>
            <p:nvPr/>
          </p:nvPicPr>
          <p:blipFill rotWithShape="1">
            <a:blip r:embed="rId11">
              <a:alphaModFix/>
            </a:blip>
            <a:srcRect/>
            <a:stretch/>
          </p:blipFill>
          <p:spPr>
            <a:xfrm>
              <a:off x="10296424" y="2789423"/>
              <a:ext cx="313920" cy="254160"/>
            </a:xfrm>
            <a:prstGeom prst="rect">
              <a:avLst/>
            </a:prstGeom>
            <a:noFill/>
            <a:ln>
              <a:noFill/>
            </a:ln>
          </p:spPr>
        </p:pic>
        <p:pic>
          <p:nvPicPr>
            <p:cNvPr id="1212" name="Google Shape;1212;p27"/>
            <p:cNvPicPr preferRelativeResize="0"/>
            <p:nvPr/>
          </p:nvPicPr>
          <p:blipFill rotWithShape="1">
            <a:blip r:embed="rId12">
              <a:alphaModFix/>
            </a:blip>
            <a:srcRect/>
            <a:stretch/>
          </p:blipFill>
          <p:spPr>
            <a:xfrm>
              <a:off x="10447984" y="2946023"/>
              <a:ext cx="346320" cy="227880"/>
            </a:xfrm>
            <a:prstGeom prst="rect">
              <a:avLst/>
            </a:prstGeom>
            <a:noFill/>
            <a:ln>
              <a:noFill/>
            </a:ln>
          </p:spPr>
        </p:pic>
        <p:pic>
          <p:nvPicPr>
            <p:cNvPr id="1213" name="Google Shape;1213;p27"/>
            <p:cNvPicPr preferRelativeResize="0"/>
            <p:nvPr/>
          </p:nvPicPr>
          <p:blipFill rotWithShape="1">
            <a:blip r:embed="rId13">
              <a:alphaModFix/>
            </a:blip>
            <a:srcRect/>
            <a:stretch/>
          </p:blipFill>
          <p:spPr>
            <a:xfrm>
              <a:off x="11837944" y="2936663"/>
              <a:ext cx="48600" cy="212760"/>
            </a:xfrm>
            <a:prstGeom prst="rect">
              <a:avLst/>
            </a:prstGeom>
            <a:noFill/>
            <a:ln>
              <a:noFill/>
            </a:ln>
          </p:spPr>
        </p:pic>
        <p:pic>
          <p:nvPicPr>
            <p:cNvPr id="1214" name="Google Shape;1214;p27"/>
            <p:cNvPicPr preferRelativeResize="0"/>
            <p:nvPr/>
          </p:nvPicPr>
          <p:blipFill rotWithShape="1">
            <a:blip r:embed="rId14">
              <a:alphaModFix/>
            </a:blip>
            <a:srcRect/>
            <a:stretch/>
          </p:blipFill>
          <p:spPr>
            <a:xfrm>
              <a:off x="11807344" y="2855663"/>
              <a:ext cx="207360" cy="143640"/>
            </a:xfrm>
            <a:prstGeom prst="rect">
              <a:avLst/>
            </a:prstGeom>
            <a:noFill/>
            <a:ln>
              <a:noFill/>
            </a:ln>
          </p:spPr>
        </p:pic>
        <p:pic>
          <p:nvPicPr>
            <p:cNvPr id="1215" name="Google Shape;1215;p27"/>
            <p:cNvPicPr preferRelativeResize="0"/>
            <p:nvPr/>
          </p:nvPicPr>
          <p:blipFill rotWithShape="1">
            <a:blip r:embed="rId15">
              <a:alphaModFix/>
            </a:blip>
            <a:srcRect/>
            <a:stretch/>
          </p:blipFill>
          <p:spPr>
            <a:xfrm>
              <a:off x="9814384" y="3765383"/>
              <a:ext cx="250200" cy="260640"/>
            </a:xfrm>
            <a:prstGeom prst="rect">
              <a:avLst/>
            </a:prstGeom>
            <a:noFill/>
            <a:ln>
              <a:noFill/>
            </a:ln>
          </p:spPr>
        </p:pic>
        <p:pic>
          <p:nvPicPr>
            <p:cNvPr id="1216" name="Google Shape;1216;p27"/>
            <p:cNvPicPr preferRelativeResize="0"/>
            <p:nvPr/>
          </p:nvPicPr>
          <p:blipFill rotWithShape="1">
            <a:blip r:embed="rId16">
              <a:alphaModFix/>
            </a:blip>
            <a:srcRect/>
            <a:stretch/>
          </p:blipFill>
          <p:spPr>
            <a:xfrm>
              <a:off x="10115704" y="3826583"/>
              <a:ext cx="137160" cy="280440"/>
            </a:xfrm>
            <a:prstGeom prst="rect">
              <a:avLst/>
            </a:prstGeom>
            <a:noFill/>
            <a:ln>
              <a:noFill/>
            </a:ln>
          </p:spPr>
        </p:pic>
        <p:pic>
          <p:nvPicPr>
            <p:cNvPr id="1217" name="Google Shape;1217;p27"/>
            <p:cNvPicPr preferRelativeResize="0"/>
            <p:nvPr/>
          </p:nvPicPr>
          <p:blipFill rotWithShape="1">
            <a:blip r:embed="rId17">
              <a:alphaModFix/>
            </a:blip>
            <a:srcRect/>
            <a:stretch/>
          </p:blipFill>
          <p:spPr>
            <a:xfrm>
              <a:off x="10284904" y="3837743"/>
              <a:ext cx="178560" cy="264600"/>
            </a:xfrm>
            <a:prstGeom prst="rect">
              <a:avLst/>
            </a:prstGeom>
            <a:noFill/>
            <a:ln>
              <a:noFill/>
            </a:ln>
          </p:spPr>
        </p:pic>
        <p:pic>
          <p:nvPicPr>
            <p:cNvPr id="1218" name="Google Shape;1218;p27"/>
            <p:cNvPicPr preferRelativeResize="0"/>
            <p:nvPr/>
          </p:nvPicPr>
          <p:blipFill rotWithShape="1">
            <a:blip r:embed="rId18">
              <a:alphaModFix/>
            </a:blip>
            <a:srcRect/>
            <a:stretch/>
          </p:blipFill>
          <p:spPr>
            <a:xfrm>
              <a:off x="10507744" y="3827663"/>
              <a:ext cx="145800" cy="192960"/>
            </a:xfrm>
            <a:prstGeom prst="rect">
              <a:avLst/>
            </a:prstGeom>
            <a:noFill/>
            <a:ln>
              <a:noFill/>
            </a:ln>
          </p:spPr>
        </p:pic>
        <p:pic>
          <p:nvPicPr>
            <p:cNvPr id="1219" name="Google Shape;1219;p27"/>
            <p:cNvPicPr preferRelativeResize="0"/>
            <p:nvPr/>
          </p:nvPicPr>
          <p:blipFill rotWithShape="1">
            <a:blip r:embed="rId19">
              <a:alphaModFix/>
            </a:blip>
            <a:srcRect/>
            <a:stretch/>
          </p:blipFill>
          <p:spPr>
            <a:xfrm>
              <a:off x="9670024" y="3642623"/>
              <a:ext cx="743760" cy="559440"/>
            </a:xfrm>
            <a:prstGeom prst="rect">
              <a:avLst/>
            </a:prstGeom>
            <a:noFill/>
            <a:ln>
              <a:noFill/>
            </a:ln>
          </p:spPr>
        </p:pic>
        <p:pic>
          <p:nvPicPr>
            <p:cNvPr id="1220" name="Google Shape;1220;p27"/>
            <p:cNvPicPr preferRelativeResize="0"/>
            <p:nvPr/>
          </p:nvPicPr>
          <p:blipFill rotWithShape="1">
            <a:blip r:embed="rId20">
              <a:alphaModFix/>
            </a:blip>
            <a:srcRect/>
            <a:stretch/>
          </p:blipFill>
          <p:spPr>
            <a:xfrm>
              <a:off x="9445384" y="3525983"/>
              <a:ext cx="1432800" cy="638640"/>
            </a:xfrm>
            <a:prstGeom prst="rect">
              <a:avLst/>
            </a:prstGeom>
            <a:noFill/>
            <a:ln>
              <a:noFill/>
            </a:ln>
          </p:spPr>
        </p:pic>
        <p:pic>
          <p:nvPicPr>
            <p:cNvPr id="1221" name="Google Shape;1221;p27"/>
            <p:cNvPicPr preferRelativeResize="0"/>
            <p:nvPr/>
          </p:nvPicPr>
          <p:blipFill rotWithShape="1">
            <a:blip r:embed="rId21">
              <a:alphaModFix/>
            </a:blip>
            <a:srcRect/>
            <a:stretch/>
          </p:blipFill>
          <p:spPr>
            <a:xfrm>
              <a:off x="9839584" y="4166783"/>
              <a:ext cx="1235520" cy="324360"/>
            </a:xfrm>
            <a:prstGeom prst="rect">
              <a:avLst/>
            </a:prstGeom>
            <a:noFill/>
            <a:ln>
              <a:noFill/>
            </a:ln>
          </p:spPr>
        </p:pic>
        <p:pic>
          <p:nvPicPr>
            <p:cNvPr id="1222" name="Google Shape;1222;p27"/>
            <p:cNvPicPr preferRelativeResize="0"/>
            <p:nvPr/>
          </p:nvPicPr>
          <p:blipFill rotWithShape="1">
            <a:blip r:embed="rId22">
              <a:alphaModFix/>
            </a:blip>
            <a:srcRect/>
            <a:stretch/>
          </p:blipFill>
          <p:spPr>
            <a:xfrm>
              <a:off x="10763344" y="3758183"/>
              <a:ext cx="419040" cy="680040"/>
            </a:xfrm>
            <a:prstGeom prst="rect">
              <a:avLst/>
            </a:prstGeom>
            <a:noFill/>
            <a:ln>
              <a:noFill/>
            </a:ln>
          </p:spPr>
        </p:pic>
        <p:pic>
          <p:nvPicPr>
            <p:cNvPr id="1223" name="Google Shape;1223;p27"/>
            <p:cNvPicPr preferRelativeResize="0"/>
            <p:nvPr/>
          </p:nvPicPr>
          <p:blipFill rotWithShape="1">
            <a:blip r:embed="rId23">
              <a:alphaModFix/>
            </a:blip>
            <a:srcRect/>
            <a:stretch/>
          </p:blipFill>
          <p:spPr>
            <a:xfrm>
              <a:off x="10133704" y="4458743"/>
              <a:ext cx="1273320" cy="307800"/>
            </a:xfrm>
            <a:prstGeom prst="rect">
              <a:avLst/>
            </a:prstGeom>
            <a:noFill/>
            <a:ln>
              <a:noFill/>
            </a:ln>
          </p:spPr>
        </p:pic>
        <p:pic>
          <p:nvPicPr>
            <p:cNvPr id="1224" name="Google Shape;1224;p27"/>
            <p:cNvPicPr preferRelativeResize="0"/>
            <p:nvPr/>
          </p:nvPicPr>
          <p:blipFill rotWithShape="1">
            <a:blip r:embed="rId24">
              <a:alphaModFix/>
            </a:blip>
            <a:srcRect/>
            <a:stretch/>
          </p:blipFill>
          <p:spPr>
            <a:xfrm>
              <a:off x="11199304" y="4103063"/>
              <a:ext cx="304560" cy="688680"/>
            </a:xfrm>
            <a:prstGeom prst="rect">
              <a:avLst/>
            </a:prstGeom>
            <a:noFill/>
            <a:ln>
              <a:noFill/>
            </a:ln>
          </p:spPr>
        </p:pic>
        <p:pic>
          <p:nvPicPr>
            <p:cNvPr id="1225" name="Google Shape;1225;p27"/>
            <p:cNvPicPr preferRelativeResize="0"/>
            <p:nvPr/>
          </p:nvPicPr>
          <p:blipFill rotWithShape="1">
            <a:blip r:embed="rId25">
              <a:alphaModFix/>
            </a:blip>
            <a:srcRect/>
            <a:stretch/>
          </p:blipFill>
          <p:spPr>
            <a:xfrm>
              <a:off x="9479584" y="2322503"/>
              <a:ext cx="721440" cy="1215360"/>
            </a:xfrm>
            <a:prstGeom prst="rect">
              <a:avLst/>
            </a:prstGeom>
            <a:noFill/>
            <a:ln>
              <a:noFill/>
            </a:ln>
          </p:spPr>
        </p:pic>
        <p:pic>
          <p:nvPicPr>
            <p:cNvPr id="1226" name="Google Shape;1226;p27"/>
            <p:cNvPicPr preferRelativeResize="0"/>
            <p:nvPr/>
          </p:nvPicPr>
          <p:blipFill rotWithShape="1">
            <a:blip r:embed="rId26">
              <a:alphaModFix/>
            </a:blip>
            <a:srcRect/>
            <a:stretch/>
          </p:blipFill>
          <p:spPr>
            <a:xfrm>
              <a:off x="9425944" y="2238983"/>
              <a:ext cx="244080" cy="297360"/>
            </a:xfrm>
            <a:prstGeom prst="rect">
              <a:avLst/>
            </a:prstGeom>
            <a:noFill/>
            <a:ln>
              <a:noFill/>
            </a:ln>
          </p:spPr>
        </p:pic>
        <p:pic>
          <p:nvPicPr>
            <p:cNvPr id="1227" name="Google Shape;1227;p27"/>
            <p:cNvPicPr preferRelativeResize="0"/>
            <p:nvPr/>
          </p:nvPicPr>
          <p:blipFill rotWithShape="1">
            <a:blip r:embed="rId27">
              <a:alphaModFix/>
            </a:blip>
            <a:srcRect/>
            <a:stretch/>
          </p:blipFill>
          <p:spPr>
            <a:xfrm>
              <a:off x="10109224" y="2287943"/>
              <a:ext cx="311760" cy="1206000"/>
            </a:xfrm>
            <a:prstGeom prst="rect">
              <a:avLst/>
            </a:prstGeom>
            <a:noFill/>
            <a:ln>
              <a:noFill/>
            </a:ln>
          </p:spPr>
        </p:pic>
        <p:pic>
          <p:nvPicPr>
            <p:cNvPr id="1228" name="Google Shape;1228;p27"/>
            <p:cNvPicPr preferRelativeResize="0"/>
            <p:nvPr/>
          </p:nvPicPr>
          <p:blipFill rotWithShape="1">
            <a:blip r:embed="rId28">
              <a:alphaModFix/>
            </a:blip>
            <a:srcRect/>
            <a:stretch/>
          </p:blipFill>
          <p:spPr>
            <a:xfrm>
              <a:off x="10294624" y="2282183"/>
              <a:ext cx="160920" cy="260280"/>
            </a:xfrm>
            <a:prstGeom prst="rect">
              <a:avLst/>
            </a:prstGeom>
            <a:noFill/>
            <a:ln>
              <a:noFill/>
            </a:ln>
          </p:spPr>
        </p:pic>
        <p:pic>
          <p:nvPicPr>
            <p:cNvPr id="1229" name="Google Shape;1229;p27"/>
            <p:cNvPicPr preferRelativeResize="0"/>
            <p:nvPr/>
          </p:nvPicPr>
          <p:blipFill rotWithShape="1">
            <a:blip r:embed="rId29">
              <a:alphaModFix/>
            </a:blip>
            <a:srcRect/>
            <a:stretch/>
          </p:blipFill>
          <p:spPr>
            <a:xfrm>
              <a:off x="10729504" y="2386583"/>
              <a:ext cx="1062720" cy="1351440"/>
            </a:xfrm>
            <a:prstGeom prst="rect">
              <a:avLst/>
            </a:prstGeom>
            <a:noFill/>
            <a:ln>
              <a:noFill/>
            </a:ln>
          </p:spPr>
        </p:pic>
        <p:pic>
          <p:nvPicPr>
            <p:cNvPr id="1230" name="Google Shape;1230;p27"/>
            <p:cNvPicPr preferRelativeResize="0"/>
            <p:nvPr/>
          </p:nvPicPr>
          <p:blipFill rotWithShape="1">
            <a:blip r:embed="rId30">
              <a:alphaModFix/>
            </a:blip>
            <a:srcRect/>
            <a:stretch/>
          </p:blipFill>
          <p:spPr>
            <a:xfrm>
              <a:off x="11702584" y="2307023"/>
              <a:ext cx="147600" cy="244080"/>
            </a:xfrm>
            <a:prstGeom prst="rect">
              <a:avLst/>
            </a:prstGeom>
            <a:noFill/>
            <a:ln>
              <a:noFill/>
            </a:ln>
          </p:spPr>
        </p:pic>
      </p:grpSp>
      <p:grpSp>
        <p:nvGrpSpPr>
          <p:cNvPr id="1231" name="Google Shape;1231;p27"/>
          <p:cNvGrpSpPr/>
          <p:nvPr/>
        </p:nvGrpSpPr>
        <p:grpSpPr>
          <a:xfrm>
            <a:off x="9763624" y="107423"/>
            <a:ext cx="2686680" cy="1246320"/>
            <a:chOff x="9763624" y="107423"/>
            <a:chExt cx="2686680" cy="1246320"/>
          </a:xfrm>
        </p:grpSpPr>
        <p:pic>
          <p:nvPicPr>
            <p:cNvPr id="1232" name="Google Shape;1232;p27"/>
            <p:cNvPicPr preferRelativeResize="0"/>
            <p:nvPr/>
          </p:nvPicPr>
          <p:blipFill rotWithShape="1">
            <a:blip r:embed="rId31">
              <a:alphaModFix/>
            </a:blip>
            <a:srcRect/>
            <a:stretch/>
          </p:blipFill>
          <p:spPr>
            <a:xfrm>
              <a:off x="9863344" y="676583"/>
              <a:ext cx="322560" cy="299520"/>
            </a:xfrm>
            <a:prstGeom prst="rect">
              <a:avLst/>
            </a:prstGeom>
            <a:noFill/>
            <a:ln>
              <a:noFill/>
            </a:ln>
          </p:spPr>
        </p:pic>
        <p:pic>
          <p:nvPicPr>
            <p:cNvPr id="1233" name="Google Shape;1233;p27"/>
            <p:cNvPicPr preferRelativeResize="0"/>
            <p:nvPr/>
          </p:nvPicPr>
          <p:blipFill rotWithShape="1">
            <a:blip r:embed="rId32">
              <a:alphaModFix/>
            </a:blip>
            <a:srcRect/>
            <a:stretch/>
          </p:blipFill>
          <p:spPr>
            <a:xfrm>
              <a:off x="10190584" y="788183"/>
              <a:ext cx="154080" cy="307800"/>
            </a:xfrm>
            <a:prstGeom prst="rect">
              <a:avLst/>
            </a:prstGeom>
            <a:noFill/>
            <a:ln>
              <a:noFill/>
            </a:ln>
          </p:spPr>
        </p:pic>
        <p:pic>
          <p:nvPicPr>
            <p:cNvPr id="1234" name="Google Shape;1234;p27"/>
            <p:cNvPicPr preferRelativeResize="0"/>
            <p:nvPr/>
          </p:nvPicPr>
          <p:blipFill rotWithShape="1">
            <a:blip r:embed="rId33">
              <a:alphaModFix/>
            </a:blip>
            <a:srcRect/>
            <a:stretch/>
          </p:blipFill>
          <p:spPr>
            <a:xfrm>
              <a:off x="10329184" y="814103"/>
              <a:ext cx="190440" cy="144720"/>
            </a:xfrm>
            <a:prstGeom prst="rect">
              <a:avLst/>
            </a:prstGeom>
            <a:noFill/>
            <a:ln>
              <a:noFill/>
            </a:ln>
          </p:spPr>
        </p:pic>
        <p:pic>
          <p:nvPicPr>
            <p:cNvPr id="1235" name="Google Shape;1235;p27"/>
            <p:cNvPicPr preferRelativeResize="0"/>
            <p:nvPr/>
          </p:nvPicPr>
          <p:blipFill rotWithShape="1">
            <a:blip r:embed="rId34">
              <a:alphaModFix/>
            </a:blip>
            <a:srcRect/>
            <a:stretch/>
          </p:blipFill>
          <p:spPr>
            <a:xfrm>
              <a:off x="10517464" y="789983"/>
              <a:ext cx="142560" cy="179280"/>
            </a:xfrm>
            <a:prstGeom prst="rect">
              <a:avLst/>
            </a:prstGeom>
            <a:noFill/>
            <a:ln>
              <a:noFill/>
            </a:ln>
          </p:spPr>
        </p:pic>
        <p:pic>
          <p:nvPicPr>
            <p:cNvPr id="1236" name="Google Shape;1236;p27"/>
            <p:cNvPicPr preferRelativeResize="0"/>
            <p:nvPr/>
          </p:nvPicPr>
          <p:blipFill rotWithShape="1">
            <a:blip r:embed="rId35">
              <a:alphaModFix/>
            </a:blip>
            <a:srcRect/>
            <a:stretch/>
          </p:blipFill>
          <p:spPr>
            <a:xfrm>
              <a:off x="10667584" y="770183"/>
              <a:ext cx="256320" cy="194400"/>
            </a:xfrm>
            <a:prstGeom prst="rect">
              <a:avLst/>
            </a:prstGeom>
            <a:noFill/>
            <a:ln>
              <a:noFill/>
            </a:ln>
          </p:spPr>
        </p:pic>
        <p:pic>
          <p:nvPicPr>
            <p:cNvPr id="1237" name="Google Shape;1237;p27"/>
            <p:cNvPicPr preferRelativeResize="0"/>
            <p:nvPr/>
          </p:nvPicPr>
          <p:blipFill rotWithShape="1">
            <a:blip r:embed="rId36">
              <a:alphaModFix/>
            </a:blip>
            <a:srcRect/>
            <a:stretch/>
          </p:blipFill>
          <p:spPr>
            <a:xfrm>
              <a:off x="11020024" y="894023"/>
              <a:ext cx="115560" cy="318240"/>
            </a:xfrm>
            <a:prstGeom prst="rect">
              <a:avLst/>
            </a:prstGeom>
            <a:noFill/>
            <a:ln>
              <a:noFill/>
            </a:ln>
          </p:spPr>
        </p:pic>
        <p:pic>
          <p:nvPicPr>
            <p:cNvPr id="1238" name="Google Shape;1238;p27"/>
            <p:cNvPicPr preferRelativeResize="0"/>
            <p:nvPr/>
          </p:nvPicPr>
          <p:blipFill rotWithShape="1">
            <a:blip r:embed="rId37">
              <a:alphaModFix/>
            </a:blip>
            <a:srcRect/>
            <a:stretch/>
          </p:blipFill>
          <p:spPr>
            <a:xfrm>
              <a:off x="11170504" y="928583"/>
              <a:ext cx="256680" cy="216360"/>
            </a:xfrm>
            <a:prstGeom prst="rect">
              <a:avLst/>
            </a:prstGeom>
            <a:noFill/>
            <a:ln>
              <a:noFill/>
            </a:ln>
          </p:spPr>
        </p:pic>
        <p:pic>
          <p:nvPicPr>
            <p:cNvPr id="1239" name="Google Shape;1239;p27"/>
            <p:cNvPicPr preferRelativeResize="0"/>
            <p:nvPr/>
          </p:nvPicPr>
          <p:blipFill rotWithShape="1">
            <a:blip r:embed="rId38">
              <a:alphaModFix/>
            </a:blip>
            <a:srcRect/>
            <a:stretch/>
          </p:blipFill>
          <p:spPr>
            <a:xfrm>
              <a:off x="11442664" y="948383"/>
              <a:ext cx="116280" cy="188280"/>
            </a:xfrm>
            <a:prstGeom prst="rect">
              <a:avLst/>
            </a:prstGeom>
            <a:noFill/>
            <a:ln>
              <a:noFill/>
            </a:ln>
          </p:spPr>
        </p:pic>
        <p:pic>
          <p:nvPicPr>
            <p:cNvPr id="1240" name="Google Shape;1240;p27"/>
            <p:cNvPicPr preferRelativeResize="0"/>
            <p:nvPr/>
          </p:nvPicPr>
          <p:blipFill rotWithShape="1">
            <a:blip r:embed="rId39">
              <a:alphaModFix/>
            </a:blip>
            <a:srcRect/>
            <a:stretch/>
          </p:blipFill>
          <p:spPr>
            <a:xfrm>
              <a:off x="11572624" y="932903"/>
              <a:ext cx="243360" cy="192240"/>
            </a:xfrm>
            <a:prstGeom prst="rect">
              <a:avLst/>
            </a:prstGeom>
            <a:noFill/>
            <a:ln>
              <a:noFill/>
            </a:ln>
          </p:spPr>
        </p:pic>
        <p:pic>
          <p:nvPicPr>
            <p:cNvPr id="1241" name="Google Shape;1241;p27"/>
            <p:cNvPicPr preferRelativeResize="0"/>
            <p:nvPr/>
          </p:nvPicPr>
          <p:blipFill rotWithShape="1">
            <a:blip r:embed="rId40">
              <a:alphaModFix/>
            </a:blip>
            <a:srcRect/>
            <a:stretch/>
          </p:blipFill>
          <p:spPr>
            <a:xfrm>
              <a:off x="11849824" y="940463"/>
              <a:ext cx="125280" cy="187560"/>
            </a:xfrm>
            <a:prstGeom prst="rect">
              <a:avLst/>
            </a:prstGeom>
            <a:noFill/>
            <a:ln>
              <a:noFill/>
            </a:ln>
          </p:spPr>
        </p:pic>
        <p:pic>
          <p:nvPicPr>
            <p:cNvPr id="1242" name="Google Shape;1242;p27"/>
            <p:cNvPicPr preferRelativeResize="0"/>
            <p:nvPr/>
          </p:nvPicPr>
          <p:blipFill rotWithShape="1">
            <a:blip r:embed="rId41">
              <a:alphaModFix/>
            </a:blip>
            <a:srcRect/>
            <a:stretch/>
          </p:blipFill>
          <p:spPr>
            <a:xfrm>
              <a:off x="11990584" y="950903"/>
              <a:ext cx="288720" cy="402840"/>
            </a:xfrm>
            <a:prstGeom prst="rect">
              <a:avLst/>
            </a:prstGeom>
            <a:noFill/>
            <a:ln>
              <a:noFill/>
            </a:ln>
          </p:spPr>
        </p:pic>
        <p:pic>
          <p:nvPicPr>
            <p:cNvPr id="1243" name="Google Shape;1243;p27"/>
            <p:cNvPicPr preferRelativeResize="0"/>
            <p:nvPr/>
          </p:nvPicPr>
          <p:blipFill rotWithShape="1">
            <a:blip r:embed="rId42">
              <a:alphaModFix/>
            </a:blip>
            <a:srcRect/>
            <a:stretch/>
          </p:blipFill>
          <p:spPr>
            <a:xfrm>
              <a:off x="12289024" y="858743"/>
              <a:ext cx="161280" cy="394200"/>
            </a:xfrm>
            <a:prstGeom prst="rect">
              <a:avLst/>
            </a:prstGeom>
            <a:noFill/>
            <a:ln>
              <a:noFill/>
            </a:ln>
          </p:spPr>
        </p:pic>
        <p:pic>
          <p:nvPicPr>
            <p:cNvPr id="1244" name="Google Shape;1244;p27"/>
            <p:cNvPicPr preferRelativeResize="0"/>
            <p:nvPr/>
          </p:nvPicPr>
          <p:blipFill rotWithShape="1">
            <a:blip r:embed="rId43">
              <a:alphaModFix/>
            </a:blip>
            <a:srcRect/>
            <a:stretch/>
          </p:blipFill>
          <p:spPr>
            <a:xfrm>
              <a:off x="9917344" y="121463"/>
              <a:ext cx="341280" cy="376200"/>
            </a:xfrm>
            <a:prstGeom prst="rect">
              <a:avLst/>
            </a:prstGeom>
            <a:noFill/>
            <a:ln>
              <a:noFill/>
            </a:ln>
          </p:spPr>
        </p:pic>
        <p:pic>
          <p:nvPicPr>
            <p:cNvPr id="1245" name="Google Shape;1245;p27"/>
            <p:cNvPicPr preferRelativeResize="0"/>
            <p:nvPr/>
          </p:nvPicPr>
          <p:blipFill rotWithShape="1">
            <a:blip r:embed="rId44">
              <a:alphaModFix/>
            </a:blip>
            <a:srcRect/>
            <a:stretch/>
          </p:blipFill>
          <p:spPr>
            <a:xfrm>
              <a:off x="10031104" y="347543"/>
              <a:ext cx="245880" cy="215280"/>
            </a:xfrm>
            <a:prstGeom prst="rect">
              <a:avLst/>
            </a:prstGeom>
            <a:noFill/>
            <a:ln>
              <a:noFill/>
            </a:ln>
          </p:spPr>
        </p:pic>
        <p:pic>
          <p:nvPicPr>
            <p:cNvPr id="1246" name="Google Shape;1246;p27"/>
            <p:cNvPicPr preferRelativeResize="0"/>
            <p:nvPr/>
          </p:nvPicPr>
          <p:blipFill rotWithShape="1">
            <a:blip r:embed="rId45">
              <a:alphaModFix/>
            </a:blip>
            <a:srcRect/>
            <a:stretch/>
          </p:blipFill>
          <p:spPr>
            <a:xfrm>
              <a:off x="10302544" y="287063"/>
              <a:ext cx="186480" cy="188640"/>
            </a:xfrm>
            <a:prstGeom prst="rect">
              <a:avLst/>
            </a:prstGeom>
            <a:noFill/>
            <a:ln>
              <a:noFill/>
            </a:ln>
          </p:spPr>
        </p:pic>
        <p:pic>
          <p:nvPicPr>
            <p:cNvPr id="1247" name="Google Shape;1247;p27"/>
            <p:cNvPicPr preferRelativeResize="0"/>
            <p:nvPr/>
          </p:nvPicPr>
          <p:blipFill rotWithShape="1">
            <a:blip r:embed="rId46">
              <a:alphaModFix/>
            </a:blip>
            <a:srcRect/>
            <a:stretch/>
          </p:blipFill>
          <p:spPr>
            <a:xfrm>
              <a:off x="10515664" y="307943"/>
              <a:ext cx="148320" cy="180000"/>
            </a:xfrm>
            <a:prstGeom prst="rect">
              <a:avLst/>
            </a:prstGeom>
            <a:noFill/>
            <a:ln>
              <a:noFill/>
            </a:ln>
          </p:spPr>
        </p:pic>
        <p:pic>
          <p:nvPicPr>
            <p:cNvPr id="1248" name="Google Shape;1248;p27"/>
            <p:cNvPicPr preferRelativeResize="0"/>
            <p:nvPr/>
          </p:nvPicPr>
          <p:blipFill rotWithShape="1">
            <a:blip r:embed="rId47">
              <a:alphaModFix/>
            </a:blip>
            <a:srcRect/>
            <a:stretch/>
          </p:blipFill>
          <p:spPr>
            <a:xfrm>
              <a:off x="10680544" y="253223"/>
              <a:ext cx="77040" cy="194760"/>
            </a:xfrm>
            <a:prstGeom prst="rect">
              <a:avLst/>
            </a:prstGeom>
            <a:noFill/>
            <a:ln>
              <a:noFill/>
            </a:ln>
          </p:spPr>
        </p:pic>
        <p:pic>
          <p:nvPicPr>
            <p:cNvPr id="1249" name="Google Shape;1249;p27"/>
            <p:cNvPicPr preferRelativeResize="0"/>
            <p:nvPr/>
          </p:nvPicPr>
          <p:blipFill rotWithShape="1">
            <a:blip r:embed="rId48">
              <a:alphaModFix/>
            </a:blip>
            <a:srcRect/>
            <a:stretch/>
          </p:blipFill>
          <p:spPr>
            <a:xfrm>
              <a:off x="10698184" y="309383"/>
              <a:ext cx="287640" cy="175680"/>
            </a:xfrm>
            <a:prstGeom prst="rect">
              <a:avLst/>
            </a:prstGeom>
            <a:noFill/>
            <a:ln>
              <a:noFill/>
            </a:ln>
          </p:spPr>
        </p:pic>
        <p:pic>
          <p:nvPicPr>
            <p:cNvPr id="1250" name="Google Shape;1250;p27"/>
            <p:cNvPicPr preferRelativeResize="0"/>
            <p:nvPr/>
          </p:nvPicPr>
          <p:blipFill rotWithShape="1">
            <a:blip r:embed="rId49">
              <a:alphaModFix/>
            </a:blip>
            <a:srcRect/>
            <a:stretch/>
          </p:blipFill>
          <p:spPr>
            <a:xfrm>
              <a:off x="10969984" y="239183"/>
              <a:ext cx="183960" cy="378000"/>
            </a:xfrm>
            <a:prstGeom prst="rect">
              <a:avLst/>
            </a:prstGeom>
            <a:noFill/>
            <a:ln>
              <a:noFill/>
            </a:ln>
          </p:spPr>
        </p:pic>
        <p:pic>
          <p:nvPicPr>
            <p:cNvPr id="1251" name="Google Shape;1251;p27"/>
            <p:cNvPicPr preferRelativeResize="0"/>
            <p:nvPr/>
          </p:nvPicPr>
          <p:blipFill rotWithShape="1">
            <a:blip r:embed="rId50">
              <a:alphaModFix/>
            </a:blip>
            <a:srcRect/>
            <a:stretch/>
          </p:blipFill>
          <p:spPr>
            <a:xfrm>
              <a:off x="9763624" y="107423"/>
              <a:ext cx="211320" cy="499320"/>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5"/>
        <p:cNvGrpSpPr/>
        <p:nvPr/>
      </p:nvGrpSpPr>
      <p:grpSpPr>
        <a:xfrm>
          <a:off x="0" y="0"/>
          <a:ext cx="0" cy="0"/>
          <a:chOff x="0" y="0"/>
          <a:chExt cx="0" cy="0"/>
        </a:xfrm>
      </p:grpSpPr>
      <p:sp>
        <p:nvSpPr>
          <p:cNvPr id="1256" name="Google Shape;1256;p28"/>
          <p:cNvSpPr txBox="1"/>
          <p:nvPr/>
        </p:nvSpPr>
        <p:spPr>
          <a:xfrm>
            <a:off x="170878" y="97719"/>
            <a:ext cx="10969943" cy="710896"/>
          </a:xfrm>
          <a:prstGeom prst="rect">
            <a:avLst/>
          </a:prstGeom>
          <a:noFill/>
          <a:ln>
            <a:noFill/>
          </a:ln>
        </p:spPr>
        <p:txBody>
          <a:bodyPr spcFirstLastPara="1" wrap="square" lIns="121850" tIns="60925" rIns="121850" bIns="60925" anchor="ctr" anchorCtr="0">
            <a:noAutofit/>
          </a:bodyPr>
          <a:lstStyle/>
          <a:p>
            <a:pPr marL="0" marR="0" lvl="0" indent="0" algn="l" rtl="0">
              <a:lnSpc>
                <a:spcPct val="100000"/>
              </a:lnSpc>
              <a:spcBef>
                <a:spcPts val="0"/>
              </a:spcBef>
              <a:spcAft>
                <a:spcPts val="0"/>
              </a:spcAft>
              <a:buClr>
                <a:srgbClr val="000000"/>
              </a:buClr>
              <a:buSzPts val="3599"/>
              <a:buFont typeface="Corben"/>
              <a:buNone/>
            </a:pPr>
            <a:r>
              <a:rPr lang="en-US" sz="3599" b="0" i="0" u="none" strike="noStrike" cap="none">
                <a:solidFill>
                  <a:srgbClr val="000000"/>
                </a:solidFill>
                <a:latin typeface="Corben"/>
                <a:ea typeface="Corben"/>
                <a:cs typeface="Corben"/>
                <a:sym typeface="Corben"/>
              </a:rPr>
              <a:t>Customer View</a:t>
            </a:r>
            <a:endParaRPr/>
          </a:p>
        </p:txBody>
      </p:sp>
      <p:sp>
        <p:nvSpPr>
          <p:cNvPr id="1257" name="Google Shape;1257;p28"/>
          <p:cNvSpPr txBox="1"/>
          <p:nvPr/>
        </p:nvSpPr>
        <p:spPr>
          <a:xfrm>
            <a:off x="4493135" y="6489989"/>
            <a:ext cx="3547682"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Calibri"/>
              <a:buNone/>
            </a:pPr>
            <a:r>
              <a:rPr lang="en-US" sz="1799" b="1" i="0" u="none" strike="noStrike" cap="none">
                <a:solidFill>
                  <a:srgbClr val="000000"/>
                </a:solidFill>
                <a:latin typeface="Calibri"/>
                <a:ea typeface="Calibri"/>
                <a:cs typeface="Calibri"/>
                <a:sym typeface="Calibri"/>
              </a:rPr>
              <a:t>www.anubhavtrainings.com</a:t>
            </a:r>
            <a:endParaRPr/>
          </a:p>
        </p:txBody>
      </p:sp>
      <p:pic>
        <p:nvPicPr>
          <p:cNvPr id="1258" name="Google Shape;1258;p28"/>
          <p:cNvPicPr preferRelativeResize="0"/>
          <p:nvPr/>
        </p:nvPicPr>
        <p:blipFill rotWithShape="1">
          <a:blip r:embed="rId3">
            <a:alphaModFix/>
          </a:blip>
          <a:srcRect/>
          <a:stretch/>
        </p:blipFill>
        <p:spPr>
          <a:xfrm>
            <a:off x="11088469" y="53543"/>
            <a:ext cx="929479" cy="918051"/>
          </a:xfrm>
          <a:prstGeom prst="rect">
            <a:avLst/>
          </a:prstGeom>
          <a:noFill/>
          <a:ln>
            <a:noFill/>
          </a:ln>
        </p:spPr>
      </p:pic>
      <p:pic>
        <p:nvPicPr>
          <p:cNvPr id="1259" name="Google Shape;1259;p28" descr="Cloud Foundry [Part 1] - Orgs, Spaces, Buildpacks, and Services"/>
          <p:cNvPicPr preferRelativeResize="0"/>
          <p:nvPr/>
        </p:nvPicPr>
        <p:blipFill rotWithShape="1">
          <a:blip r:embed="rId4">
            <a:alphaModFix/>
          </a:blip>
          <a:srcRect/>
          <a:stretch/>
        </p:blipFill>
        <p:spPr>
          <a:xfrm>
            <a:off x="2010694" y="1257180"/>
            <a:ext cx="8167436" cy="51172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3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1273" name="Google Shape;1273;p30"/>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b="1"/>
              <a:t>Global Account </a:t>
            </a:r>
            <a:r>
              <a:rPr lang="en-US" sz="1800"/>
              <a:t>– A global account represent a SAP BTP customer for billing purpose. The monthly subscription fees will be charged based on entitlements.</a:t>
            </a:r>
            <a:endParaRPr/>
          </a:p>
          <a:p>
            <a:pPr marL="0" lvl="0" indent="0" algn="l" rtl="0">
              <a:spcBef>
                <a:spcPts val="360"/>
              </a:spcBef>
              <a:spcAft>
                <a:spcPts val="0"/>
              </a:spcAft>
              <a:buClr>
                <a:schemeClr val="dk1"/>
              </a:buClr>
              <a:buSzPts val="1800"/>
              <a:buNone/>
            </a:pPr>
            <a:r>
              <a:rPr lang="en-US" sz="1800" b="1"/>
              <a:t>Sub Account </a:t>
            </a:r>
            <a:r>
              <a:rPr lang="en-US" sz="1800"/>
              <a:t>– A customer can create multiple subaccounts based-on Line Of business (Fin, Co, Sales, HR, Marketing) OR teams OR projects. A sub account pertains to a Region and Data center. BTP Admin can assign the entitlements from Global a/c to subaccount. </a:t>
            </a:r>
            <a:endParaRPr/>
          </a:p>
          <a:p>
            <a:pPr marL="0" lvl="0" indent="0" algn="l" rtl="0">
              <a:spcBef>
                <a:spcPts val="360"/>
              </a:spcBef>
              <a:spcAft>
                <a:spcPts val="0"/>
              </a:spcAft>
              <a:buClr>
                <a:schemeClr val="dk1"/>
              </a:buClr>
              <a:buSzPts val="1800"/>
              <a:buNone/>
            </a:pPr>
            <a:r>
              <a:rPr lang="en-US" sz="1800" b="1"/>
              <a:t>Directory</a:t>
            </a:r>
            <a:r>
              <a:rPr lang="en-US" sz="1800"/>
              <a:t> – Grouping of subaccount that will help to manage the users/developers easily for similar subaccounts.</a:t>
            </a:r>
            <a:endParaRPr/>
          </a:p>
          <a:p>
            <a:pPr marL="0" lvl="0" indent="0" algn="l" rtl="0">
              <a:spcBef>
                <a:spcPts val="360"/>
              </a:spcBef>
              <a:spcAft>
                <a:spcPts val="0"/>
              </a:spcAft>
              <a:buClr>
                <a:schemeClr val="dk1"/>
              </a:buClr>
              <a:buSzPts val="1800"/>
              <a:buNone/>
            </a:pPr>
            <a:r>
              <a:rPr lang="en-US" sz="1800" b="1"/>
              <a:t>Space</a:t>
            </a:r>
            <a:r>
              <a:rPr lang="en-US" sz="1800"/>
              <a:t> – Allocation of memory where our applications are deployed. It also offers the landscape isolation e.g. dev, qlt and production. The amount of memory developer can consume in a space depends on space quota.</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Limitation of memory in trial a/c – 4 GB</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b="1" u="sng"/>
              <a:t>Next:</a:t>
            </a:r>
            <a:endParaRPr/>
          </a:p>
          <a:p>
            <a:pPr marL="285750" lvl="0" indent="-285750" algn="l" rtl="0">
              <a:spcBef>
                <a:spcPts val="360"/>
              </a:spcBef>
              <a:spcAft>
                <a:spcPts val="0"/>
              </a:spcAft>
              <a:buClr>
                <a:schemeClr val="dk1"/>
              </a:buClr>
              <a:buSzPts val="1800"/>
              <a:buFont typeface="Arial"/>
              <a:buChar char="-"/>
            </a:pPr>
            <a:r>
              <a:rPr lang="en-US" sz="1800"/>
              <a:t>Types of BTP a/c for companies – real-times</a:t>
            </a:r>
            <a:endParaRPr/>
          </a:p>
          <a:p>
            <a:pPr marL="285750" lvl="0" indent="-285750" algn="l" rtl="0">
              <a:spcBef>
                <a:spcPts val="360"/>
              </a:spcBef>
              <a:spcAft>
                <a:spcPts val="0"/>
              </a:spcAft>
              <a:buClr>
                <a:schemeClr val="dk1"/>
              </a:buClr>
              <a:buSzPts val="1800"/>
              <a:buFont typeface="Arial"/>
              <a:buChar char="-"/>
            </a:pPr>
            <a:r>
              <a:rPr lang="en-US" sz="1800"/>
              <a:t>BTP use cases</a:t>
            </a:r>
            <a:endParaRPr/>
          </a:p>
          <a:p>
            <a:pPr marL="285750" lvl="0" indent="-285750" algn="l" rtl="0">
              <a:spcBef>
                <a:spcPts val="360"/>
              </a:spcBef>
              <a:spcAft>
                <a:spcPts val="0"/>
              </a:spcAft>
              <a:buClr>
                <a:schemeClr val="dk1"/>
              </a:buClr>
              <a:buSzPts val="1800"/>
              <a:buFont typeface="Arial"/>
              <a:buChar char="-"/>
            </a:pPr>
            <a:r>
              <a:rPr lang="en-US" sz="1800"/>
              <a:t>Tools Required for development</a:t>
            </a:r>
            <a:endParaRPr/>
          </a:p>
          <a:p>
            <a:pPr marL="285750" lvl="0" indent="-285750" algn="l" rtl="0">
              <a:spcBef>
                <a:spcPts val="360"/>
              </a:spcBef>
              <a:spcAft>
                <a:spcPts val="0"/>
              </a:spcAft>
              <a:buClr>
                <a:schemeClr val="dk1"/>
              </a:buClr>
              <a:buSzPts val="1800"/>
              <a:buFont typeface="Arial"/>
              <a:buChar char="-"/>
            </a:pPr>
            <a:r>
              <a:rPr lang="en-US" sz="1800"/>
              <a:t>Introduction to JavaScript – NodeJS (NO JAVA knowledge required for this training)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3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1280" name="Google Shape;1280;p31"/>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Text</a:t>
            </a:r>
            <a:endParaRPr/>
          </a:p>
        </p:txBody>
      </p:sp>
      <p:graphicFrame>
        <p:nvGraphicFramePr>
          <p:cNvPr id="1281" name="Google Shape;1281;p31"/>
          <p:cNvGraphicFramePr/>
          <p:nvPr/>
        </p:nvGraphicFramePr>
        <p:xfrm>
          <a:off x="376458" y="764704"/>
          <a:ext cx="3000000" cy="3000000"/>
        </p:xfrm>
        <a:graphic>
          <a:graphicData uri="http://schemas.openxmlformats.org/drawingml/2006/table">
            <a:tbl>
              <a:tblPr>
                <a:gradFill>
                  <a:gsLst>
                    <a:gs pos="0">
                      <a:srgbClr val="86A1FF"/>
                    </a:gs>
                    <a:gs pos="35000">
                      <a:srgbClr val="A8BEFF"/>
                    </a:gs>
                    <a:gs pos="100000">
                      <a:srgbClr val="DAE4FF"/>
                    </a:gs>
                  </a:gsLst>
                  <a:lin ang="16200000" scaled="0"/>
                </a:gradFill>
                <a:tableStyleId>{41166063-1A6D-49AB-A6B6-7D06EA324BBF}</a:tableStyleId>
              </a:tblPr>
              <a:tblGrid>
                <a:gridCol w="3656550">
                  <a:extLst>
                    <a:ext uri="{9D8B030D-6E8A-4147-A177-3AD203B41FA5}">
                      <a16:colId xmlns:a16="http://schemas.microsoft.com/office/drawing/2014/main" val="20000"/>
                    </a:ext>
                  </a:extLst>
                </a:gridCol>
                <a:gridCol w="3656550">
                  <a:extLst>
                    <a:ext uri="{9D8B030D-6E8A-4147-A177-3AD203B41FA5}">
                      <a16:colId xmlns:a16="http://schemas.microsoft.com/office/drawing/2014/main" val="20001"/>
                    </a:ext>
                  </a:extLst>
                </a:gridCol>
                <a:gridCol w="3656550">
                  <a:extLst>
                    <a:ext uri="{9D8B030D-6E8A-4147-A177-3AD203B41FA5}">
                      <a16:colId xmlns:a16="http://schemas.microsoft.com/office/drawing/2014/main" val="20002"/>
                    </a:ext>
                  </a:extLst>
                </a:gridCol>
              </a:tblGrid>
              <a:tr h="457200">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Aspect</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RISE with SAP</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GROW with SAP</a:t>
                      </a:r>
                      <a:endParaRPr/>
                    </a:p>
                  </a:txBody>
                  <a:tcPr marL="91450" marR="91450" marT="45725" marB="45725" anchor="ct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Target Companies</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Large enterprises</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SMEs &amp; startups</a:t>
                      </a:r>
                      <a:endParaRPr/>
                    </a:p>
                  </a:txBody>
                  <a:tcPr marL="91450" marR="91450" marT="45725" marB="45725" anchor="ct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SAP Experience</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Existing SAP users</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New to SAP</a:t>
                      </a:r>
                      <a:endParaRPr/>
                    </a:p>
                  </a:txBody>
                  <a:tcPr marL="91450" marR="91450" marT="45725" marB="45725" anchor="ct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Deployment</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Private Cloud</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Public Cloud</a:t>
                      </a:r>
                      <a:endParaRPr/>
                    </a:p>
                  </a:txBody>
                  <a:tcPr marL="91450" marR="91450" marT="45725" marB="45725" anchor="ctr"/>
                </a:tc>
                <a:extLst>
                  <a:ext uri="{0D108BD9-81ED-4DB2-BD59-A6C34878D82A}">
                    <a16:rowId xmlns:a16="http://schemas.microsoft.com/office/drawing/2014/main" val="10003"/>
                  </a:ext>
                </a:extLst>
              </a:tr>
              <a:tr h="457200">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Customization</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High</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Limited</a:t>
                      </a:r>
                      <a:endParaRPr/>
                    </a:p>
                  </a:txBody>
                  <a:tcPr marL="91450" marR="91450" marT="45725" marB="45725" anchor="ctr"/>
                </a:tc>
                <a:extLst>
                  <a:ext uri="{0D108BD9-81ED-4DB2-BD59-A6C34878D82A}">
                    <a16:rowId xmlns:a16="http://schemas.microsoft.com/office/drawing/2014/main" val="10004"/>
                  </a:ext>
                </a:extLst>
              </a:tr>
              <a:tr h="457200">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Implementation Time</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Longer</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Faster</a:t>
                      </a:r>
                      <a:endParaRPr/>
                    </a:p>
                  </a:txBody>
                  <a:tcPr marL="91450" marR="91450" marT="45725" marB="45725" anchor="ctr"/>
                </a:tc>
                <a:extLst>
                  <a:ext uri="{0D108BD9-81ED-4DB2-BD59-A6C34878D82A}">
                    <a16:rowId xmlns:a16="http://schemas.microsoft.com/office/drawing/2014/main" val="10005"/>
                  </a:ext>
                </a:extLst>
              </a:tr>
              <a:tr h="457200">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Cost</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Higher</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Lower</a:t>
                      </a:r>
                      <a:endParaRPr/>
                    </a:p>
                  </a:txBody>
                  <a:tcPr marL="91450" marR="91450" marT="45725" marB="45725" anchor="ctr"/>
                </a:tc>
                <a:extLst>
                  <a:ext uri="{0D108BD9-81ED-4DB2-BD59-A6C34878D82A}">
                    <a16:rowId xmlns:a16="http://schemas.microsoft.com/office/drawing/2014/main" val="10006"/>
                  </a:ext>
                </a:extLst>
              </a:tr>
              <a:tr h="822950">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Transformation Level</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Full business transformation</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Quattrocento Sans"/>
                        <a:buNone/>
                      </a:pPr>
                      <a:r>
                        <a:rPr lang="en-US" sz="2400" u="none" strike="noStrike" cap="none"/>
                        <a:t>Rapid ERP adoption</a:t>
                      </a:r>
                      <a:endParaRPr/>
                    </a:p>
                  </a:txBody>
                  <a:tcPr marL="91450" marR="91450" marT="45725" marB="45725" anchor="ctr"/>
                </a:tc>
                <a:extLst>
                  <a:ext uri="{0D108BD9-81ED-4DB2-BD59-A6C34878D82A}">
                    <a16:rowId xmlns:a16="http://schemas.microsoft.com/office/drawing/2014/main" val="10007"/>
                  </a:ext>
                </a:extLst>
              </a:tr>
            </a:tbl>
          </a:graphicData>
        </a:graphic>
      </p:graphicFrame>
      <p:sp>
        <p:nvSpPr>
          <p:cNvPr id="1282" name="Google Shape;1282;p31"/>
          <p:cNvSpPr txBox="1"/>
          <p:nvPr/>
        </p:nvSpPr>
        <p:spPr>
          <a:xfrm>
            <a:off x="321086" y="4913695"/>
            <a:ext cx="1283011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https://help.sap.com/docs/btp/btp-developers-guide/basic-platform-setup</a:t>
            </a: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sp>
        <p:nvSpPr>
          <p:cNvPr id="1287" name="Google Shape;1287;p32"/>
          <p:cNvSpPr txBox="1">
            <a:spLocks noGrp="1"/>
          </p:cNvSpPr>
          <p:nvPr>
            <p:ph type="title"/>
          </p:nvPr>
        </p:nvSpPr>
        <p:spPr>
          <a:xfrm>
            <a:off x="406293" y="261746"/>
            <a:ext cx="10969943" cy="812590"/>
          </a:xfrm>
          <a:prstGeom prst="rect">
            <a:avLst/>
          </a:prstGeom>
          <a:noFill/>
          <a:ln>
            <a:noFill/>
          </a:ln>
        </p:spPr>
        <p:txBody>
          <a:bodyPr spcFirstLastPara="1" wrap="square" lIns="121875" tIns="60925" rIns="121875" bIns="60925" anchor="ctr" anchorCtr="0">
            <a:normAutofit/>
          </a:bodyPr>
          <a:lstStyle/>
          <a:p>
            <a:pPr marL="0" lvl="0" indent="0" algn="l" rtl="0">
              <a:spcBef>
                <a:spcPts val="0"/>
              </a:spcBef>
              <a:spcAft>
                <a:spcPts val="0"/>
              </a:spcAft>
              <a:buClr>
                <a:schemeClr val="dk1"/>
              </a:buClr>
              <a:buSzPts val="3500"/>
              <a:buFont typeface="Corben"/>
              <a:buNone/>
            </a:pPr>
            <a:r>
              <a:rPr lang="en-US" b="1">
                <a:latin typeface="Corben"/>
                <a:ea typeface="Corben"/>
                <a:cs typeface="Corben"/>
                <a:sym typeface="Corben"/>
              </a:rPr>
              <a:t>BTP Subscription Models</a:t>
            </a:r>
            <a:endParaRPr b="1">
              <a:latin typeface="Corben"/>
              <a:ea typeface="Corben"/>
              <a:cs typeface="Corben"/>
              <a:sym typeface="Corben"/>
            </a:endParaRPr>
          </a:p>
        </p:txBody>
      </p:sp>
      <p:sp>
        <p:nvSpPr>
          <p:cNvPr id="1288" name="Google Shape;1288;p32"/>
          <p:cNvSpPr txBox="1">
            <a:spLocks noGrp="1"/>
          </p:cNvSpPr>
          <p:nvPr>
            <p:ph type="ftr" idx="11"/>
          </p:nvPr>
        </p:nvSpPr>
        <p:spPr>
          <a:xfrm>
            <a:off x="4164515" y="6355588"/>
            <a:ext cx="3859795" cy="365030"/>
          </a:xfrm>
          <a:prstGeom prst="rect">
            <a:avLst/>
          </a:prstGeom>
          <a:noFill/>
          <a:ln>
            <a:noFill/>
          </a:ln>
        </p:spPr>
        <p:txBody>
          <a:bodyPr spcFirstLastPara="1" wrap="square" lIns="121875" tIns="60925" rIns="121875" bIns="60925" anchor="ctr" anchorCtr="0">
            <a:normAutofit fontScale="77500" lnSpcReduction="20000"/>
          </a:bodyPr>
          <a:lstStyle/>
          <a:p>
            <a:pPr marL="0" marR="0" lvl="0" indent="0" algn="ctr" rtl="0">
              <a:lnSpc>
                <a:spcPct val="90000"/>
              </a:lnSpc>
              <a:spcBef>
                <a:spcPts val="0"/>
              </a:spcBef>
              <a:spcAft>
                <a:spcPts val="800"/>
              </a:spcAft>
              <a:buClr>
                <a:srgbClr val="888888"/>
              </a:buClr>
              <a:buSzPct val="100000"/>
              <a:buFont typeface="Calibri"/>
              <a:buNone/>
            </a:pPr>
            <a:r>
              <a:rPr lang="en-US" sz="1600" b="0" i="0" u="none" strike="noStrike" cap="none">
                <a:solidFill>
                  <a:srgbClr val="888888"/>
                </a:solidFill>
                <a:latin typeface="Calibri"/>
                <a:ea typeface="Calibri"/>
                <a:cs typeface="Calibri"/>
                <a:sym typeface="Calibri"/>
              </a:rPr>
              <a:t>www.anubhavtrainings.com</a:t>
            </a:r>
            <a:endParaRPr/>
          </a:p>
        </p:txBody>
      </p:sp>
      <p:sp>
        <p:nvSpPr>
          <p:cNvPr id="1289" name="Google Shape;1289;p32"/>
          <p:cNvSpPr txBox="1">
            <a:spLocks noGrp="1"/>
          </p:cNvSpPr>
          <p:nvPr>
            <p:ph type="sldNum" idx="12"/>
          </p:nvPr>
        </p:nvSpPr>
        <p:spPr>
          <a:xfrm>
            <a:off x="8735324" y="6355588"/>
            <a:ext cx="2844059" cy="365030"/>
          </a:xfrm>
          <a:prstGeom prst="rect">
            <a:avLst/>
          </a:prstGeom>
          <a:noFill/>
          <a:ln>
            <a:noFill/>
          </a:ln>
        </p:spPr>
        <p:txBody>
          <a:bodyPr spcFirstLastPara="1" wrap="square" lIns="121875" tIns="60925" rIns="121875" bIns="60925" anchor="ctr" anchorCtr="0">
            <a:normAutofit fontScale="77500" lnSpcReduction="20000"/>
          </a:bodyPr>
          <a:lstStyle/>
          <a:p>
            <a:pPr marL="0" marR="0" lvl="0" indent="0" algn="r" rtl="0">
              <a:lnSpc>
                <a:spcPct val="90000"/>
              </a:lnSpc>
              <a:spcBef>
                <a:spcPts val="0"/>
              </a:spcBef>
              <a:spcAft>
                <a:spcPts val="800"/>
              </a:spcAft>
              <a:buClr>
                <a:srgbClr val="888888"/>
              </a:buClr>
              <a:buSzPct val="100000"/>
              <a:buFont typeface="Calibri"/>
              <a:buNone/>
            </a:pPr>
            <a:fld id="{00000000-1234-1234-1234-123412341234}" type="slidenum">
              <a:rPr lang="en-US" sz="1600" b="0" i="0" u="none" strike="noStrike" cap="none">
                <a:solidFill>
                  <a:srgbClr val="888888"/>
                </a:solidFill>
                <a:latin typeface="Calibri"/>
                <a:ea typeface="Calibri"/>
                <a:cs typeface="Calibri"/>
                <a:sym typeface="Calibri"/>
              </a:rPr>
              <a:t>26</a:t>
            </a:fld>
            <a:endParaRPr sz="1600" b="0" i="0" u="none" strike="noStrike" cap="none">
              <a:solidFill>
                <a:srgbClr val="888888"/>
              </a:solidFill>
              <a:latin typeface="Calibri"/>
              <a:ea typeface="Calibri"/>
              <a:cs typeface="Calibri"/>
              <a:sym typeface="Calibri"/>
            </a:endParaRPr>
          </a:p>
        </p:txBody>
      </p:sp>
      <p:pic>
        <p:nvPicPr>
          <p:cNvPr id="1290" name="Google Shape;1290;p32" descr="Commercial Models Available for Enterprise Accounts">
            <a:hlinkClick r:id="rId3"/>
          </p:cNvPr>
          <p:cNvPicPr preferRelativeResize="0"/>
          <p:nvPr/>
        </p:nvPicPr>
        <p:blipFill rotWithShape="1">
          <a:blip r:embed="rId4">
            <a:alphaModFix/>
          </a:blip>
          <a:srcRect/>
          <a:stretch/>
        </p:blipFill>
        <p:spPr>
          <a:xfrm>
            <a:off x="609441" y="1397529"/>
            <a:ext cx="9478815" cy="4833208"/>
          </a:xfrm>
          <a:prstGeom prst="rect">
            <a:avLst/>
          </a:prstGeom>
          <a:noFill/>
          <a:ln>
            <a:noFill/>
          </a:ln>
        </p:spPr>
      </p:pic>
      <p:sp>
        <p:nvSpPr>
          <p:cNvPr id="1291" name="Google Shape;1291;p32"/>
          <p:cNvSpPr txBox="1"/>
          <p:nvPr/>
        </p:nvSpPr>
        <p:spPr>
          <a:xfrm>
            <a:off x="72" y="6265434"/>
            <a:ext cx="609487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cap="none">
                <a:solidFill>
                  <a:srgbClr val="000000"/>
                </a:solidFill>
                <a:latin typeface="Calibri"/>
                <a:ea typeface="Calibri"/>
                <a:cs typeface="Calibri"/>
                <a:sym typeface="Calibri"/>
              </a:rPr>
              <a:t>https://help.sap.com/docs/btp/sap-business-technology-platform</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1296" name="Google Shape;1296;p33"/>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rgbClr val="000000"/>
              </a:buClr>
              <a:buSzPts val="3200"/>
              <a:buFont typeface="Corben"/>
              <a:buNone/>
            </a:pPr>
            <a:r>
              <a:rPr lang="en-US" sz="3200" b="0" i="0" u="none" strike="noStrike" cap="none">
                <a:solidFill>
                  <a:srgbClr val="000000"/>
                </a:solidFill>
                <a:latin typeface="Corben"/>
                <a:ea typeface="Corben"/>
                <a:cs typeface="Corben"/>
                <a:sym typeface="Corben"/>
              </a:rPr>
              <a:t>BTP Environments, Subscriptions, Services</a:t>
            </a:r>
            <a:endParaRPr sz="3200" b="0" i="0" u="none" strike="noStrike" cap="none">
              <a:solidFill>
                <a:srgbClr val="000000"/>
              </a:solidFill>
              <a:latin typeface="Corben"/>
              <a:ea typeface="Corben"/>
              <a:cs typeface="Corben"/>
              <a:sym typeface="Corben"/>
            </a:endParaRPr>
          </a:p>
        </p:txBody>
      </p:sp>
      <p:sp>
        <p:nvSpPr>
          <p:cNvPr id="1297" name="Google Shape;1297;p33"/>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2060"/>
              </a:buClr>
              <a:buSzPts val="1200"/>
              <a:buFont typeface="Corben"/>
              <a:buNone/>
            </a:pPr>
            <a:r>
              <a:rPr lang="en-US" sz="1200" b="0" i="0" u="none" strike="noStrike" cap="none">
                <a:solidFill>
                  <a:srgbClr val="002060"/>
                </a:solidFill>
                <a:latin typeface="Corben"/>
                <a:ea typeface="Corben"/>
                <a:cs typeface="Corben"/>
                <a:sym typeface="Corben"/>
              </a:rPr>
              <a:t>www.anubhavtrainings.com</a:t>
            </a:r>
            <a:endParaRPr sz="1200" b="0" i="0" u="none" strike="noStrike" cap="none">
              <a:solidFill>
                <a:srgbClr val="002060"/>
              </a:solidFill>
              <a:latin typeface="Corben"/>
              <a:ea typeface="Corben"/>
              <a:cs typeface="Corben"/>
              <a:sym typeface="Corben"/>
            </a:endParaRPr>
          </a:p>
        </p:txBody>
      </p:sp>
      <p:pic>
        <p:nvPicPr>
          <p:cNvPr id="1298" name="Google Shape;1298;p33"/>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1299" name="Google Shape;1299;p33"/>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11</a:t>
            </a:r>
            <a:endParaRPr sz="1100" b="0" i="0" u="none" strike="noStrike" cap="none">
              <a:solidFill>
                <a:srgbClr val="000000"/>
              </a:solidFill>
              <a:latin typeface="Calibri"/>
              <a:ea typeface="Calibri"/>
              <a:cs typeface="Calibri"/>
              <a:sym typeface="Calibri"/>
            </a:endParaRPr>
          </a:p>
        </p:txBody>
      </p:sp>
      <p:sp>
        <p:nvSpPr>
          <p:cNvPr id="1300" name="Google Shape;1300;p33"/>
          <p:cNvSpPr txBox="1"/>
          <p:nvPr/>
        </p:nvSpPr>
        <p:spPr>
          <a:xfrm>
            <a:off x="143030" y="797530"/>
            <a:ext cx="11809312" cy="50167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alibri"/>
              <a:buNone/>
            </a:pPr>
            <a:r>
              <a:rPr lang="en-US" sz="1600" b="1" i="0" u="none" strike="noStrike" cap="none">
                <a:solidFill>
                  <a:srgbClr val="000000"/>
                </a:solidFill>
                <a:latin typeface="Calibri"/>
                <a:ea typeface="Calibri"/>
                <a:cs typeface="Calibri"/>
                <a:sym typeface="Calibri"/>
              </a:rPr>
              <a:t>Environments</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Environments constitute the actual platform-as-a-service offering of SAP BTP that allows for the development and administration of business applications. Environments are anchored in SAP BTP on subaccount level.</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SAP BTP offers three environments: ABAP, Cloud Foundry and Kyma. Some existing customers still have Neo, but this is no longer offered.</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Calibri"/>
              <a:buNone/>
            </a:pPr>
            <a:r>
              <a:rPr lang="en-US" sz="1600" b="1" i="0" u="none" strike="noStrike" cap="none">
                <a:solidFill>
                  <a:srgbClr val="000000"/>
                </a:solidFill>
                <a:latin typeface="Calibri"/>
                <a:ea typeface="Calibri"/>
                <a:cs typeface="Calibri"/>
                <a:sym typeface="Calibri"/>
              </a:rPr>
              <a:t>Subscription based services</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You will also see these ones called software as a service (SaaS), or multitenant applications. The experience here is that you subscribe to the service, and in return you receive a URL, from which you can access that service. Opening the URL brings you to a web application from which you can leverage the service. This is how other SaaS like SuccessFactors or S/4HANA Cloud work as well. They are also enabled at a subaccount level and are independent of the environments. </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Examples include Launchpad (new Build workzone), SAP Business Application Studio, Integration Suite, Build process automation.</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Calibri"/>
              <a:buNone/>
            </a:pPr>
            <a:r>
              <a:rPr lang="en-US" sz="1600" b="1" i="0" u="none" strike="noStrike" cap="none">
                <a:solidFill>
                  <a:srgbClr val="000000"/>
                </a:solidFill>
                <a:latin typeface="Calibri"/>
                <a:ea typeface="Calibri"/>
                <a:cs typeface="Calibri"/>
                <a:sym typeface="Calibri"/>
              </a:rPr>
              <a:t>Instance based services</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These are the purest services. They provide a specific functionality, like databases, connectivity, authentication…. You connect your application to them to leverage that functionality. These services don’t provide a UI to manage them. Instead, they rely on API to connect to applications and other services and provide their services. They are provisioned inside an environment, so they are environment specific. Each environment has its own organization (for users and applications): In Cloud Foundry, instances are created inside a space. For Kyma, instances are created inside a namespace.</a:t>
            </a:r>
            <a:endParaRPr sz="16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0">
                                            <p:txEl>
                                              <p:pRg st="0" end="0"/>
                                            </p:txEl>
                                          </p:spTgt>
                                        </p:tgtEl>
                                        <p:attrNameLst>
                                          <p:attrName>style.visibility</p:attrName>
                                        </p:attrNameLst>
                                      </p:cBhvr>
                                      <p:to>
                                        <p:strVal val="visible"/>
                                      </p:to>
                                    </p:set>
                                    <p:animEffect transition="in" filter="fade">
                                      <p:cBhvr>
                                        <p:cTn id="7" dur="500"/>
                                        <p:tgtEl>
                                          <p:spTgt spid="13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00">
                                            <p:txEl>
                                              <p:pRg st="1" end="1"/>
                                            </p:txEl>
                                          </p:spTgt>
                                        </p:tgtEl>
                                        <p:attrNameLst>
                                          <p:attrName>style.visibility</p:attrName>
                                        </p:attrNameLst>
                                      </p:cBhvr>
                                      <p:to>
                                        <p:strVal val="visible"/>
                                      </p:to>
                                    </p:set>
                                    <p:animEffect transition="in" filter="fade">
                                      <p:cBhvr>
                                        <p:cTn id="12" dur="500"/>
                                        <p:tgtEl>
                                          <p:spTgt spid="130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00">
                                            <p:txEl>
                                              <p:pRg st="2" end="2"/>
                                            </p:txEl>
                                          </p:spTgt>
                                        </p:tgtEl>
                                        <p:attrNameLst>
                                          <p:attrName>style.visibility</p:attrName>
                                        </p:attrNameLst>
                                      </p:cBhvr>
                                      <p:to>
                                        <p:strVal val="visible"/>
                                      </p:to>
                                    </p:set>
                                    <p:animEffect transition="in" filter="fade">
                                      <p:cBhvr>
                                        <p:cTn id="17" dur="500"/>
                                        <p:tgtEl>
                                          <p:spTgt spid="130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00">
                                            <p:txEl>
                                              <p:pRg st="3" end="3"/>
                                            </p:txEl>
                                          </p:spTgt>
                                        </p:tgtEl>
                                        <p:attrNameLst>
                                          <p:attrName>style.visibility</p:attrName>
                                        </p:attrNameLst>
                                      </p:cBhvr>
                                      <p:to>
                                        <p:strVal val="visible"/>
                                      </p:to>
                                    </p:set>
                                    <p:animEffect transition="in" filter="fade">
                                      <p:cBhvr>
                                        <p:cTn id="22" dur="500"/>
                                        <p:tgtEl>
                                          <p:spTgt spid="130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00">
                                            <p:txEl>
                                              <p:pRg st="4" end="4"/>
                                            </p:txEl>
                                          </p:spTgt>
                                        </p:tgtEl>
                                        <p:attrNameLst>
                                          <p:attrName>style.visibility</p:attrName>
                                        </p:attrNameLst>
                                      </p:cBhvr>
                                      <p:to>
                                        <p:strVal val="visible"/>
                                      </p:to>
                                    </p:set>
                                    <p:animEffect transition="in" filter="fade">
                                      <p:cBhvr>
                                        <p:cTn id="27" dur="500"/>
                                        <p:tgtEl>
                                          <p:spTgt spid="130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00">
                                            <p:txEl>
                                              <p:pRg st="5" end="5"/>
                                            </p:txEl>
                                          </p:spTgt>
                                        </p:tgtEl>
                                        <p:attrNameLst>
                                          <p:attrName>style.visibility</p:attrName>
                                        </p:attrNameLst>
                                      </p:cBhvr>
                                      <p:to>
                                        <p:strVal val="visible"/>
                                      </p:to>
                                    </p:set>
                                    <p:animEffect transition="in" filter="fade">
                                      <p:cBhvr>
                                        <p:cTn id="32" dur="500"/>
                                        <p:tgtEl>
                                          <p:spTgt spid="130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00">
                                            <p:txEl>
                                              <p:pRg st="6" end="6"/>
                                            </p:txEl>
                                          </p:spTgt>
                                        </p:tgtEl>
                                        <p:attrNameLst>
                                          <p:attrName>style.visibility</p:attrName>
                                        </p:attrNameLst>
                                      </p:cBhvr>
                                      <p:to>
                                        <p:strVal val="visible"/>
                                      </p:to>
                                    </p:set>
                                    <p:animEffect transition="in" filter="fade">
                                      <p:cBhvr>
                                        <p:cTn id="37" dur="500"/>
                                        <p:tgtEl>
                                          <p:spTgt spid="130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00">
                                            <p:txEl>
                                              <p:pRg st="7" end="7"/>
                                            </p:txEl>
                                          </p:spTgt>
                                        </p:tgtEl>
                                        <p:attrNameLst>
                                          <p:attrName>style.visibility</p:attrName>
                                        </p:attrNameLst>
                                      </p:cBhvr>
                                      <p:to>
                                        <p:strVal val="visible"/>
                                      </p:to>
                                    </p:set>
                                    <p:animEffect transition="in" filter="fade">
                                      <p:cBhvr>
                                        <p:cTn id="42" dur="500"/>
                                        <p:tgtEl>
                                          <p:spTgt spid="130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00">
                                            <p:txEl>
                                              <p:pRg st="8" end="8"/>
                                            </p:txEl>
                                          </p:spTgt>
                                        </p:tgtEl>
                                        <p:attrNameLst>
                                          <p:attrName>style.visibility</p:attrName>
                                        </p:attrNameLst>
                                      </p:cBhvr>
                                      <p:to>
                                        <p:strVal val="visible"/>
                                      </p:to>
                                    </p:set>
                                    <p:animEffect transition="in" filter="fade">
                                      <p:cBhvr>
                                        <p:cTn id="47" dur="500"/>
                                        <p:tgtEl>
                                          <p:spTgt spid="130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00">
                                            <p:txEl>
                                              <p:pRg st="9" end="9"/>
                                            </p:txEl>
                                          </p:spTgt>
                                        </p:tgtEl>
                                        <p:attrNameLst>
                                          <p:attrName>style.visibility</p:attrName>
                                        </p:attrNameLst>
                                      </p:cBhvr>
                                      <p:to>
                                        <p:strVal val="visible"/>
                                      </p:to>
                                    </p:set>
                                    <p:animEffect transition="in" filter="fade">
                                      <p:cBhvr>
                                        <p:cTn id="52" dur="500"/>
                                        <p:tgtEl>
                                          <p:spTgt spid="130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300">
                                            <p:txEl>
                                              <p:pRg st="10" end="10"/>
                                            </p:txEl>
                                          </p:spTgt>
                                        </p:tgtEl>
                                        <p:attrNameLst>
                                          <p:attrName>style.visibility</p:attrName>
                                        </p:attrNameLst>
                                      </p:cBhvr>
                                      <p:to>
                                        <p:strVal val="visible"/>
                                      </p:to>
                                    </p:set>
                                    <p:animEffect transition="in" filter="fade">
                                      <p:cBhvr>
                                        <p:cTn id="57" dur="500"/>
                                        <p:tgtEl>
                                          <p:spTgt spid="1300">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300">
                                            <p:txEl>
                                              <p:pRg st="11" end="11"/>
                                            </p:txEl>
                                          </p:spTgt>
                                        </p:tgtEl>
                                        <p:attrNameLst>
                                          <p:attrName>style.visibility</p:attrName>
                                        </p:attrNameLst>
                                      </p:cBhvr>
                                      <p:to>
                                        <p:strVal val="visible"/>
                                      </p:to>
                                    </p:set>
                                    <p:animEffect transition="in" filter="fade">
                                      <p:cBhvr>
                                        <p:cTn id="62" dur="500"/>
                                        <p:tgtEl>
                                          <p:spTgt spid="1300">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34"/>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rgbClr val="000000"/>
              </a:buClr>
              <a:buSzPts val="3200"/>
              <a:buFont typeface="Corben"/>
              <a:buNone/>
            </a:pPr>
            <a:r>
              <a:rPr lang="en-US" sz="3200" b="0" i="0" u="none" strike="noStrike" cap="none">
                <a:solidFill>
                  <a:srgbClr val="000000"/>
                </a:solidFill>
                <a:latin typeface="Corben"/>
                <a:ea typeface="Corben"/>
                <a:cs typeface="Corben"/>
                <a:sym typeface="Corben"/>
              </a:rPr>
              <a:t>BTP Backing Services</a:t>
            </a:r>
            <a:endParaRPr sz="3200" b="0" i="0" u="none" strike="noStrike" cap="none">
              <a:solidFill>
                <a:srgbClr val="000000"/>
              </a:solidFill>
              <a:latin typeface="Corben"/>
              <a:ea typeface="Corben"/>
              <a:cs typeface="Corben"/>
              <a:sym typeface="Corben"/>
            </a:endParaRPr>
          </a:p>
        </p:txBody>
      </p:sp>
      <p:sp>
        <p:nvSpPr>
          <p:cNvPr id="1306" name="Google Shape;1306;p34"/>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2060"/>
              </a:buClr>
              <a:buSzPts val="1200"/>
              <a:buFont typeface="Corben"/>
              <a:buNone/>
            </a:pPr>
            <a:r>
              <a:rPr lang="en-US" sz="1200" b="0" i="0" u="none" strike="noStrike" cap="none">
                <a:solidFill>
                  <a:srgbClr val="002060"/>
                </a:solidFill>
                <a:latin typeface="Corben"/>
                <a:ea typeface="Corben"/>
                <a:cs typeface="Corben"/>
                <a:sym typeface="Corben"/>
              </a:rPr>
              <a:t>www.anubhavtrainings.com</a:t>
            </a:r>
            <a:endParaRPr sz="1200" b="0" i="0" u="none" strike="noStrike" cap="none">
              <a:solidFill>
                <a:srgbClr val="002060"/>
              </a:solidFill>
              <a:latin typeface="Corben"/>
              <a:ea typeface="Corben"/>
              <a:cs typeface="Corben"/>
              <a:sym typeface="Corben"/>
            </a:endParaRPr>
          </a:p>
        </p:txBody>
      </p:sp>
      <p:pic>
        <p:nvPicPr>
          <p:cNvPr id="1307" name="Google Shape;1307;p34"/>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1308" name="Google Shape;1308;p34"/>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11</a:t>
            </a:r>
            <a:endParaRPr sz="1100" b="0" i="0" u="none" strike="noStrike" cap="none">
              <a:solidFill>
                <a:srgbClr val="000000"/>
              </a:solidFill>
              <a:latin typeface="Calibri"/>
              <a:ea typeface="Calibri"/>
              <a:cs typeface="Calibri"/>
              <a:sym typeface="Calibri"/>
            </a:endParaRPr>
          </a:p>
        </p:txBody>
      </p:sp>
      <p:pic>
        <p:nvPicPr>
          <p:cNvPr id="1309" name="Google Shape;1309;p34"/>
          <p:cNvPicPr preferRelativeResize="0"/>
          <p:nvPr/>
        </p:nvPicPr>
        <p:blipFill rotWithShape="1">
          <a:blip r:embed="rId4">
            <a:alphaModFix/>
          </a:blip>
          <a:srcRect/>
          <a:stretch/>
        </p:blipFill>
        <p:spPr>
          <a:xfrm>
            <a:off x="207912" y="2044946"/>
            <a:ext cx="4645677" cy="3600400"/>
          </a:xfrm>
          <a:prstGeom prst="rect">
            <a:avLst/>
          </a:prstGeom>
          <a:noFill/>
          <a:ln>
            <a:noFill/>
          </a:ln>
        </p:spPr>
      </p:pic>
      <p:pic>
        <p:nvPicPr>
          <p:cNvPr id="1310" name="Google Shape;1310;p34"/>
          <p:cNvPicPr preferRelativeResize="0"/>
          <p:nvPr/>
        </p:nvPicPr>
        <p:blipFill rotWithShape="1">
          <a:blip r:embed="rId5">
            <a:alphaModFix/>
          </a:blip>
          <a:srcRect/>
          <a:stretch/>
        </p:blipFill>
        <p:spPr>
          <a:xfrm>
            <a:off x="5680520" y="2044946"/>
            <a:ext cx="6103844" cy="3478687"/>
          </a:xfrm>
          <a:prstGeom prst="rect">
            <a:avLst/>
          </a:prstGeom>
          <a:noFill/>
          <a:ln>
            <a:noFill/>
          </a:ln>
        </p:spPr>
      </p:pic>
      <p:sp>
        <p:nvSpPr>
          <p:cNvPr id="1311" name="Google Shape;1311;p34"/>
          <p:cNvSpPr txBox="1"/>
          <p:nvPr/>
        </p:nvSpPr>
        <p:spPr>
          <a:xfrm>
            <a:off x="205333" y="1251796"/>
            <a:ext cx="432048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orben"/>
              <a:buNone/>
            </a:pPr>
            <a:r>
              <a:rPr lang="en-US" sz="2400" b="1" i="0" u="none" strike="noStrike" cap="none">
                <a:solidFill>
                  <a:srgbClr val="000000"/>
                </a:solidFill>
                <a:latin typeface="Corben"/>
                <a:ea typeface="Corben"/>
                <a:cs typeface="Corben"/>
                <a:sym typeface="Corben"/>
              </a:rPr>
              <a:t>Choose Your service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0000"/>
              </a:buClr>
              <a:buSzPts val="2400"/>
              <a:buFont typeface="Corben"/>
              <a:buNone/>
            </a:pPr>
            <a:r>
              <a:rPr lang="en-US" sz="2400" b="1" i="0" u="none" strike="noStrike" cap="none">
                <a:solidFill>
                  <a:srgbClr val="FF0000"/>
                </a:solidFill>
                <a:latin typeface="Corben"/>
                <a:ea typeface="Corben"/>
                <a:cs typeface="Corben"/>
                <a:sym typeface="Corben"/>
              </a:rPr>
              <a:t>Backing Service</a:t>
            </a:r>
            <a:endParaRPr sz="1400" b="0" i="0" u="none" strike="noStrike" cap="none">
              <a:solidFill>
                <a:srgbClr val="000000"/>
              </a:solidFill>
              <a:latin typeface="Arial"/>
              <a:ea typeface="Arial"/>
              <a:cs typeface="Arial"/>
              <a:sym typeface="Arial"/>
            </a:endParaRPr>
          </a:p>
        </p:txBody>
      </p:sp>
      <p:sp>
        <p:nvSpPr>
          <p:cNvPr id="1312" name="Google Shape;1312;p34"/>
          <p:cNvSpPr txBox="1"/>
          <p:nvPr/>
        </p:nvSpPr>
        <p:spPr>
          <a:xfrm>
            <a:off x="5691381" y="1209210"/>
            <a:ext cx="432048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orben"/>
              <a:buNone/>
            </a:pPr>
            <a:r>
              <a:rPr lang="en-US" sz="2400" b="1" i="0" u="none" strike="noStrike" cap="none">
                <a:solidFill>
                  <a:srgbClr val="000000"/>
                </a:solidFill>
                <a:latin typeface="Corben"/>
                <a:ea typeface="Corben"/>
                <a:cs typeface="Corben"/>
                <a:sym typeface="Corben"/>
              </a:rPr>
              <a:t>Select Plan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0000"/>
              </a:buClr>
              <a:buSzPts val="2400"/>
              <a:buFont typeface="Corben"/>
              <a:buNone/>
            </a:pPr>
            <a:r>
              <a:rPr lang="en-US" sz="2400" b="1" i="0" u="none" strike="noStrike" cap="none">
                <a:solidFill>
                  <a:srgbClr val="FF0000"/>
                </a:solidFill>
                <a:latin typeface="Corben"/>
                <a:ea typeface="Corben"/>
                <a:cs typeface="Corben"/>
                <a:sym typeface="Corben"/>
              </a:rPr>
              <a:t>Service Plan</a:t>
            </a:r>
            <a:endParaRPr sz="1400" b="0" i="0" u="none" strike="noStrike" cap="none">
              <a:solidFill>
                <a:srgbClr val="000000"/>
              </a:solidFill>
              <a:latin typeface="Arial"/>
              <a:ea typeface="Arial"/>
              <a:cs typeface="Arial"/>
              <a:sym typeface="Arial"/>
            </a:endParaRPr>
          </a:p>
        </p:txBody>
      </p:sp>
      <p:sp>
        <p:nvSpPr>
          <p:cNvPr id="1313" name="Google Shape;1313;p34"/>
          <p:cNvSpPr/>
          <p:nvPr/>
        </p:nvSpPr>
        <p:spPr>
          <a:xfrm>
            <a:off x="4961601" y="3269082"/>
            <a:ext cx="610907" cy="864096"/>
          </a:xfrm>
          <a:prstGeom prst="notchedRightArrow">
            <a:avLst>
              <a:gd name="adj1" fmla="val 50000"/>
              <a:gd name="adj2" fmla="val 50000"/>
            </a:avLst>
          </a:prstGeom>
          <a:solidFill>
            <a:schemeClr val="accent1"/>
          </a:solidFill>
          <a:ln w="25400" cap="flat" cmpd="sng">
            <a:solidFill>
              <a:srgbClr val="8989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400"/>
              <a:buFont typeface="Calibri"/>
              <a:buNone/>
            </a:pPr>
            <a:endParaRPr sz="2400" b="0" i="0" u="none" strike="noStrike" cap="none">
              <a:solidFill>
                <a:srgbClr val="FFFFFF"/>
              </a:solidFill>
              <a:latin typeface="Calibri"/>
              <a:ea typeface="Calibri"/>
              <a:cs typeface="Calibri"/>
              <a:sym typeface="Calibri"/>
            </a:endParaRPr>
          </a:p>
        </p:txBody>
      </p:sp>
      <p:sp>
        <p:nvSpPr>
          <p:cNvPr id="1314" name="Google Shape;1314;p34"/>
          <p:cNvSpPr/>
          <p:nvPr/>
        </p:nvSpPr>
        <p:spPr>
          <a:xfrm>
            <a:off x="3952328" y="3413098"/>
            <a:ext cx="792088" cy="576064"/>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400"/>
              <a:buFont typeface="Calibri"/>
              <a:buNone/>
            </a:pPr>
            <a:endParaRPr sz="2400" b="0" i="0" u="none" strike="noStrike" cap="none">
              <a:solidFill>
                <a:srgbClr val="FFFFFF"/>
              </a:solidFill>
              <a:latin typeface="Calibri"/>
              <a:ea typeface="Calibri"/>
              <a:cs typeface="Calibri"/>
              <a:sym typeface="Calibri"/>
            </a:endParaRPr>
          </a:p>
        </p:txBody>
      </p:sp>
      <p:sp>
        <p:nvSpPr>
          <p:cNvPr id="1315" name="Google Shape;1315;p34"/>
          <p:cNvSpPr/>
          <p:nvPr/>
        </p:nvSpPr>
        <p:spPr>
          <a:xfrm>
            <a:off x="8732442" y="4853258"/>
            <a:ext cx="792088" cy="576064"/>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400"/>
              <a:buFont typeface="Calibri"/>
              <a:buNone/>
            </a:pPr>
            <a:endParaRPr sz="2400" b="0" i="0" u="none" strike="noStrike" cap="none">
              <a:solidFill>
                <a:srgbClr val="FFFFFF"/>
              </a:solidFill>
              <a:latin typeface="Calibri"/>
              <a:ea typeface="Calibri"/>
              <a:cs typeface="Calibri"/>
              <a:sym typeface="Calibri"/>
            </a:endParaRPr>
          </a:p>
        </p:txBody>
      </p:sp>
      <p:sp>
        <p:nvSpPr>
          <p:cNvPr id="1316" name="Google Shape;1316;p34"/>
          <p:cNvSpPr txBox="1"/>
          <p:nvPr/>
        </p:nvSpPr>
        <p:spPr>
          <a:xfrm>
            <a:off x="8169624" y="1116876"/>
            <a:ext cx="4032761" cy="1015663"/>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333333"/>
              </a:buClr>
              <a:buSzPts val="1200"/>
              <a:buFont typeface="Arial"/>
              <a:buNone/>
            </a:pPr>
            <a:r>
              <a:rPr lang="en-US" sz="1200" b="0" i="0" u="none" strike="noStrike" cap="none">
                <a:solidFill>
                  <a:srgbClr val="333333"/>
                </a:solidFill>
                <a:latin typeface="Arial"/>
                <a:ea typeface="Arial"/>
                <a:cs typeface="Arial"/>
                <a:sym typeface="Arial"/>
              </a:rPr>
              <a:t>Each service has one or more </a:t>
            </a:r>
            <a:r>
              <a:rPr lang="en-US" sz="1200" b="1" i="0" u="none" strike="noStrike" cap="none">
                <a:solidFill>
                  <a:srgbClr val="333333"/>
                </a:solidFill>
                <a:latin typeface="Arial"/>
                <a:ea typeface="Arial"/>
                <a:cs typeface="Arial"/>
                <a:sym typeface="Arial"/>
              </a:rPr>
              <a:t>service plans</a:t>
            </a:r>
            <a:r>
              <a:rPr lang="en-US" sz="1200" b="0" i="0" u="none" strike="noStrike" cap="none">
                <a:solidFill>
                  <a:srgbClr val="333333"/>
                </a:solidFill>
                <a:latin typeface="Arial"/>
                <a:ea typeface="Arial"/>
                <a:cs typeface="Arial"/>
                <a:sym typeface="Arial"/>
              </a:rPr>
              <a:t> available. A service plan is the representation of the costs and benefits for a given variant of a particular service. For instance, a database may be configured with various "T-shirt sizes", each of which is a different service plan.</a:t>
            </a:r>
            <a:endParaRPr sz="1200" b="0" i="0" u="none" strike="noStrike" cap="none">
              <a:solidFill>
                <a:srgbClr val="000000"/>
              </a:solidFill>
              <a:latin typeface="Calibri"/>
              <a:ea typeface="Calibri"/>
              <a:cs typeface="Calibri"/>
              <a:sym typeface="Calibri"/>
            </a:endParaRPr>
          </a:p>
        </p:txBody>
      </p:sp>
      <p:sp>
        <p:nvSpPr>
          <p:cNvPr id="1317" name="Google Shape;1317;p34"/>
          <p:cNvSpPr txBox="1"/>
          <p:nvPr/>
        </p:nvSpPr>
        <p:spPr>
          <a:xfrm>
            <a:off x="199403" y="5501330"/>
            <a:ext cx="6103306"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https://discovery-center.cloud.sap/servicessearch</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14"/>
                                        </p:tgtEl>
                                        <p:attrNameLst>
                                          <p:attrName>style.visibility</p:attrName>
                                        </p:attrNameLst>
                                      </p:cBhvr>
                                      <p:to>
                                        <p:strVal val="visible"/>
                                      </p:to>
                                    </p:set>
                                    <p:anim calcmode="lin" valueType="num">
                                      <p:cBhvr additive="base">
                                        <p:cTn id="7" dur="500"/>
                                        <p:tgtEl>
                                          <p:spTgt spid="1314"/>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309"/>
                                        </p:tgtEl>
                                        <p:attrNameLst>
                                          <p:attrName>style.visibility</p:attrName>
                                        </p:attrNameLst>
                                      </p:cBhvr>
                                      <p:to>
                                        <p:strVal val="visible"/>
                                      </p:to>
                                    </p:set>
                                    <p:anim calcmode="lin" valueType="num">
                                      <p:cBhvr additive="base">
                                        <p:cTn id="10" dur="500"/>
                                        <p:tgtEl>
                                          <p:spTgt spid="1309"/>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311"/>
                                        </p:tgtEl>
                                        <p:attrNameLst>
                                          <p:attrName>style.visibility</p:attrName>
                                        </p:attrNameLst>
                                      </p:cBhvr>
                                      <p:to>
                                        <p:strVal val="visible"/>
                                      </p:to>
                                    </p:set>
                                    <p:anim calcmode="lin" valueType="num">
                                      <p:cBhvr additive="base">
                                        <p:cTn id="13" dur="500"/>
                                        <p:tgtEl>
                                          <p:spTgt spid="1311"/>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13"/>
                                        </p:tgtEl>
                                        <p:attrNameLst>
                                          <p:attrName>style.visibility</p:attrName>
                                        </p:attrNameLst>
                                      </p:cBhvr>
                                      <p:to>
                                        <p:strVal val="visible"/>
                                      </p:to>
                                    </p:set>
                                    <p:animEffect transition="in" filter="fade">
                                      <p:cBhvr>
                                        <p:cTn id="18" dur="1000"/>
                                        <p:tgtEl>
                                          <p:spTgt spid="131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15"/>
                                        </p:tgtEl>
                                        <p:attrNameLst>
                                          <p:attrName>style.visibility</p:attrName>
                                        </p:attrNameLst>
                                      </p:cBhvr>
                                      <p:to>
                                        <p:strVal val="visible"/>
                                      </p:to>
                                    </p:set>
                                    <p:anim calcmode="lin" valueType="num">
                                      <p:cBhvr additive="base">
                                        <p:cTn id="23" dur="500"/>
                                        <p:tgtEl>
                                          <p:spTgt spid="1315"/>
                                        </p:tgtEl>
                                        <p:attrNameLst>
                                          <p:attrName>ppt_y</p:attrName>
                                        </p:attrNameLst>
                                      </p:cBhvr>
                                      <p:tavLst>
                                        <p:tav tm="0">
                                          <p:val>
                                            <p:strVal val="#ppt_y+1"/>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310"/>
                                        </p:tgtEl>
                                        <p:attrNameLst>
                                          <p:attrName>style.visibility</p:attrName>
                                        </p:attrNameLst>
                                      </p:cBhvr>
                                      <p:to>
                                        <p:strVal val="visible"/>
                                      </p:to>
                                    </p:set>
                                    <p:anim calcmode="lin" valueType="num">
                                      <p:cBhvr additive="base">
                                        <p:cTn id="26" dur="500"/>
                                        <p:tgtEl>
                                          <p:spTgt spid="1310"/>
                                        </p:tgtEl>
                                        <p:attrNameLst>
                                          <p:attrName>ppt_y</p:attrName>
                                        </p:attrNameLst>
                                      </p:cBhvr>
                                      <p:tavLst>
                                        <p:tav tm="0">
                                          <p:val>
                                            <p:strVal val="#ppt_y+1"/>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312"/>
                                        </p:tgtEl>
                                        <p:attrNameLst>
                                          <p:attrName>style.visibility</p:attrName>
                                        </p:attrNameLst>
                                      </p:cBhvr>
                                      <p:to>
                                        <p:strVal val="visible"/>
                                      </p:to>
                                    </p:set>
                                    <p:anim calcmode="lin" valueType="num">
                                      <p:cBhvr additive="base">
                                        <p:cTn id="29" dur="500"/>
                                        <p:tgtEl>
                                          <p:spTgt spid="1312"/>
                                        </p:tgtEl>
                                        <p:attrNameLst>
                                          <p:attrName>ppt_y</p:attrName>
                                        </p:attrNameLst>
                                      </p:cBhvr>
                                      <p:tavLst>
                                        <p:tav tm="0">
                                          <p:val>
                                            <p:strVal val="#ppt_y+1"/>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316"/>
                                        </p:tgtEl>
                                        <p:attrNameLst>
                                          <p:attrName>style.visibility</p:attrName>
                                        </p:attrNameLst>
                                      </p:cBhvr>
                                      <p:to>
                                        <p:strVal val="visible"/>
                                      </p:to>
                                    </p:set>
                                    <p:anim calcmode="lin" valueType="num">
                                      <p:cBhvr additive="base">
                                        <p:cTn id="32" dur="500"/>
                                        <p:tgtEl>
                                          <p:spTgt spid="13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21"/>
        <p:cNvGrpSpPr/>
        <p:nvPr/>
      </p:nvGrpSpPr>
      <p:grpSpPr>
        <a:xfrm>
          <a:off x="0" y="0"/>
          <a:ext cx="0" cy="0"/>
          <a:chOff x="0" y="0"/>
          <a:chExt cx="0" cy="0"/>
        </a:xfrm>
      </p:grpSpPr>
      <p:sp>
        <p:nvSpPr>
          <p:cNvPr id="1322" name="Google Shape;1322;p35"/>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rgbClr val="000000"/>
              </a:buClr>
              <a:buSzPts val="3200"/>
              <a:buFont typeface="Corben"/>
              <a:buNone/>
            </a:pPr>
            <a:r>
              <a:rPr lang="en-US" sz="3200" b="0" i="0" u="none" strike="noStrike" cap="none">
                <a:solidFill>
                  <a:srgbClr val="000000"/>
                </a:solidFill>
                <a:latin typeface="Corben"/>
                <a:ea typeface="Corben"/>
                <a:cs typeface="Corben"/>
                <a:sym typeface="Corben"/>
              </a:rPr>
              <a:t>How to use instance</a:t>
            </a:r>
            <a:endParaRPr sz="3200" b="0" i="0" u="none" strike="noStrike" cap="none">
              <a:solidFill>
                <a:srgbClr val="000000"/>
              </a:solidFill>
              <a:latin typeface="Corben"/>
              <a:ea typeface="Corben"/>
              <a:cs typeface="Corben"/>
              <a:sym typeface="Corben"/>
            </a:endParaRPr>
          </a:p>
        </p:txBody>
      </p:sp>
      <p:sp>
        <p:nvSpPr>
          <p:cNvPr id="1323" name="Google Shape;1323;p35"/>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2060"/>
              </a:buClr>
              <a:buSzPts val="1200"/>
              <a:buFont typeface="Corben"/>
              <a:buNone/>
            </a:pPr>
            <a:r>
              <a:rPr lang="en-US" sz="1200" b="0" i="0" u="none" strike="noStrike" cap="none">
                <a:solidFill>
                  <a:srgbClr val="002060"/>
                </a:solidFill>
                <a:latin typeface="Corben"/>
                <a:ea typeface="Corben"/>
                <a:cs typeface="Corben"/>
                <a:sym typeface="Corben"/>
              </a:rPr>
              <a:t>www.anubhavtrainings.com</a:t>
            </a:r>
            <a:endParaRPr sz="1200" b="0" i="0" u="none" strike="noStrike" cap="none">
              <a:solidFill>
                <a:srgbClr val="002060"/>
              </a:solidFill>
              <a:latin typeface="Corben"/>
              <a:ea typeface="Corben"/>
              <a:cs typeface="Corben"/>
              <a:sym typeface="Corben"/>
            </a:endParaRPr>
          </a:p>
        </p:txBody>
      </p:sp>
      <p:pic>
        <p:nvPicPr>
          <p:cNvPr id="1324" name="Google Shape;1324;p35"/>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1325" name="Google Shape;1325;p35"/>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11</a:t>
            </a:r>
            <a:endParaRPr sz="1100" b="0" i="0" u="none" strike="noStrike" cap="none">
              <a:solidFill>
                <a:srgbClr val="000000"/>
              </a:solidFill>
              <a:latin typeface="Calibri"/>
              <a:ea typeface="Calibri"/>
              <a:cs typeface="Calibri"/>
              <a:sym typeface="Calibri"/>
            </a:endParaRPr>
          </a:p>
        </p:txBody>
      </p:sp>
      <p:pic>
        <p:nvPicPr>
          <p:cNvPr id="1326" name="Google Shape;1326;p35"/>
          <p:cNvPicPr preferRelativeResize="0"/>
          <p:nvPr/>
        </p:nvPicPr>
        <p:blipFill rotWithShape="1">
          <a:blip r:embed="rId4">
            <a:alphaModFix/>
          </a:blip>
          <a:srcRect/>
          <a:stretch/>
        </p:blipFill>
        <p:spPr>
          <a:xfrm>
            <a:off x="732870" y="3127743"/>
            <a:ext cx="3859795" cy="2790413"/>
          </a:xfrm>
          <a:prstGeom prst="rect">
            <a:avLst/>
          </a:prstGeom>
          <a:noFill/>
          <a:ln>
            <a:noFill/>
          </a:ln>
        </p:spPr>
      </p:pic>
      <p:sp>
        <p:nvSpPr>
          <p:cNvPr id="1327" name="Google Shape;1327;p35"/>
          <p:cNvSpPr txBox="1"/>
          <p:nvPr/>
        </p:nvSpPr>
        <p:spPr>
          <a:xfrm>
            <a:off x="507867" y="1958045"/>
            <a:ext cx="5759140" cy="6665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66"/>
              <a:buFont typeface="Corben"/>
              <a:buNone/>
            </a:pPr>
            <a:r>
              <a:rPr lang="en-US" sz="1866" b="1" i="0" u="none" strike="noStrike" cap="none">
                <a:solidFill>
                  <a:srgbClr val="000000"/>
                </a:solidFill>
                <a:latin typeface="Corben"/>
                <a:ea typeface="Corben"/>
                <a:cs typeface="Corben"/>
                <a:sym typeface="Corben"/>
              </a:rPr>
              <a:t>Actual Car</a:t>
            </a:r>
            <a:endParaRPr/>
          </a:p>
          <a:p>
            <a:pPr marL="0" marR="0" lvl="0" indent="0" algn="l" rtl="0">
              <a:lnSpc>
                <a:spcPct val="100000"/>
              </a:lnSpc>
              <a:spcBef>
                <a:spcPts val="0"/>
              </a:spcBef>
              <a:spcAft>
                <a:spcPts val="0"/>
              </a:spcAft>
              <a:buClr>
                <a:srgbClr val="FF0000"/>
              </a:buClr>
              <a:buSzPts val="1866"/>
              <a:buFont typeface="Corben"/>
              <a:buNone/>
            </a:pPr>
            <a:r>
              <a:rPr lang="en-US" sz="1866" b="1" i="0" u="none" strike="noStrike" cap="none">
                <a:solidFill>
                  <a:srgbClr val="FF0000"/>
                </a:solidFill>
                <a:latin typeface="Corben"/>
                <a:ea typeface="Corben"/>
                <a:cs typeface="Corben"/>
                <a:sym typeface="Corben"/>
              </a:rPr>
              <a:t>Service Instance</a:t>
            </a:r>
            <a:endParaRPr/>
          </a:p>
        </p:txBody>
      </p:sp>
      <p:pic>
        <p:nvPicPr>
          <p:cNvPr id="1328" name="Google Shape;1328;p35" descr="Car Key PNG Image | Lost car keys, Car keys, Car key replacement"/>
          <p:cNvPicPr preferRelativeResize="0"/>
          <p:nvPr/>
        </p:nvPicPr>
        <p:blipFill rotWithShape="1">
          <a:blip r:embed="rId5">
            <a:alphaModFix/>
          </a:blip>
          <a:srcRect/>
          <a:stretch/>
        </p:blipFill>
        <p:spPr>
          <a:xfrm>
            <a:off x="7484564" y="3127742"/>
            <a:ext cx="3762461" cy="2434302"/>
          </a:xfrm>
          <a:prstGeom prst="rect">
            <a:avLst/>
          </a:prstGeom>
          <a:noFill/>
          <a:ln>
            <a:noFill/>
          </a:ln>
        </p:spPr>
      </p:pic>
      <p:sp>
        <p:nvSpPr>
          <p:cNvPr id="1329" name="Google Shape;1329;p35"/>
          <p:cNvSpPr txBox="1"/>
          <p:nvPr/>
        </p:nvSpPr>
        <p:spPr>
          <a:xfrm>
            <a:off x="6486223" y="1725529"/>
            <a:ext cx="5759140" cy="6665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66"/>
              <a:buFont typeface="Corben"/>
              <a:buNone/>
            </a:pPr>
            <a:r>
              <a:rPr lang="en-US" sz="1866" b="1" i="0" u="none" strike="noStrike" cap="none">
                <a:solidFill>
                  <a:srgbClr val="000000"/>
                </a:solidFill>
                <a:latin typeface="Corben"/>
                <a:ea typeface="Corben"/>
                <a:cs typeface="Corben"/>
                <a:sym typeface="Corben"/>
              </a:rPr>
              <a:t>Car key to use Car</a:t>
            </a:r>
            <a:endParaRPr/>
          </a:p>
          <a:p>
            <a:pPr marL="0" marR="0" lvl="0" indent="0" algn="l" rtl="0">
              <a:lnSpc>
                <a:spcPct val="100000"/>
              </a:lnSpc>
              <a:spcBef>
                <a:spcPts val="0"/>
              </a:spcBef>
              <a:spcAft>
                <a:spcPts val="0"/>
              </a:spcAft>
              <a:buClr>
                <a:srgbClr val="FF0000"/>
              </a:buClr>
              <a:buSzPts val="1866"/>
              <a:buFont typeface="Corben"/>
              <a:buNone/>
            </a:pPr>
            <a:r>
              <a:rPr lang="en-US" sz="1866" b="1" i="0" u="none" strike="noStrike" cap="none">
                <a:solidFill>
                  <a:srgbClr val="FF0000"/>
                </a:solidFill>
                <a:latin typeface="Corben"/>
                <a:ea typeface="Corben"/>
                <a:cs typeface="Corben"/>
                <a:sym typeface="Corben"/>
              </a:rPr>
              <a:t>Service Key to Consume Service instance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26"/>
                                        </p:tgtEl>
                                        <p:attrNameLst>
                                          <p:attrName>style.visibility</p:attrName>
                                        </p:attrNameLst>
                                      </p:cBhvr>
                                      <p:to>
                                        <p:strVal val="visible"/>
                                      </p:to>
                                    </p:set>
                                    <p:anim calcmode="lin" valueType="num">
                                      <p:cBhvr additive="base">
                                        <p:cTn id="7" dur="500"/>
                                        <p:tgtEl>
                                          <p:spTgt spid="1326"/>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327"/>
                                        </p:tgtEl>
                                        <p:attrNameLst>
                                          <p:attrName>style.visibility</p:attrName>
                                        </p:attrNameLst>
                                      </p:cBhvr>
                                      <p:to>
                                        <p:strVal val="visible"/>
                                      </p:to>
                                    </p:set>
                                    <p:anim calcmode="lin" valueType="num">
                                      <p:cBhvr additive="base">
                                        <p:cTn id="10" dur="500"/>
                                        <p:tgtEl>
                                          <p:spTgt spid="1327"/>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328"/>
                                        </p:tgtEl>
                                        <p:attrNameLst>
                                          <p:attrName>style.visibility</p:attrName>
                                        </p:attrNameLst>
                                      </p:cBhvr>
                                      <p:to>
                                        <p:strVal val="visible"/>
                                      </p:to>
                                    </p:set>
                                    <p:anim calcmode="lin" valueType="num">
                                      <p:cBhvr additive="base">
                                        <p:cTn id="15" dur="500"/>
                                        <p:tgtEl>
                                          <p:spTgt spid="1328"/>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329"/>
                                        </p:tgtEl>
                                        <p:attrNameLst>
                                          <p:attrName>style.visibility</p:attrName>
                                        </p:attrNameLst>
                                      </p:cBhvr>
                                      <p:to>
                                        <p:strVal val="visible"/>
                                      </p:to>
                                    </p:set>
                                    <p:anim calcmode="lin" valueType="num">
                                      <p:cBhvr additive="base">
                                        <p:cTn id="18" dur="500"/>
                                        <p:tgtEl>
                                          <p:spTgt spid="13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34"/>
        <p:cNvGrpSpPr/>
        <p:nvPr/>
      </p:nvGrpSpPr>
      <p:grpSpPr>
        <a:xfrm>
          <a:off x="0" y="0"/>
          <a:ext cx="0" cy="0"/>
          <a:chOff x="0" y="0"/>
          <a:chExt cx="0" cy="0"/>
        </a:xfrm>
      </p:grpSpPr>
      <p:sp>
        <p:nvSpPr>
          <p:cNvPr id="1335" name="Google Shape;1335;p36"/>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Microservice architecture</a:t>
            </a:r>
            <a:endParaRPr/>
          </a:p>
        </p:txBody>
      </p:sp>
      <p:sp>
        <p:nvSpPr>
          <p:cNvPr id="1336" name="Google Shape;1336;p36"/>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In software engineering, a microservice architecture is a pattern that organize application into multiple small-size collection of lossy coupled, fine grained services that communicate through light weight protocols. This pattern characterized by the ability to develop and deploy services in the cloud independently. Thus improving the modularity, scalability, and reusability.</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b="1"/>
              <a:t>Monolithic (ABAP, ABAP on Cloud) </a:t>
            </a:r>
            <a:r>
              <a:rPr lang="en-US" sz="1800"/>
              <a:t>– classic abap based development where applications are build together, packaged together, deployed together. If there is a change in the application, whole app needs to be re-built and re-deployed. The scalability is hard to achieve. E.g. in SAP ECC, the systems are poorly utilized. Due to limited infrastructure and cost, the high availability setup need double the infra.</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b="1"/>
              <a:t>Microservice (designed for cloud apps)- </a:t>
            </a:r>
            <a:r>
              <a:rPr lang="en-US" sz="1800"/>
              <a:t>The entire app is now split into small small microservices for particular function. Each service can be built, deployed and scaled independent of another. They are loosely coupled, so if one service crash, still your app will continue to work. This also brings scalability and elasticity.</a:t>
            </a:r>
            <a:endParaRPr sz="1800"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41"/>
        <p:cNvGrpSpPr/>
        <p:nvPr/>
      </p:nvGrpSpPr>
      <p:grpSpPr>
        <a:xfrm>
          <a:off x="0" y="0"/>
          <a:ext cx="0" cy="0"/>
          <a:chOff x="0" y="0"/>
          <a:chExt cx="0" cy="0"/>
        </a:xfrm>
      </p:grpSpPr>
      <p:sp>
        <p:nvSpPr>
          <p:cNvPr id="1342" name="Google Shape;1342;p3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Uber’s example of transformation</a:t>
            </a:r>
            <a:endParaRPr/>
          </a:p>
        </p:txBody>
      </p:sp>
      <p:sp>
        <p:nvSpPr>
          <p:cNvPr id="1343" name="Google Shape;1343;p37"/>
          <p:cNvSpPr/>
          <p:nvPr/>
        </p:nvSpPr>
        <p:spPr>
          <a:xfrm>
            <a:off x="405780" y="908720"/>
            <a:ext cx="5328592" cy="2880320"/>
          </a:xfrm>
          <a:prstGeom prst="rect">
            <a:avLst/>
          </a:prstGeom>
          <a:gradFill>
            <a:gsLst>
              <a:gs pos="0">
                <a:srgbClr val="CDFEA0"/>
              </a:gs>
              <a:gs pos="35000">
                <a:srgbClr val="DDFBBF"/>
              </a:gs>
              <a:gs pos="100000">
                <a:srgbClr val="F2FFE4"/>
              </a:gs>
            </a:gsLst>
            <a:lin ang="16200000" scaled="0"/>
          </a:gradFill>
          <a:ln w="9525" cap="flat" cmpd="sng">
            <a:solidFill>
              <a:srgbClr val="87B447"/>
            </a:solidFill>
            <a:prstDash val="solid"/>
            <a:round/>
            <a:headEnd type="none" w="sm" len="sm"/>
            <a:tailEnd type="none" w="sm" len="sm"/>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1344" name="Google Shape;1344;p37"/>
          <p:cNvSpPr/>
          <p:nvPr/>
        </p:nvSpPr>
        <p:spPr>
          <a:xfrm>
            <a:off x="549796" y="1196752"/>
            <a:ext cx="2160240" cy="1080120"/>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Passenger App</a:t>
            </a:r>
            <a:endParaRPr/>
          </a:p>
        </p:txBody>
      </p:sp>
      <p:sp>
        <p:nvSpPr>
          <p:cNvPr id="1345" name="Google Shape;1345;p37"/>
          <p:cNvSpPr/>
          <p:nvPr/>
        </p:nvSpPr>
        <p:spPr>
          <a:xfrm>
            <a:off x="3286100" y="1196752"/>
            <a:ext cx="2160240" cy="1080120"/>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Driver App</a:t>
            </a:r>
            <a:endParaRPr/>
          </a:p>
        </p:txBody>
      </p:sp>
      <p:sp>
        <p:nvSpPr>
          <p:cNvPr id="1346" name="Google Shape;1346;p37"/>
          <p:cNvSpPr/>
          <p:nvPr/>
        </p:nvSpPr>
        <p:spPr>
          <a:xfrm>
            <a:off x="549796" y="2492896"/>
            <a:ext cx="2160240" cy="1080120"/>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Location API</a:t>
            </a:r>
            <a:endParaRPr/>
          </a:p>
        </p:txBody>
      </p:sp>
      <p:sp>
        <p:nvSpPr>
          <p:cNvPr id="1347" name="Google Shape;1347;p37"/>
          <p:cNvSpPr/>
          <p:nvPr/>
        </p:nvSpPr>
        <p:spPr>
          <a:xfrm>
            <a:off x="3286100" y="2492896"/>
            <a:ext cx="2160240" cy="1080120"/>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Payment Gateway</a:t>
            </a:r>
            <a:endParaRPr/>
          </a:p>
        </p:txBody>
      </p:sp>
      <p:sp>
        <p:nvSpPr>
          <p:cNvPr id="1348" name="Google Shape;1348;p37"/>
          <p:cNvSpPr/>
          <p:nvPr/>
        </p:nvSpPr>
        <p:spPr>
          <a:xfrm>
            <a:off x="1293879" y="3681028"/>
            <a:ext cx="3384376" cy="432048"/>
          </a:xfrm>
          <a:prstGeom prst="rect">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1000 GB</a:t>
            </a:r>
            <a:endParaRPr/>
          </a:p>
        </p:txBody>
      </p:sp>
      <p:sp>
        <p:nvSpPr>
          <p:cNvPr id="1349" name="Google Shape;1349;p37"/>
          <p:cNvSpPr txBox="1"/>
          <p:nvPr/>
        </p:nvSpPr>
        <p:spPr>
          <a:xfrm>
            <a:off x="400383" y="4113076"/>
            <a:ext cx="5112568"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DLaM Display"/>
                <a:ea typeface="ADLaM Display"/>
                <a:cs typeface="ADLaM Display"/>
                <a:sym typeface="ADLaM Display"/>
              </a:rPr>
              <a:t>Pax searching for CAB – 1000 pax</a:t>
            </a:r>
            <a:endParaRPr/>
          </a:p>
          <a:p>
            <a:pPr marL="0" marR="0" lvl="0" indent="0" algn="l" rtl="0">
              <a:spcBef>
                <a:spcPts val="0"/>
              </a:spcBef>
              <a:spcAft>
                <a:spcPts val="0"/>
              </a:spcAft>
              <a:buNone/>
            </a:pPr>
            <a:r>
              <a:rPr lang="en-US" sz="1800">
                <a:solidFill>
                  <a:schemeClr val="dk1"/>
                </a:solidFill>
                <a:latin typeface="ADLaM Display"/>
                <a:ea typeface="ADLaM Display"/>
                <a:cs typeface="ADLaM Display"/>
                <a:sym typeface="ADLaM Display"/>
              </a:rPr>
              <a:t>Actually go ahead and book – 500 pax</a:t>
            </a:r>
            <a:endParaRPr/>
          </a:p>
          <a:p>
            <a:pPr marL="0" marR="0" lvl="0" indent="0" algn="l" rtl="0">
              <a:spcBef>
                <a:spcPts val="0"/>
              </a:spcBef>
              <a:spcAft>
                <a:spcPts val="0"/>
              </a:spcAft>
              <a:buNone/>
            </a:pPr>
            <a:r>
              <a:rPr lang="en-US" sz="1800">
                <a:solidFill>
                  <a:schemeClr val="dk1"/>
                </a:solidFill>
                <a:latin typeface="ADLaM Display"/>
                <a:ea typeface="ADLaM Display"/>
                <a:cs typeface="ADLaM Display"/>
                <a:sym typeface="ADLaM Display"/>
              </a:rPr>
              <a:t>Actual ride arrives – 480 pax</a:t>
            </a:r>
            <a:endParaRPr/>
          </a:p>
          <a:p>
            <a:pPr marL="0" marR="0" lvl="0" indent="0" algn="l" rtl="0">
              <a:spcBef>
                <a:spcPts val="0"/>
              </a:spcBef>
              <a:spcAft>
                <a:spcPts val="0"/>
              </a:spcAft>
              <a:buNone/>
            </a:pPr>
            <a:r>
              <a:rPr lang="en-US" sz="1800">
                <a:solidFill>
                  <a:schemeClr val="dk1"/>
                </a:solidFill>
                <a:latin typeface="ADLaM Display"/>
                <a:ea typeface="ADLaM Display"/>
                <a:cs typeface="ADLaM Display"/>
                <a:sym typeface="ADLaM Display"/>
              </a:rPr>
              <a:t>Cashless payment – 200 pax</a:t>
            </a:r>
            <a:endParaRPr/>
          </a:p>
        </p:txBody>
      </p:sp>
      <p:sp>
        <p:nvSpPr>
          <p:cNvPr id="1350" name="Google Shape;1350;p37"/>
          <p:cNvSpPr/>
          <p:nvPr/>
        </p:nvSpPr>
        <p:spPr>
          <a:xfrm>
            <a:off x="6022404" y="1988840"/>
            <a:ext cx="504056" cy="648072"/>
          </a:xfrm>
          <a:prstGeom prst="chevron">
            <a:avLst>
              <a:gd name="adj" fmla="val 50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1351" name="Google Shape;1351;p37"/>
          <p:cNvSpPr/>
          <p:nvPr/>
        </p:nvSpPr>
        <p:spPr>
          <a:xfrm>
            <a:off x="6454454" y="1084401"/>
            <a:ext cx="2808310" cy="1296144"/>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Passenger App</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500GB</a:t>
            </a:r>
            <a:endParaRPr/>
          </a:p>
        </p:txBody>
      </p:sp>
      <p:sp>
        <p:nvSpPr>
          <p:cNvPr id="1352" name="Google Shape;1352;p37"/>
          <p:cNvSpPr/>
          <p:nvPr/>
        </p:nvSpPr>
        <p:spPr>
          <a:xfrm>
            <a:off x="9190756" y="1664804"/>
            <a:ext cx="2232248" cy="1296144"/>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Driver App</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300GB</a:t>
            </a:r>
            <a:endParaRPr/>
          </a:p>
        </p:txBody>
      </p:sp>
      <p:sp>
        <p:nvSpPr>
          <p:cNvPr id="1353" name="Google Shape;1353;p37"/>
          <p:cNvSpPr/>
          <p:nvPr/>
        </p:nvSpPr>
        <p:spPr>
          <a:xfrm>
            <a:off x="7049172" y="2492896"/>
            <a:ext cx="2232248" cy="1296144"/>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Location API</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150GB</a:t>
            </a:r>
            <a:endParaRPr/>
          </a:p>
        </p:txBody>
      </p:sp>
      <p:sp>
        <p:nvSpPr>
          <p:cNvPr id="1354" name="Google Shape;1354;p37"/>
          <p:cNvSpPr/>
          <p:nvPr/>
        </p:nvSpPr>
        <p:spPr>
          <a:xfrm>
            <a:off x="9118747" y="3073582"/>
            <a:ext cx="2592289" cy="1296144"/>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Payment Gateway</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50GB</a:t>
            </a:r>
            <a:endParaRPr/>
          </a:p>
        </p:txBody>
      </p:sp>
      <p:sp>
        <p:nvSpPr>
          <p:cNvPr id="1355" name="Google Shape;1355;p37"/>
          <p:cNvSpPr txBox="1"/>
          <p:nvPr/>
        </p:nvSpPr>
        <p:spPr>
          <a:xfrm>
            <a:off x="400383" y="5322333"/>
            <a:ext cx="1178844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DLaM Display"/>
                <a:ea typeface="ADLaM Display"/>
                <a:cs typeface="ADLaM Display"/>
                <a:sym typeface="ADLaM Display"/>
              </a:rPr>
              <a:t>Pros – Choose which service need more computation resources, elasticity, scalability</a:t>
            </a:r>
            <a:endParaRPr/>
          </a:p>
          <a:p>
            <a:pPr marL="0" marR="0" lvl="0" indent="0" algn="l" rtl="0">
              <a:spcBef>
                <a:spcPts val="0"/>
              </a:spcBef>
              <a:spcAft>
                <a:spcPts val="0"/>
              </a:spcAft>
              <a:buNone/>
            </a:pPr>
            <a:r>
              <a:rPr lang="en-US" sz="1600">
                <a:solidFill>
                  <a:schemeClr val="dk1"/>
                </a:solidFill>
                <a:latin typeface="ADLaM Display"/>
                <a:ea typeface="ADLaM Display"/>
                <a:cs typeface="ADLaM Display"/>
                <a:sym typeface="ADLaM Display"/>
              </a:rPr>
              <a:t>Cons – Complexity increase, inter-service communication, dev effort is high, secure</a:t>
            </a:r>
            <a:endParaRPr/>
          </a:p>
          <a:p>
            <a:pPr marL="0" marR="0" lvl="0" indent="0" algn="l" rtl="0">
              <a:spcBef>
                <a:spcPts val="0"/>
              </a:spcBef>
              <a:spcAft>
                <a:spcPts val="0"/>
              </a:spcAft>
              <a:buNone/>
            </a:pPr>
            <a:r>
              <a:rPr lang="en-US" sz="1600">
                <a:solidFill>
                  <a:schemeClr val="dk1"/>
                </a:solidFill>
                <a:latin typeface="ADLaM Display"/>
                <a:ea typeface="ADLaM Display"/>
                <a:cs typeface="ADLaM Display"/>
                <a:sym typeface="ADLaM Display"/>
              </a:rPr>
              <a:t> </a:t>
            </a:r>
            <a:endParaRPr/>
          </a:p>
        </p:txBody>
      </p:sp>
      <p:sp>
        <p:nvSpPr>
          <p:cNvPr id="1356" name="Google Shape;1356;p37"/>
          <p:cNvSpPr txBox="1"/>
          <p:nvPr/>
        </p:nvSpPr>
        <p:spPr>
          <a:xfrm>
            <a:off x="5302324" y="836712"/>
            <a:ext cx="86409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RAP</a:t>
            </a:r>
            <a:endParaRPr/>
          </a:p>
        </p:txBody>
      </p:sp>
      <p:sp>
        <p:nvSpPr>
          <p:cNvPr id="1357" name="Google Shape;1357;p37"/>
          <p:cNvSpPr txBox="1"/>
          <p:nvPr/>
        </p:nvSpPr>
        <p:spPr>
          <a:xfrm>
            <a:off x="9982842" y="833840"/>
            <a:ext cx="129614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CAPM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62"/>
        <p:cNvGrpSpPr/>
        <p:nvPr/>
      </p:nvGrpSpPr>
      <p:grpSpPr>
        <a:xfrm>
          <a:off x="0" y="0"/>
          <a:ext cx="0" cy="0"/>
          <a:chOff x="0" y="0"/>
          <a:chExt cx="0" cy="0"/>
        </a:xfrm>
      </p:grpSpPr>
      <p:sp>
        <p:nvSpPr>
          <p:cNvPr id="1363" name="Google Shape;1363;p3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2800"/>
              <a:buFont typeface="Corben"/>
              <a:buNone/>
            </a:pPr>
            <a:r>
              <a:rPr lang="en-US" sz="2800"/>
              <a:t>1. Customers subscribe SAP Products using BTP</a:t>
            </a:r>
            <a:endParaRPr/>
          </a:p>
        </p:txBody>
      </p:sp>
      <p:sp>
        <p:nvSpPr>
          <p:cNvPr id="1364" name="Google Shape;1364;p38"/>
          <p:cNvSpPr/>
          <p:nvPr/>
        </p:nvSpPr>
        <p:spPr>
          <a:xfrm>
            <a:off x="7102524" y="1819589"/>
            <a:ext cx="4752528" cy="403244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SAP Provider Account</a:t>
            </a:r>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365" name="Google Shape;1365;p38"/>
          <p:cNvSpPr/>
          <p:nvPr/>
        </p:nvSpPr>
        <p:spPr>
          <a:xfrm>
            <a:off x="8038628" y="2924944"/>
            <a:ext cx="3024336" cy="720080"/>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S/4HANA Cloud</a:t>
            </a:r>
            <a:endParaRPr/>
          </a:p>
        </p:txBody>
      </p:sp>
      <p:sp>
        <p:nvSpPr>
          <p:cNvPr id="1366" name="Google Shape;1366;p38"/>
          <p:cNvSpPr/>
          <p:nvPr/>
        </p:nvSpPr>
        <p:spPr>
          <a:xfrm>
            <a:off x="8069876" y="3789040"/>
            <a:ext cx="3024336" cy="720080"/>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Success Factors</a:t>
            </a:r>
            <a:endParaRPr/>
          </a:p>
        </p:txBody>
      </p:sp>
      <p:sp>
        <p:nvSpPr>
          <p:cNvPr id="1367" name="Google Shape;1367;p38"/>
          <p:cNvSpPr/>
          <p:nvPr/>
        </p:nvSpPr>
        <p:spPr>
          <a:xfrm>
            <a:off x="8069876" y="4653136"/>
            <a:ext cx="3024336" cy="720080"/>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SAP Analytics Cloud</a:t>
            </a:r>
            <a:endParaRPr/>
          </a:p>
        </p:txBody>
      </p:sp>
      <p:cxnSp>
        <p:nvCxnSpPr>
          <p:cNvPr id="1368" name="Google Shape;1368;p38"/>
          <p:cNvCxnSpPr/>
          <p:nvPr/>
        </p:nvCxnSpPr>
        <p:spPr>
          <a:xfrm>
            <a:off x="6166420" y="836712"/>
            <a:ext cx="0" cy="5832648"/>
          </a:xfrm>
          <a:prstGeom prst="straightConnector1">
            <a:avLst/>
          </a:prstGeom>
          <a:noFill/>
          <a:ln w="9525" cap="flat" cmpd="sng">
            <a:solidFill>
              <a:srgbClr val="FE421C"/>
            </a:solidFill>
            <a:prstDash val="solid"/>
            <a:round/>
            <a:headEnd type="none" w="sm" len="sm"/>
            <a:tailEnd type="none" w="sm" len="sm"/>
          </a:ln>
        </p:spPr>
      </p:cxnSp>
      <p:sp>
        <p:nvSpPr>
          <p:cNvPr id="1369" name="Google Shape;1369;p38"/>
          <p:cNvSpPr/>
          <p:nvPr/>
        </p:nvSpPr>
        <p:spPr>
          <a:xfrm>
            <a:off x="477789" y="1819589"/>
            <a:ext cx="4752528" cy="403244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SAP BTP Consumer Account</a:t>
            </a:r>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370" name="Google Shape;1370;p38"/>
          <p:cNvCxnSpPr>
            <a:stCxn id="1365" idx="1"/>
          </p:cNvCxnSpPr>
          <p:nvPr/>
        </p:nvCxnSpPr>
        <p:spPr>
          <a:xfrm flipH="1">
            <a:off x="3862028" y="3284984"/>
            <a:ext cx="4176600" cy="648000"/>
          </a:xfrm>
          <a:prstGeom prst="bentConnector3">
            <a:avLst>
              <a:gd name="adj1" fmla="val 50000"/>
            </a:avLst>
          </a:prstGeom>
          <a:noFill/>
          <a:ln w="57150" cap="flat" cmpd="sng">
            <a:solidFill>
              <a:schemeClr val="accent6"/>
            </a:solidFill>
            <a:prstDash val="dash"/>
            <a:round/>
            <a:headEnd type="none" w="sm" len="sm"/>
            <a:tailEnd type="none" w="sm" len="sm"/>
          </a:ln>
        </p:spPr>
      </p:cxnSp>
      <p:sp>
        <p:nvSpPr>
          <p:cNvPr id="1371" name="Google Shape;1371;p38"/>
          <p:cNvSpPr/>
          <p:nvPr/>
        </p:nvSpPr>
        <p:spPr>
          <a:xfrm>
            <a:off x="1053852" y="3573015"/>
            <a:ext cx="3024336" cy="720080"/>
          </a:xfrm>
          <a:prstGeom prst="rect">
            <a:avLst/>
          </a:prstGeom>
          <a:solidFill>
            <a:schemeClr val="accent4"/>
          </a:solidFill>
          <a:ln w="76200" cap="flat" cmpd="sng">
            <a:solidFill>
              <a:srgbClr val="FFFF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S/4HANA Cloud</a:t>
            </a:r>
            <a:endParaRPr/>
          </a:p>
        </p:txBody>
      </p:sp>
      <p:sp>
        <p:nvSpPr>
          <p:cNvPr id="1372" name="Google Shape;1372;p38"/>
          <p:cNvSpPr txBox="1"/>
          <p:nvPr/>
        </p:nvSpPr>
        <p:spPr>
          <a:xfrm>
            <a:off x="5487101" y="2823318"/>
            <a:ext cx="158417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subscribe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77"/>
        <p:cNvGrpSpPr/>
        <p:nvPr/>
      </p:nvGrpSpPr>
      <p:grpSpPr>
        <a:xfrm>
          <a:off x="0" y="0"/>
          <a:ext cx="0" cy="0"/>
          <a:chOff x="0" y="0"/>
          <a:chExt cx="0" cy="0"/>
        </a:xfrm>
      </p:grpSpPr>
      <p:sp>
        <p:nvSpPr>
          <p:cNvPr id="1378" name="Google Shape;1378;p3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2. Building Full Stack App*</a:t>
            </a:r>
            <a:endParaRPr/>
          </a:p>
        </p:txBody>
      </p:sp>
      <p:sp>
        <p:nvSpPr>
          <p:cNvPr id="1379" name="Google Shape;1379;p39"/>
          <p:cNvSpPr/>
          <p:nvPr/>
        </p:nvSpPr>
        <p:spPr>
          <a:xfrm>
            <a:off x="2854052" y="5157192"/>
            <a:ext cx="4896544" cy="936104"/>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Database artefacts</a:t>
            </a:r>
            <a:endParaRPr/>
          </a:p>
        </p:txBody>
      </p:sp>
      <p:sp>
        <p:nvSpPr>
          <p:cNvPr id="1380" name="Google Shape;1380;p39"/>
          <p:cNvSpPr/>
          <p:nvPr/>
        </p:nvSpPr>
        <p:spPr>
          <a:xfrm>
            <a:off x="2829200" y="3789040"/>
            <a:ext cx="4896544" cy="936104"/>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Application logic (programming)</a:t>
            </a:r>
            <a:endParaRPr/>
          </a:p>
        </p:txBody>
      </p:sp>
      <p:sp>
        <p:nvSpPr>
          <p:cNvPr id="1381" name="Google Shape;1381;p39"/>
          <p:cNvSpPr/>
          <p:nvPr/>
        </p:nvSpPr>
        <p:spPr>
          <a:xfrm>
            <a:off x="2829433" y="3212976"/>
            <a:ext cx="4896544" cy="547714"/>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services</a:t>
            </a:r>
            <a:endParaRPr/>
          </a:p>
        </p:txBody>
      </p:sp>
      <p:sp>
        <p:nvSpPr>
          <p:cNvPr id="1382" name="Google Shape;1382;p39"/>
          <p:cNvSpPr/>
          <p:nvPr/>
        </p:nvSpPr>
        <p:spPr>
          <a:xfrm>
            <a:off x="2863630" y="1171479"/>
            <a:ext cx="4896544" cy="936104"/>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UI and UX</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87"/>
        <p:cNvGrpSpPr/>
        <p:nvPr/>
      </p:nvGrpSpPr>
      <p:grpSpPr>
        <a:xfrm>
          <a:off x="0" y="0"/>
          <a:ext cx="0" cy="0"/>
          <a:chOff x="0" y="0"/>
          <a:chExt cx="0" cy="0"/>
        </a:xfrm>
      </p:grpSpPr>
      <p:sp>
        <p:nvSpPr>
          <p:cNvPr id="1388" name="Google Shape;1388;p4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3. clean-core/ Side by Side Extension</a:t>
            </a:r>
            <a:endParaRPr/>
          </a:p>
        </p:txBody>
      </p:sp>
      <p:pic>
        <p:nvPicPr>
          <p:cNvPr id="1389" name="Google Shape;1389;p40" descr="Beginners Guide To ABAP – Module 1 – SAP System Architecture | SAP Training  HQ"/>
          <p:cNvPicPr preferRelativeResize="0"/>
          <p:nvPr/>
        </p:nvPicPr>
        <p:blipFill rotWithShape="1">
          <a:blip r:embed="rId3">
            <a:alphaModFix/>
          </a:blip>
          <a:srcRect t="21970"/>
          <a:stretch/>
        </p:blipFill>
        <p:spPr>
          <a:xfrm>
            <a:off x="7589041" y="2564904"/>
            <a:ext cx="4125025" cy="3024336"/>
          </a:xfrm>
          <a:prstGeom prst="rect">
            <a:avLst/>
          </a:prstGeom>
          <a:noFill/>
          <a:ln>
            <a:noFill/>
          </a:ln>
        </p:spPr>
      </p:pic>
      <p:cxnSp>
        <p:nvCxnSpPr>
          <p:cNvPr id="1390" name="Google Shape;1390;p40"/>
          <p:cNvCxnSpPr/>
          <p:nvPr/>
        </p:nvCxnSpPr>
        <p:spPr>
          <a:xfrm>
            <a:off x="7174532" y="1268760"/>
            <a:ext cx="0" cy="5400600"/>
          </a:xfrm>
          <a:prstGeom prst="straightConnector1">
            <a:avLst/>
          </a:prstGeom>
          <a:noFill/>
          <a:ln w="9525" cap="flat" cmpd="sng">
            <a:solidFill>
              <a:srgbClr val="FE421C"/>
            </a:solidFill>
            <a:prstDash val="solid"/>
            <a:round/>
            <a:headEnd type="none" w="sm" len="sm"/>
            <a:tailEnd type="none" w="sm" len="sm"/>
          </a:ln>
        </p:spPr>
      </p:cxnSp>
      <p:sp>
        <p:nvSpPr>
          <p:cNvPr id="1391" name="Google Shape;1391;p40"/>
          <p:cNvSpPr txBox="1"/>
          <p:nvPr/>
        </p:nvSpPr>
        <p:spPr>
          <a:xfrm>
            <a:off x="9178449" y="2276872"/>
            <a:ext cx="18002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Quattrocento Sans"/>
                <a:ea typeface="Quattrocento Sans"/>
                <a:cs typeface="Quattrocento Sans"/>
                <a:sym typeface="Quattrocento Sans"/>
              </a:rPr>
              <a:t>E</a:t>
            </a:r>
            <a:r>
              <a:rPr lang="en-US" sz="2400" b="1">
                <a:solidFill>
                  <a:schemeClr val="dk1"/>
                </a:solidFill>
                <a:latin typeface="Quattrocento Sans"/>
                <a:ea typeface="Quattrocento Sans"/>
                <a:cs typeface="Quattrocento Sans"/>
                <a:sym typeface="Quattrocento Sans"/>
              </a:rPr>
              <a:t>C</a:t>
            </a:r>
            <a:r>
              <a:rPr lang="en-US" sz="2400">
                <a:solidFill>
                  <a:schemeClr val="dk1"/>
                </a:solidFill>
                <a:latin typeface="Quattrocento Sans"/>
                <a:ea typeface="Quattrocento Sans"/>
                <a:cs typeface="Quattrocento Sans"/>
                <a:sym typeface="Quattrocento Sans"/>
              </a:rPr>
              <a:t>C</a:t>
            </a:r>
            <a:endParaRPr/>
          </a:p>
        </p:txBody>
      </p:sp>
      <p:sp>
        <p:nvSpPr>
          <p:cNvPr id="1392" name="Google Shape;1392;p40"/>
          <p:cNvSpPr/>
          <p:nvPr/>
        </p:nvSpPr>
        <p:spPr>
          <a:xfrm>
            <a:off x="1629916" y="1628800"/>
            <a:ext cx="2448272" cy="93610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frontend</a:t>
            </a:r>
            <a:endParaRPr/>
          </a:p>
        </p:txBody>
      </p:sp>
      <p:sp>
        <p:nvSpPr>
          <p:cNvPr id="1393" name="Google Shape;1393;p40"/>
          <p:cNvSpPr/>
          <p:nvPr/>
        </p:nvSpPr>
        <p:spPr>
          <a:xfrm>
            <a:off x="693812" y="2996952"/>
            <a:ext cx="4320481" cy="1656391"/>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Processing logic</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Read/update/manage data and logic</a:t>
            </a:r>
            <a:endParaRPr/>
          </a:p>
        </p:txBody>
      </p:sp>
      <p:sp>
        <p:nvSpPr>
          <p:cNvPr id="1394" name="Google Shape;1394;p40"/>
          <p:cNvSpPr/>
          <p:nvPr/>
        </p:nvSpPr>
        <p:spPr>
          <a:xfrm>
            <a:off x="2130298" y="5013176"/>
            <a:ext cx="1535863" cy="1008112"/>
          </a:xfrm>
          <a:prstGeom prst="can">
            <a:avLst>
              <a:gd name="adj" fmla="val 2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data</a:t>
            </a:r>
            <a:endParaRPr/>
          </a:p>
        </p:txBody>
      </p:sp>
      <p:sp>
        <p:nvSpPr>
          <p:cNvPr id="1395" name="Google Shape;1395;p40"/>
          <p:cNvSpPr/>
          <p:nvPr/>
        </p:nvSpPr>
        <p:spPr>
          <a:xfrm>
            <a:off x="2782044" y="2420888"/>
            <a:ext cx="144013" cy="720080"/>
          </a:xfrm>
          <a:prstGeom prst="upDownArrow">
            <a:avLst>
              <a:gd name="adj1" fmla="val 50000"/>
              <a:gd name="adj2" fmla="val 50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396" name="Google Shape;1396;p40"/>
          <p:cNvSpPr/>
          <p:nvPr/>
        </p:nvSpPr>
        <p:spPr>
          <a:xfrm>
            <a:off x="2790431" y="4473220"/>
            <a:ext cx="144013" cy="720080"/>
          </a:xfrm>
          <a:prstGeom prst="upDownArrow">
            <a:avLst>
              <a:gd name="adj1" fmla="val 50000"/>
              <a:gd name="adj2" fmla="val 50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397" name="Google Shape;1397;p40"/>
          <p:cNvCxnSpPr>
            <a:stCxn id="1393" idx="3"/>
          </p:cNvCxnSpPr>
          <p:nvPr/>
        </p:nvCxnSpPr>
        <p:spPr>
          <a:xfrm>
            <a:off x="5014293" y="3825148"/>
            <a:ext cx="2574600" cy="0"/>
          </a:xfrm>
          <a:prstGeom prst="straightConnector1">
            <a:avLst/>
          </a:prstGeom>
          <a:noFill/>
          <a:ln w="9525" cap="flat" cmpd="sng">
            <a:solidFill>
              <a:srgbClr val="FE421C"/>
            </a:solidFill>
            <a:prstDash val="solid"/>
            <a:round/>
            <a:headEnd type="triangle" w="med" len="med"/>
            <a:tailEnd type="triangle" w="med" len="med"/>
          </a:ln>
        </p:spPr>
      </p:cxnSp>
      <p:sp>
        <p:nvSpPr>
          <p:cNvPr id="1398" name="Google Shape;1398;p40"/>
          <p:cNvSpPr/>
          <p:nvPr/>
        </p:nvSpPr>
        <p:spPr>
          <a:xfrm>
            <a:off x="6382444" y="3717032"/>
            <a:ext cx="216018" cy="216021"/>
          </a:xfrm>
          <a:prstGeom prst="hexagon">
            <a:avLst>
              <a:gd name="adj" fmla="val 25000"/>
              <a:gd name="vf" fmla="val 11547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399" name="Google Shape;1399;p40"/>
          <p:cNvSpPr txBox="1"/>
          <p:nvPr/>
        </p:nvSpPr>
        <p:spPr>
          <a:xfrm>
            <a:off x="261764" y="980728"/>
            <a:ext cx="122413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Quattrocento Sans"/>
                <a:ea typeface="Quattrocento Sans"/>
                <a:cs typeface="Quattrocento Sans"/>
                <a:sym typeface="Quattrocento Sans"/>
              </a:rPr>
              <a:t>BTP</a:t>
            </a:r>
            <a:endParaRPr/>
          </a:p>
        </p:txBody>
      </p:sp>
      <p:sp>
        <p:nvSpPr>
          <p:cNvPr id="1400" name="Google Shape;1400;p40"/>
          <p:cNvSpPr txBox="1"/>
          <p:nvPr/>
        </p:nvSpPr>
        <p:spPr>
          <a:xfrm>
            <a:off x="10567798" y="945495"/>
            <a:ext cx="122413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Quattrocento Sans"/>
                <a:ea typeface="Quattrocento Sans"/>
                <a:cs typeface="Quattrocento Sans"/>
                <a:sym typeface="Quattrocento Sans"/>
              </a:rPr>
              <a:t>Core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05"/>
        <p:cNvGrpSpPr/>
        <p:nvPr/>
      </p:nvGrpSpPr>
      <p:grpSpPr>
        <a:xfrm>
          <a:off x="0" y="0"/>
          <a:ext cx="0" cy="0"/>
          <a:chOff x="0" y="0"/>
          <a:chExt cx="0" cy="0"/>
        </a:xfrm>
      </p:grpSpPr>
      <p:sp>
        <p:nvSpPr>
          <p:cNvPr id="1406" name="Google Shape;1406;p4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4. Using intelligent tech and innovations</a:t>
            </a:r>
            <a:endParaRPr/>
          </a:p>
        </p:txBody>
      </p:sp>
      <p:sp>
        <p:nvSpPr>
          <p:cNvPr id="1407" name="Google Shape;1407;p41"/>
          <p:cNvSpPr/>
          <p:nvPr/>
        </p:nvSpPr>
        <p:spPr>
          <a:xfrm>
            <a:off x="837828" y="4221088"/>
            <a:ext cx="10369152" cy="129614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BTP (foundation for new innovations and technology)</a:t>
            </a:r>
            <a:endParaRPr/>
          </a:p>
        </p:txBody>
      </p:sp>
      <p:sp>
        <p:nvSpPr>
          <p:cNvPr id="1408" name="Google Shape;1408;p41"/>
          <p:cNvSpPr/>
          <p:nvPr/>
        </p:nvSpPr>
        <p:spPr>
          <a:xfrm>
            <a:off x="837828" y="2492896"/>
            <a:ext cx="1944216" cy="1440160"/>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Integration suite</a:t>
            </a:r>
            <a:endParaRPr/>
          </a:p>
        </p:txBody>
      </p:sp>
      <p:sp>
        <p:nvSpPr>
          <p:cNvPr id="1409" name="Google Shape;1409;p41"/>
          <p:cNvSpPr/>
          <p:nvPr/>
        </p:nvSpPr>
        <p:spPr>
          <a:xfrm>
            <a:off x="2998068" y="2492896"/>
            <a:ext cx="4176464" cy="1440160"/>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Build</a:t>
            </a:r>
            <a:endParaRPr/>
          </a:p>
        </p:txBody>
      </p:sp>
      <p:sp>
        <p:nvSpPr>
          <p:cNvPr id="1410" name="Google Shape;1410;p41"/>
          <p:cNvSpPr/>
          <p:nvPr/>
        </p:nvSpPr>
        <p:spPr>
          <a:xfrm>
            <a:off x="2710036" y="1340768"/>
            <a:ext cx="1224136" cy="1080120"/>
          </a:xfrm>
          <a:prstGeom prst="rect">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Build Apps</a:t>
            </a:r>
            <a:endParaRPr/>
          </a:p>
        </p:txBody>
      </p:sp>
      <p:sp>
        <p:nvSpPr>
          <p:cNvPr id="1411" name="Google Shape;1411;p41"/>
          <p:cNvSpPr/>
          <p:nvPr/>
        </p:nvSpPr>
        <p:spPr>
          <a:xfrm>
            <a:off x="4042184" y="1340768"/>
            <a:ext cx="792088" cy="1080120"/>
          </a:xfrm>
          <a:prstGeom prst="rect">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BPA</a:t>
            </a:r>
            <a:endParaRPr/>
          </a:p>
        </p:txBody>
      </p:sp>
      <p:sp>
        <p:nvSpPr>
          <p:cNvPr id="1412" name="Google Shape;1412;p41"/>
          <p:cNvSpPr/>
          <p:nvPr/>
        </p:nvSpPr>
        <p:spPr>
          <a:xfrm>
            <a:off x="4942284" y="1340768"/>
            <a:ext cx="1008112" cy="1080120"/>
          </a:xfrm>
          <a:prstGeom prst="rect">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Build </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WZ</a:t>
            </a:r>
            <a:endParaRPr/>
          </a:p>
        </p:txBody>
      </p:sp>
      <p:sp>
        <p:nvSpPr>
          <p:cNvPr id="1413" name="Google Shape;1413;p41"/>
          <p:cNvSpPr/>
          <p:nvPr/>
        </p:nvSpPr>
        <p:spPr>
          <a:xfrm>
            <a:off x="6058940" y="1340768"/>
            <a:ext cx="1259607" cy="1080120"/>
          </a:xfrm>
          <a:prstGeom prst="rect">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Joule </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Studio</a:t>
            </a:r>
            <a:endParaRPr/>
          </a:p>
        </p:txBody>
      </p:sp>
      <p:sp>
        <p:nvSpPr>
          <p:cNvPr id="1414" name="Google Shape;1414;p41"/>
          <p:cNvSpPr/>
          <p:nvPr/>
        </p:nvSpPr>
        <p:spPr>
          <a:xfrm>
            <a:off x="7390556" y="2511281"/>
            <a:ext cx="3816424" cy="1440160"/>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SAP BTP Gen AI HUB</a:t>
            </a:r>
            <a:endParaRPr/>
          </a:p>
        </p:txBody>
      </p:sp>
      <p:sp>
        <p:nvSpPr>
          <p:cNvPr id="1415" name="Google Shape;1415;p41"/>
          <p:cNvSpPr/>
          <p:nvPr/>
        </p:nvSpPr>
        <p:spPr>
          <a:xfrm>
            <a:off x="7750596" y="1331607"/>
            <a:ext cx="1440160" cy="1080120"/>
          </a:xfrm>
          <a:prstGeom prst="rect">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AI Core</a:t>
            </a:r>
            <a:endParaRPr/>
          </a:p>
        </p:txBody>
      </p:sp>
      <p:sp>
        <p:nvSpPr>
          <p:cNvPr id="1416" name="Google Shape;1416;p41"/>
          <p:cNvSpPr/>
          <p:nvPr/>
        </p:nvSpPr>
        <p:spPr>
          <a:xfrm>
            <a:off x="9307846" y="1340768"/>
            <a:ext cx="1755118" cy="1080120"/>
          </a:xfrm>
          <a:prstGeom prst="rect">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AI Launchpad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21"/>
        <p:cNvGrpSpPr/>
        <p:nvPr/>
      </p:nvGrpSpPr>
      <p:grpSpPr>
        <a:xfrm>
          <a:off x="0" y="0"/>
          <a:ext cx="0" cy="0"/>
          <a:chOff x="0" y="0"/>
          <a:chExt cx="0" cy="0"/>
        </a:xfrm>
      </p:grpSpPr>
      <p:sp>
        <p:nvSpPr>
          <p:cNvPr id="1422" name="Google Shape;1422;p4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Tools Required for our journey</a:t>
            </a:r>
            <a:endParaRPr/>
          </a:p>
        </p:txBody>
      </p:sp>
      <p:sp>
        <p:nvSpPr>
          <p:cNvPr id="1423" name="Google Shape;1423;p42"/>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If you use your co. system, ask your IT dept. often in companies, they have a in-built software center. These are whitelisted software.</a:t>
            </a:r>
            <a:endParaRPr/>
          </a:p>
          <a:p>
            <a:pPr marL="342900" lvl="0" indent="-342900" algn="l" rtl="0">
              <a:spcBef>
                <a:spcPts val="360"/>
              </a:spcBef>
              <a:spcAft>
                <a:spcPts val="0"/>
              </a:spcAft>
              <a:buClr>
                <a:schemeClr val="dk1"/>
              </a:buClr>
              <a:buSzPts val="1800"/>
              <a:buAutoNum type="arabicPeriod"/>
            </a:pPr>
            <a:r>
              <a:rPr lang="en-US" sz="1800"/>
              <a:t>Git – Source code management system (backup, store, share, future safe) - </a:t>
            </a:r>
            <a:r>
              <a:rPr lang="en-US" sz="1800" u="sng">
                <a:solidFill>
                  <a:schemeClr val="hlink"/>
                </a:solidFill>
                <a:hlinkClick r:id="rId3"/>
              </a:rPr>
              <a:t>https://git-scm.com/</a:t>
            </a:r>
            <a:endParaRPr sz="1800"/>
          </a:p>
          <a:p>
            <a:pPr marL="342900" lvl="0" indent="-342900" algn="l" rtl="0">
              <a:spcBef>
                <a:spcPts val="360"/>
              </a:spcBef>
              <a:spcAft>
                <a:spcPts val="0"/>
              </a:spcAft>
              <a:buClr>
                <a:schemeClr val="dk1"/>
              </a:buClr>
              <a:buSzPts val="1800"/>
              <a:buAutoNum type="arabicPeriod"/>
            </a:pPr>
            <a:r>
              <a:rPr lang="en-US" sz="1800"/>
              <a:t>Node JS – a framework runtime to execute our CAPM code. - </a:t>
            </a:r>
            <a:r>
              <a:rPr lang="en-US" sz="1800" u="sng">
                <a:solidFill>
                  <a:schemeClr val="hlink"/>
                </a:solidFill>
                <a:hlinkClick r:id="rId4"/>
              </a:rPr>
              <a:t>https://nodejs.org/en/download</a:t>
            </a:r>
            <a:endParaRPr sz="1800"/>
          </a:p>
          <a:p>
            <a:pPr marL="342900" lvl="0" indent="-342900" algn="l" rtl="0">
              <a:spcBef>
                <a:spcPts val="360"/>
              </a:spcBef>
              <a:spcAft>
                <a:spcPts val="0"/>
              </a:spcAft>
              <a:buClr>
                <a:schemeClr val="dk1"/>
              </a:buClr>
              <a:buSzPts val="1800"/>
              <a:buAutoNum type="arabicPeriod"/>
            </a:pPr>
            <a:r>
              <a:rPr lang="en-US" sz="1800"/>
              <a:t>VS Code – A open source, FREE for lifetime Development IDE by Microsoft - </a:t>
            </a:r>
            <a:r>
              <a:rPr lang="en-US" sz="1800" u="sng">
                <a:solidFill>
                  <a:schemeClr val="hlink"/>
                </a:solidFill>
                <a:hlinkClick r:id="rId5"/>
              </a:rPr>
              <a:t>https://code.visualstudio.com/</a:t>
            </a:r>
            <a:endParaRPr sz="1800"/>
          </a:p>
          <a:p>
            <a:pPr marL="342900" lvl="0" indent="-342900" algn="l" rtl="0">
              <a:spcBef>
                <a:spcPts val="360"/>
              </a:spcBef>
              <a:spcAft>
                <a:spcPts val="0"/>
              </a:spcAft>
              <a:buClr>
                <a:schemeClr val="dk1"/>
              </a:buClr>
              <a:buSzPts val="1800"/>
              <a:buAutoNum type="arabicPeriod"/>
            </a:pPr>
            <a:r>
              <a:rPr lang="en-US" sz="1800"/>
              <a:t>Cloud Foundry CLI (command line Interface) – When we build apps in our machine, we need to upload these apps into cloud (BTP) – this tool will help us connect to BTP account from our laptop - </a:t>
            </a:r>
            <a:r>
              <a:rPr lang="en-US" sz="1800" u="sng">
                <a:solidFill>
                  <a:schemeClr val="hlink"/>
                </a:solidFill>
                <a:hlinkClick r:id="rId6"/>
              </a:rPr>
              <a:t>https://github.com/cloudfoundry/cli/wiki/V8-CLI-Installation-Guide#installers-and-compressed-binaries</a:t>
            </a:r>
            <a:endParaRPr sz="1800"/>
          </a:p>
          <a:p>
            <a:pPr marL="342900" lvl="0" indent="-342900" algn="l" rtl="0">
              <a:spcBef>
                <a:spcPts val="360"/>
              </a:spcBef>
              <a:spcAft>
                <a:spcPts val="0"/>
              </a:spcAft>
              <a:buClr>
                <a:schemeClr val="dk1"/>
              </a:buClr>
              <a:buSzPts val="1800"/>
              <a:buAutoNum type="arabicPeriod"/>
            </a:pPr>
            <a:r>
              <a:rPr lang="en-US" sz="1800"/>
              <a:t>POSTMAN – use to test APIs - </a:t>
            </a:r>
            <a:r>
              <a:rPr lang="en-US" sz="1800" u="sng">
                <a:solidFill>
                  <a:schemeClr val="hlink"/>
                </a:solidFill>
                <a:hlinkClick r:id="rId7"/>
              </a:rPr>
              <a:t>https://www.postman.com/</a:t>
            </a: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Commands to cross check (may be restart laptop before check)</a:t>
            </a:r>
            <a:endParaRPr/>
          </a:p>
          <a:p>
            <a:pPr marL="0" lvl="0" indent="0" algn="l" rtl="0">
              <a:spcBef>
                <a:spcPts val="360"/>
              </a:spcBef>
              <a:spcAft>
                <a:spcPts val="0"/>
              </a:spcAft>
              <a:buClr>
                <a:schemeClr val="dk1"/>
              </a:buClr>
              <a:buSzPts val="1800"/>
              <a:buNone/>
            </a:pPr>
            <a:r>
              <a:rPr lang="en-US" sz="1800">
                <a:highlight>
                  <a:srgbClr val="FFFF00"/>
                </a:highlight>
              </a:rPr>
              <a:t>git -v</a:t>
            </a:r>
            <a:endParaRPr/>
          </a:p>
          <a:p>
            <a:pPr marL="0" lvl="0" indent="0" algn="l" rtl="0">
              <a:spcBef>
                <a:spcPts val="360"/>
              </a:spcBef>
              <a:spcAft>
                <a:spcPts val="0"/>
              </a:spcAft>
              <a:buClr>
                <a:schemeClr val="dk1"/>
              </a:buClr>
              <a:buSzPts val="1800"/>
              <a:buNone/>
            </a:pPr>
            <a:r>
              <a:rPr lang="en-US" sz="1800">
                <a:highlight>
                  <a:srgbClr val="FFFF00"/>
                </a:highlight>
              </a:rPr>
              <a:t>node -v</a:t>
            </a:r>
            <a:endParaRPr/>
          </a:p>
          <a:p>
            <a:pPr marL="0" lvl="0" indent="0" algn="l" rtl="0">
              <a:spcBef>
                <a:spcPts val="360"/>
              </a:spcBef>
              <a:spcAft>
                <a:spcPts val="0"/>
              </a:spcAft>
              <a:buClr>
                <a:schemeClr val="dk1"/>
              </a:buClr>
              <a:buSzPts val="1800"/>
              <a:buNone/>
            </a:pPr>
            <a:r>
              <a:rPr lang="en-US" sz="1800">
                <a:highlight>
                  <a:srgbClr val="FFFF00"/>
                </a:highlight>
              </a:rPr>
              <a:t>cf -v</a:t>
            </a:r>
            <a:endParaRPr/>
          </a:p>
          <a:p>
            <a:pPr marL="0" lvl="0" indent="0" algn="l" rtl="0">
              <a:spcBef>
                <a:spcPts val="360"/>
              </a:spcBef>
              <a:spcAft>
                <a:spcPts val="0"/>
              </a:spcAft>
              <a:buClr>
                <a:schemeClr val="dk1"/>
              </a:buClr>
              <a:buSzPts val="1800"/>
              <a:buNone/>
            </a:pPr>
            <a:r>
              <a:rPr lang="en-US" sz="1800">
                <a:highlight>
                  <a:srgbClr val="FFFF00"/>
                </a:highlight>
              </a:rPr>
              <a:t>cf8 -v</a:t>
            </a:r>
            <a:endParaRPr/>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28"/>
        <p:cNvGrpSpPr/>
        <p:nvPr/>
      </p:nvGrpSpPr>
      <p:grpSpPr>
        <a:xfrm>
          <a:off x="0" y="0"/>
          <a:ext cx="0" cy="0"/>
          <a:chOff x="0" y="0"/>
          <a:chExt cx="0" cy="0"/>
        </a:xfrm>
      </p:grpSpPr>
      <p:sp>
        <p:nvSpPr>
          <p:cNvPr id="1429" name="Google Shape;1429;p4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Source Code built by Anubhav</a:t>
            </a:r>
            <a:endParaRPr/>
          </a:p>
        </p:txBody>
      </p:sp>
      <p:sp>
        <p:nvSpPr>
          <p:cNvPr id="1430" name="Google Shape;1430;p43"/>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Git HUB – it is developer’s google drive ☺</a:t>
            </a:r>
            <a:endParaRPr/>
          </a:p>
          <a:p>
            <a:pPr marL="0" lvl="0" indent="0" algn="l" rtl="0">
              <a:spcBef>
                <a:spcPts val="360"/>
              </a:spcBef>
              <a:spcAft>
                <a:spcPts val="0"/>
              </a:spcAft>
              <a:buClr>
                <a:schemeClr val="dk1"/>
              </a:buClr>
              <a:buSzPts val="1800"/>
              <a:buNone/>
            </a:pPr>
            <a:endParaRPr sz="1800"/>
          </a:p>
          <a:p>
            <a:pPr marL="0" lvl="0" indent="0" algn="l" rtl="0">
              <a:spcBef>
                <a:spcPts val="400"/>
              </a:spcBef>
              <a:spcAft>
                <a:spcPts val="0"/>
              </a:spcAft>
              <a:buClr>
                <a:schemeClr val="dk1"/>
              </a:buClr>
              <a:buSzPts val="2000"/>
              <a:buNone/>
            </a:pPr>
            <a:r>
              <a:rPr lang="en-US" u="sng">
                <a:solidFill>
                  <a:schemeClr val="hlink"/>
                </a:solidFill>
                <a:hlinkClick r:id="rId3"/>
              </a:rPr>
              <a:t>https://github.com/anubhavtrainings-official/btpcapm05/</a:t>
            </a:r>
            <a:endParaRPr u="sng"/>
          </a:p>
          <a:p>
            <a:pPr marL="0" lvl="0" indent="0" algn="l" rtl="0">
              <a:spcBef>
                <a:spcPts val="360"/>
              </a:spcBef>
              <a:spcAft>
                <a:spcPts val="0"/>
              </a:spcAft>
              <a:buClr>
                <a:schemeClr val="dk1"/>
              </a:buClr>
              <a:buSzPts val="1800"/>
              <a:buNone/>
            </a:pPr>
            <a:endParaRPr sz="1800"/>
          </a:p>
        </p:txBody>
      </p:sp>
      <p:pic>
        <p:nvPicPr>
          <p:cNvPr id="1431" name="Google Shape;1431;p43"/>
          <p:cNvPicPr preferRelativeResize="0"/>
          <p:nvPr/>
        </p:nvPicPr>
        <p:blipFill rotWithShape="1">
          <a:blip r:embed="rId4">
            <a:alphaModFix/>
          </a:blip>
          <a:srcRect/>
          <a:stretch/>
        </p:blipFill>
        <p:spPr>
          <a:xfrm>
            <a:off x="7030516" y="980728"/>
            <a:ext cx="4958127" cy="2664296"/>
          </a:xfrm>
          <a:prstGeom prst="rect">
            <a:avLst/>
          </a:prstGeom>
          <a:noFill/>
          <a:ln>
            <a:noFill/>
          </a:ln>
        </p:spPr>
      </p:pic>
      <p:sp>
        <p:nvSpPr>
          <p:cNvPr id="1432" name="Google Shape;1432;p43"/>
          <p:cNvSpPr txBox="1"/>
          <p:nvPr/>
        </p:nvSpPr>
        <p:spPr>
          <a:xfrm>
            <a:off x="368762" y="2132856"/>
            <a:ext cx="6517738" cy="369331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Quattrocento Sans"/>
              <a:buAutoNum type="arabicPeriod"/>
            </a:pPr>
            <a:r>
              <a:rPr lang="en-US" sz="1800">
                <a:solidFill>
                  <a:schemeClr val="dk1"/>
                </a:solidFill>
                <a:latin typeface="Quattrocento Sans"/>
                <a:ea typeface="Quattrocento Sans"/>
                <a:cs typeface="Quattrocento Sans"/>
                <a:sym typeface="Quattrocento Sans"/>
              </a:rPr>
              <a:t>Create a a/c on </a:t>
            </a:r>
            <a:r>
              <a:rPr lang="en-US" sz="1800" u="sng">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https://github.com/signup</a:t>
            </a:r>
            <a:r>
              <a:rPr lang="en-US" sz="1800">
                <a:solidFill>
                  <a:schemeClr val="dk1"/>
                </a:solidFill>
                <a:latin typeface="Quattrocento Sans"/>
                <a:ea typeface="Quattrocento Sans"/>
                <a:cs typeface="Quattrocento Sans"/>
                <a:sym typeface="Quattrocento Sans"/>
              </a:rPr>
              <a:t>?</a:t>
            </a:r>
            <a:endParaRPr/>
          </a:p>
          <a:p>
            <a:pPr marL="342900" marR="0" lvl="0" indent="-342900" algn="l" rtl="0">
              <a:spcBef>
                <a:spcPts val="0"/>
              </a:spcBef>
              <a:spcAft>
                <a:spcPts val="0"/>
              </a:spcAft>
              <a:buClr>
                <a:schemeClr val="dk1"/>
              </a:buClr>
              <a:buSzPts val="1800"/>
              <a:buFont typeface="Quattrocento Sans"/>
              <a:buAutoNum type="arabicPeriod"/>
            </a:pPr>
            <a:r>
              <a:rPr lang="en-US" sz="1800">
                <a:solidFill>
                  <a:schemeClr val="dk1"/>
                </a:solidFill>
                <a:latin typeface="Quattrocento Sans"/>
                <a:ea typeface="Quattrocento Sans"/>
                <a:cs typeface="Quattrocento Sans"/>
                <a:sym typeface="Quattrocento Sans"/>
              </a:rPr>
              <a:t>Drop a email to </a:t>
            </a:r>
            <a:r>
              <a:rPr lang="en-US" sz="1800" u="sng">
                <a:solidFill>
                  <a:schemeClr val="dk1"/>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mailto:contact@anubhavtrainings.com</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800">
                <a:solidFill>
                  <a:schemeClr val="dk1"/>
                </a:solidFill>
                <a:latin typeface="Quattrocento Sans"/>
                <a:ea typeface="Quattrocento Sans"/>
                <a:cs typeface="Quattrocento Sans"/>
                <a:sym typeface="Quattrocento Sans"/>
              </a:rPr>
              <a:t>Hello Team,</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800">
                <a:solidFill>
                  <a:schemeClr val="dk1"/>
                </a:solidFill>
                <a:latin typeface="Quattrocento Sans"/>
                <a:ea typeface="Quattrocento Sans"/>
                <a:cs typeface="Quattrocento Sans"/>
                <a:sym typeface="Quattrocento Sans"/>
              </a:rPr>
              <a:t>I am attending BTP CAPM training, I need access of material from git repository. </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800">
                <a:solidFill>
                  <a:schemeClr val="dk1"/>
                </a:solidFill>
                <a:latin typeface="Quattrocento Sans"/>
                <a:ea typeface="Quattrocento Sans"/>
                <a:cs typeface="Quattrocento Sans"/>
                <a:sym typeface="Quattrocento Sans"/>
              </a:rPr>
              <a:t>My git user name is : </a:t>
            </a:r>
            <a:r>
              <a:rPr lang="en-US" sz="1800">
                <a:solidFill>
                  <a:schemeClr val="dk1"/>
                </a:solidFill>
                <a:highlight>
                  <a:srgbClr val="FFFF00"/>
                </a:highlight>
                <a:latin typeface="Quattrocento Sans"/>
                <a:ea typeface="Quattrocento Sans"/>
                <a:cs typeface="Quattrocento Sans"/>
                <a:sym typeface="Quattrocento Sans"/>
              </a:rPr>
              <a:t>&lt;your git user name&gt;</a:t>
            </a:r>
            <a:endParaRPr/>
          </a:p>
          <a:p>
            <a:pPr marL="342900" marR="0" lvl="0" indent="-228600" algn="l" rtl="0">
              <a:spcBef>
                <a:spcPts val="0"/>
              </a:spcBef>
              <a:spcAft>
                <a:spcPts val="0"/>
              </a:spcAft>
              <a:buClr>
                <a:schemeClr val="dk1"/>
              </a:buClr>
              <a:buSzPts val="1800"/>
              <a:buFont typeface="Quattrocento Sans"/>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800">
                <a:solidFill>
                  <a:schemeClr val="dk1"/>
                </a:solidFill>
                <a:latin typeface="Quattrocento Sans"/>
                <a:ea typeface="Quattrocento Sans"/>
                <a:cs typeface="Quattrocento Sans"/>
                <a:sym typeface="Quattrocento Sans"/>
              </a:rPr>
              <a:t>Thank you.</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800">
                <a:solidFill>
                  <a:schemeClr val="dk1"/>
                </a:solidFill>
                <a:latin typeface="Quattrocento Sans"/>
                <a:ea typeface="Quattrocento Sans"/>
                <a:cs typeface="Quattrocento Sans"/>
                <a:sym typeface="Quattrocento Sans"/>
              </a:rPr>
              <a:t>6 AM – 1 AM</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7"/>
        <p:cNvGrpSpPr/>
        <p:nvPr/>
      </p:nvGrpSpPr>
      <p:grpSpPr>
        <a:xfrm>
          <a:off x="0" y="0"/>
          <a:ext cx="0" cy="0"/>
          <a:chOff x="0" y="0"/>
          <a:chExt cx="0" cy="0"/>
        </a:xfrm>
      </p:grpSpPr>
      <p:sp>
        <p:nvSpPr>
          <p:cNvPr id="1438" name="Google Shape;1438;p4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Business Application Studio (BAS)</a:t>
            </a:r>
            <a:endParaRPr/>
          </a:p>
        </p:txBody>
      </p:sp>
      <p:sp>
        <p:nvSpPr>
          <p:cNvPr id="1439" name="Google Shape;1439;p4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BAS is a multi-cloud development tool provided by SAP in BTP platform. It allows us to develop, deploy and manage source code of CAPM application. You can run this tool from any device, anywhere and any platform, there is no LOCAL installation required. In trial a/c BAS is free but productive a/c it has a cost.</a:t>
            </a:r>
            <a:endParaRPr/>
          </a:p>
          <a:p>
            <a:pPr marL="0" lvl="0" indent="0" algn="l" rtl="0">
              <a:spcBef>
                <a:spcPts val="360"/>
              </a:spcBef>
              <a:spcAft>
                <a:spcPts val="0"/>
              </a:spcAft>
              <a:buClr>
                <a:schemeClr val="dk1"/>
              </a:buClr>
              <a:buSzPts val="1800"/>
              <a:buNone/>
            </a:pPr>
            <a:r>
              <a:rPr lang="en-US" sz="1800"/>
              <a:t>Dev Space – A dev space is a VM (Debian Linux) running in the cloud on top of BTP platform. It has following benefits:</a:t>
            </a:r>
            <a:endParaRPr/>
          </a:p>
          <a:p>
            <a:pPr marL="285750" lvl="0" indent="-285750" algn="l" rtl="0">
              <a:spcBef>
                <a:spcPts val="360"/>
              </a:spcBef>
              <a:spcAft>
                <a:spcPts val="0"/>
              </a:spcAft>
              <a:buClr>
                <a:schemeClr val="dk1"/>
              </a:buClr>
              <a:buSzPts val="1800"/>
              <a:buFont typeface="Arial"/>
              <a:buChar char="•"/>
            </a:pPr>
            <a:r>
              <a:rPr lang="en-US" sz="1800"/>
              <a:t>It restrict the usage of cloud memory to single developer.</a:t>
            </a:r>
            <a:endParaRPr/>
          </a:p>
          <a:p>
            <a:pPr marL="285750" lvl="0" indent="-285750" algn="l" rtl="0">
              <a:spcBef>
                <a:spcPts val="360"/>
              </a:spcBef>
              <a:spcAft>
                <a:spcPts val="0"/>
              </a:spcAft>
              <a:buClr>
                <a:schemeClr val="dk1"/>
              </a:buClr>
              <a:buSzPts val="1800"/>
              <a:buFont typeface="Arial"/>
              <a:buChar char="•"/>
            </a:pPr>
            <a:r>
              <a:rPr lang="en-US" sz="1800"/>
              <a:t>Dev space is a private area of developer</a:t>
            </a:r>
            <a:endParaRPr/>
          </a:p>
          <a:p>
            <a:pPr marL="285750" lvl="0" indent="-285750" algn="l" rtl="0">
              <a:spcBef>
                <a:spcPts val="360"/>
              </a:spcBef>
              <a:spcAft>
                <a:spcPts val="0"/>
              </a:spcAft>
              <a:buClr>
                <a:schemeClr val="dk1"/>
              </a:buClr>
              <a:buSzPts val="1800"/>
              <a:buFont typeface="Arial"/>
              <a:buChar char="•"/>
            </a:pPr>
            <a:r>
              <a:rPr lang="en-US" sz="1800"/>
              <a:t>If a developer does something wrong, the dev space of only that developer gets affected. (Isolation)</a:t>
            </a:r>
            <a:endParaRPr/>
          </a:p>
          <a:p>
            <a:pPr marL="285750" lvl="0" indent="-285750" algn="l" rtl="0">
              <a:spcBef>
                <a:spcPts val="360"/>
              </a:spcBef>
              <a:spcAft>
                <a:spcPts val="0"/>
              </a:spcAft>
              <a:buClr>
                <a:schemeClr val="dk1"/>
              </a:buClr>
              <a:buSzPts val="1800"/>
              <a:buFont typeface="Arial"/>
              <a:buChar char="•"/>
            </a:pPr>
            <a:r>
              <a:rPr lang="en-US" sz="1800"/>
              <a:t>Dev space comes with pre-configured tools, services, CLIs and frameworks for a development</a:t>
            </a:r>
            <a:endParaRPr/>
          </a:p>
          <a:p>
            <a:pPr marL="285750" lvl="0" indent="-285750" algn="l" rtl="0">
              <a:spcBef>
                <a:spcPts val="360"/>
              </a:spcBef>
              <a:spcAft>
                <a:spcPts val="0"/>
              </a:spcAft>
              <a:buClr>
                <a:schemeClr val="dk1"/>
              </a:buClr>
              <a:buSzPts val="1800"/>
              <a:buFont typeface="Arial"/>
              <a:buChar char="•"/>
            </a:pPr>
            <a:r>
              <a:rPr lang="en-US" sz="1800"/>
              <a:t>In a trial a/c you can run max 2 dev space and only one can be operational at a time, 365 days limit.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51"/>
        <p:cNvGrpSpPr/>
        <p:nvPr/>
      </p:nvGrpSpPr>
      <p:grpSpPr>
        <a:xfrm>
          <a:off x="0" y="0"/>
          <a:ext cx="0" cy="0"/>
          <a:chOff x="0" y="0"/>
          <a:chExt cx="0" cy="0"/>
        </a:xfrm>
      </p:grpSpPr>
      <p:sp>
        <p:nvSpPr>
          <p:cNvPr id="1452" name="Google Shape;1452;p46"/>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Comparison</a:t>
            </a:r>
            <a:endParaRPr/>
          </a:p>
        </p:txBody>
      </p:sp>
      <p:graphicFrame>
        <p:nvGraphicFramePr>
          <p:cNvPr id="1453" name="Google Shape;1453;p46"/>
          <p:cNvGraphicFramePr/>
          <p:nvPr/>
        </p:nvGraphicFramePr>
        <p:xfrm>
          <a:off x="261764" y="764704"/>
          <a:ext cx="11737275" cy="5920590"/>
        </p:xfrm>
        <a:graphic>
          <a:graphicData uri="http://schemas.openxmlformats.org/drawingml/2006/table">
            <a:tbl>
              <a:tblPr firstRow="1" bandRow="1">
                <a:noFill/>
                <a:tableStyleId>{E2589203-8263-40D6-834C-8223FCB96578}</a:tableStyleId>
              </a:tblPr>
              <a:tblGrid>
                <a:gridCol w="3912425">
                  <a:extLst>
                    <a:ext uri="{9D8B030D-6E8A-4147-A177-3AD203B41FA5}">
                      <a16:colId xmlns:a16="http://schemas.microsoft.com/office/drawing/2014/main" val="20000"/>
                    </a:ext>
                  </a:extLst>
                </a:gridCol>
                <a:gridCol w="3912425">
                  <a:extLst>
                    <a:ext uri="{9D8B030D-6E8A-4147-A177-3AD203B41FA5}">
                      <a16:colId xmlns:a16="http://schemas.microsoft.com/office/drawing/2014/main" val="20001"/>
                    </a:ext>
                  </a:extLst>
                </a:gridCol>
                <a:gridCol w="3912425">
                  <a:extLst>
                    <a:ext uri="{9D8B030D-6E8A-4147-A177-3AD203B41FA5}">
                      <a16:colId xmlns:a16="http://schemas.microsoft.com/office/drawing/2014/main" val="20002"/>
                    </a:ext>
                  </a:extLst>
                </a:gridCol>
              </a:tblGrid>
              <a:tr h="528050">
                <a:tc>
                  <a:txBody>
                    <a:bodyPr/>
                    <a:lstStyle/>
                    <a:p>
                      <a:pPr marL="0" marR="0" lvl="0" indent="0" algn="l" rtl="0">
                        <a:spcBef>
                          <a:spcPts val="0"/>
                        </a:spcBef>
                        <a:spcAft>
                          <a:spcPts val="0"/>
                        </a:spcAft>
                        <a:buNone/>
                      </a:pPr>
                      <a:r>
                        <a:rPr lang="en-US" sz="2400" u="none" strike="noStrike" cap="none"/>
                        <a:t>Comparison</a:t>
                      </a:r>
                      <a:endParaRPr/>
                    </a:p>
                  </a:txBody>
                  <a:tcPr marL="91450" marR="91450" marT="45725" marB="45725"/>
                </a:tc>
                <a:tc>
                  <a:txBody>
                    <a:bodyPr/>
                    <a:lstStyle/>
                    <a:p>
                      <a:pPr marL="0" marR="0" lvl="0" indent="0" algn="l" rtl="0">
                        <a:spcBef>
                          <a:spcPts val="0"/>
                        </a:spcBef>
                        <a:spcAft>
                          <a:spcPts val="0"/>
                        </a:spcAft>
                        <a:buNone/>
                      </a:pPr>
                      <a:r>
                        <a:rPr lang="en-US" sz="2400"/>
                        <a:t>BAS</a:t>
                      </a:r>
                      <a:endParaRPr/>
                    </a:p>
                  </a:txBody>
                  <a:tcPr marL="91450" marR="91450" marT="45725" marB="45725"/>
                </a:tc>
                <a:tc>
                  <a:txBody>
                    <a:bodyPr/>
                    <a:lstStyle/>
                    <a:p>
                      <a:pPr marL="0" marR="0" lvl="0" indent="0" algn="l" rtl="0">
                        <a:spcBef>
                          <a:spcPts val="0"/>
                        </a:spcBef>
                        <a:spcAft>
                          <a:spcPts val="0"/>
                        </a:spcAft>
                        <a:buNone/>
                      </a:pPr>
                      <a:r>
                        <a:rPr lang="en-US" sz="2400"/>
                        <a:t>VS Code</a:t>
                      </a:r>
                      <a:endParaRPr/>
                    </a:p>
                  </a:txBody>
                  <a:tcPr marL="91450" marR="91450" marT="45725" marB="45725"/>
                </a:tc>
                <a:extLst>
                  <a:ext uri="{0D108BD9-81ED-4DB2-BD59-A6C34878D82A}">
                    <a16:rowId xmlns:a16="http://schemas.microsoft.com/office/drawing/2014/main" val="10000"/>
                  </a:ext>
                </a:extLst>
              </a:tr>
              <a:tr h="528050">
                <a:tc>
                  <a:txBody>
                    <a:bodyPr/>
                    <a:lstStyle/>
                    <a:p>
                      <a:pPr marL="0" marR="0" lvl="0" indent="0" algn="l" rtl="0">
                        <a:spcBef>
                          <a:spcPts val="0"/>
                        </a:spcBef>
                        <a:spcAft>
                          <a:spcPts val="0"/>
                        </a:spcAft>
                        <a:buNone/>
                      </a:pPr>
                      <a:r>
                        <a:rPr lang="en-US" sz="1800" b="1"/>
                        <a:t>Cost</a:t>
                      </a:r>
                      <a:endParaRPr/>
                    </a:p>
                  </a:txBody>
                  <a:tcPr marL="91450" marR="91450" marT="45725" marB="45725"/>
                </a:tc>
                <a:tc>
                  <a:txBody>
                    <a:bodyPr/>
                    <a:lstStyle/>
                    <a:p>
                      <a:pPr marL="0" marR="0" lvl="0" indent="0" algn="l" rtl="0">
                        <a:spcBef>
                          <a:spcPts val="0"/>
                        </a:spcBef>
                        <a:spcAft>
                          <a:spcPts val="0"/>
                        </a:spcAft>
                        <a:buNone/>
                      </a:pPr>
                      <a:r>
                        <a:rPr lang="en-US" sz="1800"/>
                        <a:t>No restriction mode, you need to pay</a:t>
                      </a:r>
                      <a:endParaRPr/>
                    </a:p>
                  </a:txBody>
                  <a:tcPr marL="91450" marR="91450" marT="45725" marB="45725"/>
                </a:tc>
                <a:tc>
                  <a:txBody>
                    <a:bodyPr/>
                    <a:lstStyle/>
                    <a:p>
                      <a:pPr marL="0" marR="0" lvl="0" indent="0" algn="l" rtl="0">
                        <a:spcBef>
                          <a:spcPts val="0"/>
                        </a:spcBef>
                        <a:spcAft>
                          <a:spcPts val="0"/>
                        </a:spcAft>
                        <a:buNone/>
                      </a:pPr>
                      <a:r>
                        <a:rPr lang="en-US" sz="1800"/>
                        <a:t>FREE for lifetime</a:t>
                      </a:r>
                      <a:endParaRPr/>
                    </a:p>
                  </a:txBody>
                  <a:tcPr marL="91450" marR="91450" marT="45725" marB="45725"/>
                </a:tc>
                <a:extLst>
                  <a:ext uri="{0D108BD9-81ED-4DB2-BD59-A6C34878D82A}">
                    <a16:rowId xmlns:a16="http://schemas.microsoft.com/office/drawing/2014/main" val="10001"/>
                  </a:ext>
                </a:extLst>
              </a:tr>
              <a:tr h="528050">
                <a:tc>
                  <a:txBody>
                    <a:bodyPr/>
                    <a:lstStyle/>
                    <a:p>
                      <a:pPr marL="0" marR="0" lvl="0" indent="0" algn="l" rtl="0">
                        <a:spcBef>
                          <a:spcPts val="0"/>
                        </a:spcBef>
                        <a:spcAft>
                          <a:spcPts val="0"/>
                        </a:spcAft>
                        <a:buNone/>
                      </a:pPr>
                      <a:r>
                        <a:rPr lang="en-US" sz="1800" b="1"/>
                        <a:t>Plugins</a:t>
                      </a:r>
                      <a:endParaRPr/>
                    </a:p>
                  </a:txBody>
                  <a:tcPr marL="91450" marR="91450" marT="45725" marB="45725"/>
                </a:tc>
                <a:tc>
                  <a:txBody>
                    <a:bodyPr/>
                    <a:lstStyle/>
                    <a:p>
                      <a:pPr marL="0" marR="0" lvl="0" indent="0" algn="l" rtl="0">
                        <a:spcBef>
                          <a:spcPts val="0"/>
                        </a:spcBef>
                        <a:spcAft>
                          <a:spcPts val="0"/>
                        </a:spcAft>
                        <a:buNone/>
                      </a:pPr>
                      <a:r>
                        <a:rPr lang="en-US" sz="1800"/>
                        <a:t>CSV, other plugin pre-installed</a:t>
                      </a:r>
                      <a:endParaRPr/>
                    </a:p>
                  </a:txBody>
                  <a:tcPr marL="91450" marR="91450" marT="45725" marB="45725"/>
                </a:tc>
                <a:tc>
                  <a:txBody>
                    <a:bodyPr/>
                    <a:lstStyle/>
                    <a:p>
                      <a:pPr marL="0" marR="0" lvl="0" indent="0" algn="l" rtl="0">
                        <a:spcBef>
                          <a:spcPts val="0"/>
                        </a:spcBef>
                        <a:spcAft>
                          <a:spcPts val="0"/>
                        </a:spcAft>
                        <a:buNone/>
                      </a:pPr>
                      <a:r>
                        <a:rPr lang="en-US" sz="1800"/>
                        <a:t>All the plugin needs to be installed</a:t>
                      </a:r>
                      <a:endParaRPr/>
                    </a:p>
                  </a:txBody>
                  <a:tcPr marL="91450" marR="91450" marT="45725" marB="45725"/>
                </a:tc>
                <a:extLst>
                  <a:ext uri="{0D108BD9-81ED-4DB2-BD59-A6C34878D82A}">
                    <a16:rowId xmlns:a16="http://schemas.microsoft.com/office/drawing/2014/main" val="10002"/>
                  </a:ext>
                </a:extLst>
              </a:tr>
              <a:tr h="528050">
                <a:tc>
                  <a:txBody>
                    <a:bodyPr/>
                    <a:lstStyle/>
                    <a:p>
                      <a:pPr marL="0" marR="0" lvl="0" indent="0" algn="l" rtl="0">
                        <a:spcBef>
                          <a:spcPts val="0"/>
                        </a:spcBef>
                        <a:spcAft>
                          <a:spcPts val="0"/>
                        </a:spcAft>
                        <a:buNone/>
                      </a:pPr>
                      <a:r>
                        <a:rPr lang="en-US" sz="1800" b="1"/>
                        <a:t>Offline </a:t>
                      </a:r>
                      <a:endParaRPr/>
                    </a:p>
                  </a:txBody>
                  <a:tcPr marL="91450" marR="91450" marT="45725" marB="45725"/>
                </a:tc>
                <a:tc>
                  <a:txBody>
                    <a:bodyPr/>
                    <a:lstStyle/>
                    <a:p>
                      <a:pPr marL="0" marR="0" lvl="0" indent="0" algn="l" rtl="0">
                        <a:spcBef>
                          <a:spcPts val="0"/>
                        </a:spcBef>
                        <a:spcAft>
                          <a:spcPts val="0"/>
                        </a:spcAft>
                        <a:buNone/>
                      </a:pPr>
                      <a:r>
                        <a:rPr lang="en-US" sz="1800"/>
                        <a:t>No</a:t>
                      </a:r>
                      <a:endParaRPr/>
                    </a:p>
                  </a:txBody>
                  <a:tcPr marL="91450" marR="91450" marT="45725" marB="45725"/>
                </a:tc>
                <a:tc>
                  <a:txBody>
                    <a:bodyPr/>
                    <a:lstStyle/>
                    <a:p>
                      <a:pPr marL="0" marR="0" lvl="0" indent="0" algn="l" rtl="0">
                        <a:spcBef>
                          <a:spcPts val="0"/>
                        </a:spcBef>
                        <a:spcAft>
                          <a:spcPts val="0"/>
                        </a:spcAft>
                        <a:buNone/>
                      </a:pPr>
                      <a:r>
                        <a:rPr lang="en-US" sz="1800"/>
                        <a:t>Yes</a:t>
                      </a:r>
                      <a:endParaRPr/>
                    </a:p>
                  </a:txBody>
                  <a:tcPr marL="91450" marR="91450" marT="45725" marB="45725"/>
                </a:tc>
                <a:extLst>
                  <a:ext uri="{0D108BD9-81ED-4DB2-BD59-A6C34878D82A}">
                    <a16:rowId xmlns:a16="http://schemas.microsoft.com/office/drawing/2014/main" val="10003"/>
                  </a:ext>
                </a:extLst>
              </a:tr>
              <a:tr h="528050">
                <a:tc>
                  <a:txBody>
                    <a:bodyPr/>
                    <a:lstStyle/>
                    <a:p>
                      <a:pPr marL="0" marR="0" lvl="0" indent="0" algn="l" rtl="0">
                        <a:spcBef>
                          <a:spcPts val="0"/>
                        </a:spcBef>
                        <a:spcAft>
                          <a:spcPts val="0"/>
                        </a:spcAft>
                        <a:buNone/>
                      </a:pPr>
                      <a:r>
                        <a:rPr lang="en-US" sz="1800" b="1"/>
                        <a:t>Device Swich</a:t>
                      </a:r>
                      <a:endParaRPr/>
                    </a:p>
                  </a:txBody>
                  <a:tcPr marL="91450" marR="91450" marT="45725" marB="45725"/>
                </a:tc>
                <a:tc>
                  <a:txBody>
                    <a:bodyPr/>
                    <a:lstStyle/>
                    <a:p>
                      <a:pPr marL="0" marR="0" lvl="0" indent="0" algn="l" rtl="0">
                        <a:spcBef>
                          <a:spcPts val="0"/>
                        </a:spcBef>
                        <a:spcAft>
                          <a:spcPts val="0"/>
                        </a:spcAft>
                        <a:buNone/>
                      </a:pPr>
                      <a:r>
                        <a:rPr lang="en-US" sz="1800"/>
                        <a:t>Yes</a:t>
                      </a:r>
                      <a:endParaRPr/>
                    </a:p>
                  </a:txBody>
                  <a:tcPr marL="91450" marR="91450" marT="45725" marB="45725"/>
                </a:tc>
                <a:tc>
                  <a:txBody>
                    <a:bodyPr/>
                    <a:lstStyle/>
                    <a:p>
                      <a:pPr marL="0" marR="0" lvl="0" indent="0" algn="l" rtl="0">
                        <a:spcBef>
                          <a:spcPts val="0"/>
                        </a:spcBef>
                        <a:spcAft>
                          <a:spcPts val="0"/>
                        </a:spcAft>
                        <a:buNone/>
                      </a:pPr>
                      <a:r>
                        <a:rPr lang="en-US" sz="1800"/>
                        <a:t>No, There is a effort</a:t>
                      </a:r>
                      <a:endParaRPr/>
                    </a:p>
                  </a:txBody>
                  <a:tcPr marL="91450" marR="91450" marT="45725" marB="45725"/>
                </a:tc>
                <a:extLst>
                  <a:ext uri="{0D108BD9-81ED-4DB2-BD59-A6C34878D82A}">
                    <a16:rowId xmlns:a16="http://schemas.microsoft.com/office/drawing/2014/main" val="10004"/>
                  </a:ext>
                </a:extLst>
              </a:tr>
              <a:tr h="528050">
                <a:tc>
                  <a:txBody>
                    <a:bodyPr/>
                    <a:lstStyle/>
                    <a:p>
                      <a:pPr marL="0" marR="0" lvl="0" indent="0" algn="l" rtl="0">
                        <a:spcBef>
                          <a:spcPts val="0"/>
                        </a:spcBef>
                        <a:spcAft>
                          <a:spcPts val="0"/>
                        </a:spcAft>
                        <a:buNone/>
                      </a:pPr>
                      <a:r>
                        <a:rPr lang="en-US" sz="1800" b="1"/>
                        <a:t>Speed</a:t>
                      </a:r>
                      <a:endParaRPr/>
                    </a:p>
                  </a:txBody>
                  <a:tcPr marL="91450" marR="91450" marT="45725" marB="45725"/>
                </a:tc>
                <a:tc>
                  <a:txBody>
                    <a:bodyPr/>
                    <a:lstStyle/>
                    <a:p>
                      <a:pPr marL="0" marR="0" lvl="0" indent="0" algn="l" rtl="0">
                        <a:spcBef>
                          <a:spcPts val="0"/>
                        </a:spcBef>
                        <a:spcAft>
                          <a:spcPts val="0"/>
                        </a:spcAft>
                        <a:buNone/>
                      </a:pPr>
                      <a:r>
                        <a:rPr lang="en-US" sz="1800"/>
                        <a:t>Slow</a:t>
                      </a:r>
                      <a:endParaRPr/>
                    </a:p>
                  </a:txBody>
                  <a:tcPr marL="91450" marR="91450" marT="45725" marB="45725"/>
                </a:tc>
                <a:tc>
                  <a:txBody>
                    <a:bodyPr/>
                    <a:lstStyle/>
                    <a:p>
                      <a:pPr marL="0" marR="0" lvl="0" indent="0" algn="l" rtl="0">
                        <a:spcBef>
                          <a:spcPts val="0"/>
                        </a:spcBef>
                        <a:spcAft>
                          <a:spcPts val="0"/>
                        </a:spcAft>
                        <a:buNone/>
                      </a:pPr>
                      <a:r>
                        <a:rPr lang="en-US" sz="1800"/>
                        <a:t>Amazing</a:t>
                      </a:r>
                      <a:endParaRPr/>
                    </a:p>
                  </a:txBody>
                  <a:tcPr marL="91450" marR="91450" marT="45725" marB="45725"/>
                </a:tc>
                <a:extLst>
                  <a:ext uri="{0D108BD9-81ED-4DB2-BD59-A6C34878D82A}">
                    <a16:rowId xmlns:a16="http://schemas.microsoft.com/office/drawing/2014/main" val="10005"/>
                  </a:ext>
                </a:extLst>
              </a:tr>
              <a:tr h="528050">
                <a:tc>
                  <a:txBody>
                    <a:bodyPr/>
                    <a:lstStyle/>
                    <a:p>
                      <a:pPr marL="0" marR="0" lvl="0" indent="0" algn="l" rtl="0">
                        <a:spcBef>
                          <a:spcPts val="0"/>
                        </a:spcBef>
                        <a:spcAft>
                          <a:spcPts val="0"/>
                        </a:spcAft>
                        <a:buNone/>
                      </a:pPr>
                      <a:r>
                        <a:rPr lang="en-US" sz="1800" b="1"/>
                        <a:t>Code backup</a:t>
                      </a:r>
                      <a:endParaRPr/>
                    </a:p>
                  </a:txBody>
                  <a:tcPr marL="91450" marR="91450" marT="45725" marB="45725"/>
                </a:tc>
                <a:tc>
                  <a:txBody>
                    <a:bodyPr/>
                    <a:lstStyle/>
                    <a:p>
                      <a:pPr marL="0" marR="0" lvl="0" indent="0" algn="l" rtl="0">
                        <a:spcBef>
                          <a:spcPts val="0"/>
                        </a:spcBef>
                        <a:spcAft>
                          <a:spcPts val="0"/>
                        </a:spcAft>
                        <a:buNone/>
                      </a:pPr>
                      <a:r>
                        <a:rPr lang="en-US" sz="1800"/>
                        <a:t>Need to take backup</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Quattrocento Sans"/>
                        <a:buNone/>
                      </a:pPr>
                      <a:r>
                        <a:rPr lang="en-US" sz="1800"/>
                        <a:t>Need to take backup</a:t>
                      </a:r>
                      <a:endParaRPr/>
                    </a:p>
                  </a:txBody>
                  <a:tcPr marL="91450" marR="91450" marT="45725" marB="45725"/>
                </a:tc>
                <a:extLst>
                  <a:ext uri="{0D108BD9-81ED-4DB2-BD59-A6C34878D82A}">
                    <a16:rowId xmlns:a16="http://schemas.microsoft.com/office/drawing/2014/main" val="10006"/>
                  </a:ext>
                </a:extLst>
              </a:tr>
              <a:tr h="528050">
                <a:tc>
                  <a:txBody>
                    <a:bodyPr/>
                    <a:lstStyle/>
                    <a:p>
                      <a:pPr marL="0" marR="0" lvl="0" indent="0" algn="l" rtl="0">
                        <a:spcBef>
                          <a:spcPts val="0"/>
                        </a:spcBef>
                        <a:spcAft>
                          <a:spcPts val="0"/>
                        </a:spcAft>
                        <a:buNone/>
                      </a:pPr>
                      <a:r>
                        <a:rPr lang="en-US" sz="1800" b="1"/>
                        <a:t>Setup Effort</a:t>
                      </a:r>
                      <a:endParaRPr/>
                    </a:p>
                  </a:txBody>
                  <a:tcPr marL="91450" marR="91450" marT="45725" marB="45725"/>
                </a:tc>
                <a:tc>
                  <a:txBody>
                    <a:bodyPr/>
                    <a:lstStyle/>
                    <a:p>
                      <a:pPr marL="0" marR="0" lvl="0" indent="0" algn="l" rtl="0">
                        <a:spcBef>
                          <a:spcPts val="0"/>
                        </a:spcBef>
                        <a:spcAft>
                          <a:spcPts val="0"/>
                        </a:spcAft>
                        <a:buNone/>
                      </a:pPr>
                      <a:r>
                        <a:rPr lang="en-US" sz="1800"/>
                        <a:t>Low</a:t>
                      </a:r>
                      <a:endParaRPr/>
                    </a:p>
                  </a:txBody>
                  <a:tcPr marL="91450" marR="91450" marT="45725" marB="45725"/>
                </a:tc>
                <a:tc>
                  <a:txBody>
                    <a:bodyPr/>
                    <a:lstStyle/>
                    <a:p>
                      <a:pPr marL="0" marR="0" lvl="0" indent="0" algn="l" rtl="0">
                        <a:spcBef>
                          <a:spcPts val="0"/>
                        </a:spcBef>
                        <a:spcAft>
                          <a:spcPts val="0"/>
                        </a:spcAft>
                        <a:buNone/>
                      </a:pPr>
                      <a:r>
                        <a:rPr lang="en-US" sz="1800"/>
                        <a:t>High</a:t>
                      </a:r>
                      <a:endParaRPr/>
                    </a:p>
                  </a:txBody>
                  <a:tcPr marL="91450" marR="91450" marT="45725" marB="45725"/>
                </a:tc>
                <a:extLst>
                  <a:ext uri="{0D108BD9-81ED-4DB2-BD59-A6C34878D82A}">
                    <a16:rowId xmlns:a16="http://schemas.microsoft.com/office/drawing/2014/main" val="10007"/>
                  </a:ext>
                </a:extLst>
              </a:tr>
              <a:tr h="528050">
                <a:tc>
                  <a:txBody>
                    <a:bodyPr/>
                    <a:lstStyle/>
                    <a:p>
                      <a:pPr marL="0" marR="0" lvl="0" indent="0" algn="l" rtl="0">
                        <a:spcBef>
                          <a:spcPts val="0"/>
                        </a:spcBef>
                        <a:spcAft>
                          <a:spcPts val="0"/>
                        </a:spcAft>
                        <a:buNone/>
                      </a:pPr>
                      <a:r>
                        <a:rPr lang="en-US" sz="1800" b="1"/>
                        <a:t>Which company</a:t>
                      </a:r>
                      <a:endParaRPr/>
                    </a:p>
                  </a:txBody>
                  <a:tcPr marL="91450" marR="91450" marT="45725" marB="45725"/>
                </a:tc>
                <a:tc>
                  <a:txBody>
                    <a:bodyPr/>
                    <a:lstStyle/>
                    <a:p>
                      <a:pPr marL="0" marR="0" lvl="0" indent="0" algn="l" rtl="0">
                        <a:spcBef>
                          <a:spcPts val="0"/>
                        </a:spcBef>
                        <a:spcAft>
                          <a:spcPts val="0"/>
                        </a:spcAft>
                        <a:buNone/>
                      </a:pPr>
                      <a:r>
                        <a:rPr lang="en-US" sz="1800"/>
                        <a:t>SAP with BTP</a:t>
                      </a:r>
                      <a:endParaRPr/>
                    </a:p>
                  </a:txBody>
                  <a:tcPr marL="91450" marR="91450" marT="45725" marB="45725"/>
                </a:tc>
                <a:tc>
                  <a:txBody>
                    <a:bodyPr/>
                    <a:lstStyle/>
                    <a:p>
                      <a:pPr marL="0" marR="0" lvl="0" indent="0" algn="l" rtl="0">
                        <a:spcBef>
                          <a:spcPts val="0"/>
                        </a:spcBef>
                        <a:spcAft>
                          <a:spcPts val="0"/>
                        </a:spcAft>
                        <a:buNone/>
                      </a:pPr>
                      <a:r>
                        <a:rPr lang="en-US" sz="1800"/>
                        <a:t>Microsoft</a:t>
                      </a:r>
                      <a:endParaRPr/>
                    </a:p>
                  </a:txBody>
                  <a:tcPr marL="91450" marR="91450" marT="45725" marB="45725"/>
                </a:tc>
                <a:extLst>
                  <a:ext uri="{0D108BD9-81ED-4DB2-BD59-A6C34878D82A}">
                    <a16:rowId xmlns:a16="http://schemas.microsoft.com/office/drawing/2014/main" val="10008"/>
                  </a:ext>
                </a:extLst>
              </a:tr>
              <a:tr h="528050">
                <a:tc>
                  <a:txBody>
                    <a:bodyPr/>
                    <a:lstStyle/>
                    <a:p>
                      <a:pPr marL="0" marR="0" lvl="0" indent="0" algn="l" rtl="0">
                        <a:spcBef>
                          <a:spcPts val="0"/>
                        </a:spcBef>
                        <a:spcAft>
                          <a:spcPts val="0"/>
                        </a:spcAft>
                        <a:buNone/>
                      </a:pPr>
                      <a:r>
                        <a:rPr lang="en-US" sz="1800" b="1"/>
                        <a:t>License</a:t>
                      </a:r>
                      <a:endParaRPr/>
                    </a:p>
                  </a:txBody>
                  <a:tcPr marL="91450" marR="91450" marT="45725" marB="45725"/>
                </a:tc>
                <a:tc>
                  <a:txBody>
                    <a:bodyPr/>
                    <a:lstStyle/>
                    <a:p>
                      <a:pPr marL="0" marR="0" lvl="0" indent="0" algn="l" rtl="0">
                        <a:spcBef>
                          <a:spcPts val="0"/>
                        </a:spcBef>
                        <a:spcAft>
                          <a:spcPts val="0"/>
                        </a:spcAft>
                        <a:buNone/>
                      </a:pPr>
                      <a:r>
                        <a:rPr lang="en-US" sz="1800"/>
                        <a:t>Subscription</a:t>
                      </a:r>
                      <a:endParaRPr/>
                    </a:p>
                  </a:txBody>
                  <a:tcPr marL="91450" marR="91450" marT="45725" marB="45725"/>
                </a:tc>
                <a:tc>
                  <a:txBody>
                    <a:bodyPr/>
                    <a:lstStyle/>
                    <a:p>
                      <a:pPr marL="0" marR="0" lvl="0" indent="0" algn="l" rtl="0">
                        <a:spcBef>
                          <a:spcPts val="0"/>
                        </a:spcBef>
                        <a:spcAft>
                          <a:spcPts val="0"/>
                        </a:spcAft>
                        <a:buNone/>
                      </a:pPr>
                      <a:r>
                        <a:rPr lang="en-US" sz="1800"/>
                        <a:t>Open Source</a:t>
                      </a:r>
                      <a:endParaRPr/>
                    </a:p>
                  </a:txBody>
                  <a:tcPr marL="91450" marR="91450" marT="45725" marB="45725"/>
                </a:tc>
                <a:extLst>
                  <a:ext uri="{0D108BD9-81ED-4DB2-BD59-A6C34878D82A}">
                    <a16:rowId xmlns:a16="http://schemas.microsoft.com/office/drawing/2014/main" val="10009"/>
                  </a:ext>
                </a:extLst>
              </a:tr>
              <a:tr h="528050">
                <a:tc>
                  <a:txBody>
                    <a:bodyPr/>
                    <a:lstStyle/>
                    <a:p>
                      <a:pPr marL="0" marR="0" lvl="0" indent="0" algn="l" rtl="0">
                        <a:spcBef>
                          <a:spcPts val="0"/>
                        </a:spcBef>
                        <a:spcAft>
                          <a:spcPts val="0"/>
                        </a:spcAft>
                        <a:buNone/>
                      </a:pPr>
                      <a:r>
                        <a:rPr lang="en-US" sz="1800" b="1"/>
                        <a:t>OS</a:t>
                      </a:r>
                      <a:endParaRPr/>
                    </a:p>
                  </a:txBody>
                  <a:tcPr marL="91450" marR="91450" marT="45725" marB="45725"/>
                </a:tc>
                <a:tc>
                  <a:txBody>
                    <a:bodyPr/>
                    <a:lstStyle/>
                    <a:p>
                      <a:pPr marL="0" marR="0" lvl="0" indent="0" algn="l" rtl="0">
                        <a:spcBef>
                          <a:spcPts val="0"/>
                        </a:spcBef>
                        <a:spcAft>
                          <a:spcPts val="0"/>
                        </a:spcAft>
                        <a:buNone/>
                      </a:pPr>
                      <a:r>
                        <a:rPr lang="en-US" sz="1800"/>
                        <a:t>Linux</a:t>
                      </a:r>
                      <a:endParaRPr/>
                    </a:p>
                  </a:txBody>
                  <a:tcPr marL="91450" marR="91450" marT="45725" marB="45725"/>
                </a:tc>
                <a:tc>
                  <a:txBody>
                    <a:bodyPr/>
                    <a:lstStyle/>
                    <a:p>
                      <a:pPr marL="0" marR="0" lvl="0" indent="0" algn="l" rtl="0">
                        <a:spcBef>
                          <a:spcPts val="0"/>
                        </a:spcBef>
                        <a:spcAft>
                          <a:spcPts val="0"/>
                        </a:spcAft>
                        <a:buNone/>
                      </a:pPr>
                      <a:r>
                        <a:rPr lang="en-US" sz="1800"/>
                        <a:t>Any</a:t>
                      </a:r>
                      <a:endParaRPr/>
                    </a:p>
                  </a:txBody>
                  <a:tcPr marL="91450" marR="91450" marT="45725" marB="45725"/>
                </a:tc>
                <a:extLst>
                  <a:ext uri="{0D108BD9-81ED-4DB2-BD59-A6C34878D82A}">
                    <a16:rowId xmlns:a16="http://schemas.microsoft.com/office/drawing/2014/main" val="10010"/>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58"/>
        <p:cNvGrpSpPr/>
        <p:nvPr/>
      </p:nvGrpSpPr>
      <p:grpSpPr>
        <a:xfrm>
          <a:off x="0" y="0"/>
          <a:ext cx="0" cy="0"/>
          <a:chOff x="0" y="0"/>
          <a:chExt cx="0" cy="0"/>
        </a:xfrm>
      </p:grpSpPr>
      <p:sp>
        <p:nvSpPr>
          <p:cNvPr id="1459" name="Google Shape;1459;p4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1460" name="Google Shape;1460;p47"/>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cf login -a </a:t>
            </a:r>
            <a:r>
              <a:rPr lang="en-US" sz="1800" b="1"/>
              <a:t>api_end_point</a:t>
            </a:r>
            <a:endParaRPr sz="1800" b="1"/>
          </a:p>
          <a:p>
            <a:pPr marL="0" lvl="0" indent="0" algn="l" rtl="0">
              <a:spcBef>
                <a:spcPts val="360"/>
              </a:spcBef>
              <a:spcAft>
                <a:spcPts val="0"/>
              </a:spcAft>
              <a:buClr>
                <a:schemeClr val="dk1"/>
              </a:buClr>
              <a:buSzPts val="1800"/>
              <a:buNone/>
            </a:pPr>
            <a:r>
              <a:rPr lang="en-US" sz="1800"/>
              <a:t>cf buildpacks</a:t>
            </a:r>
            <a:br>
              <a:rPr lang="en-US" sz="1800"/>
            </a:br>
            <a:r>
              <a:rPr lang="en-US" sz="1800"/>
              <a:t>cd helloworld</a:t>
            </a:r>
            <a:endParaRPr sz="1800"/>
          </a:p>
          <a:p>
            <a:pPr marL="0" lvl="0" indent="0" algn="l" rtl="0">
              <a:spcBef>
                <a:spcPts val="360"/>
              </a:spcBef>
              <a:spcAft>
                <a:spcPts val="0"/>
              </a:spcAft>
              <a:buClr>
                <a:schemeClr val="dk1"/>
              </a:buClr>
              <a:buSzPts val="1800"/>
              <a:buNone/>
            </a:pPr>
            <a:r>
              <a:rPr lang="en-US" sz="1800"/>
              <a:t>cf push</a:t>
            </a:r>
            <a:endParaRPr/>
          </a:p>
          <a:p>
            <a:pPr marL="0" lvl="0" indent="0" algn="l" rtl="0">
              <a:spcBef>
                <a:spcPts val="360"/>
              </a:spcBef>
              <a:spcAft>
                <a:spcPts val="0"/>
              </a:spcAft>
              <a:buClr>
                <a:schemeClr val="dk1"/>
              </a:buClr>
              <a:buSzPts val="1800"/>
              <a:buNone/>
            </a:pPr>
            <a:r>
              <a:rPr lang="en-US" sz="1800"/>
              <a:t>cf apps</a:t>
            </a:r>
            <a:endParaRPr/>
          </a:p>
        </p:txBody>
      </p:sp>
      <p:sp>
        <p:nvSpPr>
          <p:cNvPr id="1461" name="Google Shape;1461;p47"/>
          <p:cNvSpPr/>
          <p:nvPr/>
        </p:nvSpPr>
        <p:spPr>
          <a:xfrm>
            <a:off x="8024104" y="1803023"/>
            <a:ext cx="2154240" cy="687960"/>
          </a:xfrm>
          <a:prstGeom prst="hexagon">
            <a:avLst>
              <a:gd name="adj" fmla="val 25000"/>
              <a:gd name="vf" fmla="val 11547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helloworld</a:t>
            </a:r>
            <a:endParaRPr sz="2400">
              <a:solidFill>
                <a:schemeClr val="lt1"/>
              </a:solidFill>
              <a:latin typeface="Quattrocento Sans"/>
              <a:ea typeface="Quattrocento Sans"/>
              <a:cs typeface="Quattrocento Sans"/>
              <a:sym typeface="Quattrocento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4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Scaling</a:t>
            </a:r>
            <a:endParaRPr/>
          </a:p>
        </p:txBody>
      </p:sp>
      <p:sp>
        <p:nvSpPr>
          <p:cNvPr id="1468" name="Google Shape;1468;p48"/>
          <p:cNvSpPr txBox="1">
            <a:spLocks noGrp="1"/>
          </p:cNvSpPr>
          <p:nvPr>
            <p:ph type="body" idx="1"/>
          </p:nvPr>
        </p:nvSpPr>
        <p:spPr>
          <a:xfrm>
            <a:off x="258113" y="5266800"/>
            <a:ext cx="7539271" cy="1007938"/>
          </a:xfrm>
          <a:prstGeom prst="rect">
            <a:avLst/>
          </a:prstGeom>
          <a:noFill/>
          <a:ln>
            <a:noFill/>
          </a:ln>
        </p:spPr>
        <p:txBody>
          <a:bodyPr spcFirstLastPara="1" wrap="square" lIns="0" tIns="60925" rIns="0" bIns="60925" anchor="t" anchorCtr="0">
            <a:normAutofit fontScale="85000" lnSpcReduction="20000"/>
          </a:bodyPr>
          <a:lstStyle/>
          <a:p>
            <a:pPr marL="0" lvl="0" indent="0" algn="l" rtl="0">
              <a:spcBef>
                <a:spcPts val="0"/>
              </a:spcBef>
              <a:spcAft>
                <a:spcPts val="0"/>
              </a:spcAft>
              <a:buClr>
                <a:schemeClr val="dk1"/>
              </a:buClr>
              <a:buSzPct val="100000"/>
              <a:buNone/>
            </a:pPr>
            <a:r>
              <a:rPr lang="en-US" sz="1800"/>
              <a:t>cf scale APPNAME –i n</a:t>
            </a:r>
            <a:endParaRPr/>
          </a:p>
          <a:p>
            <a:pPr marL="0" lvl="0" indent="0" algn="l" rtl="0">
              <a:spcBef>
                <a:spcPts val="306"/>
              </a:spcBef>
              <a:spcAft>
                <a:spcPts val="0"/>
              </a:spcAft>
              <a:buClr>
                <a:schemeClr val="dk1"/>
              </a:buClr>
              <a:buSzPct val="100000"/>
              <a:buNone/>
            </a:pPr>
            <a:r>
              <a:rPr lang="en-US" sz="1800"/>
              <a:t>cf scale APPNAME -m 2G</a:t>
            </a:r>
            <a:endParaRPr/>
          </a:p>
          <a:p>
            <a:pPr marL="0" lvl="0" indent="0" algn="l" rtl="0">
              <a:spcBef>
                <a:spcPts val="306"/>
              </a:spcBef>
              <a:spcAft>
                <a:spcPts val="0"/>
              </a:spcAft>
              <a:buClr>
                <a:schemeClr val="dk1"/>
              </a:buClr>
              <a:buSzPct val="100000"/>
              <a:buNone/>
            </a:pPr>
            <a:r>
              <a:rPr lang="en-US" sz="1800" u="sng">
                <a:solidFill>
                  <a:schemeClr val="hlink"/>
                </a:solidFill>
                <a:hlinkClick r:id="rId3"/>
              </a:rPr>
              <a:t>https://cli.cloudfoundry.org/en-US/v6/</a:t>
            </a:r>
            <a:endParaRPr sz="1800"/>
          </a:p>
          <a:p>
            <a:pPr marL="0" lvl="0" indent="0" algn="l" rtl="0">
              <a:spcBef>
                <a:spcPts val="306"/>
              </a:spcBef>
              <a:spcAft>
                <a:spcPts val="0"/>
              </a:spcAft>
              <a:buClr>
                <a:schemeClr val="dk1"/>
              </a:buClr>
              <a:buSzPct val="100000"/>
              <a:buNone/>
            </a:pPr>
            <a:r>
              <a:rPr lang="en-US" sz="1800" u="sng">
                <a:solidFill>
                  <a:schemeClr val="hlink"/>
                </a:solidFill>
                <a:hlinkClick r:id="rId4"/>
              </a:rPr>
              <a:t>https://docs.cloudfoundry.org/devguide/deploy-apps/manifest-attributes.html</a:t>
            </a:r>
            <a:endParaRPr sz="1800"/>
          </a:p>
          <a:p>
            <a:pPr marL="0" lvl="0" indent="0" algn="l" rtl="0">
              <a:spcBef>
                <a:spcPts val="306"/>
              </a:spcBef>
              <a:spcAft>
                <a:spcPts val="0"/>
              </a:spcAft>
              <a:buClr>
                <a:schemeClr val="dk1"/>
              </a:buClr>
              <a:buSzPct val="100000"/>
              <a:buNone/>
            </a:pPr>
            <a:endParaRPr sz="1800"/>
          </a:p>
          <a:p>
            <a:pPr marL="0" lvl="0" indent="0" algn="l" rtl="0">
              <a:spcBef>
                <a:spcPts val="306"/>
              </a:spcBef>
              <a:spcAft>
                <a:spcPts val="0"/>
              </a:spcAft>
              <a:buClr>
                <a:schemeClr val="dk1"/>
              </a:buClr>
              <a:buSzPct val="100000"/>
              <a:buNone/>
            </a:pP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80"/>
        <p:cNvGrpSpPr/>
        <p:nvPr/>
      </p:nvGrpSpPr>
      <p:grpSpPr>
        <a:xfrm>
          <a:off x="0" y="0"/>
          <a:ext cx="0" cy="0"/>
          <a:chOff x="0" y="0"/>
          <a:chExt cx="0" cy="0"/>
        </a:xfrm>
      </p:grpSpPr>
      <p:sp>
        <p:nvSpPr>
          <p:cNvPr id="1481" name="Google Shape;1481;p5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Client Server Architecture</a:t>
            </a:r>
            <a:endParaRPr/>
          </a:p>
        </p:txBody>
      </p:sp>
      <p:sp>
        <p:nvSpPr>
          <p:cNvPr id="1482" name="Google Shape;1482;p50"/>
          <p:cNvSpPr/>
          <p:nvPr/>
        </p:nvSpPr>
        <p:spPr>
          <a:xfrm>
            <a:off x="1197868" y="1860515"/>
            <a:ext cx="2088232" cy="187220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Client</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(Browser)</a:t>
            </a:r>
            <a:endParaRPr/>
          </a:p>
        </p:txBody>
      </p:sp>
      <p:sp>
        <p:nvSpPr>
          <p:cNvPr id="1483" name="Google Shape;1483;p50"/>
          <p:cNvSpPr/>
          <p:nvPr/>
        </p:nvSpPr>
        <p:spPr>
          <a:xfrm>
            <a:off x="8614692" y="1860515"/>
            <a:ext cx="2880320" cy="187220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Server</a:t>
            </a:r>
            <a:endParaRPr/>
          </a:p>
        </p:txBody>
      </p:sp>
      <p:sp>
        <p:nvSpPr>
          <p:cNvPr id="1484" name="Google Shape;1484;p50"/>
          <p:cNvSpPr/>
          <p:nvPr/>
        </p:nvSpPr>
        <p:spPr>
          <a:xfrm>
            <a:off x="189756" y="2132856"/>
            <a:ext cx="648072" cy="648072"/>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485" name="Google Shape;1485;p50"/>
          <p:cNvSpPr/>
          <p:nvPr/>
        </p:nvSpPr>
        <p:spPr>
          <a:xfrm>
            <a:off x="3286100" y="2204864"/>
            <a:ext cx="5328592" cy="504056"/>
          </a:xfrm>
          <a:prstGeom prst="rightArrow">
            <a:avLst>
              <a:gd name="adj1" fmla="val 50000"/>
              <a:gd name="adj2" fmla="val 50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Request</a:t>
            </a:r>
            <a:endParaRPr/>
          </a:p>
        </p:txBody>
      </p:sp>
      <p:sp>
        <p:nvSpPr>
          <p:cNvPr id="1486" name="Google Shape;1486;p50"/>
          <p:cNvSpPr txBox="1"/>
          <p:nvPr/>
        </p:nvSpPr>
        <p:spPr>
          <a:xfrm>
            <a:off x="3430116" y="1860515"/>
            <a:ext cx="417646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Quattrocento Sans"/>
                <a:ea typeface="Quattrocento Sans"/>
                <a:cs typeface="Quattrocento Sans"/>
                <a:sym typeface="Quattrocento Sans"/>
              </a:rPr>
              <a:t>Header + body (optional)</a:t>
            </a:r>
            <a:endParaRPr/>
          </a:p>
        </p:txBody>
      </p:sp>
      <p:cxnSp>
        <p:nvCxnSpPr>
          <p:cNvPr id="1487" name="Google Shape;1487;p50"/>
          <p:cNvCxnSpPr/>
          <p:nvPr/>
        </p:nvCxnSpPr>
        <p:spPr>
          <a:xfrm rot="10800000" flipH="1">
            <a:off x="4078188" y="980615"/>
            <a:ext cx="1296000" cy="879900"/>
          </a:xfrm>
          <a:prstGeom prst="bentConnector3">
            <a:avLst>
              <a:gd name="adj1" fmla="val 3612"/>
            </a:avLst>
          </a:prstGeom>
          <a:noFill/>
          <a:ln w="9525" cap="flat" cmpd="sng">
            <a:solidFill>
              <a:srgbClr val="FE421C"/>
            </a:solidFill>
            <a:prstDash val="solid"/>
            <a:round/>
            <a:headEnd type="none" w="sm" len="sm"/>
            <a:tailEnd type="triangle" w="med" len="med"/>
          </a:ln>
        </p:spPr>
      </p:cxnSp>
      <p:sp>
        <p:nvSpPr>
          <p:cNvPr id="1488" name="Google Shape;1488;p50"/>
          <p:cNvSpPr txBox="1"/>
          <p:nvPr/>
        </p:nvSpPr>
        <p:spPr>
          <a:xfrm>
            <a:off x="5374332" y="620688"/>
            <a:ext cx="3528392"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GET – Read Data</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POST – Create Data</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PUT/PATCH – Update data</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DELETE - Remove</a:t>
            </a:r>
            <a:endParaRPr/>
          </a:p>
        </p:txBody>
      </p:sp>
      <p:sp>
        <p:nvSpPr>
          <p:cNvPr id="1489" name="Google Shape;1489;p50"/>
          <p:cNvSpPr/>
          <p:nvPr/>
        </p:nvSpPr>
        <p:spPr>
          <a:xfrm>
            <a:off x="8614692" y="2132856"/>
            <a:ext cx="1008112" cy="461665"/>
          </a:xfrm>
          <a:prstGeom prst="rect">
            <a:avLst/>
          </a:prstGeom>
          <a:solidFill>
            <a:schemeClr val="accent3"/>
          </a:solidFill>
          <a:ln w="25400" cap="flat" cmpd="sng">
            <a:solidFill>
              <a:srgbClr val="3A4D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Port</a:t>
            </a:r>
            <a:endParaRPr/>
          </a:p>
        </p:txBody>
      </p:sp>
      <p:sp>
        <p:nvSpPr>
          <p:cNvPr id="1490" name="Google Shape;1490;p50"/>
          <p:cNvSpPr/>
          <p:nvPr/>
        </p:nvSpPr>
        <p:spPr>
          <a:xfrm>
            <a:off x="9190756" y="3284984"/>
            <a:ext cx="504056" cy="216024"/>
          </a:xfrm>
          <a:prstGeom prst="curvedUpArrow">
            <a:avLst>
              <a:gd name="adj1" fmla="val 25000"/>
              <a:gd name="adj2" fmla="val 50000"/>
              <a:gd name="adj3" fmla="val 2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1491" name="Google Shape;1491;p50"/>
          <p:cNvSpPr/>
          <p:nvPr/>
        </p:nvSpPr>
        <p:spPr>
          <a:xfrm rot="10422272">
            <a:off x="9170687" y="3011532"/>
            <a:ext cx="504056" cy="216024"/>
          </a:xfrm>
          <a:prstGeom prst="curvedUpArrow">
            <a:avLst>
              <a:gd name="adj1" fmla="val 25000"/>
              <a:gd name="adj2" fmla="val 50000"/>
              <a:gd name="adj3" fmla="val 2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1492" name="Google Shape;1492;p50"/>
          <p:cNvSpPr/>
          <p:nvPr/>
        </p:nvSpPr>
        <p:spPr>
          <a:xfrm>
            <a:off x="10270876" y="3501008"/>
            <a:ext cx="1080120" cy="792088"/>
          </a:xfrm>
          <a:prstGeom prst="can">
            <a:avLst>
              <a:gd name="adj" fmla="val 25000"/>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493" name="Google Shape;1493;p50"/>
          <p:cNvSpPr/>
          <p:nvPr/>
        </p:nvSpPr>
        <p:spPr>
          <a:xfrm>
            <a:off x="3214092" y="2984547"/>
            <a:ext cx="5400600" cy="588469"/>
          </a:xfrm>
          <a:prstGeom prst="leftArrow">
            <a:avLst>
              <a:gd name="adj1" fmla="val 50000"/>
              <a:gd name="adj2" fmla="val 50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Response</a:t>
            </a:r>
            <a:endParaRPr/>
          </a:p>
        </p:txBody>
      </p:sp>
      <p:sp>
        <p:nvSpPr>
          <p:cNvPr id="1494" name="Google Shape;1494;p50"/>
          <p:cNvSpPr txBox="1"/>
          <p:nvPr/>
        </p:nvSpPr>
        <p:spPr>
          <a:xfrm>
            <a:off x="4141812" y="3471614"/>
            <a:ext cx="417646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Quattrocento Sans"/>
                <a:ea typeface="Quattrocento Sans"/>
                <a:cs typeface="Quattrocento Sans"/>
                <a:sym typeface="Quattrocento Sans"/>
              </a:rPr>
              <a:t>Header + body</a:t>
            </a:r>
            <a:endParaRPr/>
          </a:p>
        </p:txBody>
      </p:sp>
      <p:sp>
        <p:nvSpPr>
          <p:cNvPr id="1495" name="Google Shape;1495;p50"/>
          <p:cNvSpPr txBox="1"/>
          <p:nvPr/>
        </p:nvSpPr>
        <p:spPr>
          <a:xfrm>
            <a:off x="5709753" y="3933279"/>
            <a:ext cx="1152128" cy="18158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Text</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XML</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JSON</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PDF</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WORD</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IMAGE</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HTML</a:t>
            </a:r>
            <a:endParaRPr/>
          </a:p>
        </p:txBody>
      </p:sp>
      <p:sp>
        <p:nvSpPr>
          <p:cNvPr id="1496" name="Google Shape;1496;p50"/>
          <p:cNvSpPr/>
          <p:nvPr/>
        </p:nvSpPr>
        <p:spPr>
          <a:xfrm>
            <a:off x="10078549" y="1484784"/>
            <a:ext cx="840399" cy="648072"/>
          </a:xfrm>
          <a:prstGeom prst="hexagon">
            <a:avLst>
              <a:gd name="adj" fmla="val 25000"/>
              <a:gd name="vf" fmla="val 115470"/>
            </a:avLst>
          </a:prstGeom>
          <a:solidFill>
            <a:schemeClr val="accent3"/>
          </a:solidFill>
          <a:ln w="25400" cap="flat" cmpd="sng">
            <a:solidFill>
              <a:srgbClr val="3A4D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497" name="Google Shape;1497;p50"/>
          <p:cNvSpPr/>
          <p:nvPr/>
        </p:nvSpPr>
        <p:spPr>
          <a:xfrm>
            <a:off x="10230949" y="1637184"/>
            <a:ext cx="840399" cy="648072"/>
          </a:xfrm>
          <a:prstGeom prst="hexagon">
            <a:avLst>
              <a:gd name="adj" fmla="val 25000"/>
              <a:gd name="vf" fmla="val 115470"/>
            </a:avLst>
          </a:prstGeom>
          <a:solidFill>
            <a:schemeClr val="accent3"/>
          </a:solidFill>
          <a:ln w="25400" cap="flat" cmpd="sng">
            <a:solidFill>
              <a:srgbClr val="3A4D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498" name="Google Shape;1498;p50"/>
          <p:cNvSpPr/>
          <p:nvPr/>
        </p:nvSpPr>
        <p:spPr>
          <a:xfrm>
            <a:off x="10383349" y="1789584"/>
            <a:ext cx="840399" cy="648072"/>
          </a:xfrm>
          <a:prstGeom prst="hexagon">
            <a:avLst>
              <a:gd name="adj" fmla="val 25000"/>
              <a:gd name="vf" fmla="val 115470"/>
            </a:avLst>
          </a:prstGeom>
          <a:solidFill>
            <a:schemeClr val="accent3"/>
          </a:solidFill>
          <a:ln w="25400" cap="flat" cmpd="sng">
            <a:solidFill>
              <a:srgbClr val="3A4D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499" name="Google Shape;1499;p50"/>
          <p:cNvSpPr/>
          <p:nvPr/>
        </p:nvSpPr>
        <p:spPr>
          <a:xfrm>
            <a:off x="10535749" y="1941984"/>
            <a:ext cx="840399" cy="648072"/>
          </a:xfrm>
          <a:prstGeom prst="hexagon">
            <a:avLst>
              <a:gd name="adj" fmla="val 25000"/>
              <a:gd name="vf" fmla="val 115470"/>
            </a:avLst>
          </a:prstGeom>
          <a:solidFill>
            <a:schemeClr val="accent3"/>
          </a:solidFill>
          <a:ln w="25400" cap="flat" cmpd="sng">
            <a:solidFill>
              <a:srgbClr val="3A4D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500" name="Google Shape;1500;p50"/>
          <p:cNvSpPr/>
          <p:nvPr/>
        </p:nvSpPr>
        <p:spPr>
          <a:xfrm>
            <a:off x="10688149" y="2094384"/>
            <a:ext cx="840399" cy="648072"/>
          </a:xfrm>
          <a:prstGeom prst="hexagon">
            <a:avLst>
              <a:gd name="adj" fmla="val 25000"/>
              <a:gd name="vf" fmla="val 115470"/>
            </a:avLst>
          </a:prstGeom>
          <a:solidFill>
            <a:schemeClr val="accent3"/>
          </a:solidFill>
          <a:ln w="25400" cap="flat" cmpd="sng">
            <a:solidFill>
              <a:srgbClr val="3A4D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501" name="Google Shape;1501;p50"/>
          <p:cNvSpPr/>
          <p:nvPr/>
        </p:nvSpPr>
        <p:spPr>
          <a:xfrm>
            <a:off x="10840549" y="2246784"/>
            <a:ext cx="840399" cy="648072"/>
          </a:xfrm>
          <a:prstGeom prst="hexagon">
            <a:avLst>
              <a:gd name="adj" fmla="val 25000"/>
              <a:gd name="vf" fmla="val 115470"/>
            </a:avLst>
          </a:prstGeom>
          <a:solidFill>
            <a:schemeClr val="accent3"/>
          </a:solidFill>
          <a:ln w="25400" cap="flat" cmpd="sng">
            <a:solidFill>
              <a:srgbClr val="3A4D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06"/>
        <p:cNvGrpSpPr/>
        <p:nvPr/>
      </p:nvGrpSpPr>
      <p:grpSpPr>
        <a:xfrm>
          <a:off x="0" y="0"/>
          <a:ext cx="0" cy="0"/>
          <a:chOff x="0" y="0"/>
          <a:chExt cx="0" cy="0"/>
        </a:xfrm>
      </p:grpSpPr>
      <p:sp>
        <p:nvSpPr>
          <p:cNvPr id="1507" name="Google Shape;1507;p5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Node JS</a:t>
            </a:r>
            <a:endParaRPr/>
          </a:p>
        </p:txBody>
      </p:sp>
      <p:sp>
        <p:nvSpPr>
          <p:cNvPr id="1508" name="Google Shape;1508;p51"/>
          <p:cNvSpPr txBox="1">
            <a:spLocks noGrp="1"/>
          </p:cNvSpPr>
          <p:nvPr>
            <p:ph type="body" idx="1"/>
          </p:nvPr>
        </p:nvSpPr>
        <p:spPr>
          <a:xfrm>
            <a:off x="368762" y="836712"/>
            <a:ext cx="11414282" cy="792088"/>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Node JS is a framework which provide runtime environment for Java Script language. Java Script and Java are completely different languages in their design, approach, purpose and usage. </a:t>
            </a:r>
            <a:endParaRPr/>
          </a:p>
        </p:txBody>
      </p:sp>
      <p:pic>
        <p:nvPicPr>
          <p:cNvPr id="1509" name="Google Shape;1509;p51"/>
          <p:cNvPicPr preferRelativeResize="0"/>
          <p:nvPr/>
        </p:nvPicPr>
        <p:blipFill rotWithShape="1">
          <a:blip r:embed="rId3">
            <a:alphaModFix/>
          </a:blip>
          <a:srcRect/>
          <a:stretch/>
        </p:blipFill>
        <p:spPr>
          <a:xfrm>
            <a:off x="1412612" y="2276872"/>
            <a:ext cx="8575774" cy="253323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14"/>
        <p:cNvGrpSpPr/>
        <p:nvPr/>
      </p:nvGrpSpPr>
      <p:grpSpPr>
        <a:xfrm>
          <a:off x="0" y="0"/>
          <a:ext cx="0" cy="0"/>
          <a:chOff x="0" y="0"/>
          <a:chExt cx="0" cy="0"/>
        </a:xfrm>
      </p:grpSpPr>
      <p:sp>
        <p:nvSpPr>
          <p:cNvPr id="1515" name="Google Shape;1515;p5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Node JS</a:t>
            </a:r>
            <a:endParaRPr/>
          </a:p>
        </p:txBody>
      </p:sp>
      <p:sp>
        <p:nvSpPr>
          <p:cNvPr id="1516" name="Google Shape;1516;p52"/>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lnSpcReduction="10000"/>
          </a:bodyPr>
          <a:lstStyle/>
          <a:p>
            <a:pPr marL="0" lvl="0" indent="0" algn="l" rtl="0">
              <a:spcBef>
                <a:spcPts val="0"/>
              </a:spcBef>
              <a:spcAft>
                <a:spcPts val="0"/>
              </a:spcAft>
              <a:buClr>
                <a:schemeClr val="dk1"/>
              </a:buClr>
              <a:buSzPts val="1800"/>
              <a:buNone/>
            </a:pPr>
            <a:r>
              <a:rPr lang="en-US" sz="1800"/>
              <a:t>Node JS is an open source framework, which provides runtime environment for Java Script Apps. It can be installed on any platform, open source, free, very good to design data intensive apps. As a developer you can learn Java Script which is enough to become a full stack developer.</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b="1" u="sng"/>
              <a:t>Java Script</a:t>
            </a:r>
            <a:endParaRPr/>
          </a:p>
          <a:p>
            <a:pPr marL="0" lvl="0" indent="0" algn="l" rtl="0">
              <a:spcBef>
                <a:spcPts val="360"/>
              </a:spcBef>
              <a:spcAft>
                <a:spcPts val="0"/>
              </a:spcAft>
              <a:buClr>
                <a:schemeClr val="dk1"/>
              </a:buClr>
              <a:buSzPts val="1800"/>
              <a:buNone/>
            </a:pPr>
            <a:r>
              <a:rPr lang="en-US" sz="1800"/>
              <a:t>Java and Java Script are completely different languages in their nature, purpose and use case. You don’t need to learn Java at all for learning JS. JS is a lightweight programming language which is free. It is easy to learn, it is different from other languages as it’s a </a:t>
            </a:r>
            <a:r>
              <a:rPr lang="en-US" sz="1800" b="1" u="sng"/>
              <a:t>Asynchronous Non Blocking IO</a:t>
            </a:r>
            <a:r>
              <a:rPr lang="en-US" sz="1800"/>
              <a:t>.</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It can be used :</a:t>
            </a:r>
            <a:endParaRPr/>
          </a:p>
          <a:p>
            <a:pPr marL="285750" lvl="0" indent="-285750" algn="l" rtl="0">
              <a:spcBef>
                <a:spcPts val="360"/>
              </a:spcBef>
              <a:spcAft>
                <a:spcPts val="0"/>
              </a:spcAft>
              <a:buClr>
                <a:schemeClr val="dk1"/>
              </a:buClr>
              <a:buSzPts val="1800"/>
              <a:buFont typeface="Arial"/>
              <a:buChar char="•"/>
            </a:pPr>
            <a:r>
              <a:rPr lang="en-US" sz="1800"/>
              <a:t>Create front end apps</a:t>
            </a:r>
            <a:endParaRPr/>
          </a:p>
          <a:p>
            <a:pPr marL="285750" lvl="0" indent="-285750" algn="l" rtl="0">
              <a:spcBef>
                <a:spcPts val="360"/>
              </a:spcBef>
              <a:spcAft>
                <a:spcPts val="0"/>
              </a:spcAft>
              <a:buClr>
                <a:schemeClr val="dk1"/>
              </a:buClr>
              <a:buSzPts val="1800"/>
              <a:buFont typeface="Arial"/>
              <a:buChar char="•"/>
            </a:pPr>
            <a:r>
              <a:rPr lang="en-US" sz="1800"/>
              <a:t>Build business logic</a:t>
            </a:r>
            <a:endParaRPr/>
          </a:p>
          <a:p>
            <a:pPr marL="285750" lvl="0" indent="-285750" algn="l" rtl="0">
              <a:spcBef>
                <a:spcPts val="360"/>
              </a:spcBef>
              <a:spcAft>
                <a:spcPts val="0"/>
              </a:spcAft>
              <a:buClr>
                <a:schemeClr val="dk1"/>
              </a:buClr>
              <a:buSzPts val="1800"/>
              <a:buFont typeface="Arial"/>
              <a:buChar char="•"/>
            </a:pPr>
            <a:r>
              <a:rPr lang="en-US" sz="1800"/>
              <a:t>DB lookups</a:t>
            </a:r>
            <a:endParaRPr/>
          </a:p>
          <a:p>
            <a:pPr marL="285750" lvl="0" indent="-285750" algn="l" rtl="0">
              <a:spcBef>
                <a:spcPts val="360"/>
              </a:spcBef>
              <a:spcAft>
                <a:spcPts val="0"/>
              </a:spcAft>
              <a:buClr>
                <a:schemeClr val="dk1"/>
              </a:buClr>
              <a:buSzPts val="1800"/>
              <a:buFont typeface="Arial"/>
              <a:buChar char="•"/>
            </a:pPr>
            <a:r>
              <a:rPr lang="en-US" sz="1800"/>
              <a:t>Send emails</a:t>
            </a:r>
            <a:endParaRPr/>
          </a:p>
          <a:p>
            <a:pPr marL="285750" lvl="0" indent="-285750" algn="l" rtl="0">
              <a:spcBef>
                <a:spcPts val="360"/>
              </a:spcBef>
              <a:spcAft>
                <a:spcPts val="0"/>
              </a:spcAft>
              <a:buClr>
                <a:schemeClr val="dk1"/>
              </a:buClr>
              <a:buSzPts val="1800"/>
              <a:buFont typeface="Arial"/>
              <a:buChar char="•"/>
            </a:pPr>
            <a:r>
              <a:rPr lang="en-US" sz="1800"/>
              <a:t>Prepare PDF, EXCEL…</a:t>
            </a:r>
            <a:endParaRPr/>
          </a:p>
          <a:p>
            <a:pPr marL="285750" lvl="0" indent="-285750" algn="l" rtl="0">
              <a:spcBef>
                <a:spcPts val="360"/>
              </a:spcBef>
              <a:spcAft>
                <a:spcPts val="0"/>
              </a:spcAft>
              <a:buClr>
                <a:schemeClr val="dk1"/>
              </a:buClr>
              <a:buSzPts val="1800"/>
              <a:buFont typeface="Arial"/>
              <a:buChar char="•"/>
            </a:pPr>
            <a:r>
              <a:rPr lang="en-US" sz="1800"/>
              <a:t>Write processing logic</a:t>
            </a:r>
            <a:endParaRPr/>
          </a:p>
          <a:p>
            <a:pPr marL="285750" lvl="0" indent="-285750" algn="l" rtl="0">
              <a:spcBef>
                <a:spcPts val="360"/>
              </a:spcBef>
              <a:spcAft>
                <a:spcPts val="0"/>
              </a:spcAft>
              <a:buClr>
                <a:schemeClr val="dk1"/>
              </a:buClr>
              <a:buSzPts val="1800"/>
              <a:buFont typeface="Arial"/>
              <a:buChar char="•"/>
            </a:pPr>
            <a:r>
              <a:rPr lang="en-US" sz="1800"/>
              <a:t>Make call to web service</a:t>
            </a:r>
            <a:endParaRPr/>
          </a:p>
          <a:p>
            <a:pPr marL="285750" lvl="0" indent="-285750" algn="l" rtl="0">
              <a:spcBef>
                <a:spcPts val="360"/>
              </a:spcBef>
              <a:spcAft>
                <a:spcPts val="0"/>
              </a:spcAft>
              <a:buClr>
                <a:schemeClr val="dk1"/>
              </a:buClr>
              <a:buSzPts val="1800"/>
              <a:buFont typeface="Arial"/>
              <a:buChar char="•"/>
            </a:pPr>
            <a:r>
              <a:rPr lang="en-US" sz="1800"/>
              <a:t>Design your own web app and services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21"/>
        <p:cNvGrpSpPr/>
        <p:nvPr/>
      </p:nvGrpSpPr>
      <p:grpSpPr>
        <a:xfrm>
          <a:off x="0" y="0"/>
          <a:ext cx="0" cy="0"/>
          <a:chOff x="0" y="0"/>
          <a:chExt cx="0" cy="0"/>
        </a:xfrm>
      </p:grpSpPr>
      <p:sp>
        <p:nvSpPr>
          <p:cNvPr id="1522" name="Google Shape;1522;p5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Funda fox:</a:t>
            </a:r>
            <a:endParaRPr/>
          </a:p>
        </p:txBody>
      </p:sp>
      <p:sp>
        <p:nvSpPr>
          <p:cNvPr id="1523" name="Google Shape;1523;p53"/>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Java Script unlike ABAP is a case-sensitive programming language e.g. </a:t>
            </a:r>
            <a:r>
              <a:rPr lang="en-US" sz="1800" b="1"/>
              <a:t>A</a:t>
            </a:r>
            <a:r>
              <a:rPr lang="en-US" sz="1800"/>
              <a:t>nubhav &amp; </a:t>
            </a:r>
            <a:r>
              <a:rPr lang="en-US" sz="1800" b="1"/>
              <a:t>a</a:t>
            </a:r>
            <a:r>
              <a:rPr lang="en-US" sz="1800"/>
              <a:t>nubhav is difference</a:t>
            </a:r>
            <a:endParaRPr/>
          </a:p>
          <a:p>
            <a:pPr marL="285750" lvl="0" indent="-285750" algn="l" rtl="0">
              <a:spcBef>
                <a:spcPts val="360"/>
              </a:spcBef>
              <a:spcAft>
                <a:spcPts val="0"/>
              </a:spcAft>
              <a:buClr>
                <a:schemeClr val="dk1"/>
              </a:buClr>
              <a:buSzPts val="1800"/>
              <a:buFont typeface="Arial"/>
              <a:buChar char="•"/>
            </a:pPr>
            <a:r>
              <a:rPr lang="en-US" sz="1800"/>
              <a:t>Each statement ends with semi-column ; (ABAP it ends with period .)</a:t>
            </a:r>
            <a:endParaRPr/>
          </a:p>
          <a:p>
            <a:pPr marL="285750" lvl="0" indent="-285750" algn="l" rtl="0">
              <a:spcBef>
                <a:spcPts val="360"/>
              </a:spcBef>
              <a:spcAft>
                <a:spcPts val="0"/>
              </a:spcAft>
              <a:buClr>
                <a:schemeClr val="dk1"/>
              </a:buClr>
              <a:buSzPts val="1800"/>
              <a:buFont typeface="Arial"/>
              <a:buChar char="•"/>
            </a:pPr>
            <a:r>
              <a:rPr lang="en-US" sz="1800"/>
              <a:t>We follow camel case naming convention in JS, first letter of every word is small, next consecutive word’s first letter is capital – iloveindia 🡺 iLoveIndia		wearelearningJS 🡺 weAreLearningJS</a:t>
            </a:r>
            <a:endParaRPr sz="1800"/>
          </a:p>
          <a:p>
            <a:pPr marL="285750" lvl="0" indent="-285750" algn="l" rtl="0">
              <a:spcBef>
                <a:spcPts val="360"/>
              </a:spcBef>
              <a:spcAft>
                <a:spcPts val="0"/>
              </a:spcAft>
              <a:buClr>
                <a:schemeClr val="dk1"/>
              </a:buClr>
              <a:buSzPts val="1800"/>
              <a:buFont typeface="Arial"/>
              <a:buChar char="•"/>
            </a:pPr>
            <a:r>
              <a:rPr lang="en-US" sz="1800"/>
              <a:t>When we use standard functions, create our own variables and functions, we use camel case e.g. indexOf</a:t>
            </a:r>
            <a:endParaRPr sz="1800"/>
          </a:p>
          <a:p>
            <a:pPr marL="285750" lvl="0" indent="-285750" algn="l" rtl="0">
              <a:spcBef>
                <a:spcPts val="360"/>
              </a:spcBef>
              <a:spcAft>
                <a:spcPts val="0"/>
              </a:spcAft>
              <a:buClr>
                <a:schemeClr val="dk1"/>
              </a:buClr>
              <a:buSzPts val="1800"/>
              <a:buFont typeface="Arial"/>
              <a:buChar char="•"/>
            </a:pPr>
            <a:r>
              <a:rPr lang="en-US" sz="1800"/>
              <a:t>When we create variable a NULL is assigned to it, any operation we do with NULL become a NaN</a:t>
            </a:r>
            <a:endParaRPr sz="1800"/>
          </a:p>
          <a:p>
            <a:pPr marL="285750" lvl="0" indent="-285750" algn="l" rtl="0">
              <a:spcBef>
                <a:spcPts val="360"/>
              </a:spcBef>
              <a:spcAft>
                <a:spcPts val="0"/>
              </a:spcAft>
              <a:buClr>
                <a:schemeClr val="dk1"/>
              </a:buClr>
              <a:buSzPts val="1800"/>
              <a:buFont typeface="Arial"/>
              <a:buChar char="•"/>
            </a:pPr>
            <a:r>
              <a:rPr lang="en-US" sz="1800"/>
              <a:t>To create variables we use </a:t>
            </a:r>
            <a:r>
              <a:rPr lang="en-US" sz="1800" b="1"/>
              <a:t>var</a:t>
            </a:r>
            <a:r>
              <a:rPr lang="en-US" sz="1800"/>
              <a:t> or </a:t>
            </a:r>
            <a:r>
              <a:rPr lang="en-US" sz="1800" b="1"/>
              <a:t>let</a:t>
            </a:r>
            <a:r>
              <a:rPr lang="en-US" sz="1800"/>
              <a:t> keywords. We can create constants using </a:t>
            </a:r>
            <a:r>
              <a:rPr lang="en-US" sz="1800" b="1"/>
              <a:t>const</a:t>
            </a:r>
            <a:endParaRPr sz="1800"/>
          </a:p>
          <a:p>
            <a:pPr marL="285750" lvl="0" indent="-285750" algn="l" rtl="0">
              <a:spcBef>
                <a:spcPts val="360"/>
              </a:spcBef>
              <a:spcAft>
                <a:spcPts val="0"/>
              </a:spcAft>
              <a:buClr>
                <a:schemeClr val="dk1"/>
              </a:buClr>
              <a:buSzPts val="1800"/>
              <a:buFont typeface="Arial"/>
              <a:buChar char="•"/>
            </a:pPr>
            <a:r>
              <a:rPr lang="en-US" sz="1800"/>
              <a:t>To print the output in terminal we use </a:t>
            </a:r>
            <a:r>
              <a:rPr lang="en-US" sz="1800" b="1"/>
              <a:t>console.log()</a:t>
            </a:r>
            <a:endParaRPr/>
          </a:p>
          <a:p>
            <a:pPr marL="285750" lvl="0" indent="-285750" algn="l" rtl="0">
              <a:spcBef>
                <a:spcPts val="360"/>
              </a:spcBef>
              <a:spcAft>
                <a:spcPts val="0"/>
              </a:spcAft>
              <a:buClr>
                <a:schemeClr val="dk1"/>
              </a:buClr>
              <a:buSzPts val="1800"/>
              <a:buFont typeface="Arial"/>
              <a:buChar char="•"/>
            </a:pPr>
            <a:r>
              <a:rPr lang="en-US" sz="1800"/>
              <a:t>When we create variable in JS, the data type is automatically decided by the value we assign</a:t>
            </a:r>
            <a:endParaRPr/>
          </a:p>
          <a:p>
            <a:pPr marL="285750" lvl="0" indent="-285750" algn="l" rtl="0">
              <a:spcBef>
                <a:spcPts val="360"/>
              </a:spcBef>
              <a:spcAft>
                <a:spcPts val="0"/>
              </a:spcAft>
              <a:buClr>
                <a:schemeClr val="dk1"/>
              </a:buClr>
              <a:buSzPts val="1800"/>
              <a:buFont typeface="Arial"/>
              <a:buChar char="•"/>
            </a:pPr>
            <a:r>
              <a:rPr lang="en-US" sz="1800"/>
              <a:t>There is also an advance version of JS called as Type Script, there we need to put variable types.</a:t>
            </a:r>
            <a:endParaRPr/>
          </a:p>
          <a:p>
            <a:pPr marL="285750" lvl="0" indent="-285750" algn="l" rtl="0">
              <a:spcBef>
                <a:spcPts val="360"/>
              </a:spcBef>
              <a:spcAft>
                <a:spcPts val="0"/>
              </a:spcAft>
              <a:buClr>
                <a:schemeClr val="dk1"/>
              </a:buClr>
              <a:buSzPts val="1800"/>
              <a:buFont typeface="Arial"/>
              <a:buChar char="•"/>
            </a:pPr>
            <a:r>
              <a:rPr lang="en-US" sz="1800"/>
              <a:t>In JS, = is a assignment operator and == and === are comparison operators, == compare data, === compare data and data type.</a:t>
            </a:r>
            <a:endParaRPr/>
          </a:p>
          <a:p>
            <a:pPr marL="285750" lvl="0" indent="-285750" algn="l" rtl="0">
              <a:spcBef>
                <a:spcPts val="360"/>
              </a:spcBef>
              <a:spcAft>
                <a:spcPts val="0"/>
              </a:spcAft>
              <a:buClr>
                <a:schemeClr val="dk1"/>
              </a:buClr>
              <a:buSzPts val="1800"/>
              <a:buFont typeface="Arial"/>
              <a:buChar char="•"/>
            </a:pPr>
            <a:r>
              <a:rPr lang="en-US" sz="1800"/>
              <a:t>Double quote and single quote works same in JS like to define a string data</a:t>
            </a:r>
            <a:endParaRPr/>
          </a:p>
          <a:p>
            <a:pPr marL="285750" lvl="0" indent="-285750" algn="l" rtl="0">
              <a:spcBef>
                <a:spcPts val="360"/>
              </a:spcBef>
              <a:spcAft>
                <a:spcPts val="0"/>
              </a:spcAft>
              <a:buClr>
                <a:schemeClr val="dk1"/>
              </a:buClr>
              <a:buSzPts val="1800"/>
              <a:buFont typeface="Arial"/>
              <a:buChar char="•"/>
            </a:pPr>
            <a:r>
              <a:rPr lang="en-US" sz="1800"/>
              <a:t>Tilted quote will be used to combine string and variables with ${var}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28"/>
        <p:cNvGrpSpPr/>
        <p:nvPr/>
      </p:nvGrpSpPr>
      <p:grpSpPr>
        <a:xfrm>
          <a:off x="0" y="0"/>
          <a:ext cx="0" cy="0"/>
          <a:chOff x="0" y="0"/>
          <a:chExt cx="0" cy="0"/>
        </a:xfrm>
      </p:grpSpPr>
      <p:sp>
        <p:nvSpPr>
          <p:cNvPr id="1529" name="Google Shape;1529;p5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Variables</a:t>
            </a:r>
            <a:endParaRPr/>
          </a:p>
        </p:txBody>
      </p:sp>
      <p:sp>
        <p:nvSpPr>
          <p:cNvPr id="1530" name="Google Shape;1530;p54"/>
          <p:cNvSpPr/>
          <p:nvPr/>
        </p:nvSpPr>
        <p:spPr>
          <a:xfrm>
            <a:off x="405780" y="908720"/>
            <a:ext cx="3240360" cy="93610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Quattrocento Sans"/>
                <a:ea typeface="Quattrocento Sans"/>
                <a:cs typeface="Quattrocento Sans"/>
                <a:sym typeface="Quattrocento Sans"/>
              </a:rPr>
              <a:t>Scalar Variable</a:t>
            </a:r>
            <a:endParaRPr/>
          </a:p>
        </p:txBody>
      </p:sp>
      <p:sp>
        <p:nvSpPr>
          <p:cNvPr id="1531" name="Google Shape;1531;p54"/>
          <p:cNvSpPr txBox="1"/>
          <p:nvPr/>
        </p:nvSpPr>
        <p:spPr>
          <a:xfrm>
            <a:off x="405780" y="2060848"/>
            <a:ext cx="3744416" cy="101566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Hold single value at a time</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Assigning new value replace old one</a:t>
            </a:r>
            <a:endParaRPr/>
          </a:p>
        </p:txBody>
      </p:sp>
      <p:sp>
        <p:nvSpPr>
          <p:cNvPr id="1532" name="Google Shape;1532;p54"/>
          <p:cNvSpPr/>
          <p:nvPr/>
        </p:nvSpPr>
        <p:spPr>
          <a:xfrm>
            <a:off x="4294212" y="908720"/>
            <a:ext cx="3240360" cy="93610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Quattrocento Sans"/>
                <a:ea typeface="Quattrocento Sans"/>
                <a:cs typeface="Quattrocento Sans"/>
                <a:sym typeface="Quattrocento Sans"/>
              </a:rPr>
              <a:t>Arrays</a:t>
            </a:r>
            <a:endParaRPr/>
          </a:p>
        </p:txBody>
      </p:sp>
      <p:sp>
        <p:nvSpPr>
          <p:cNvPr id="1533" name="Google Shape;1533;p54"/>
          <p:cNvSpPr txBox="1"/>
          <p:nvPr/>
        </p:nvSpPr>
        <p:spPr>
          <a:xfrm>
            <a:off x="3970176" y="1844824"/>
            <a:ext cx="4248472" cy="1754326"/>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Array stores multiple values of mostly same data type</a:t>
            </a:r>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Use bracket symbol to create array [ ]</a:t>
            </a:r>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Each element inside array is referred using index, index starts with 0</a:t>
            </a:r>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We can also loop over an array</a:t>
            </a:r>
            <a:endParaRPr/>
          </a:p>
        </p:txBody>
      </p:sp>
      <p:sp>
        <p:nvSpPr>
          <p:cNvPr id="1534" name="Google Shape;1534;p54"/>
          <p:cNvSpPr txBox="1"/>
          <p:nvPr/>
        </p:nvSpPr>
        <p:spPr>
          <a:xfrm>
            <a:off x="178407" y="5290535"/>
            <a:ext cx="403245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 ) – parenthesis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 – curly braces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 – brackets</a:t>
            </a:r>
            <a:endParaRPr/>
          </a:p>
        </p:txBody>
      </p:sp>
      <p:sp>
        <p:nvSpPr>
          <p:cNvPr id="1535" name="Google Shape;1535;p54"/>
          <p:cNvSpPr/>
          <p:nvPr/>
        </p:nvSpPr>
        <p:spPr>
          <a:xfrm>
            <a:off x="8758708" y="899759"/>
            <a:ext cx="3240360" cy="93610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Quattrocento Sans"/>
                <a:ea typeface="Quattrocento Sans"/>
                <a:cs typeface="Quattrocento Sans"/>
                <a:sym typeface="Quattrocento Sans"/>
              </a:rPr>
              <a:t>Java Script Object Notation = JSON </a:t>
            </a:r>
            <a:endParaRPr/>
          </a:p>
        </p:txBody>
      </p:sp>
      <p:sp>
        <p:nvSpPr>
          <p:cNvPr id="1536" name="Google Shape;1536;p54"/>
          <p:cNvSpPr txBox="1"/>
          <p:nvPr/>
        </p:nvSpPr>
        <p:spPr>
          <a:xfrm>
            <a:off x="8110636" y="1825930"/>
            <a:ext cx="4248472" cy="3970318"/>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They contain data of different types</a:t>
            </a:r>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Light weight data format in JS</a:t>
            </a:r>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Typically represent a key value pair using curly braces {  }</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Syntax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key: value,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key: value,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key: value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You can validate json with </a:t>
            </a:r>
            <a:r>
              <a:rPr lang="en-US" sz="18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https://jsonlint.com</a:t>
            </a:r>
            <a:endParaRPr sz="18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41"/>
        <p:cNvGrpSpPr/>
        <p:nvPr/>
      </p:nvGrpSpPr>
      <p:grpSpPr>
        <a:xfrm>
          <a:off x="0" y="0"/>
          <a:ext cx="0" cy="0"/>
          <a:chOff x="0" y="0"/>
          <a:chExt cx="0" cy="0"/>
        </a:xfrm>
      </p:grpSpPr>
      <p:sp>
        <p:nvSpPr>
          <p:cNvPr id="1542" name="Google Shape;1542;p55"/>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Functions in JS</a:t>
            </a:r>
            <a:endParaRPr/>
          </a:p>
        </p:txBody>
      </p:sp>
      <p:sp>
        <p:nvSpPr>
          <p:cNvPr id="1543" name="Google Shape;1543;p55"/>
          <p:cNvSpPr txBox="1">
            <a:spLocks noGrp="1"/>
          </p:cNvSpPr>
          <p:nvPr>
            <p:ph type="body" idx="1"/>
          </p:nvPr>
        </p:nvSpPr>
        <p:spPr>
          <a:xfrm>
            <a:off x="368762" y="836712"/>
            <a:ext cx="11342274" cy="432048"/>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Block of code for reuse purpose, so you can call it again and again.</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p:txBody>
      </p:sp>
      <p:sp>
        <p:nvSpPr>
          <p:cNvPr id="1544" name="Google Shape;1544;p55"/>
          <p:cNvSpPr/>
          <p:nvPr/>
        </p:nvSpPr>
        <p:spPr>
          <a:xfrm>
            <a:off x="981844" y="1340768"/>
            <a:ext cx="3456384" cy="79208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Quattrocento Sans"/>
                <a:ea typeface="Quattrocento Sans"/>
                <a:cs typeface="Quattrocento Sans"/>
                <a:sym typeface="Quattrocento Sans"/>
              </a:rPr>
              <a:t>Anonymous function</a:t>
            </a:r>
            <a:endParaRPr/>
          </a:p>
        </p:txBody>
      </p:sp>
      <p:sp>
        <p:nvSpPr>
          <p:cNvPr id="1545" name="Google Shape;1545;p55"/>
          <p:cNvSpPr/>
          <p:nvPr/>
        </p:nvSpPr>
        <p:spPr>
          <a:xfrm>
            <a:off x="7598198" y="1325410"/>
            <a:ext cx="3456384" cy="79208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Quattrocento Sans"/>
                <a:ea typeface="Quattrocento Sans"/>
                <a:cs typeface="Quattrocento Sans"/>
                <a:sym typeface="Quattrocento Sans"/>
              </a:rPr>
              <a:t>Named Function</a:t>
            </a:r>
            <a:endParaRPr/>
          </a:p>
        </p:txBody>
      </p:sp>
      <p:sp>
        <p:nvSpPr>
          <p:cNvPr id="1546" name="Google Shape;1546;p55"/>
          <p:cNvSpPr txBox="1"/>
          <p:nvPr/>
        </p:nvSpPr>
        <p:spPr>
          <a:xfrm>
            <a:off x="297947" y="2258487"/>
            <a:ext cx="5220401" cy="4050833"/>
          </a:xfrm>
          <a:prstGeom prst="rect">
            <a:avLst/>
          </a:prstGeom>
          <a:noFill/>
          <a:ln>
            <a:noFill/>
          </a:ln>
        </p:spPr>
        <p:txBody>
          <a:bodyPr spcFirstLastPara="1" wrap="square" lIns="0" tIns="60925" rIns="0" bIns="60925" anchor="t" anchorCtr="0">
            <a:normAutofit/>
          </a:bodyPr>
          <a:lstStyle/>
          <a:p>
            <a:pPr marL="0" marR="0" lvl="0" indent="0" algn="l" rtl="0">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A function that does not have a name, we use them to pass a function inside the argument of another function.</a:t>
            </a:r>
            <a:endParaRPr/>
          </a:p>
          <a:p>
            <a:pPr marL="0" marR="0" lvl="0" indent="0" algn="l" rtl="0">
              <a:spcBef>
                <a:spcPts val="360"/>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0" marR="0" lvl="0" indent="0" algn="l" rtl="0">
              <a:spcBef>
                <a:spcPts val="360"/>
              </a:spcBef>
              <a:spcAft>
                <a:spcPts val="0"/>
              </a:spcAft>
              <a:buClr>
                <a:schemeClr val="dk1"/>
              </a:buClr>
              <a:buSzPts val="1800"/>
              <a:buFont typeface="Arial"/>
              <a:buNone/>
            </a:pPr>
            <a:r>
              <a:rPr lang="en-US" sz="1800" b="1" i="1">
                <a:solidFill>
                  <a:schemeClr val="dk1"/>
                </a:solidFill>
                <a:latin typeface="Arial"/>
                <a:ea typeface="Arial"/>
                <a:cs typeface="Arial"/>
                <a:sym typeface="Arial"/>
              </a:rPr>
              <a:t>function (p1, p2…) {</a:t>
            </a:r>
            <a:endParaRPr/>
          </a:p>
          <a:p>
            <a:pPr marL="0" marR="0" lvl="0" indent="0" algn="l" rtl="0">
              <a:spcBef>
                <a:spcPts val="360"/>
              </a:spcBef>
              <a:spcAft>
                <a:spcPts val="0"/>
              </a:spcAft>
              <a:buClr>
                <a:schemeClr val="dk1"/>
              </a:buClr>
              <a:buSzPts val="1800"/>
              <a:buFont typeface="Arial"/>
              <a:buNone/>
            </a:pPr>
            <a:endParaRPr sz="1800" b="1" i="1">
              <a:solidFill>
                <a:schemeClr val="dk1"/>
              </a:solidFill>
              <a:latin typeface="Arial"/>
              <a:ea typeface="Arial"/>
              <a:cs typeface="Arial"/>
              <a:sym typeface="Arial"/>
            </a:endParaRPr>
          </a:p>
          <a:p>
            <a:pPr marL="0" marR="0" lvl="0" indent="0" algn="l" rtl="0">
              <a:spcBef>
                <a:spcPts val="360"/>
              </a:spcBef>
              <a:spcAft>
                <a:spcPts val="0"/>
              </a:spcAft>
              <a:buClr>
                <a:schemeClr val="dk1"/>
              </a:buClr>
              <a:buSzPts val="1800"/>
              <a:buFont typeface="Arial"/>
              <a:buNone/>
            </a:pPr>
            <a:r>
              <a:rPr lang="en-US" sz="1800" b="1" i="1">
                <a:solidFill>
                  <a:schemeClr val="dk1"/>
                </a:solidFill>
                <a:latin typeface="Arial"/>
                <a:ea typeface="Arial"/>
                <a:cs typeface="Arial"/>
                <a:sym typeface="Arial"/>
              </a:rPr>
              <a:t>}</a:t>
            </a:r>
            <a:endParaRPr/>
          </a:p>
        </p:txBody>
      </p:sp>
      <p:sp>
        <p:nvSpPr>
          <p:cNvPr id="1547" name="Google Shape;1547;p55"/>
          <p:cNvSpPr txBox="1"/>
          <p:nvPr/>
        </p:nvSpPr>
        <p:spPr>
          <a:xfrm>
            <a:off x="6693215" y="2233768"/>
            <a:ext cx="5220401" cy="4291576"/>
          </a:xfrm>
          <a:prstGeom prst="rect">
            <a:avLst/>
          </a:prstGeom>
          <a:noFill/>
          <a:ln>
            <a:noFill/>
          </a:ln>
        </p:spPr>
        <p:txBody>
          <a:bodyPr spcFirstLastPara="1" wrap="square" lIns="0" tIns="60925" rIns="0" bIns="60925" anchor="t" anchorCtr="0">
            <a:normAutofit/>
          </a:bodyPr>
          <a:lstStyle/>
          <a:p>
            <a:pPr marL="0" marR="0" lvl="0" indent="0" algn="l" rtl="0">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Reusable functions that can be called again and again.</a:t>
            </a:r>
            <a:endParaRPr/>
          </a:p>
          <a:p>
            <a:pPr marL="0" marR="0" lvl="0" indent="0" algn="l" rtl="0">
              <a:spcBef>
                <a:spcPts val="360"/>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0" marR="0" lvl="0" indent="0" algn="l" rtl="0">
              <a:spcBef>
                <a:spcPts val="360"/>
              </a:spcBef>
              <a:spcAft>
                <a:spcPts val="0"/>
              </a:spcAft>
              <a:buClr>
                <a:schemeClr val="dk1"/>
              </a:buClr>
              <a:buSzPts val="1800"/>
              <a:buFont typeface="Arial"/>
              <a:buNone/>
            </a:pPr>
            <a:r>
              <a:rPr lang="en-US" sz="1800" b="1" i="1">
                <a:solidFill>
                  <a:schemeClr val="dk1"/>
                </a:solidFill>
                <a:latin typeface="Arial"/>
                <a:ea typeface="Arial"/>
                <a:cs typeface="Arial"/>
                <a:sym typeface="Arial"/>
              </a:rPr>
              <a:t>function </a:t>
            </a:r>
            <a:r>
              <a:rPr lang="en-US" sz="1800" b="1" i="1">
                <a:solidFill>
                  <a:schemeClr val="dk1"/>
                </a:solidFill>
                <a:highlight>
                  <a:srgbClr val="FFFF00"/>
                </a:highlight>
                <a:latin typeface="Arial"/>
                <a:ea typeface="Arial"/>
                <a:cs typeface="Arial"/>
                <a:sym typeface="Arial"/>
              </a:rPr>
              <a:t>functionName</a:t>
            </a:r>
            <a:r>
              <a:rPr lang="en-US" sz="1800" b="1" i="1">
                <a:solidFill>
                  <a:schemeClr val="dk1"/>
                </a:solidFill>
                <a:latin typeface="Arial"/>
                <a:ea typeface="Arial"/>
                <a:cs typeface="Arial"/>
                <a:sym typeface="Arial"/>
              </a:rPr>
              <a:t>(p1,p2…){</a:t>
            </a:r>
            <a:endParaRPr/>
          </a:p>
          <a:p>
            <a:pPr marL="0" marR="0" lvl="0" indent="0" algn="l" rtl="0">
              <a:spcBef>
                <a:spcPts val="360"/>
              </a:spcBef>
              <a:spcAft>
                <a:spcPts val="0"/>
              </a:spcAft>
              <a:buClr>
                <a:schemeClr val="dk1"/>
              </a:buClr>
              <a:buSzPts val="1800"/>
              <a:buFont typeface="Arial"/>
              <a:buNone/>
            </a:pPr>
            <a:endParaRPr sz="1800" b="1" i="1">
              <a:solidFill>
                <a:schemeClr val="dk1"/>
              </a:solidFill>
              <a:latin typeface="Arial"/>
              <a:ea typeface="Arial"/>
              <a:cs typeface="Arial"/>
              <a:sym typeface="Arial"/>
            </a:endParaRPr>
          </a:p>
          <a:p>
            <a:pPr marL="0" marR="0" lvl="0" indent="0" algn="l" rtl="0">
              <a:spcBef>
                <a:spcPts val="360"/>
              </a:spcBef>
              <a:spcAft>
                <a:spcPts val="0"/>
              </a:spcAft>
              <a:buClr>
                <a:schemeClr val="dk1"/>
              </a:buClr>
              <a:buSzPts val="1800"/>
              <a:buFont typeface="Arial"/>
              <a:buNone/>
            </a:pPr>
            <a:r>
              <a:rPr lang="en-US" sz="1800" b="1" i="1">
                <a:solidFill>
                  <a:schemeClr val="dk1"/>
                </a:solidFill>
                <a:latin typeface="Arial"/>
                <a:ea typeface="Arial"/>
                <a:cs typeface="Arial"/>
                <a:sym typeface="Arial"/>
              </a:rPr>
              <a:t>}</a:t>
            </a:r>
            <a:endParaRPr/>
          </a:p>
        </p:txBody>
      </p:sp>
      <p:sp>
        <p:nvSpPr>
          <p:cNvPr id="1548" name="Google Shape;1548;p55"/>
          <p:cNvSpPr txBox="1"/>
          <p:nvPr/>
        </p:nvSpPr>
        <p:spPr>
          <a:xfrm>
            <a:off x="117748" y="4941168"/>
            <a:ext cx="609391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Quattrocento Sans"/>
                <a:ea typeface="Quattrocento Sans"/>
                <a:cs typeface="Quattrocento Sans"/>
                <a:sym typeface="Quattrocento Sans"/>
              </a:rPr>
              <a:t>https://www.w3schools.com/js/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53"/>
        <p:cNvGrpSpPr/>
        <p:nvPr/>
      </p:nvGrpSpPr>
      <p:grpSpPr>
        <a:xfrm>
          <a:off x="0" y="0"/>
          <a:ext cx="0" cy="0"/>
          <a:chOff x="0" y="0"/>
          <a:chExt cx="0" cy="0"/>
        </a:xfrm>
      </p:grpSpPr>
      <p:sp>
        <p:nvSpPr>
          <p:cNvPr id="1554" name="Google Shape;1554;p56"/>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Module in Node js</a:t>
            </a:r>
            <a:endParaRPr/>
          </a:p>
        </p:txBody>
      </p:sp>
      <p:sp>
        <p:nvSpPr>
          <p:cNvPr id="1555" name="Google Shape;1555;p56"/>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A reusable JS file which is either created by ourself (util/reuse.js) OR a standard module provided by node js , automatically installed along with it. E.g.util, fs, events etc.</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5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Asynchronous Non Blocking IO</a:t>
            </a:r>
            <a:endParaRPr/>
          </a:p>
        </p:txBody>
      </p:sp>
      <p:sp>
        <p:nvSpPr>
          <p:cNvPr id="1562" name="Google Shape;1562;p57"/>
          <p:cNvSpPr/>
          <p:nvPr/>
        </p:nvSpPr>
        <p:spPr>
          <a:xfrm>
            <a:off x="981844" y="711081"/>
            <a:ext cx="720080" cy="711081"/>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563" name="Google Shape;1563;p57"/>
          <p:cNvSpPr/>
          <p:nvPr/>
        </p:nvSpPr>
        <p:spPr>
          <a:xfrm>
            <a:off x="3358108" y="711081"/>
            <a:ext cx="2232248" cy="711081"/>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Facebook</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(browser)</a:t>
            </a:r>
            <a:endParaRPr/>
          </a:p>
        </p:txBody>
      </p:sp>
      <p:sp>
        <p:nvSpPr>
          <p:cNvPr id="1564" name="Google Shape;1564;p57"/>
          <p:cNvSpPr/>
          <p:nvPr/>
        </p:nvSpPr>
        <p:spPr>
          <a:xfrm>
            <a:off x="7462564" y="711081"/>
            <a:ext cx="2232248" cy="711081"/>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Server</a:t>
            </a:r>
            <a:endParaRPr/>
          </a:p>
        </p:txBody>
      </p:sp>
      <p:cxnSp>
        <p:nvCxnSpPr>
          <p:cNvPr id="1565" name="Google Shape;1565;p57"/>
          <p:cNvCxnSpPr>
            <a:stCxn id="1562" idx="4"/>
          </p:cNvCxnSpPr>
          <p:nvPr/>
        </p:nvCxnSpPr>
        <p:spPr>
          <a:xfrm>
            <a:off x="1341884" y="1422162"/>
            <a:ext cx="0" cy="5391300"/>
          </a:xfrm>
          <a:prstGeom prst="straightConnector1">
            <a:avLst/>
          </a:prstGeom>
          <a:noFill/>
          <a:ln w="9525" cap="flat" cmpd="sng">
            <a:solidFill>
              <a:srgbClr val="FE421C"/>
            </a:solidFill>
            <a:prstDash val="dashDot"/>
            <a:round/>
            <a:headEnd type="none" w="sm" len="sm"/>
            <a:tailEnd type="none" w="sm" len="sm"/>
          </a:ln>
        </p:spPr>
      </p:cxnSp>
      <p:cxnSp>
        <p:nvCxnSpPr>
          <p:cNvPr id="1566" name="Google Shape;1566;p57"/>
          <p:cNvCxnSpPr/>
          <p:nvPr/>
        </p:nvCxnSpPr>
        <p:spPr>
          <a:xfrm>
            <a:off x="4421552" y="1422162"/>
            <a:ext cx="0" cy="5391214"/>
          </a:xfrm>
          <a:prstGeom prst="straightConnector1">
            <a:avLst/>
          </a:prstGeom>
          <a:noFill/>
          <a:ln w="9525" cap="flat" cmpd="sng">
            <a:solidFill>
              <a:srgbClr val="FE421C"/>
            </a:solidFill>
            <a:prstDash val="dashDot"/>
            <a:round/>
            <a:headEnd type="none" w="sm" len="sm"/>
            <a:tailEnd type="none" w="sm" len="sm"/>
          </a:ln>
        </p:spPr>
      </p:cxnSp>
      <p:cxnSp>
        <p:nvCxnSpPr>
          <p:cNvPr id="1567" name="Google Shape;1567;p57"/>
          <p:cNvCxnSpPr/>
          <p:nvPr/>
        </p:nvCxnSpPr>
        <p:spPr>
          <a:xfrm>
            <a:off x="8578688" y="1340768"/>
            <a:ext cx="0" cy="5391214"/>
          </a:xfrm>
          <a:prstGeom prst="straightConnector1">
            <a:avLst/>
          </a:prstGeom>
          <a:noFill/>
          <a:ln w="9525" cap="flat" cmpd="sng">
            <a:solidFill>
              <a:srgbClr val="FE421C"/>
            </a:solidFill>
            <a:prstDash val="dashDot"/>
            <a:round/>
            <a:headEnd type="none" w="sm" len="sm"/>
            <a:tailEnd type="none" w="sm" len="sm"/>
          </a:ln>
        </p:spPr>
      </p:cxnSp>
      <p:cxnSp>
        <p:nvCxnSpPr>
          <p:cNvPr id="1568" name="Google Shape;1568;p57"/>
          <p:cNvCxnSpPr/>
          <p:nvPr/>
        </p:nvCxnSpPr>
        <p:spPr>
          <a:xfrm>
            <a:off x="1341884" y="1700808"/>
            <a:ext cx="3024336" cy="0"/>
          </a:xfrm>
          <a:prstGeom prst="straightConnector1">
            <a:avLst/>
          </a:prstGeom>
          <a:noFill/>
          <a:ln w="9525" cap="flat" cmpd="sng">
            <a:solidFill>
              <a:srgbClr val="FE421C"/>
            </a:solidFill>
            <a:prstDash val="solid"/>
            <a:round/>
            <a:headEnd type="none" w="sm" len="sm"/>
            <a:tailEnd type="triangle" w="med" len="med"/>
          </a:ln>
        </p:spPr>
      </p:cxnSp>
      <p:sp>
        <p:nvSpPr>
          <p:cNvPr id="1569" name="Google Shape;1569;p57"/>
          <p:cNvSpPr/>
          <p:nvPr/>
        </p:nvSpPr>
        <p:spPr>
          <a:xfrm>
            <a:off x="4366220" y="1700808"/>
            <a:ext cx="110651" cy="93610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570" name="Google Shape;1570;p57"/>
          <p:cNvCxnSpPr/>
          <p:nvPr/>
        </p:nvCxnSpPr>
        <p:spPr>
          <a:xfrm>
            <a:off x="4476871" y="1988840"/>
            <a:ext cx="4101817" cy="0"/>
          </a:xfrm>
          <a:prstGeom prst="straightConnector1">
            <a:avLst/>
          </a:prstGeom>
          <a:noFill/>
          <a:ln w="9525" cap="flat" cmpd="sng">
            <a:solidFill>
              <a:srgbClr val="FE421C"/>
            </a:solidFill>
            <a:prstDash val="solid"/>
            <a:round/>
            <a:headEnd type="none" w="sm" len="sm"/>
            <a:tailEnd type="triangle" w="med" len="med"/>
          </a:ln>
        </p:spPr>
      </p:cxnSp>
      <p:sp>
        <p:nvSpPr>
          <p:cNvPr id="1571" name="Google Shape;1571;p57"/>
          <p:cNvSpPr/>
          <p:nvPr/>
        </p:nvSpPr>
        <p:spPr>
          <a:xfrm>
            <a:off x="8578688" y="1988840"/>
            <a:ext cx="108002" cy="288031"/>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572" name="Google Shape;1572;p57"/>
          <p:cNvCxnSpPr>
            <a:stCxn id="1571" idx="2"/>
          </p:cNvCxnSpPr>
          <p:nvPr/>
        </p:nvCxnSpPr>
        <p:spPr>
          <a:xfrm rot="10800000">
            <a:off x="4476789" y="2276871"/>
            <a:ext cx="4155900" cy="0"/>
          </a:xfrm>
          <a:prstGeom prst="straightConnector1">
            <a:avLst/>
          </a:prstGeom>
          <a:noFill/>
          <a:ln w="9525" cap="flat" cmpd="sng">
            <a:solidFill>
              <a:srgbClr val="FE421C"/>
            </a:solidFill>
            <a:prstDash val="solid"/>
            <a:round/>
            <a:headEnd type="none" w="sm" len="sm"/>
            <a:tailEnd type="triangle" w="med" len="med"/>
          </a:ln>
        </p:spPr>
      </p:cxnSp>
      <p:cxnSp>
        <p:nvCxnSpPr>
          <p:cNvPr id="1573" name="Google Shape;1573;p57"/>
          <p:cNvCxnSpPr>
            <a:stCxn id="1569" idx="2"/>
          </p:cNvCxnSpPr>
          <p:nvPr/>
        </p:nvCxnSpPr>
        <p:spPr>
          <a:xfrm rot="10800000">
            <a:off x="1341746" y="2636912"/>
            <a:ext cx="3079800" cy="0"/>
          </a:xfrm>
          <a:prstGeom prst="straightConnector1">
            <a:avLst/>
          </a:prstGeom>
          <a:noFill/>
          <a:ln w="9525" cap="flat" cmpd="sng">
            <a:solidFill>
              <a:srgbClr val="FE421C"/>
            </a:solidFill>
            <a:prstDash val="solid"/>
            <a:round/>
            <a:headEnd type="none" w="sm" len="sm"/>
            <a:tailEnd type="triangle" w="med" len="med"/>
          </a:ln>
        </p:spPr>
      </p:cxnSp>
      <p:sp>
        <p:nvSpPr>
          <p:cNvPr id="1574" name="Google Shape;1574;p57"/>
          <p:cNvSpPr txBox="1"/>
          <p:nvPr/>
        </p:nvSpPr>
        <p:spPr>
          <a:xfrm>
            <a:off x="8758708" y="1840467"/>
            <a:ext cx="309634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Quattrocento Sans"/>
                <a:ea typeface="Quattrocento Sans"/>
                <a:cs typeface="Quattrocento Sans"/>
                <a:sym typeface="Quattrocento Sans"/>
              </a:rPr>
              <a:t>Synchronous – User is blocked</a:t>
            </a:r>
            <a:endParaRPr/>
          </a:p>
          <a:p>
            <a:pPr marL="0" marR="0" lvl="0" indent="0" algn="l" rtl="0">
              <a:spcBef>
                <a:spcPts val="0"/>
              </a:spcBef>
              <a:spcAft>
                <a:spcPts val="0"/>
              </a:spcAft>
              <a:buNone/>
            </a:pPr>
            <a:r>
              <a:rPr lang="en-US" sz="1600">
                <a:solidFill>
                  <a:schemeClr val="dk1"/>
                </a:solidFill>
                <a:latin typeface="Quattrocento Sans"/>
                <a:ea typeface="Quattrocento Sans"/>
                <a:cs typeface="Quattrocento Sans"/>
                <a:sym typeface="Quattrocento Sans"/>
              </a:rPr>
              <a:t>ABAP, Java, Python</a:t>
            </a:r>
            <a:endParaRPr/>
          </a:p>
        </p:txBody>
      </p:sp>
      <p:sp>
        <p:nvSpPr>
          <p:cNvPr id="1575" name="Google Shape;1575;p57"/>
          <p:cNvSpPr/>
          <p:nvPr/>
        </p:nvSpPr>
        <p:spPr>
          <a:xfrm>
            <a:off x="1092510" y="1943513"/>
            <a:ext cx="465398" cy="471807"/>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576" name="Google Shape;1576;p57"/>
          <p:cNvCxnSpPr/>
          <p:nvPr/>
        </p:nvCxnSpPr>
        <p:spPr>
          <a:xfrm>
            <a:off x="1369547" y="3284984"/>
            <a:ext cx="3024336" cy="0"/>
          </a:xfrm>
          <a:prstGeom prst="straightConnector1">
            <a:avLst/>
          </a:prstGeom>
          <a:noFill/>
          <a:ln w="9525" cap="flat" cmpd="sng">
            <a:solidFill>
              <a:srgbClr val="FE421C"/>
            </a:solidFill>
            <a:prstDash val="solid"/>
            <a:round/>
            <a:headEnd type="none" w="sm" len="sm"/>
            <a:tailEnd type="triangle" w="med" len="med"/>
          </a:ln>
        </p:spPr>
      </p:cxnSp>
      <p:sp>
        <p:nvSpPr>
          <p:cNvPr id="1577" name="Google Shape;1577;p57"/>
          <p:cNvSpPr/>
          <p:nvPr/>
        </p:nvSpPr>
        <p:spPr>
          <a:xfrm>
            <a:off x="4392558" y="3280292"/>
            <a:ext cx="110651" cy="93610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578" name="Google Shape;1578;p57"/>
          <p:cNvCxnSpPr/>
          <p:nvPr/>
        </p:nvCxnSpPr>
        <p:spPr>
          <a:xfrm>
            <a:off x="4447883" y="3716318"/>
            <a:ext cx="4101817" cy="0"/>
          </a:xfrm>
          <a:prstGeom prst="straightConnector1">
            <a:avLst/>
          </a:prstGeom>
          <a:noFill/>
          <a:ln w="9525" cap="flat" cmpd="sng">
            <a:solidFill>
              <a:srgbClr val="FE421C"/>
            </a:solidFill>
            <a:prstDash val="solid"/>
            <a:round/>
            <a:headEnd type="none" w="sm" len="sm"/>
            <a:tailEnd type="triangle" w="med" len="med"/>
          </a:ln>
        </p:spPr>
      </p:cxnSp>
      <p:sp>
        <p:nvSpPr>
          <p:cNvPr id="1579" name="Google Shape;1579;p57"/>
          <p:cNvSpPr/>
          <p:nvPr/>
        </p:nvSpPr>
        <p:spPr>
          <a:xfrm>
            <a:off x="8578688" y="3716318"/>
            <a:ext cx="81656" cy="1439443"/>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580" name="Google Shape;1580;p57"/>
          <p:cNvCxnSpPr>
            <a:stCxn id="1577" idx="2"/>
          </p:cNvCxnSpPr>
          <p:nvPr/>
        </p:nvCxnSpPr>
        <p:spPr>
          <a:xfrm rot="10800000">
            <a:off x="1341983" y="4216396"/>
            <a:ext cx="3105900" cy="0"/>
          </a:xfrm>
          <a:prstGeom prst="straightConnector1">
            <a:avLst/>
          </a:prstGeom>
          <a:noFill/>
          <a:ln w="9525" cap="flat" cmpd="sng">
            <a:solidFill>
              <a:srgbClr val="FE421C"/>
            </a:solidFill>
            <a:prstDash val="solid"/>
            <a:round/>
            <a:headEnd type="none" w="sm" len="sm"/>
            <a:tailEnd type="triangle" w="med" len="med"/>
          </a:ln>
        </p:spPr>
      </p:cxnSp>
      <p:sp>
        <p:nvSpPr>
          <p:cNvPr id="1581" name="Google Shape;1581;p57"/>
          <p:cNvSpPr/>
          <p:nvPr/>
        </p:nvSpPr>
        <p:spPr>
          <a:xfrm>
            <a:off x="768485" y="4454644"/>
            <a:ext cx="465398" cy="471807"/>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582" name="Google Shape;1582;p57"/>
          <p:cNvSpPr txBox="1"/>
          <p:nvPr/>
        </p:nvSpPr>
        <p:spPr>
          <a:xfrm>
            <a:off x="8830716" y="4105772"/>
            <a:ext cx="309634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ASynchronous –</a:t>
            </a:r>
            <a:endParaRPr/>
          </a:p>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Non Blocking IO</a:t>
            </a:r>
            <a:endParaRPr/>
          </a:p>
        </p:txBody>
      </p:sp>
      <p:sp>
        <p:nvSpPr>
          <p:cNvPr id="1583" name="Google Shape;1583;p57"/>
          <p:cNvSpPr/>
          <p:nvPr/>
        </p:nvSpPr>
        <p:spPr>
          <a:xfrm>
            <a:off x="4228829" y="5154848"/>
            <a:ext cx="354756" cy="720075"/>
          </a:xfrm>
          <a:prstGeom prst="rect">
            <a:avLst/>
          </a:prstGeom>
          <a:solidFill>
            <a:schemeClr val="accent3"/>
          </a:solidFill>
          <a:ln w="25400" cap="flat" cmpd="sng">
            <a:solidFill>
              <a:srgbClr val="3A4D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584" name="Google Shape;1584;p57"/>
          <p:cNvCxnSpPr>
            <a:stCxn id="1579" idx="2"/>
          </p:cNvCxnSpPr>
          <p:nvPr/>
        </p:nvCxnSpPr>
        <p:spPr>
          <a:xfrm rot="10800000">
            <a:off x="4583616" y="5154861"/>
            <a:ext cx="4035900" cy="900"/>
          </a:xfrm>
          <a:prstGeom prst="straightConnector1">
            <a:avLst/>
          </a:prstGeom>
          <a:noFill/>
          <a:ln w="9525" cap="flat" cmpd="sng">
            <a:solidFill>
              <a:srgbClr val="FE421C"/>
            </a:solidFill>
            <a:prstDash val="solid"/>
            <a:round/>
            <a:headEnd type="none" w="sm" len="sm"/>
            <a:tailEnd type="triangle" w="med" len="med"/>
          </a:ln>
        </p:spPr>
      </p:cxnSp>
      <p:cxnSp>
        <p:nvCxnSpPr>
          <p:cNvPr id="1585" name="Google Shape;1585;p57"/>
          <p:cNvCxnSpPr/>
          <p:nvPr/>
        </p:nvCxnSpPr>
        <p:spPr>
          <a:xfrm flipH="1">
            <a:off x="1325209" y="5866842"/>
            <a:ext cx="2969003" cy="7168"/>
          </a:xfrm>
          <a:prstGeom prst="straightConnector1">
            <a:avLst/>
          </a:prstGeom>
          <a:noFill/>
          <a:ln w="9525" cap="flat" cmpd="sng">
            <a:solidFill>
              <a:srgbClr val="FE421C"/>
            </a:solidFill>
            <a:prstDash val="solid"/>
            <a:round/>
            <a:headEnd type="none" w="sm" len="sm"/>
            <a:tailEnd type="triangle" w="med" len="med"/>
          </a:ln>
        </p:spPr>
      </p:cxnSp>
      <p:sp>
        <p:nvSpPr>
          <p:cNvPr id="1586" name="Google Shape;1586;p57"/>
          <p:cNvSpPr txBox="1"/>
          <p:nvPr/>
        </p:nvSpPr>
        <p:spPr>
          <a:xfrm>
            <a:off x="4654252" y="5229200"/>
            <a:ext cx="2628292" cy="58477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600"/>
              <a:buFont typeface="Quattrocento Sans"/>
              <a:buAutoNum type="arabicPeriod"/>
            </a:pPr>
            <a:r>
              <a:rPr lang="en-US" sz="1600" b="1">
                <a:solidFill>
                  <a:schemeClr val="dk1"/>
                </a:solidFill>
                <a:latin typeface="Quattrocento Sans"/>
                <a:ea typeface="Quattrocento Sans"/>
                <a:cs typeface="Quattrocento Sans"/>
                <a:sym typeface="Quattrocento Sans"/>
              </a:rPr>
              <a:t>Callback function</a:t>
            </a:r>
            <a:endParaRPr/>
          </a:p>
          <a:p>
            <a:pPr marL="342900" marR="0" lvl="0" indent="-342900" algn="l" rtl="0">
              <a:spcBef>
                <a:spcPts val="0"/>
              </a:spcBef>
              <a:spcAft>
                <a:spcPts val="0"/>
              </a:spcAft>
              <a:buClr>
                <a:schemeClr val="dk1"/>
              </a:buClr>
              <a:buSzPts val="1600"/>
              <a:buFont typeface="Quattrocento Sans"/>
              <a:buAutoNum type="arabicPeriod"/>
            </a:pPr>
            <a:r>
              <a:rPr lang="en-US" sz="1600" b="1">
                <a:solidFill>
                  <a:schemeClr val="dk1"/>
                </a:solidFill>
                <a:latin typeface="Quattrocento Sans"/>
                <a:ea typeface="Quattrocento Sans"/>
                <a:cs typeface="Quattrocento Sans"/>
                <a:sym typeface="Quattrocento Sans"/>
              </a:rPr>
              <a:t>Promise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91"/>
        <p:cNvGrpSpPr/>
        <p:nvPr/>
      </p:nvGrpSpPr>
      <p:grpSpPr>
        <a:xfrm>
          <a:off x="0" y="0"/>
          <a:ext cx="0" cy="0"/>
          <a:chOff x="0" y="0"/>
          <a:chExt cx="0" cy="0"/>
        </a:xfrm>
      </p:grpSpPr>
      <p:sp>
        <p:nvSpPr>
          <p:cNvPr id="1592" name="Google Shape;1592;p5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Promises in JS</a:t>
            </a:r>
            <a:endParaRPr/>
          </a:p>
        </p:txBody>
      </p:sp>
      <p:sp>
        <p:nvSpPr>
          <p:cNvPr id="1593" name="Google Shape;1593;p58"/>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Promises are like real life promise</a:t>
            </a:r>
            <a:endParaRPr/>
          </a:p>
          <a:p>
            <a:pPr marL="0" lvl="0" indent="0" algn="l" rtl="0">
              <a:spcBef>
                <a:spcPts val="360"/>
              </a:spcBef>
              <a:spcAft>
                <a:spcPts val="0"/>
              </a:spcAft>
              <a:buClr>
                <a:schemeClr val="dk1"/>
              </a:buClr>
              <a:buSzPts val="1800"/>
              <a:buNone/>
            </a:pPr>
            <a:r>
              <a:rPr lang="en-US" sz="1800"/>
              <a:t>A promise is fulfilled – resolve – HANDLER - then</a:t>
            </a:r>
            <a:endParaRPr/>
          </a:p>
          <a:p>
            <a:pPr marL="0" lvl="0" indent="0" algn="l" rtl="0">
              <a:spcBef>
                <a:spcPts val="360"/>
              </a:spcBef>
              <a:spcAft>
                <a:spcPts val="0"/>
              </a:spcAft>
              <a:buClr>
                <a:schemeClr val="dk1"/>
              </a:buClr>
              <a:buSzPts val="1800"/>
              <a:buNone/>
            </a:pPr>
            <a:r>
              <a:rPr lang="en-US" sz="1800"/>
              <a:t>A promise is rejected – reject – HANDLER – catch</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Promise offers additional capability to allow developers to run both sync and async</a:t>
            </a:r>
            <a:endParaRPr/>
          </a:p>
          <a:p>
            <a:pPr marL="0" lvl="0" indent="0" algn="l" rtl="0">
              <a:spcBef>
                <a:spcPts val="360"/>
              </a:spcBef>
              <a:spcAft>
                <a:spcPts val="0"/>
              </a:spcAft>
              <a:buClr>
                <a:schemeClr val="dk1"/>
              </a:buClr>
              <a:buSzPts val="1800"/>
              <a:buNone/>
            </a:pPr>
            <a:endParaRPr sz="1800"/>
          </a:p>
          <a:p>
            <a:pPr marL="285750" lvl="0" indent="-285750" algn="l" rtl="0">
              <a:spcBef>
                <a:spcPts val="360"/>
              </a:spcBef>
              <a:spcAft>
                <a:spcPts val="0"/>
              </a:spcAft>
              <a:buClr>
                <a:schemeClr val="dk1"/>
              </a:buClr>
              <a:buSzPts val="1800"/>
              <a:buFont typeface="Noto Sans Symbols"/>
              <a:buChar char="🡺"/>
            </a:pPr>
            <a:r>
              <a:rPr lang="en-US" sz="1800"/>
              <a:t>Whatever your asyc logic is, you need tie it with a promise</a:t>
            </a:r>
            <a:endParaRPr/>
          </a:p>
          <a:p>
            <a:pPr marL="285750" lvl="0" indent="-285750" algn="l" rtl="0">
              <a:spcBef>
                <a:spcPts val="360"/>
              </a:spcBef>
              <a:spcAft>
                <a:spcPts val="0"/>
              </a:spcAft>
              <a:buClr>
                <a:schemeClr val="dk1"/>
              </a:buClr>
              <a:buSzPts val="1800"/>
              <a:buFont typeface="Noto Sans Symbols"/>
              <a:buChar char="🡺"/>
            </a:pPr>
            <a:r>
              <a:rPr lang="en-US" sz="1800"/>
              <a:t>Create a wrapper function over the promise – can be called both sync (</a:t>
            </a:r>
            <a:r>
              <a:rPr lang="en-US" sz="1800" b="1"/>
              <a:t>async…await)</a:t>
            </a:r>
            <a:r>
              <a:rPr lang="en-US" sz="1800"/>
              <a:t> or asyc</a:t>
            </a:r>
            <a:endParaRPr sz="1800"/>
          </a:p>
          <a:p>
            <a:pPr marL="285750" lvl="0" indent="-285750" algn="l" rtl="0">
              <a:spcBef>
                <a:spcPts val="360"/>
              </a:spcBef>
              <a:spcAft>
                <a:spcPts val="0"/>
              </a:spcAft>
              <a:buClr>
                <a:schemeClr val="dk1"/>
              </a:buClr>
              <a:buSzPts val="1800"/>
              <a:buFont typeface="Noto Sans Symbols"/>
              <a:buChar char="🡺"/>
            </a:pPr>
            <a:r>
              <a:rPr lang="en-US" sz="1800"/>
              <a:t>Create your mail logic code to call the promised function</a:t>
            </a:r>
            <a:endParaRPr sz="1800"/>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98"/>
        <p:cNvGrpSpPr/>
        <p:nvPr/>
      </p:nvGrpSpPr>
      <p:grpSpPr>
        <a:xfrm>
          <a:off x="0" y="0"/>
          <a:ext cx="0" cy="0"/>
          <a:chOff x="0" y="0"/>
          <a:chExt cx="0" cy="0"/>
        </a:xfrm>
      </p:grpSpPr>
      <p:sp>
        <p:nvSpPr>
          <p:cNvPr id="1599" name="Google Shape;1599;p5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How to start a real time node app</a:t>
            </a:r>
            <a:endParaRPr/>
          </a:p>
        </p:txBody>
      </p:sp>
      <p:sp>
        <p:nvSpPr>
          <p:cNvPr id="1600" name="Google Shape;1600;p59"/>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342900" lvl="0" indent="-342900" algn="l" rtl="0">
              <a:spcBef>
                <a:spcPts val="0"/>
              </a:spcBef>
              <a:spcAft>
                <a:spcPts val="0"/>
              </a:spcAft>
              <a:buClr>
                <a:schemeClr val="dk1"/>
              </a:buClr>
              <a:buSzPts val="1800"/>
              <a:buFont typeface="Calibri"/>
              <a:buAutoNum type="arabicPeriod"/>
            </a:pPr>
            <a:r>
              <a:rPr lang="en-US" sz="1800"/>
              <a:t>Create a project folder and run a command called </a:t>
            </a:r>
            <a:r>
              <a:rPr lang="en-US" sz="1800" b="1"/>
              <a:t>npm init </a:t>
            </a:r>
            <a:r>
              <a:rPr lang="en-US" sz="1800"/>
              <a:t>it will initialize our node project by asking questions like name, version, license, author, purpose, dependencies</a:t>
            </a:r>
            <a:endParaRPr/>
          </a:p>
          <a:p>
            <a:pPr marL="342900" lvl="0" indent="-342900" algn="l" rtl="0">
              <a:spcBef>
                <a:spcPts val="360"/>
              </a:spcBef>
              <a:spcAft>
                <a:spcPts val="0"/>
              </a:spcAft>
              <a:buClr>
                <a:schemeClr val="dk1"/>
              </a:buClr>
              <a:buSzPts val="1800"/>
              <a:buFont typeface="Calibri"/>
              <a:buAutoNum type="arabicPeriod"/>
            </a:pPr>
            <a:r>
              <a:rPr lang="en-US" sz="1800"/>
              <a:t>System will create a file called </a:t>
            </a:r>
            <a:r>
              <a:rPr lang="en-US" sz="1800" b="1"/>
              <a:t>package.json</a:t>
            </a:r>
            <a:r>
              <a:rPr lang="en-US" sz="1800"/>
              <a:t> which will contain all the details of our node application</a:t>
            </a:r>
            <a:endParaRPr/>
          </a:p>
          <a:p>
            <a:pPr marL="342900" lvl="0" indent="-342900" algn="l" rtl="0">
              <a:spcBef>
                <a:spcPts val="360"/>
              </a:spcBef>
              <a:spcAft>
                <a:spcPts val="0"/>
              </a:spcAft>
              <a:buClr>
                <a:schemeClr val="dk1"/>
              </a:buClr>
              <a:buSzPts val="1800"/>
              <a:buFont typeface="Calibri"/>
              <a:buAutoNum type="arabicPeriod"/>
            </a:pPr>
            <a:r>
              <a:rPr lang="en-US" sz="1800"/>
              <a:t>NPM – Node Package Manager – is like a hotel manager which takes of all the dependencies for us related to the project. When we build a software, we are living in 21</a:t>
            </a:r>
            <a:r>
              <a:rPr lang="en-US" sz="1800" baseline="30000"/>
              <a:t>st</a:t>
            </a:r>
            <a:r>
              <a:rPr lang="en-US" sz="1800"/>
              <a:t> century, the time is gone when you write every piece of code yourself. It’s a time when all kinds of code is already built by people, you just need to find the right code, use it, plug it and develop on top of it. DO NOT REINVET the WHEEL. </a:t>
            </a:r>
            <a:endParaRPr/>
          </a:p>
          <a:p>
            <a:pPr marL="0" lvl="0" indent="0" algn="l" rtl="0">
              <a:spcBef>
                <a:spcPts val="360"/>
              </a:spcBef>
              <a:spcAft>
                <a:spcPts val="0"/>
              </a:spcAft>
              <a:buClr>
                <a:schemeClr val="dk1"/>
              </a:buClr>
              <a:buSzPts val="1800"/>
              <a:buNone/>
            </a:pPr>
            <a:r>
              <a:rPr lang="en-US" sz="1800"/>
              <a:t>      We have so many powerful frameworks, modules, reusable libraries which we can consume and build our app. E.g. there are modules for sending email, triggering whatsapp, doing database lookups, creating pdf. It is worlds most powerful open source eco system – </a:t>
            </a:r>
            <a:r>
              <a:rPr lang="en-US" sz="1800" u="sng">
                <a:solidFill>
                  <a:schemeClr val="hlink"/>
                </a:solidFill>
                <a:hlinkClick r:id="rId3"/>
              </a:rPr>
              <a:t>https://npmjs.com</a:t>
            </a: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To reuse any of the module, there are 2 ways</a:t>
            </a:r>
            <a:endParaRPr/>
          </a:p>
          <a:p>
            <a:pPr marL="342900" lvl="0" indent="-342900" algn="l" rtl="0">
              <a:spcBef>
                <a:spcPts val="360"/>
              </a:spcBef>
              <a:spcAft>
                <a:spcPts val="0"/>
              </a:spcAft>
              <a:buClr>
                <a:schemeClr val="dk1"/>
              </a:buClr>
              <a:buSzPts val="1800"/>
              <a:buAutoNum type="arabicPeriod"/>
            </a:pPr>
            <a:r>
              <a:rPr lang="en-US" sz="1800"/>
              <a:t>Using module inside your project – </a:t>
            </a:r>
            <a:r>
              <a:rPr lang="en-US" sz="1800" b="1"/>
              <a:t>npm install &lt;ModuleName&gt;</a:t>
            </a:r>
            <a:endParaRPr/>
          </a:p>
          <a:p>
            <a:pPr marL="342900" lvl="0" indent="-342900" algn="l" rtl="0">
              <a:spcBef>
                <a:spcPts val="360"/>
              </a:spcBef>
              <a:spcAft>
                <a:spcPts val="0"/>
              </a:spcAft>
              <a:buClr>
                <a:schemeClr val="dk1"/>
              </a:buClr>
              <a:buSzPts val="1800"/>
              <a:buAutoNum type="arabicPeriod"/>
            </a:pPr>
            <a:r>
              <a:rPr lang="en-US" sz="1800"/>
              <a:t>Using module @ computer level (tools and cli) – </a:t>
            </a:r>
            <a:r>
              <a:rPr lang="en-US" sz="1800" b="1"/>
              <a:t>npm install -g &lt;ModuleName&gt;</a:t>
            </a:r>
            <a:endParaRPr/>
          </a:p>
          <a:p>
            <a:pPr marL="0" lvl="0" indent="0" algn="l" rtl="0">
              <a:spcBef>
                <a:spcPts val="360"/>
              </a:spcBef>
              <a:spcAft>
                <a:spcPts val="0"/>
              </a:spcAft>
              <a:buClr>
                <a:schemeClr val="dk1"/>
              </a:buClr>
              <a:buSzPts val="1800"/>
              <a:buNone/>
            </a:pPr>
            <a:r>
              <a:rPr lang="en-US" sz="1800"/>
              <a:t>When we install a module, the module dependency is automatically added to the </a:t>
            </a:r>
            <a:r>
              <a:rPr lang="en-US" sz="1800" b="1"/>
              <a:t>package.json </a:t>
            </a:r>
            <a:r>
              <a:rPr lang="en-US" sz="1800"/>
              <a:t>file, so the developer will know that, this project is built using what are the modules in future.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05"/>
        <p:cNvGrpSpPr/>
        <p:nvPr/>
      </p:nvGrpSpPr>
      <p:grpSpPr>
        <a:xfrm>
          <a:off x="0" y="0"/>
          <a:ext cx="0" cy="0"/>
          <a:chOff x="0" y="0"/>
          <a:chExt cx="0" cy="0"/>
        </a:xfrm>
      </p:grpSpPr>
      <p:sp>
        <p:nvSpPr>
          <p:cNvPr id="1606" name="Google Shape;1606;p6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1607" name="Google Shape;1607;p60"/>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Text</a:t>
            </a:r>
            <a:endParaRPr/>
          </a:p>
        </p:txBody>
      </p:sp>
      <p:pic>
        <p:nvPicPr>
          <p:cNvPr id="1608" name="Google Shape;1608;p60"/>
          <p:cNvPicPr preferRelativeResize="0"/>
          <p:nvPr/>
        </p:nvPicPr>
        <p:blipFill rotWithShape="1">
          <a:blip r:embed="rId3">
            <a:alphaModFix/>
          </a:blip>
          <a:srcRect/>
          <a:stretch/>
        </p:blipFill>
        <p:spPr>
          <a:xfrm>
            <a:off x="831449" y="1772816"/>
            <a:ext cx="10525926" cy="3109300"/>
          </a:xfrm>
          <a:prstGeom prst="rect">
            <a:avLst/>
          </a:prstGeom>
          <a:noFill/>
          <a:ln>
            <a:noFill/>
          </a:ln>
        </p:spPr>
      </p:pic>
      <p:pic>
        <p:nvPicPr>
          <p:cNvPr id="1609" name="Google Shape;1609;p60"/>
          <p:cNvPicPr preferRelativeResize="0"/>
          <p:nvPr/>
        </p:nvPicPr>
        <p:blipFill rotWithShape="1">
          <a:blip r:embed="rId4">
            <a:alphaModFix/>
          </a:blip>
          <a:srcRect/>
          <a:stretch/>
        </p:blipFill>
        <p:spPr>
          <a:xfrm>
            <a:off x="981844" y="4106598"/>
            <a:ext cx="2922660" cy="2088232"/>
          </a:xfrm>
          <a:prstGeom prst="rect">
            <a:avLst/>
          </a:prstGeom>
          <a:noFill/>
          <a:ln>
            <a:noFill/>
          </a:ln>
        </p:spPr>
      </p:pic>
      <p:pic>
        <p:nvPicPr>
          <p:cNvPr id="1610" name="Google Shape;1610;p60"/>
          <p:cNvPicPr preferRelativeResize="0"/>
          <p:nvPr/>
        </p:nvPicPr>
        <p:blipFill rotWithShape="1">
          <a:blip r:embed="rId5">
            <a:alphaModFix/>
          </a:blip>
          <a:srcRect/>
          <a:stretch/>
        </p:blipFill>
        <p:spPr>
          <a:xfrm>
            <a:off x="8351215" y="4106598"/>
            <a:ext cx="3625472" cy="227509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622"/>
        <p:cNvGrpSpPr/>
        <p:nvPr/>
      </p:nvGrpSpPr>
      <p:grpSpPr>
        <a:xfrm>
          <a:off x="0" y="0"/>
          <a:ext cx="0" cy="0"/>
          <a:chOff x="0" y="0"/>
          <a:chExt cx="0" cy="0"/>
        </a:xfrm>
      </p:grpSpPr>
      <p:sp>
        <p:nvSpPr>
          <p:cNvPr id="1623" name="Google Shape;1623;p62"/>
          <p:cNvSpPr txBox="1">
            <a:spLocks noGrp="1"/>
          </p:cNvSpPr>
          <p:nvPr>
            <p:ph type="title"/>
          </p:nvPr>
        </p:nvSpPr>
        <p:spPr>
          <a:xfrm>
            <a:off x="345104" y="0"/>
            <a:ext cx="10069787"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Challenges to Build BTP apps using NodeJS</a:t>
            </a:r>
            <a:endParaRPr/>
          </a:p>
        </p:txBody>
      </p:sp>
      <p:sp>
        <p:nvSpPr>
          <p:cNvPr id="1624" name="Google Shape;1624;p62"/>
          <p:cNvSpPr txBox="1">
            <a:spLocks noGrp="1"/>
          </p:cNvSpPr>
          <p:nvPr>
            <p:ph type="body" idx="1"/>
          </p:nvPr>
        </p:nvSpPr>
        <p:spPr>
          <a:xfrm>
            <a:off x="345104" y="694724"/>
            <a:ext cx="11630306" cy="5832648"/>
          </a:xfrm>
          <a:prstGeom prst="rect">
            <a:avLst/>
          </a:prstGeom>
          <a:noFill/>
          <a:ln>
            <a:noFill/>
          </a:ln>
        </p:spPr>
        <p:txBody>
          <a:bodyPr spcFirstLastPara="1" wrap="square" lIns="0" tIns="60925" rIns="0" bIns="60925" anchor="t" anchorCtr="0">
            <a:normAutofit fontScale="92500" lnSpcReduction="10000"/>
          </a:bodyPr>
          <a:lstStyle/>
          <a:p>
            <a:pPr marL="285750" lvl="0" indent="-285750" algn="l" rtl="0">
              <a:spcBef>
                <a:spcPts val="0"/>
              </a:spcBef>
              <a:spcAft>
                <a:spcPts val="0"/>
              </a:spcAft>
              <a:buClr>
                <a:schemeClr val="dk1"/>
              </a:buClr>
              <a:buSzPct val="100000"/>
              <a:buFont typeface="Arial"/>
              <a:buChar char="•"/>
            </a:pPr>
            <a:r>
              <a:rPr lang="en-US" sz="1800"/>
              <a:t>The coding effort is very high, we are living in 21</a:t>
            </a:r>
            <a:r>
              <a:rPr lang="en-US" sz="1800" baseline="30000"/>
              <a:t>st</a:t>
            </a:r>
            <a:r>
              <a:rPr lang="en-US" sz="1800"/>
              <a:t> Century, it is not the time where we write every single line of code ourself manually. This new world is filled with powerful frameworks which let the developer offload common tasks and code. They provide libraries, classes, modules to avoid writing code and build by reuse.</a:t>
            </a:r>
            <a:endParaRPr/>
          </a:p>
          <a:p>
            <a:pPr marL="285750" lvl="0" indent="-285750" algn="l" rtl="0">
              <a:spcBef>
                <a:spcPts val="333"/>
              </a:spcBef>
              <a:spcAft>
                <a:spcPts val="0"/>
              </a:spcAft>
              <a:buClr>
                <a:schemeClr val="dk1"/>
              </a:buClr>
              <a:buSzPct val="100000"/>
              <a:buFont typeface="Arial"/>
              <a:buChar char="•"/>
            </a:pPr>
            <a:r>
              <a:rPr lang="en-US" sz="1800"/>
              <a:t>Anubhav my company recently opt for Rise with SAP (with comes with BTP subscription), everyone in the team is confused on what is the methodology &amp; framework to use building SaaS apps.</a:t>
            </a:r>
            <a:endParaRPr/>
          </a:p>
          <a:p>
            <a:pPr marL="285750" lvl="0" indent="-285750" algn="l" rtl="0">
              <a:spcBef>
                <a:spcPts val="333"/>
              </a:spcBef>
              <a:spcAft>
                <a:spcPts val="0"/>
              </a:spcAft>
              <a:buClr>
                <a:schemeClr val="dk1"/>
              </a:buClr>
              <a:buSzPct val="100000"/>
              <a:buFont typeface="Arial"/>
              <a:buChar char="•"/>
            </a:pPr>
            <a:r>
              <a:rPr lang="en-US" sz="1800"/>
              <a:t>Are there any recommendation from SAP to design, build SAP application on BTP as a gold standard/best practice?</a:t>
            </a:r>
            <a:endParaRPr/>
          </a:p>
          <a:p>
            <a:pPr marL="285750" lvl="0" indent="-285750" algn="l" rtl="0">
              <a:spcBef>
                <a:spcPts val="333"/>
              </a:spcBef>
              <a:spcAft>
                <a:spcPts val="0"/>
              </a:spcAft>
              <a:buClr>
                <a:schemeClr val="dk1"/>
              </a:buClr>
              <a:buSzPct val="100000"/>
              <a:buFont typeface="Arial"/>
              <a:buChar char="•"/>
            </a:pPr>
            <a:r>
              <a:rPr lang="en-US" sz="1800"/>
              <a:t>When we create NodeJS app, we also have to take care of all the dependencies.</a:t>
            </a:r>
            <a:endParaRPr/>
          </a:p>
          <a:p>
            <a:pPr marL="285750" lvl="0" indent="-285750" algn="l" rtl="0">
              <a:spcBef>
                <a:spcPts val="333"/>
              </a:spcBef>
              <a:spcAft>
                <a:spcPts val="0"/>
              </a:spcAft>
              <a:buClr>
                <a:schemeClr val="dk1"/>
              </a:buClr>
              <a:buSzPct val="100000"/>
              <a:buFont typeface="Arial"/>
              <a:buChar char="•"/>
            </a:pPr>
            <a:r>
              <a:rPr lang="en-US" sz="1800"/>
              <a:t>As a developer you want to focus more on business logic and less on boiler plate code and small-small parts of application components.</a:t>
            </a:r>
            <a:endParaRPr/>
          </a:p>
          <a:p>
            <a:pPr marL="285750" lvl="0" indent="-285750" algn="l" rtl="0">
              <a:spcBef>
                <a:spcPts val="333"/>
              </a:spcBef>
              <a:spcAft>
                <a:spcPts val="0"/>
              </a:spcAft>
              <a:buClr>
                <a:schemeClr val="dk1"/>
              </a:buClr>
              <a:buSzPct val="100000"/>
              <a:buFont typeface="Arial"/>
              <a:buChar char="•"/>
            </a:pPr>
            <a:r>
              <a:rPr lang="en-US" sz="1800"/>
              <a:t>There is no Reusability and lack of standard practice, will lead to conflicts and time to handover.</a:t>
            </a:r>
            <a:endParaRPr/>
          </a:p>
          <a:p>
            <a:pPr marL="285750" lvl="0" indent="-285750" algn="l" rtl="0">
              <a:spcBef>
                <a:spcPts val="333"/>
              </a:spcBef>
              <a:spcAft>
                <a:spcPts val="0"/>
              </a:spcAft>
              <a:buClr>
                <a:schemeClr val="dk1"/>
              </a:buClr>
              <a:buSzPct val="100000"/>
              <a:buFont typeface="Arial"/>
              <a:buChar char="•"/>
            </a:pPr>
            <a:r>
              <a:rPr lang="en-US" sz="1800"/>
              <a:t>Most apps are tightly coupled with database, so when database change, your code also get impacted. Depenency on SQL which is what will hamper future innovations.</a:t>
            </a:r>
            <a:endParaRPr/>
          </a:p>
          <a:p>
            <a:pPr marL="285750" lvl="0" indent="-285750" algn="l" rtl="0">
              <a:spcBef>
                <a:spcPts val="333"/>
              </a:spcBef>
              <a:spcAft>
                <a:spcPts val="0"/>
              </a:spcAft>
              <a:buClr>
                <a:schemeClr val="dk1"/>
              </a:buClr>
              <a:buSzPct val="100000"/>
              <a:buFont typeface="Arial"/>
              <a:buChar char="•"/>
            </a:pPr>
            <a:r>
              <a:rPr lang="en-US" sz="1800"/>
              <a:t> No matter which area you come from MM, SD, PP, APO, WM, EWM, MDG, SRM, HR, we all do same work</a:t>
            </a:r>
            <a:endParaRPr/>
          </a:p>
          <a:p>
            <a:pPr marL="285750" lvl="0" indent="-285750" algn="l" rtl="0">
              <a:spcBef>
                <a:spcPts val="333"/>
              </a:spcBef>
              <a:spcAft>
                <a:spcPts val="0"/>
              </a:spcAft>
              <a:buClr>
                <a:schemeClr val="dk1"/>
              </a:buClr>
              <a:buSzPct val="100000"/>
              <a:buFont typeface="Arial"/>
              <a:buChar char="•"/>
            </a:pPr>
            <a:r>
              <a:rPr lang="en-US" sz="1800"/>
              <a:t>The maintenance of the source code is also very high</a:t>
            </a:r>
            <a:endParaRPr/>
          </a:p>
          <a:p>
            <a:pPr marL="285750" lvl="0" indent="-180023" algn="l" rtl="0">
              <a:spcBef>
                <a:spcPts val="333"/>
              </a:spcBef>
              <a:spcAft>
                <a:spcPts val="0"/>
              </a:spcAft>
              <a:buClr>
                <a:schemeClr val="dk1"/>
              </a:buClr>
              <a:buSzPct val="100000"/>
              <a:buFont typeface="Arial"/>
              <a:buNone/>
            </a:pPr>
            <a:endParaRPr sz="1800"/>
          </a:p>
          <a:p>
            <a:pPr marL="0" lvl="0" indent="0" algn="l" rtl="0">
              <a:spcBef>
                <a:spcPts val="333"/>
              </a:spcBef>
              <a:spcAft>
                <a:spcPts val="0"/>
              </a:spcAft>
              <a:buClr>
                <a:schemeClr val="dk1"/>
              </a:buClr>
              <a:buSzPct val="100000"/>
              <a:buNone/>
            </a:pPr>
            <a:r>
              <a:rPr lang="en-US" sz="1800"/>
              <a:t>Use Framework:</a:t>
            </a:r>
            <a:endParaRPr/>
          </a:p>
          <a:p>
            <a:pPr marL="0" lvl="0" indent="0" algn="l" rtl="0">
              <a:spcBef>
                <a:spcPts val="333"/>
              </a:spcBef>
              <a:spcAft>
                <a:spcPts val="0"/>
              </a:spcAft>
              <a:buClr>
                <a:schemeClr val="dk1"/>
              </a:buClr>
              <a:buSzPct val="100000"/>
              <a:buNone/>
            </a:pPr>
            <a:r>
              <a:rPr lang="en-US" sz="1800" b="1"/>
              <a:t>SAP RAP (Restful Application Programming Model) – </a:t>
            </a:r>
            <a:r>
              <a:rPr lang="en-US" sz="1800"/>
              <a:t>ABAP technology, monolithic architecture, SAP ABAP Platform for BTP, SAP ABAP CDS knowledge</a:t>
            </a:r>
            <a:endParaRPr sz="1800" b="1"/>
          </a:p>
          <a:p>
            <a:pPr marL="0" lvl="0" indent="0" algn="l" rtl="0">
              <a:spcBef>
                <a:spcPts val="333"/>
              </a:spcBef>
              <a:spcAft>
                <a:spcPts val="0"/>
              </a:spcAft>
              <a:buClr>
                <a:schemeClr val="dk1"/>
              </a:buClr>
              <a:buSzPct val="100000"/>
              <a:buNone/>
            </a:pPr>
            <a:r>
              <a:rPr lang="en-US" sz="1800" b="1"/>
              <a:t>SAP CAP (Cloud Application Programming Model) – </a:t>
            </a:r>
            <a:r>
              <a:rPr lang="en-US" sz="1800"/>
              <a:t>Open Source Technologies, Microservice architecture, CF environment, NodeJS</a:t>
            </a:r>
            <a:endParaRPr/>
          </a:p>
          <a:p>
            <a:pPr marL="0" lvl="0" indent="0" algn="l" rtl="0">
              <a:spcBef>
                <a:spcPts val="333"/>
              </a:spcBef>
              <a:spcAft>
                <a:spcPts val="0"/>
              </a:spcAft>
              <a:buClr>
                <a:schemeClr val="dk1"/>
              </a:buClr>
              <a:buSzPct val="100000"/>
              <a:buNone/>
            </a:pPr>
            <a:r>
              <a:rPr lang="en-US" sz="1800" b="1" u="sng">
                <a:solidFill>
                  <a:schemeClr val="hlink"/>
                </a:solidFill>
                <a:hlinkClick r:id="rId3"/>
              </a:rPr>
              <a:t>https://www.youtube.com/watch?v=n0oS1eiOWU0</a:t>
            </a:r>
            <a:endParaRPr sz="1800" b="1"/>
          </a:p>
          <a:p>
            <a:pPr marL="0" lvl="0" indent="0" algn="l" rtl="0">
              <a:spcBef>
                <a:spcPts val="333"/>
              </a:spcBef>
              <a:spcAft>
                <a:spcPts val="0"/>
              </a:spcAft>
              <a:buClr>
                <a:schemeClr val="dk1"/>
              </a:buClr>
              <a:buSzPct val="100000"/>
              <a:buNone/>
            </a:pPr>
            <a:endParaRPr sz="1800" b="1"/>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636"/>
        <p:cNvGrpSpPr/>
        <p:nvPr/>
      </p:nvGrpSpPr>
      <p:grpSpPr>
        <a:xfrm>
          <a:off x="0" y="0"/>
          <a:ext cx="0" cy="0"/>
          <a:chOff x="0" y="0"/>
          <a:chExt cx="0" cy="0"/>
        </a:xfrm>
      </p:grpSpPr>
      <p:sp>
        <p:nvSpPr>
          <p:cNvPr id="1637" name="Google Shape;1637;p6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CAPM</a:t>
            </a:r>
            <a:endParaRPr/>
          </a:p>
        </p:txBody>
      </p:sp>
      <p:sp>
        <p:nvSpPr>
          <p:cNvPr id="1638" name="Google Shape;1638;p6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CAPM is a framework – a collection of libraries (reusable - Modules) – include classes, methods, attributes, events etc., tools, languages to help development teams to quickly create SaaS on BTP with open source technology.</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Language – Node JS and Java</a:t>
            </a:r>
            <a:endParaRPr/>
          </a:p>
          <a:p>
            <a:pPr marL="0" lvl="0" indent="0" algn="l" rtl="0">
              <a:spcBef>
                <a:spcPts val="360"/>
              </a:spcBef>
              <a:spcAft>
                <a:spcPts val="0"/>
              </a:spcAft>
              <a:buClr>
                <a:schemeClr val="dk1"/>
              </a:buClr>
              <a:buSzPts val="1800"/>
              <a:buNone/>
            </a:pPr>
            <a:r>
              <a:rPr lang="en-US" sz="1800"/>
              <a:t>Libraries (Modules) - @sap/cds, @sap/cds-dk</a:t>
            </a:r>
            <a:endParaRPr/>
          </a:p>
          <a:p>
            <a:pPr marL="0" lvl="0" indent="0" algn="l" rtl="0">
              <a:spcBef>
                <a:spcPts val="360"/>
              </a:spcBef>
              <a:spcAft>
                <a:spcPts val="0"/>
              </a:spcAft>
              <a:buClr>
                <a:schemeClr val="dk1"/>
              </a:buClr>
              <a:buSzPts val="1800"/>
              <a:buNone/>
            </a:pPr>
            <a:r>
              <a:rPr lang="en-US" sz="1800"/>
              <a:t>Tools – VS Code, BAS</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u="sng">
                <a:solidFill>
                  <a:schemeClr val="hlink"/>
                </a:solidFill>
                <a:hlinkClick r:id="rId3"/>
              </a:rPr>
              <a:t>https://cap.cloud.sap/docs/</a:t>
            </a: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CDS – Core Data and Service</a:t>
            </a:r>
            <a:endParaRPr/>
          </a:p>
          <a:p>
            <a:pPr marL="0" lvl="0" indent="0" algn="l" rtl="0">
              <a:spcBef>
                <a:spcPts val="360"/>
              </a:spcBef>
              <a:spcAft>
                <a:spcPts val="0"/>
              </a:spcAft>
              <a:buClr>
                <a:schemeClr val="dk1"/>
              </a:buClr>
              <a:buSzPts val="1800"/>
              <a:buNone/>
            </a:pPr>
            <a:r>
              <a:rPr lang="en-US" sz="1800"/>
              <a:t>Conceptually CDS is same concept but different flavor. The concept says that we will have a design time object (which is what developer code .cds file). For anything we will create the cds file (DB, SRV, UI) and this design time object is compiled by the framework (@sap/cds). After compilation, it creates a Runtime object.</a:t>
            </a:r>
            <a:endParaRPr/>
          </a:p>
        </p:txBody>
      </p:sp>
      <p:sp>
        <p:nvSpPr>
          <p:cNvPr id="1639" name="Google Shape;1639;p64"/>
          <p:cNvSpPr/>
          <p:nvPr/>
        </p:nvSpPr>
        <p:spPr>
          <a:xfrm>
            <a:off x="1326982" y="5373216"/>
            <a:ext cx="2520280" cy="93610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Project</a:t>
            </a:r>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640" name="Google Shape;1640;p64"/>
          <p:cNvSpPr/>
          <p:nvPr/>
        </p:nvSpPr>
        <p:spPr>
          <a:xfrm>
            <a:off x="1845940" y="5733256"/>
            <a:ext cx="1728192" cy="432048"/>
          </a:xfrm>
          <a:prstGeom prst="roundRect">
            <a:avLst>
              <a:gd name="adj" fmla="val 16667"/>
            </a:avLst>
          </a:prstGeom>
          <a:solidFill>
            <a:schemeClr val="accent2"/>
          </a:solidFill>
          <a:ln w="25400" cap="flat" cmpd="sng">
            <a:solidFill>
              <a:srgbClr val="152D6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.cds</a:t>
            </a:r>
            <a:endParaRPr sz="2400">
              <a:solidFill>
                <a:schemeClr val="lt1"/>
              </a:solidFill>
              <a:latin typeface="Quattrocento Sans"/>
              <a:ea typeface="Quattrocento Sans"/>
              <a:cs typeface="Quattrocento Sans"/>
              <a:sym typeface="Quattrocento Sans"/>
            </a:endParaRPr>
          </a:p>
        </p:txBody>
      </p:sp>
      <p:sp>
        <p:nvSpPr>
          <p:cNvPr id="1641" name="Google Shape;1641;p64"/>
          <p:cNvSpPr/>
          <p:nvPr/>
        </p:nvSpPr>
        <p:spPr>
          <a:xfrm>
            <a:off x="4006180" y="5517232"/>
            <a:ext cx="2952328" cy="576064"/>
          </a:xfrm>
          <a:prstGeom prst="rightArrow">
            <a:avLst>
              <a:gd name="adj1" fmla="val 50000"/>
              <a:gd name="adj2" fmla="val 50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Quattrocento Sans"/>
                <a:ea typeface="Quattrocento Sans"/>
                <a:cs typeface="Quattrocento Sans"/>
                <a:sym typeface="Quattrocento Sans"/>
              </a:rPr>
              <a:t>Compiled @sap/cds</a:t>
            </a:r>
            <a:endParaRPr sz="1200" b="1">
              <a:solidFill>
                <a:schemeClr val="lt1"/>
              </a:solidFill>
              <a:latin typeface="Quattrocento Sans"/>
              <a:ea typeface="Quattrocento Sans"/>
              <a:cs typeface="Quattrocento Sans"/>
              <a:sym typeface="Quattrocento Sans"/>
            </a:endParaRPr>
          </a:p>
        </p:txBody>
      </p:sp>
      <p:sp>
        <p:nvSpPr>
          <p:cNvPr id="1642" name="Google Shape;1642;p64"/>
          <p:cNvSpPr/>
          <p:nvPr/>
        </p:nvSpPr>
        <p:spPr>
          <a:xfrm>
            <a:off x="7102524" y="5229200"/>
            <a:ext cx="2448272" cy="1080120"/>
          </a:xfrm>
          <a:prstGeom prst="roundRect">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Runtime object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647"/>
        <p:cNvGrpSpPr/>
        <p:nvPr/>
      </p:nvGrpSpPr>
      <p:grpSpPr>
        <a:xfrm>
          <a:off x="0" y="0"/>
          <a:ext cx="0" cy="0"/>
          <a:chOff x="0" y="0"/>
          <a:chExt cx="0" cy="0"/>
        </a:xfrm>
      </p:grpSpPr>
      <p:sp>
        <p:nvSpPr>
          <p:cNvPr id="1648" name="Google Shape;1648;p65"/>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@sap/cds-dk</a:t>
            </a:r>
            <a:endParaRPr/>
          </a:p>
        </p:txBody>
      </p:sp>
      <p:sp>
        <p:nvSpPr>
          <p:cNvPr id="1649" name="Google Shape;1649;p65"/>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DK – Development kit</a:t>
            </a:r>
            <a:endParaRPr/>
          </a:p>
          <a:p>
            <a:pPr marL="0" lvl="0" indent="0" algn="l" rtl="0">
              <a:spcBef>
                <a:spcPts val="360"/>
              </a:spcBef>
              <a:spcAft>
                <a:spcPts val="0"/>
              </a:spcAft>
              <a:buClr>
                <a:schemeClr val="dk1"/>
              </a:buClr>
              <a:buSzPts val="1800"/>
              <a:buNone/>
            </a:pPr>
            <a:r>
              <a:rPr lang="en-US" sz="1800"/>
              <a:t>It is a node module which is part of CAPM framework and should be installed globally in system to provide us the CDS command line interface. If you are using BAS tool, it is already installed and configured.</a:t>
            </a:r>
            <a:endParaRPr/>
          </a:p>
          <a:p>
            <a:pPr marL="0" lvl="0" indent="0" algn="l" rtl="0">
              <a:spcBef>
                <a:spcPts val="360"/>
              </a:spcBef>
              <a:spcAft>
                <a:spcPts val="0"/>
              </a:spcAft>
              <a:buClr>
                <a:schemeClr val="dk1"/>
              </a:buClr>
              <a:buSzPts val="1800"/>
              <a:buNone/>
            </a:pPr>
            <a:r>
              <a:rPr lang="en-US" sz="1800"/>
              <a:t>It offers the CLI which will help to design and develop cap application quickly. It helps building cap projects, testing, delivery, packaging, deploying.</a:t>
            </a:r>
            <a:endParaRPr/>
          </a:p>
          <a:p>
            <a:pPr marL="0" lvl="0" indent="0" algn="l" rtl="0">
              <a:spcBef>
                <a:spcPts val="360"/>
              </a:spcBef>
              <a:spcAft>
                <a:spcPts val="0"/>
              </a:spcAft>
              <a:buClr>
                <a:schemeClr val="dk1"/>
              </a:buClr>
              <a:buSzPts val="1800"/>
              <a:buNone/>
            </a:pPr>
            <a:r>
              <a:rPr lang="en-US" sz="1800" b="1"/>
              <a:t>npm install -g @sap/cds-dk</a:t>
            </a:r>
            <a:endParaRPr/>
          </a:p>
          <a:p>
            <a:pPr marL="0" lvl="0" indent="0" algn="l" rtl="0">
              <a:spcBef>
                <a:spcPts val="360"/>
              </a:spcBef>
              <a:spcAft>
                <a:spcPts val="0"/>
              </a:spcAft>
              <a:buClr>
                <a:schemeClr val="dk1"/>
              </a:buClr>
              <a:buSzPts val="1800"/>
              <a:buNone/>
            </a:pPr>
            <a:r>
              <a:rPr lang="en-US" sz="1800" b="1"/>
              <a:t>cds -v</a:t>
            </a:r>
            <a:endParaRPr/>
          </a:p>
          <a:p>
            <a:pPr marL="0" lvl="0" indent="0" algn="l" rtl="0">
              <a:spcBef>
                <a:spcPts val="360"/>
              </a:spcBef>
              <a:spcAft>
                <a:spcPts val="0"/>
              </a:spcAft>
              <a:buClr>
                <a:schemeClr val="dk1"/>
              </a:buClr>
              <a:buSzPts val="1800"/>
              <a:buNone/>
            </a:pPr>
            <a:r>
              <a:rPr lang="en-US" sz="1800"/>
              <a:t>If you using your company laptop and you don’t have permission to install anything, Use BAS tool for this training.</a:t>
            </a:r>
            <a:endParaRPr/>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681"/>
        <p:cNvGrpSpPr/>
        <p:nvPr/>
      </p:nvGrpSpPr>
      <p:grpSpPr>
        <a:xfrm>
          <a:off x="0" y="0"/>
          <a:ext cx="0" cy="0"/>
          <a:chOff x="0" y="0"/>
          <a:chExt cx="0" cy="0"/>
        </a:xfrm>
      </p:grpSpPr>
      <p:sp>
        <p:nvSpPr>
          <p:cNvPr id="1682" name="Google Shape;1682;p7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Aspect in CAPM</a:t>
            </a:r>
            <a:endParaRPr/>
          </a:p>
        </p:txBody>
      </p:sp>
      <p:sp>
        <p:nvSpPr>
          <p:cNvPr id="1683" name="Google Shape;1683;p70"/>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Aspect are the reusable types (like structures in abap) which help developers to add the reusable components in our entities. These aspects can be custom (we can create) or standard (provided by @sap/cds/common). It will help reusing things like Currency, Country, CUID etc. </a:t>
            </a:r>
            <a:endParaRPr/>
          </a:p>
        </p:txBody>
      </p:sp>
      <p:sp>
        <p:nvSpPr>
          <p:cNvPr id="1684" name="Google Shape;1684;p70"/>
          <p:cNvSpPr txBox="1"/>
          <p:nvPr/>
        </p:nvSpPr>
        <p:spPr>
          <a:xfrm>
            <a:off x="5303164" y="5650483"/>
            <a:ext cx="6093912"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https://www.w3schools.com/jsref/jsref_obj_regexp.asp</a:t>
            </a: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695"/>
        <p:cNvGrpSpPr/>
        <p:nvPr/>
      </p:nvGrpSpPr>
      <p:grpSpPr>
        <a:xfrm>
          <a:off x="0" y="0"/>
          <a:ext cx="0" cy="0"/>
          <a:chOff x="0" y="0"/>
          <a:chExt cx="0" cy="0"/>
        </a:xfrm>
      </p:grpSpPr>
      <p:sp>
        <p:nvSpPr>
          <p:cNvPr id="1696" name="Google Shape;1696;p7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CDS Views?</a:t>
            </a:r>
            <a:endParaRPr/>
          </a:p>
        </p:txBody>
      </p:sp>
      <p:sp>
        <p:nvSpPr>
          <p:cNvPr id="1697" name="Google Shape;1697;p72"/>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If you worked in ABAP CDS views, its conceptually same but a different flavor. Why we create views in a software development:</a:t>
            </a:r>
            <a:endParaRPr/>
          </a:p>
          <a:p>
            <a:pPr marL="285750" lvl="0" indent="-285750" algn="l" rtl="0">
              <a:spcBef>
                <a:spcPts val="360"/>
              </a:spcBef>
              <a:spcAft>
                <a:spcPts val="0"/>
              </a:spcAft>
              <a:buClr>
                <a:schemeClr val="dk1"/>
              </a:buClr>
              <a:buSzPts val="1800"/>
              <a:buFont typeface="Arial"/>
              <a:buChar char="•"/>
            </a:pPr>
            <a:r>
              <a:rPr lang="en-US" sz="1800"/>
              <a:t>Often our data is distributed across multiple data base table, we need to retrieve data by joining it again and again, for which we write COMPLEX SQL logic every time, which is a tedious task.</a:t>
            </a:r>
            <a:endParaRPr/>
          </a:p>
          <a:p>
            <a:pPr marL="285750" lvl="0" indent="-285750" algn="l" rtl="0">
              <a:spcBef>
                <a:spcPts val="360"/>
              </a:spcBef>
              <a:spcAft>
                <a:spcPts val="0"/>
              </a:spcAft>
              <a:buClr>
                <a:schemeClr val="dk1"/>
              </a:buClr>
              <a:buSzPts val="1800"/>
              <a:buFont typeface="Arial"/>
              <a:buChar char="•"/>
            </a:pPr>
            <a:r>
              <a:rPr lang="en-US" sz="1800"/>
              <a:t>Views also bring down the effort of extracting data from system</a:t>
            </a:r>
            <a:endParaRPr/>
          </a:p>
          <a:p>
            <a:pPr marL="285750" lvl="0" indent="-285750" algn="l" rtl="0">
              <a:spcBef>
                <a:spcPts val="360"/>
              </a:spcBef>
              <a:spcAft>
                <a:spcPts val="0"/>
              </a:spcAft>
              <a:buClr>
                <a:schemeClr val="dk1"/>
              </a:buClr>
              <a:buSzPts val="1800"/>
              <a:buFont typeface="Arial"/>
              <a:buChar char="•"/>
            </a:pPr>
            <a:r>
              <a:rPr lang="en-US" sz="1800"/>
              <a:t>View is a contract of data which is well defined</a:t>
            </a:r>
            <a:endParaRPr/>
          </a:p>
          <a:p>
            <a:pPr marL="285750" lvl="0" indent="-285750" algn="l" rtl="0">
              <a:spcBef>
                <a:spcPts val="360"/>
              </a:spcBef>
              <a:spcAft>
                <a:spcPts val="0"/>
              </a:spcAft>
              <a:buClr>
                <a:schemeClr val="dk1"/>
              </a:buClr>
              <a:buSzPts val="1800"/>
              <a:buFont typeface="Arial"/>
              <a:buChar char="•"/>
            </a:pPr>
            <a:r>
              <a:rPr lang="en-US" sz="1800"/>
              <a:t>We can also apply on-fly calculations w/o contaminating the original data like CASE, AGGREGATION, UNIONS</a:t>
            </a:r>
            <a:endParaRPr/>
          </a:p>
          <a:p>
            <a:pPr marL="285750" lvl="0" indent="-285750" algn="l" rtl="0">
              <a:spcBef>
                <a:spcPts val="360"/>
              </a:spcBef>
              <a:spcAft>
                <a:spcPts val="0"/>
              </a:spcAft>
              <a:buClr>
                <a:schemeClr val="dk1"/>
              </a:buClr>
              <a:buSzPts val="1800"/>
              <a:buFont typeface="Arial"/>
              <a:buChar char="•"/>
            </a:pPr>
            <a:r>
              <a:rPr lang="en-US" sz="1800"/>
              <a:t>View also provide security of the data, we can create projection</a:t>
            </a:r>
            <a:endParaRPr/>
          </a:p>
          <a:p>
            <a:pPr marL="285750" lvl="0" indent="-285750" algn="l" rtl="0">
              <a:spcBef>
                <a:spcPts val="360"/>
              </a:spcBef>
              <a:spcAft>
                <a:spcPts val="0"/>
              </a:spcAft>
              <a:buClr>
                <a:schemeClr val="dk1"/>
              </a:buClr>
              <a:buSzPts val="1800"/>
              <a:buFont typeface="Arial"/>
              <a:buChar char="•"/>
            </a:pPr>
            <a:r>
              <a:rPr lang="en-US" sz="1800"/>
              <a:t>They can offer alias names e.g. my table has a field called MATNR, alias MaterialNo</a:t>
            </a:r>
            <a:endParaRPr sz="1800"/>
          </a:p>
          <a:p>
            <a:pPr marL="285750" lvl="0" indent="-285750" algn="l" rtl="0">
              <a:spcBef>
                <a:spcPts val="360"/>
              </a:spcBef>
              <a:spcAft>
                <a:spcPts val="0"/>
              </a:spcAft>
              <a:buClr>
                <a:schemeClr val="dk1"/>
              </a:buClr>
              <a:buSzPts val="1800"/>
              <a:buFont typeface="Arial"/>
              <a:buChar char="•"/>
            </a:pPr>
            <a:r>
              <a:rPr lang="en-US" sz="1800"/>
              <a:t>We can apply constraints on the level of views</a:t>
            </a:r>
            <a:endParaRPr/>
          </a:p>
          <a:p>
            <a:pPr marL="285750" lvl="0" indent="-285750" algn="l" rtl="0">
              <a:spcBef>
                <a:spcPts val="360"/>
              </a:spcBef>
              <a:spcAft>
                <a:spcPts val="0"/>
              </a:spcAft>
              <a:buClr>
                <a:schemeClr val="dk1"/>
              </a:buClr>
              <a:buSzPts val="1800"/>
              <a:buFont typeface="Arial"/>
              <a:buChar char="•"/>
            </a:pPr>
            <a:r>
              <a:rPr lang="en-US" sz="1800"/>
              <a:t>CDS views are the ultimate contract for data in SAP. We can also use lose coupling concept called </a:t>
            </a:r>
            <a:r>
              <a:rPr lang="en-US" sz="1800" b="1"/>
              <a:t>mixin</a:t>
            </a:r>
            <a:r>
              <a:rPr lang="en-US" sz="1800"/>
              <a:t> in the cap cds views which allows lazy loading of data.</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714"/>
        <p:cNvGrpSpPr/>
        <p:nvPr/>
      </p:nvGrpSpPr>
      <p:grpSpPr>
        <a:xfrm>
          <a:off x="0" y="0"/>
          <a:ext cx="0" cy="0"/>
          <a:chOff x="0" y="0"/>
          <a:chExt cx="0" cy="0"/>
        </a:xfrm>
      </p:grpSpPr>
      <p:sp>
        <p:nvSpPr>
          <p:cNvPr id="1715" name="Google Shape;1715;p75"/>
          <p:cNvSpPr txBox="1">
            <a:spLocks noGrp="1"/>
          </p:cNvSpPr>
          <p:nvPr>
            <p:ph type="title"/>
          </p:nvPr>
        </p:nvSpPr>
        <p:spPr>
          <a:xfrm>
            <a:off x="190128"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Disadvantage of Node JS App</a:t>
            </a:r>
            <a:endParaRPr/>
          </a:p>
        </p:txBody>
      </p:sp>
      <p:sp>
        <p:nvSpPr>
          <p:cNvPr id="1716" name="Google Shape;1716;p75"/>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342900" lvl="0" indent="-342900" algn="l" rtl="0">
              <a:spcBef>
                <a:spcPts val="0"/>
              </a:spcBef>
              <a:spcAft>
                <a:spcPts val="0"/>
              </a:spcAft>
              <a:buClr>
                <a:schemeClr val="dk1"/>
              </a:buClr>
              <a:buSzPts val="1800"/>
              <a:buFont typeface="Arial"/>
              <a:buChar char="•"/>
            </a:pPr>
            <a:r>
              <a:rPr lang="en-US" sz="1800"/>
              <a:t>Node JS apps require lots of setup, every developer have to do this setup again and again</a:t>
            </a:r>
            <a:endParaRPr/>
          </a:p>
          <a:p>
            <a:pPr marL="342900" lvl="0" indent="-342900" algn="l" rtl="0">
              <a:spcBef>
                <a:spcPts val="360"/>
              </a:spcBef>
              <a:spcAft>
                <a:spcPts val="0"/>
              </a:spcAft>
              <a:buClr>
                <a:schemeClr val="dk1"/>
              </a:buClr>
              <a:buSzPts val="1800"/>
              <a:buFont typeface="Arial"/>
              <a:buChar char="•"/>
            </a:pPr>
            <a:r>
              <a:rPr lang="en-US" sz="1800"/>
              <a:t>When we build microservices, it needs lots of exploration and boiler plate coding to get a simple service</a:t>
            </a:r>
            <a:endParaRPr/>
          </a:p>
          <a:p>
            <a:pPr marL="342900" lvl="0" indent="-342900" algn="l" rtl="0">
              <a:spcBef>
                <a:spcPts val="360"/>
              </a:spcBef>
              <a:spcAft>
                <a:spcPts val="0"/>
              </a:spcAft>
              <a:buClr>
                <a:schemeClr val="dk1"/>
              </a:buClr>
              <a:buSzPts val="1800"/>
              <a:buFont typeface="Arial"/>
              <a:buChar char="•"/>
            </a:pPr>
            <a:r>
              <a:rPr lang="en-US" sz="1800"/>
              <a:t>Companies started using BTP, they realized that every developer was coding node apps in their own way, some using </a:t>
            </a:r>
            <a:r>
              <a:rPr lang="en-US" sz="1800" b="1"/>
              <a:t>express, </a:t>
            </a:r>
            <a:r>
              <a:rPr lang="en-US" sz="1800"/>
              <a:t>some using </a:t>
            </a:r>
            <a:r>
              <a:rPr lang="en-US" sz="1800" b="1"/>
              <a:t>axios</a:t>
            </a:r>
            <a:r>
              <a:rPr lang="en-US" sz="1800"/>
              <a:t> etc. this leads to confusion, conflict. What is the best practice?</a:t>
            </a:r>
            <a:endParaRPr/>
          </a:p>
          <a:p>
            <a:pPr marL="342900" lvl="0" indent="-342900" algn="l" rtl="0">
              <a:spcBef>
                <a:spcPts val="360"/>
              </a:spcBef>
              <a:spcAft>
                <a:spcPts val="0"/>
              </a:spcAft>
              <a:buClr>
                <a:schemeClr val="dk1"/>
              </a:buClr>
              <a:buSzPts val="1800"/>
              <a:buFont typeface="Arial"/>
              <a:buChar char="•"/>
            </a:pPr>
            <a:r>
              <a:rPr lang="en-US" sz="1800"/>
              <a:t>Lack of standard leads to poor code quality</a:t>
            </a:r>
            <a:endParaRPr/>
          </a:p>
          <a:p>
            <a:pPr marL="342900" lvl="0" indent="-342900" algn="l" rtl="0">
              <a:spcBef>
                <a:spcPts val="360"/>
              </a:spcBef>
              <a:spcAft>
                <a:spcPts val="0"/>
              </a:spcAft>
              <a:buClr>
                <a:schemeClr val="dk1"/>
              </a:buClr>
              <a:buSzPts val="1800"/>
              <a:buFont typeface="Arial"/>
              <a:buChar char="•"/>
            </a:pPr>
            <a:r>
              <a:rPr lang="en-US" sz="1800"/>
              <a:t>The time it takes to handover the code is very high</a:t>
            </a:r>
            <a:endParaRPr/>
          </a:p>
          <a:p>
            <a:pPr marL="342900" lvl="0" indent="-342900" algn="l" rtl="0">
              <a:spcBef>
                <a:spcPts val="360"/>
              </a:spcBef>
              <a:spcAft>
                <a:spcPts val="0"/>
              </a:spcAft>
              <a:buClr>
                <a:schemeClr val="dk1"/>
              </a:buClr>
              <a:buSzPts val="1800"/>
              <a:buFont typeface="Arial"/>
              <a:buChar char="•"/>
            </a:pPr>
            <a:r>
              <a:rPr lang="en-US" sz="1800"/>
              <a:t>There is no guideline provided by SAP to design and develop cloud apps which will be future proof</a:t>
            </a:r>
            <a:endParaRPr/>
          </a:p>
          <a:p>
            <a:pPr marL="342900" lvl="0" indent="-342900" algn="l" rtl="0">
              <a:spcBef>
                <a:spcPts val="360"/>
              </a:spcBef>
              <a:spcAft>
                <a:spcPts val="0"/>
              </a:spcAft>
              <a:buClr>
                <a:schemeClr val="dk1"/>
              </a:buClr>
              <a:buSzPts val="1800"/>
              <a:buFont typeface="Arial"/>
              <a:buChar char="•"/>
            </a:pPr>
            <a:r>
              <a:rPr lang="en-US" sz="1800"/>
              <a:t>The possibility for integration with SAP application leads to lots of coding effort</a:t>
            </a:r>
            <a:endParaRPr/>
          </a:p>
          <a:p>
            <a:pPr marL="342900" lvl="0" indent="-342900" algn="l" rtl="0">
              <a:spcBef>
                <a:spcPts val="360"/>
              </a:spcBef>
              <a:spcAft>
                <a:spcPts val="0"/>
              </a:spcAft>
              <a:buClr>
                <a:schemeClr val="dk1"/>
              </a:buClr>
              <a:buSzPts val="1800"/>
              <a:buFont typeface="Arial"/>
              <a:buChar char="•"/>
            </a:pPr>
            <a:r>
              <a:rPr lang="en-US" sz="1800"/>
              <a:t>Latest innovations are hard to adapt, adding application security involve lots of steps and pain</a:t>
            </a:r>
            <a:endParaRPr/>
          </a:p>
          <a:p>
            <a:pPr marL="342900" lvl="0" indent="-342900" algn="l" rtl="0">
              <a:spcBef>
                <a:spcPts val="360"/>
              </a:spcBef>
              <a:spcAft>
                <a:spcPts val="0"/>
              </a:spcAft>
              <a:buClr>
                <a:schemeClr val="dk1"/>
              </a:buClr>
              <a:buSzPts val="1800"/>
              <a:buFont typeface="Arial"/>
              <a:buChar char="•"/>
            </a:pPr>
            <a:r>
              <a:rPr lang="en-US" sz="1800"/>
              <a:t>What is the best practice/gold standard to build SAP BTP Applications and Services?</a:t>
            </a:r>
            <a:endParaRPr/>
          </a:p>
          <a:p>
            <a:pPr marL="342900" lvl="0" indent="-342900" algn="l" rtl="0">
              <a:spcBef>
                <a:spcPts val="360"/>
              </a:spcBef>
              <a:spcAft>
                <a:spcPts val="0"/>
              </a:spcAft>
              <a:buClr>
                <a:schemeClr val="dk1"/>
              </a:buClr>
              <a:buSzPts val="1800"/>
              <a:buFont typeface="Arial"/>
              <a:buChar char="•"/>
            </a:pPr>
            <a:r>
              <a:rPr lang="en-US" sz="1800"/>
              <a:t>When a protocol goes of upgrade like ODATA 2.0 🡺 4.0 how fast I can adapt, do I need to code more?</a:t>
            </a:r>
            <a:endParaRPr/>
          </a:p>
          <a:p>
            <a:pPr marL="0" lvl="0" indent="0" algn="l" rtl="0">
              <a:spcBef>
                <a:spcPts val="360"/>
              </a:spcBef>
              <a:spcAft>
                <a:spcPts val="0"/>
              </a:spcAft>
              <a:buClr>
                <a:schemeClr val="dk1"/>
              </a:buClr>
              <a:buSzPts val="1800"/>
              <a:buNone/>
            </a:pPr>
            <a:r>
              <a:rPr lang="en-US" sz="1800" b="1" i="1"/>
              <a:t>Using CAPM to build services</a:t>
            </a:r>
            <a:endParaRPr sz="1800" b="1" i="1"/>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728"/>
        <p:cNvGrpSpPr/>
        <p:nvPr/>
      </p:nvGrpSpPr>
      <p:grpSpPr>
        <a:xfrm>
          <a:off x="0" y="0"/>
          <a:ext cx="0" cy="0"/>
          <a:chOff x="0" y="0"/>
          <a:chExt cx="0" cy="0"/>
        </a:xfrm>
      </p:grpSpPr>
      <p:sp>
        <p:nvSpPr>
          <p:cNvPr id="1729" name="Google Shape;1729;p7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What is OData</a:t>
            </a:r>
            <a:endParaRPr/>
          </a:p>
        </p:txBody>
      </p:sp>
      <p:sp>
        <p:nvSpPr>
          <p:cNvPr id="1730" name="Google Shape;1730;p77"/>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Open Data protocol to create web service provided by Microsoft and it’s a open source which is adapted by SAP to create services. All the consumers will adhere to the rules of this protocol to consume services on internet(cloud). The consumers could be ABAP, Java, Web, Android, Fiori, Analytics, Integration tools.</a:t>
            </a:r>
            <a:endParaRPr/>
          </a:p>
          <a:p>
            <a:pPr marL="0" lvl="0" indent="0" algn="l" rtl="0">
              <a:spcBef>
                <a:spcPts val="360"/>
              </a:spcBef>
              <a:spcAft>
                <a:spcPts val="0"/>
              </a:spcAft>
              <a:buClr>
                <a:schemeClr val="dk1"/>
              </a:buClr>
              <a:buSzPts val="1800"/>
              <a:buNone/>
            </a:pPr>
            <a:r>
              <a:rPr lang="en-US" sz="1800"/>
              <a:t>OData service provide abstraction from underlaying technology and database. So in future e.g. if you rebuild cap application by Java or change DB to HANA from SQLITE, it does not affect the consumer applications.</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By Default, CAPM application services offer OData protocol version 4.</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The best part of CAPM is to provide a fully ready implementation of CURDQ (Create, Update, Read, Delete and Query data).</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735"/>
        <p:cNvGrpSpPr/>
        <p:nvPr/>
      </p:nvGrpSpPr>
      <p:grpSpPr>
        <a:xfrm>
          <a:off x="0" y="0"/>
          <a:ext cx="0" cy="0"/>
          <a:chOff x="0" y="0"/>
          <a:chExt cx="0" cy="0"/>
        </a:xfrm>
      </p:grpSpPr>
      <p:sp>
        <p:nvSpPr>
          <p:cNvPr id="1736" name="Google Shape;1736;p7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1737" name="Google Shape;1737;p78"/>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Text</a:t>
            </a:r>
            <a:endParaRPr/>
          </a:p>
        </p:txBody>
      </p:sp>
      <p:sp>
        <p:nvSpPr>
          <p:cNvPr id="1738" name="Google Shape;1738;p78"/>
          <p:cNvSpPr txBox="1"/>
          <p:nvPr/>
        </p:nvSpPr>
        <p:spPr>
          <a:xfrm>
            <a:off x="44883" y="5754383"/>
            <a:ext cx="1221013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https://docs.oasis-open.org/odata/odata/v4.01/odata-v4.01-part2-url-conventions.html</a:t>
            </a: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750"/>
        <p:cNvGrpSpPr/>
        <p:nvPr/>
      </p:nvGrpSpPr>
      <p:grpSpPr>
        <a:xfrm>
          <a:off x="0" y="0"/>
          <a:ext cx="0" cy="0"/>
          <a:chOff x="0" y="0"/>
          <a:chExt cx="0" cy="0"/>
        </a:xfrm>
      </p:grpSpPr>
      <p:sp>
        <p:nvSpPr>
          <p:cNvPr id="1751" name="Google Shape;1751;p8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How to kill the port which is closed</a:t>
            </a:r>
            <a:endParaRPr/>
          </a:p>
        </p:txBody>
      </p:sp>
      <p:sp>
        <p:nvSpPr>
          <p:cNvPr id="1752" name="Google Shape;1752;p80"/>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Linux commands</a:t>
            </a:r>
            <a:endParaRPr/>
          </a:p>
          <a:p>
            <a:pPr marL="0" lvl="0" indent="0" algn="l" rtl="0">
              <a:spcBef>
                <a:spcPts val="360"/>
              </a:spcBef>
              <a:spcAft>
                <a:spcPts val="0"/>
              </a:spcAft>
              <a:buClr>
                <a:schemeClr val="dk1"/>
              </a:buClr>
              <a:buSzPts val="1800"/>
              <a:buNone/>
            </a:pPr>
            <a:r>
              <a:rPr lang="en-US" sz="1800" b="1"/>
              <a:t>lsof –i :PORT 🡪 lsof –i :4004</a:t>
            </a:r>
            <a:endParaRPr/>
          </a:p>
          <a:p>
            <a:pPr marL="0" lvl="0" indent="0" algn="l" rtl="0">
              <a:spcBef>
                <a:spcPts val="360"/>
              </a:spcBef>
              <a:spcAft>
                <a:spcPts val="0"/>
              </a:spcAft>
              <a:buClr>
                <a:schemeClr val="dk1"/>
              </a:buClr>
              <a:buSzPts val="1800"/>
              <a:buNone/>
            </a:pPr>
            <a:r>
              <a:rPr lang="en-US" sz="1800" b="1"/>
              <a:t>kill -9 PID 🡪 whatever you get as process id from last command</a:t>
            </a:r>
            <a:endParaRPr/>
          </a:p>
          <a:p>
            <a:pPr marL="0" lvl="0" indent="0" algn="l" rtl="0">
              <a:spcBef>
                <a:spcPts val="720"/>
              </a:spcBef>
              <a:spcAft>
                <a:spcPts val="0"/>
              </a:spcAft>
              <a:buClr>
                <a:schemeClr val="accent6"/>
              </a:buClr>
              <a:buSzPts val="3600"/>
              <a:buNone/>
            </a:pPr>
            <a:r>
              <a:rPr lang="en-US" sz="3600">
                <a:solidFill>
                  <a:schemeClr val="accent6"/>
                </a:solidFill>
                <a:latin typeface="Corben"/>
                <a:ea typeface="Corben"/>
                <a:cs typeface="Corben"/>
                <a:sym typeface="Corben"/>
              </a:rPr>
              <a:t>Deep Insert</a:t>
            </a:r>
            <a:endParaRPr/>
          </a:p>
          <a:p>
            <a:pPr marL="0" lvl="0" indent="0" algn="l" rtl="0">
              <a:spcBef>
                <a:spcPts val="360"/>
              </a:spcBef>
              <a:spcAft>
                <a:spcPts val="0"/>
              </a:spcAft>
              <a:buClr>
                <a:schemeClr val="dk1"/>
              </a:buClr>
              <a:buSzPts val="1800"/>
              <a:buNone/>
            </a:pPr>
            <a:r>
              <a:rPr lang="en-US" sz="1800"/>
              <a:t>In the Odata services, the deep insert is used to perform Create (POST) operations on both parent and child entities together. Usually when we create sap applications we have parent-child relationships like OrderHeader-OrderItem, GL-GLEntries, PurchaseOrder-Items, PersonnelNo-SalaryEntries, SKUs-BoMs. With the help of Deep insert, we can create both the data together to ensure transactional consistency. In CAPM you don’t need to write extra code for that unlike ABAP where we implement CREATE_DEEP_ENTITY method in DPC_EXT class. Make sure that both entities are in </a:t>
            </a:r>
            <a:r>
              <a:rPr lang="en-US" sz="1800" b="1"/>
              <a:t>Composition</a:t>
            </a:r>
            <a:r>
              <a:rPr lang="en-US" sz="1800"/>
              <a:t> Relationship. While creating it's not mandatory to pass PK of parent data in child data.</a:t>
            </a:r>
            <a:endParaRPr/>
          </a:p>
          <a:p>
            <a:pPr marL="0" lvl="0" indent="0" algn="l" rtl="0">
              <a:spcBef>
                <a:spcPts val="720"/>
              </a:spcBef>
              <a:spcAft>
                <a:spcPts val="0"/>
              </a:spcAft>
              <a:buClr>
                <a:schemeClr val="dk1"/>
              </a:buClr>
              <a:buSzPts val="3600"/>
              <a:buNone/>
            </a:pPr>
            <a:endParaRPr sz="3600">
              <a:solidFill>
                <a:schemeClr val="accent6"/>
              </a:solidFill>
              <a:latin typeface="Corben"/>
              <a:ea typeface="Corben"/>
              <a:cs typeface="Corben"/>
              <a:sym typeface="Corbe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757"/>
        <p:cNvGrpSpPr/>
        <p:nvPr/>
      </p:nvGrpSpPr>
      <p:grpSpPr>
        <a:xfrm>
          <a:off x="0" y="0"/>
          <a:ext cx="0" cy="0"/>
          <a:chOff x="0" y="0"/>
          <a:chExt cx="0" cy="0"/>
        </a:xfrm>
      </p:grpSpPr>
      <p:sp>
        <p:nvSpPr>
          <p:cNvPr id="1758" name="Google Shape;1758;p8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Association v/s Composition</a:t>
            </a:r>
            <a:endParaRPr/>
          </a:p>
        </p:txBody>
      </p:sp>
      <p:sp>
        <p:nvSpPr>
          <p:cNvPr id="1759" name="Google Shape;1759;p81"/>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Association</a:t>
            </a:r>
            <a:endParaRPr/>
          </a:p>
          <a:p>
            <a:pPr marL="285750" lvl="0" indent="-285750" algn="l" rtl="0">
              <a:spcBef>
                <a:spcPts val="360"/>
              </a:spcBef>
              <a:spcAft>
                <a:spcPts val="0"/>
              </a:spcAft>
              <a:buClr>
                <a:schemeClr val="dk1"/>
              </a:buClr>
              <a:buSzPts val="1800"/>
              <a:buFont typeface="Arial"/>
              <a:buChar char="•"/>
            </a:pPr>
            <a:r>
              <a:rPr lang="en-US" sz="1800"/>
              <a:t>Lose coupling between entities</a:t>
            </a:r>
            <a:endParaRPr/>
          </a:p>
          <a:p>
            <a:pPr marL="285750" lvl="0" indent="-285750" algn="l" rtl="0">
              <a:spcBef>
                <a:spcPts val="360"/>
              </a:spcBef>
              <a:spcAft>
                <a:spcPts val="0"/>
              </a:spcAft>
              <a:buClr>
                <a:schemeClr val="dk1"/>
              </a:buClr>
              <a:buSzPts val="1800"/>
              <a:buFont typeface="Arial"/>
              <a:buChar char="•"/>
            </a:pPr>
            <a:r>
              <a:rPr lang="en-US" sz="1800"/>
              <a:t>Both entities can function independently</a:t>
            </a:r>
            <a:endParaRPr/>
          </a:p>
          <a:p>
            <a:pPr marL="285750" lvl="0" indent="-285750" algn="l" rtl="0">
              <a:spcBef>
                <a:spcPts val="360"/>
              </a:spcBef>
              <a:spcAft>
                <a:spcPts val="0"/>
              </a:spcAft>
              <a:buClr>
                <a:schemeClr val="dk1"/>
              </a:buClr>
              <a:buSzPts val="1800"/>
              <a:buFont typeface="Arial"/>
              <a:buChar char="•"/>
            </a:pPr>
            <a:r>
              <a:rPr lang="en-US" sz="1800"/>
              <a:t>Should have relation – good to have</a:t>
            </a:r>
            <a:endParaRPr/>
          </a:p>
          <a:p>
            <a:pPr marL="285750" lvl="0" indent="-171450" algn="l" rtl="0">
              <a:spcBef>
                <a:spcPts val="360"/>
              </a:spcBef>
              <a:spcAft>
                <a:spcPts val="0"/>
              </a:spcAft>
              <a:buClr>
                <a:schemeClr val="dk1"/>
              </a:buClr>
              <a:buSzPts val="1800"/>
              <a:buFont typeface="Arial"/>
              <a:buNone/>
            </a:pPr>
            <a:endParaRPr sz="1800"/>
          </a:p>
          <a:p>
            <a:pPr marL="0" lvl="0" indent="0" algn="l" rtl="0">
              <a:spcBef>
                <a:spcPts val="360"/>
              </a:spcBef>
              <a:spcAft>
                <a:spcPts val="0"/>
              </a:spcAft>
              <a:buClr>
                <a:schemeClr val="dk1"/>
              </a:buClr>
              <a:buSzPts val="1800"/>
              <a:buNone/>
            </a:pPr>
            <a:r>
              <a:rPr lang="en-US" sz="1800"/>
              <a:t>Composition</a:t>
            </a:r>
            <a:endParaRPr/>
          </a:p>
          <a:p>
            <a:pPr marL="285750" lvl="0" indent="-285750" algn="l" rtl="0">
              <a:spcBef>
                <a:spcPts val="360"/>
              </a:spcBef>
              <a:spcAft>
                <a:spcPts val="0"/>
              </a:spcAft>
              <a:buClr>
                <a:schemeClr val="dk1"/>
              </a:buClr>
              <a:buSzPts val="1800"/>
              <a:buFont typeface="Arial"/>
              <a:buChar char="•"/>
            </a:pPr>
            <a:r>
              <a:rPr lang="en-US" sz="1800"/>
              <a:t>Tight coupling between entities</a:t>
            </a:r>
            <a:endParaRPr/>
          </a:p>
          <a:p>
            <a:pPr marL="285750" lvl="0" indent="-285750" algn="l" rtl="0">
              <a:spcBef>
                <a:spcPts val="360"/>
              </a:spcBef>
              <a:spcAft>
                <a:spcPts val="0"/>
              </a:spcAft>
              <a:buClr>
                <a:schemeClr val="dk1"/>
              </a:buClr>
              <a:buSzPts val="1800"/>
              <a:buFont typeface="Arial"/>
              <a:buChar char="•"/>
            </a:pPr>
            <a:r>
              <a:rPr lang="en-US" sz="1800"/>
              <a:t>Creation of child entity not possible w/o parent</a:t>
            </a:r>
            <a:endParaRPr/>
          </a:p>
          <a:p>
            <a:pPr marL="285750" lvl="0" indent="-285750" algn="l" rtl="0">
              <a:spcBef>
                <a:spcPts val="360"/>
              </a:spcBef>
              <a:spcAft>
                <a:spcPts val="0"/>
              </a:spcAft>
              <a:buClr>
                <a:schemeClr val="dk1"/>
              </a:buClr>
              <a:buSzPts val="1800"/>
              <a:buFont typeface="Arial"/>
              <a:buChar char="•"/>
            </a:pPr>
            <a:r>
              <a:rPr lang="en-US" sz="1800"/>
              <a:t>Must have relation </a:t>
            </a:r>
            <a:endParaRPr/>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764"/>
        <p:cNvGrpSpPr/>
        <p:nvPr/>
      </p:nvGrpSpPr>
      <p:grpSpPr>
        <a:xfrm>
          <a:off x="0" y="0"/>
          <a:ext cx="0" cy="0"/>
          <a:chOff x="0" y="0"/>
          <a:chExt cx="0" cy="0"/>
        </a:xfrm>
      </p:grpSpPr>
      <p:sp>
        <p:nvSpPr>
          <p:cNvPr id="1765" name="Google Shape;1765;p8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Generic Handler</a:t>
            </a:r>
            <a:endParaRPr/>
          </a:p>
        </p:txBody>
      </p:sp>
      <p:sp>
        <p:nvSpPr>
          <p:cNvPr id="1766" name="Google Shape;1766;p82"/>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As we experience that the CAP framework generated most of the CRUDQ code for us behind the scene, Sometimes as a developer you would like to add extra code, extra functionality on top of it, in that case we can use Generic Handlers. The Generic Handlers are special functions which we need to define and implement at appropriate points (exit points provided by SAP). These are used for various purpose</a:t>
            </a:r>
            <a:endParaRPr/>
          </a:p>
          <a:p>
            <a:pPr marL="285750" lvl="0" indent="-285750" algn="l" rtl="0">
              <a:spcBef>
                <a:spcPts val="360"/>
              </a:spcBef>
              <a:spcAft>
                <a:spcPts val="0"/>
              </a:spcAft>
              <a:buClr>
                <a:schemeClr val="dk1"/>
              </a:buClr>
              <a:buSzPts val="1800"/>
              <a:buFont typeface="Noto Sans Symbols"/>
              <a:buChar char="🡺"/>
            </a:pPr>
            <a:r>
              <a:rPr lang="en-US" sz="1800"/>
              <a:t>Adding custom validation e.g. how to validate a low stock product while creating POST on purchase order, check employee salary based on custom validation in our company.</a:t>
            </a:r>
            <a:endParaRPr/>
          </a:p>
          <a:p>
            <a:pPr marL="285750" lvl="0" indent="-285750" algn="l" rtl="0">
              <a:spcBef>
                <a:spcPts val="360"/>
              </a:spcBef>
              <a:spcAft>
                <a:spcPts val="0"/>
              </a:spcAft>
              <a:buClr>
                <a:schemeClr val="dk1"/>
              </a:buClr>
              <a:buSzPts val="1800"/>
              <a:buFont typeface="Noto Sans Symbols"/>
              <a:buChar char="🡺"/>
            </a:pPr>
            <a:r>
              <a:rPr lang="en-US" sz="1800"/>
              <a:t>Provide additional logging and tracking</a:t>
            </a:r>
            <a:endParaRPr/>
          </a:p>
          <a:p>
            <a:pPr marL="285750" lvl="0" indent="-285750" algn="l" rtl="0">
              <a:spcBef>
                <a:spcPts val="360"/>
              </a:spcBef>
              <a:spcAft>
                <a:spcPts val="0"/>
              </a:spcAft>
              <a:buClr>
                <a:schemeClr val="dk1"/>
              </a:buClr>
              <a:buSzPts val="1800"/>
              <a:buFont typeface="Noto Sans Symbols"/>
              <a:buChar char="🡺"/>
            </a:pPr>
            <a:r>
              <a:rPr lang="en-US" sz="1800"/>
              <a:t>Enhance the data on top of the data which is read from database (virtual elements)</a:t>
            </a:r>
            <a:endParaRPr/>
          </a:p>
          <a:p>
            <a:pPr marL="285750" lvl="0" indent="-171450" algn="l" rtl="0">
              <a:spcBef>
                <a:spcPts val="360"/>
              </a:spcBef>
              <a:spcAft>
                <a:spcPts val="0"/>
              </a:spcAft>
              <a:buClr>
                <a:schemeClr val="dk1"/>
              </a:buClr>
              <a:buSzPts val="1800"/>
              <a:buFont typeface="Noto Sans Symbols"/>
              <a:buNone/>
            </a:pPr>
            <a:endParaRPr sz="1800"/>
          </a:p>
          <a:p>
            <a:pPr marL="0" lvl="0" indent="0" algn="l" rtl="0">
              <a:spcBef>
                <a:spcPts val="360"/>
              </a:spcBef>
              <a:spcAft>
                <a:spcPts val="0"/>
              </a:spcAft>
              <a:buClr>
                <a:schemeClr val="dk1"/>
              </a:buClr>
              <a:buSzPts val="1800"/>
              <a:buNone/>
            </a:pPr>
            <a:r>
              <a:rPr lang="en-US" sz="1800"/>
              <a:t>When?? – </a:t>
            </a:r>
            <a:r>
              <a:rPr lang="en-US" sz="1800" b="1"/>
              <a:t>before, after, on</a:t>
            </a:r>
            <a:endParaRPr sz="1800"/>
          </a:p>
          <a:p>
            <a:pPr marL="0" lvl="0" indent="0" algn="l" rtl="0">
              <a:spcBef>
                <a:spcPts val="360"/>
              </a:spcBef>
              <a:spcAft>
                <a:spcPts val="0"/>
              </a:spcAft>
              <a:buClr>
                <a:schemeClr val="dk1"/>
              </a:buClr>
              <a:buSzPts val="1800"/>
              <a:buNone/>
            </a:pPr>
            <a:r>
              <a:rPr lang="en-US" sz="1800"/>
              <a:t>Which Entity?? – </a:t>
            </a:r>
            <a:r>
              <a:rPr lang="en-US" sz="1800" b="1"/>
              <a:t>The entity of your odata like PurchaseOrder, Employee etc.</a:t>
            </a:r>
            <a:endParaRPr sz="1800"/>
          </a:p>
          <a:p>
            <a:pPr marL="0" lvl="0" indent="0" algn="l" rtl="0">
              <a:spcBef>
                <a:spcPts val="360"/>
              </a:spcBef>
              <a:spcAft>
                <a:spcPts val="0"/>
              </a:spcAft>
              <a:buClr>
                <a:schemeClr val="dk1"/>
              </a:buClr>
              <a:buSzPts val="1800"/>
              <a:buNone/>
            </a:pPr>
            <a:r>
              <a:rPr lang="en-US" sz="1800"/>
              <a:t>What Operation?? – </a:t>
            </a:r>
            <a:r>
              <a:rPr lang="en-US" sz="1800" b="1"/>
              <a:t>READ, CREATE, UPDATE, DELETE, *</a:t>
            </a:r>
            <a:endParaRPr/>
          </a:p>
          <a:p>
            <a:pPr marL="0" lvl="0" indent="0" algn="l" rtl="0">
              <a:spcBef>
                <a:spcPts val="360"/>
              </a:spcBef>
              <a:spcAft>
                <a:spcPts val="0"/>
              </a:spcAft>
              <a:buClr>
                <a:schemeClr val="dk1"/>
              </a:buClr>
              <a:buSzPts val="1800"/>
              <a:buNone/>
            </a:pPr>
            <a:endParaRPr sz="1800" b="1"/>
          </a:p>
          <a:p>
            <a:pPr marL="0" lvl="0" indent="0" algn="l" rtl="0">
              <a:spcBef>
                <a:spcPts val="360"/>
              </a:spcBef>
              <a:spcAft>
                <a:spcPts val="0"/>
              </a:spcAft>
              <a:buClr>
                <a:schemeClr val="dk1"/>
              </a:buClr>
              <a:buSzPts val="1800"/>
              <a:buNone/>
            </a:pPr>
            <a:r>
              <a:rPr lang="en-US" sz="1800" b="1"/>
              <a:t>this.WHEN( [ Operations ] , WHICH , (req,res) =&gt; {</a:t>
            </a:r>
            <a:endParaRPr/>
          </a:p>
          <a:p>
            <a:pPr marL="0" lvl="0" indent="0" algn="l" rtl="0">
              <a:spcBef>
                <a:spcPts val="360"/>
              </a:spcBef>
              <a:spcAft>
                <a:spcPts val="0"/>
              </a:spcAft>
              <a:buClr>
                <a:schemeClr val="dk1"/>
              </a:buClr>
              <a:buSzPts val="1800"/>
              <a:buNone/>
            </a:pPr>
            <a:endParaRPr sz="1800" b="1"/>
          </a:p>
          <a:p>
            <a:pPr marL="0" lvl="0" indent="0" algn="l" rtl="0">
              <a:spcBef>
                <a:spcPts val="360"/>
              </a:spcBef>
              <a:spcAft>
                <a:spcPts val="0"/>
              </a:spcAft>
              <a:buClr>
                <a:schemeClr val="dk1"/>
              </a:buClr>
              <a:buSzPts val="1800"/>
              <a:buNone/>
            </a:pPr>
            <a:r>
              <a:rPr lang="en-US" sz="1800" b="1"/>
              <a:t>});</a:t>
            </a:r>
            <a:endParaRPr/>
          </a:p>
          <a:p>
            <a:pPr marL="0" lvl="0" indent="0" algn="l" rtl="0">
              <a:spcBef>
                <a:spcPts val="360"/>
              </a:spcBef>
              <a:spcAft>
                <a:spcPts val="0"/>
              </a:spcAft>
              <a:buClr>
                <a:schemeClr val="dk1"/>
              </a:buClr>
              <a:buSzPts val="1800"/>
              <a:buNone/>
            </a:pPr>
            <a:r>
              <a:rPr lang="en-US" sz="1800"/>
              <a:t>Example – Validate salary of employee while creating or updating employee data.</a:t>
            </a:r>
            <a:endParaRPr sz="18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sp>
        <p:nvSpPr>
          <p:cNvPr id="1772" name="Google Shape;1772;p8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Sequence Diagram</a:t>
            </a:r>
            <a:endParaRPr/>
          </a:p>
        </p:txBody>
      </p:sp>
      <p:sp>
        <p:nvSpPr>
          <p:cNvPr id="1773" name="Google Shape;1773;p83"/>
          <p:cNvSpPr/>
          <p:nvPr/>
        </p:nvSpPr>
        <p:spPr>
          <a:xfrm>
            <a:off x="477788" y="711081"/>
            <a:ext cx="648072" cy="557679"/>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774" name="Google Shape;1774;p83"/>
          <p:cNvCxnSpPr>
            <a:stCxn id="1773" idx="4"/>
          </p:cNvCxnSpPr>
          <p:nvPr/>
        </p:nvCxnSpPr>
        <p:spPr>
          <a:xfrm>
            <a:off x="801824" y="1268760"/>
            <a:ext cx="36000" cy="5256600"/>
          </a:xfrm>
          <a:prstGeom prst="straightConnector1">
            <a:avLst/>
          </a:prstGeom>
          <a:noFill/>
          <a:ln w="9525" cap="flat" cmpd="sng">
            <a:solidFill>
              <a:srgbClr val="FE421C"/>
            </a:solidFill>
            <a:prstDash val="dashDot"/>
            <a:round/>
            <a:headEnd type="none" w="sm" len="sm"/>
            <a:tailEnd type="none" w="sm" len="sm"/>
          </a:ln>
        </p:spPr>
      </p:cxnSp>
      <p:sp>
        <p:nvSpPr>
          <p:cNvPr id="1775" name="Google Shape;1775;p83"/>
          <p:cNvSpPr/>
          <p:nvPr/>
        </p:nvSpPr>
        <p:spPr>
          <a:xfrm>
            <a:off x="1989956" y="711081"/>
            <a:ext cx="1656184" cy="485671"/>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Fiori App</a:t>
            </a:r>
            <a:endParaRPr/>
          </a:p>
        </p:txBody>
      </p:sp>
      <p:cxnSp>
        <p:nvCxnSpPr>
          <p:cNvPr id="1776" name="Google Shape;1776;p83"/>
          <p:cNvCxnSpPr/>
          <p:nvPr/>
        </p:nvCxnSpPr>
        <p:spPr>
          <a:xfrm>
            <a:off x="2790006" y="1196752"/>
            <a:ext cx="36004" cy="5256584"/>
          </a:xfrm>
          <a:prstGeom prst="straightConnector1">
            <a:avLst/>
          </a:prstGeom>
          <a:noFill/>
          <a:ln w="9525" cap="flat" cmpd="sng">
            <a:solidFill>
              <a:srgbClr val="FE421C"/>
            </a:solidFill>
            <a:prstDash val="dashDot"/>
            <a:round/>
            <a:headEnd type="none" w="sm" len="sm"/>
            <a:tailEnd type="none" w="sm" len="sm"/>
          </a:ln>
        </p:spPr>
      </p:cxnSp>
      <p:sp>
        <p:nvSpPr>
          <p:cNvPr id="1777" name="Google Shape;1777;p83"/>
          <p:cNvSpPr/>
          <p:nvPr/>
        </p:nvSpPr>
        <p:spPr>
          <a:xfrm>
            <a:off x="4222204" y="711081"/>
            <a:ext cx="1656184" cy="485671"/>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OData</a:t>
            </a:r>
            <a:endParaRPr/>
          </a:p>
        </p:txBody>
      </p:sp>
      <p:cxnSp>
        <p:nvCxnSpPr>
          <p:cNvPr id="1778" name="Google Shape;1778;p83"/>
          <p:cNvCxnSpPr/>
          <p:nvPr/>
        </p:nvCxnSpPr>
        <p:spPr>
          <a:xfrm>
            <a:off x="5022254" y="1196752"/>
            <a:ext cx="36004" cy="5256584"/>
          </a:xfrm>
          <a:prstGeom prst="straightConnector1">
            <a:avLst/>
          </a:prstGeom>
          <a:noFill/>
          <a:ln w="9525" cap="flat" cmpd="sng">
            <a:solidFill>
              <a:srgbClr val="FE421C"/>
            </a:solidFill>
            <a:prstDash val="dashDot"/>
            <a:round/>
            <a:headEnd type="none" w="sm" len="sm"/>
            <a:tailEnd type="none" w="sm" len="sm"/>
          </a:ln>
        </p:spPr>
      </p:cxnSp>
      <p:sp>
        <p:nvSpPr>
          <p:cNvPr id="1779" name="Google Shape;1779;p83"/>
          <p:cNvSpPr/>
          <p:nvPr/>
        </p:nvSpPr>
        <p:spPr>
          <a:xfrm>
            <a:off x="6410169" y="711081"/>
            <a:ext cx="1656184" cy="485671"/>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CAPM</a:t>
            </a:r>
            <a:endParaRPr/>
          </a:p>
        </p:txBody>
      </p:sp>
      <p:cxnSp>
        <p:nvCxnSpPr>
          <p:cNvPr id="1780" name="Google Shape;1780;p83"/>
          <p:cNvCxnSpPr/>
          <p:nvPr/>
        </p:nvCxnSpPr>
        <p:spPr>
          <a:xfrm>
            <a:off x="7210219" y="1196752"/>
            <a:ext cx="36004" cy="5256584"/>
          </a:xfrm>
          <a:prstGeom prst="straightConnector1">
            <a:avLst/>
          </a:prstGeom>
          <a:noFill/>
          <a:ln w="9525" cap="flat" cmpd="sng">
            <a:solidFill>
              <a:srgbClr val="FE421C"/>
            </a:solidFill>
            <a:prstDash val="dashDot"/>
            <a:round/>
            <a:headEnd type="none" w="sm" len="sm"/>
            <a:tailEnd type="none" w="sm" len="sm"/>
          </a:ln>
        </p:spPr>
      </p:cxnSp>
      <p:sp>
        <p:nvSpPr>
          <p:cNvPr id="1781" name="Google Shape;1781;p83"/>
          <p:cNvSpPr/>
          <p:nvPr/>
        </p:nvSpPr>
        <p:spPr>
          <a:xfrm>
            <a:off x="10514578" y="711081"/>
            <a:ext cx="1656184" cy="485671"/>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Database</a:t>
            </a:r>
            <a:endParaRPr/>
          </a:p>
        </p:txBody>
      </p:sp>
      <p:cxnSp>
        <p:nvCxnSpPr>
          <p:cNvPr id="1782" name="Google Shape;1782;p83"/>
          <p:cNvCxnSpPr/>
          <p:nvPr/>
        </p:nvCxnSpPr>
        <p:spPr>
          <a:xfrm>
            <a:off x="11314628" y="1196752"/>
            <a:ext cx="36004" cy="5256584"/>
          </a:xfrm>
          <a:prstGeom prst="straightConnector1">
            <a:avLst/>
          </a:prstGeom>
          <a:noFill/>
          <a:ln w="9525" cap="flat" cmpd="sng">
            <a:solidFill>
              <a:srgbClr val="FE421C"/>
            </a:solidFill>
            <a:prstDash val="dashDot"/>
            <a:round/>
            <a:headEnd type="none" w="sm" len="sm"/>
            <a:tailEnd type="none" w="sm" len="sm"/>
          </a:ln>
        </p:spPr>
      </p:cxnSp>
      <p:cxnSp>
        <p:nvCxnSpPr>
          <p:cNvPr id="1783" name="Google Shape;1783;p83"/>
          <p:cNvCxnSpPr/>
          <p:nvPr/>
        </p:nvCxnSpPr>
        <p:spPr>
          <a:xfrm>
            <a:off x="801824" y="1628800"/>
            <a:ext cx="1988182" cy="0"/>
          </a:xfrm>
          <a:prstGeom prst="straightConnector1">
            <a:avLst/>
          </a:prstGeom>
          <a:noFill/>
          <a:ln w="9525" cap="flat" cmpd="sng">
            <a:solidFill>
              <a:srgbClr val="FE421C"/>
            </a:solidFill>
            <a:prstDash val="solid"/>
            <a:round/>
            <a:headEnd type="none" w="sm" len="sm"/>
            <a:tailEnd type="triangle" w="med" len="med"/>
          </a:ln>
        </p:spPr>
      </p:cxnSp>
      <p:cxnSp>
        <p:nvCxnSpPr>
          <p:cNvPr id="1784" name="Google Shape;1784;p83"/>
          <p:cNvCxnSpPr/>
          <p:nvPr/>
        </p:nvCxnSpPr>
        <p:spPr>
          <a:xfrm>
            <a:off x="2790006" y="1844824"/>
            <a:ext cx="2232248" cy="0"/>
          </a:xfrm>
          <a:prstGeom prst="straightConnector1">
            <a:avLst/>
          </a:prstGeom>
          <a:noFill/>
          <a:ln w="9525" cap="flat" cmpd="sng">
            <a:solidFill>
              <a:srgbClr val="FE421C"/>
            </a:solidFill>
            <a:prstDash val="solid"/>
            <a:round/>
            <a:headEnd type="none" w="sm" len="sm"/>
            <a:tailEnd type="triangle" w="med" len="med"/>
          </a:ln>
        </p:spPr>
      </p:cxnSp>
      <p:sp>
        <p:nvSpPr>
          <p:cNvPr id="1785" name="Google Shape;1785;p83"/>
          <p:cNvSpPr txBox="1"/>
          <p:nvPr/>
        </p:nvSpPr>
        <p:spPr>
          <a:xfrm>
            <a:off x="3394065" y="1569279"/>
            <a:ext cx="151216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&lt;data&gt;</a:t>
            </a:r>
            <a:endParaRPr/>
          </a:p>
        </p:txBody>
      </p:sp>
      <p:sp>
        <p:nvSpPr>
          <p:cNvPr id="1786" name="Google Shape;1786;p83"/>
          <p:cNvSpPr txBox="1"/>
          <p:nvPr/>
        </p:nvSpPr>
        <p:spPr>
          <a:xfrm>
            <a:off x="1390306" y="1315507"/>
            <a:ext cx="151216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Key input</a:t>
            </a:r>
            <a:endParaRPr/>
          </a:p>
        </p:txBody>
      </p:sp>
      <p:sp>
        <p:nvSpPr>
          <p:cNvPr id="1787" name="Google Shape;1787;p83"/>
          <p:cNvSpPr txBox="1"/>
          <p:nvPr/>
        </p:nvSpPr>
        <p:spPr>
          <a:xfrm>
            <a:off x="5624402" y="1823237"/>
            <a:ext cx="151216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&lt;data&gt;</a:t>
            </a:r>
            <a:endParaRPr/>
          </a:p>
        </p:txBody>
      </p:sp>
      <p:cxnSp>
        <p:nvCxnSpPr>
          <p:cNvPr id="1788" name="Google Shape;1788;p83"/>
          <p:cNvCxnSpPr/>
          <p:nvPr/>
        </p:nvCxnSpPr>
        <p:spPr>
          <a:xfrm>
            <a:off x="5013975" y="2204864"/>
            <a:ext cx="2232248" cy="0"/>
          </a:xfrm>
          <a:prstGeom prst="straightConnector1">
            <a:avLst/>
          </a:prstGeom>
          <a:noFill/>
          <a:ln w="9525" cap="flat" cmpd="sng">
            <a:solidFill>
              <a:srgbClr val="FE421C"/>
            </a:solidFill>
            <a:prstDash val="solid"/>
            <a:round/>
            <a:headEnd type="none" w="sm" len="sm"/>
            <a:tailEnd type="triangle" w="med" len="med"/>
          </a:ln>
        </p:spPr>
      </p:cxnSp>
      <p:cxnSp>
        <p:nvCxnSpPr>
          <p:cNvPr id="1789" name="Google Shape;1789;p83"/>
          <p:cNvCxnSpPr/>
          <p:nvPr/>
        </p:nvCxnSpPr>
        <p:spPr>
          <a:xfrm>
            <a:off x="7196040" y="3447706"/>
            <a:ext cx="4086407" cy="0"/>
          </a:xfrm>
          <a:prstGeom prst="straightConnector1">
            <a:avLst/>
          </a:prstGeom>
          <a:noFill/>
          <a:ln w="9525" cap="flat" cmpd="sng">
            <a:solidFill>
              <a:srgbClr val="FE421C"/>
            </a:solidFill>
            <a:prstDash val="solid"/>
            <a:round/>
            <a:headEnd type="none" w="sm" len="sm"/>
            <a:tailEnd type="triangle" w="med" len="med"/>
          </a:ln>
        </p:spPr>
      </p:cxnSp>
      <p:sp>
        <p:nvSpPr>
          <p:cNvPr id="1790" name="Google Shape;1790;p83"/>
          <p:cNvSpPr/>
          <p:nvPr/>
        </p:nvSpPr>
        <p:spPr>
          <a:xfrm>
            <a:off x="11312540" y="3447706"/>
            <a:ext cx="72373" cy="43204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791" name="Google Shape;1791;p83"/>
          <p:cNvCxnSpPr>
            <a:stCxn id="1790" idx="2"/>
          </p:cNvCxnSpPr>
          <p:nvPr/>
        </p:nvCxnSpPr>
        <p:spPr>
          <a:xfrm rot="10800000">
            <a:off x="7178127" y="3879754"/>
            <a:ext cx="4170600" cy="0"/>
          </a:xfrm>
          <a:prstGeom prst="straightConnector1">
            <a:avLst/>
          </a:prstGeom>
          <a:noFill/>
          <a:ln w="9525" cap="flat" cmpd="sng">
            <a:solidFill>
              <a:srgbClr val="FE421C"/>
            </a:solidFill>
            <a:prstDash val="solid"/>
            <a:round/>
            <a:headEnd type="none" w="sm" len="sm"/>
            <a:tailEnd type="triangle" w="med" len="med"/>
          </a:ln>
        </p:spPr>
      </p:cxnSp>
      <p:cxnSp>
        <p:nvCxnSpPr>
          <p:cNvPr id="1792" name="Google Shape;1792;p83"/>
          <p:cNvCxnSpPr/>
          <p:nvPr/>
        </p:nvCxnSpPr>
        <p:spPr>
          <a:xfrm rot="10800000">
            <a:off x="837828" y="5733256"/>
            <a:ext cx="6408395" cy="0"/>
          </a:xfrm>
          <a:prstGeom prst="straightConnector1">
            <a:avLst/>
          </a:prstGeom>
          <a:noFill/>
          <a:ln w="9525" cap="flat" cmpd="sng">
            <a:solidFill>
              <a:srgbClr val="FE421C"/>
            </a:solidFill>
            <a:prstDash val="solid"/>
            <a:round/>
            <a:headEnd type="none" w="sm" len="sm"/>
            <a:tailEnd type="triangle" w="med" len="med"/>
          </a:ln>
        </p:spPr>
      </p:cxnSp>
      <p:sp>
        <p:nvSpPr>
          <p:cNvPr id="1793" name="Google Shape;1793;p83"/>
          <p:cNvSpPr/>
          <p:nvPr/>
        </p:nvSpPr>
        <p:spPr>
          <a:xfrm>
            <a:off x="8514885" y="705092"/>
            <a:ext cx="1656184" cy="485671"/>
          </a:xfrm>
          <a:prstGeom prst="rect">
            <a:avLst/>
          </a:prstGeom>
          <a:solidFill>
            <a:schemeClr val="accent2"/>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OwnCode</a:t>
            </a:r>
            <a:endParaRPr sz="2400">
              <a:solidFill>
                <a:schemeClr val="lt1"/>
              </a:solidFill>
              <a:latin typeface="Quattrocento Sans"/>
              <a:ea typeface="Quattrocento Sans"/>
              <a:cs typeface="Quattrocento Sans"/>
              <a:sym typeface="Quattrocento Sans"/>
            </a:endParaRPr>
          </a:p>
        </p:txBody>
      </p:sp>
      <p:cxnSp>
        <p:nvCxnSpPr>
          <p:cNvPr id="1794" name="Google Shape;1794;p83"/>
          <p:cNvCxnSpPr/>
          <p:nvPr/>
        </p:nvCxnSpPr>
        <p:spPr>
          <a:xfrm>
            <a:off x="9314935" y="1190763"/>
            <a:ext cx="36004" cy="5256584"/>
          </a:xfrm>
          <a:prstGeom prst="straightConnector1">
            <a:avLst/>
          </a:prstGeom>
          <a:noFill/>
          <a:ln w="9525" cap="flat" cmpd="sng">
            <a:solidFill>
              <a:schemeClr val="accent2"/>
            </a:solidFill>
            <a:prstDash val="dashDot"/>
            <a:round/>
            <a:headEnd type="none" w="sm" len="sm"/>
            <a:tailEnd type="none" w="sm" len="sm"/>
          </a:ln>
        </p:spPr>
      </p:cxnSp>
      <p:cxnSp>
        <p:nvCxnSpPr>
          <p:cNvPr id="1795" name="Google Shape;1795;p83"/>
          <p:cNvCxnSpPr/>
          <p:nvPr/>
        </p:nvCxnSpPr>
        <p:spPr>
          <a:xfrm>
            <a:off x="7210219" y="2620223"/>
            <a:ext cx="2104716" cy="0"/>
          </a:xfrm>
          <a:prstGeom prst="straightConnector1">
            <a:avLst/>
          </a:prstGeom>
          <a:noFill/>
          <a:ln w="9525" cap="flat" cmpd="sng">
            <a:solidFill>
              <a:srgbClr val="FE421C"/>
            </a:solidFill>
            <a:prstDash val="solid"/>
            <a:round/>
            <a:headEnd type="none" w="sm" len="sm"/>
            <a:tailEnd type="triangle" w="med" len="med"/>
          </a:ln>
        </p:spPr>
      </p:cxnSp>
      <p:sp>
        <p:nvSpPr>
          <p:cNvPr id="1796" name="Google Shape;1796;p83"/>
          <p:cNvSpPr/>
          <p:nvPr/>
        </p:nvSpPr>
        <p:spPr>
          <a:xfrm>
            <a:off x="9322639" y="2620019"/>
            <a:ext cx="72373" cy="432048"/>
          </a:xfrm>
          <a:prstGeom prst="rect">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797" name="Google Shape;1797;p83"/>
          <p:cNvCxnSpPr/>
          <p:nvPr/>
        </p:nvCxnSpPr>
        <p:spPr>
          <a:xfrm rot="10800000">
            <a:off x="7178038" y="3056816"/>
            <a:ext cx="2204311" cy="17040"/>
          </a:xfrm>
          <a:prstGeom prst="straightConnector1">
            <a:avLst/>
          </a:prstGeom>
          <a:noFill/>
          <a:ln w="9525" cap="flat" cmpd="sng">
            <a:solidFill>
              <a:srgbClr val="FE421C"/>
            </a:solidFill>
            <a:prstDash val="solid"/>
            <a:round/>
            <a:headEnd type="none" w="sm" len="sm"/>
            <a:tailEnd type="triangle" w="med" len="med"/>
          </a:ln>
        </p:spPr>
      </p:cxnSp>
      <p:sp>
        <p:nvSpPr>
          <p:cNvPr id="1798" name="Google Shape;1798;p83"/>
          <p:cNvSpPr txBox="1"/>
          <p:nvPr/>
        </p:nvSpPr>
        <p:spPr>
          <a:xfrm>
            <a:off x="7865431" y="2275996"/>
            <a:ext cx="151216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&lt;data&gt;</a:t>
            </a:r>
            <a:endParaRPr/>
          </a:p>
        </p:txBody>
      </p:sp>
      <p:sp>
        <p:nvSpPr>
          <p:cNvPr id="1799" name="Google Shape;1799;p83"/>
          <p:cNvSpPr/>
          <p:nvPr/>
        </p:nvSpPr>
        <p:spPr>
          <a:xfrm>
            <a:off x="9263382" y="2949623"/>
            <a:ext cx="467434" cy="263351"/>
          </a:xfrm>
          <a:prstGeom prst="irregularSeal2">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800" name="Google Shape;1800;p83"/>
          <p:cNvSpPr/>
          <p:nvPr/>
        </p:nvSpPr>
        <p:spPr>
          <a:xfrm>
            <a:off x="7171624" y="2980247"/>
            <a:ext cx="467434" cy="263351"/>
          </a:xfrm>
          <a:prstGeom prst="irregularSeal2">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801" name="Google Shape;1801;p83"/>
          <p:cNvCxnSpPr>
            <a:stCxn id="1800" idx="1"/>
          </p:cNvCxnSpPr>
          <p:nvPr/>
        </p:nvCxnSpPr>
        <p:spPr>
          <a:xfrm flipH="1">
            <a:off x="837724" y="3137246"/>
            <a:ext cx="6333900" cy="19800"/>
          </a:xfrm>
          <a:prstGeom prst="straightConnector1">
            <a:avLst/>
          </a:prstGeom>
          <a:noFill/>
          <a:ln w="9525" cap="flat" cmpd="sng">
            <a:solidFill>
              <a:srgbClr val="FE421C"/>
            </a:solidFill>
            <a:prstDash val="solid"/>
            <a:round/>
            <a:headEnd type="none" w="sm" len="sm"/>
            <a:tailEnd type="triangle" w="med" len="med"/>
          </a:ln>
        </p:spPr>
      </p:cxnSp>
      <p:sp>
        <p:nvSpPr>
          <p:cNvPr id="1802" name="Google Shape;1802;p83"/>
          <p:cNvSpPr txBox="1"/>
          <p:nvPr/>
        </p:nvSpPr>
        <p:spPr>
          <a:xfrm>
            <a:off x="9478788" y="2492896"/>
            <a:ext cx="97970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Quattrocento Sans"/>
                <a:ea typeface="Quattrocento Sans"/>
                <a:cs typeface="Quattrocento Sans"/>
                <a:sym typeface="Quattrocento Sans"/>
              </a:rPr>
              <a:t>req.data</a:t>
            </a:r>
            <a:endParaRPr sz="1400" b="1">
              <a:solidFill>
                <a:schemeClr val="dk1"/>
              </a:solidFill>
              <a:latin typeface="Quattrocento Sans"/>
              <a:ea typeface="Quattrocento Sans"/>
              <a:cs typeface="Quattrocento Sans"/>
              <a:sym typeface="Quattrocento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807"/>
        <p:cNvGrpSpPr/>
        <p:nvPr/>
      </p:nvGrpSpPr>
      <p:grpSpPr>
        <a:xfrm>
          <a:off x="0" y="0"/>
          <a:ext cx="0" cy="0"/>
          <a:chOff x="0" y="0"/>
          <a:chExt cx="0" cy="0"/>
        </a:xfrm>
      </p:grpSpPr>
      <p:sp>
        <p:nvSpPr>
          <p:cNvPr id="1808" name="Google Shape;1808;p8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Debug Config</a:t>
            </a:r>
            <a:endParaRPr/>
          </a:p>
        </p:txBody>
      </p:sp>
      <p:sp>
        <p:nvSpPr>
          <p:cNvPr id="1809" name="Google Shape;1809;p8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fontScale="92500" lnSpcReduction="20000"/>
          </a:bodyPr>
          <a:lstStyle/>
          <a:p>
            <a:pPr marL="0" lvl="0" indent="0" algn="l" rtl="0">
              <a:spcBef>
                <a:spcPts val="0"/>
              </a:spcBef>
              <a:spcAft>
                <a:spcPts val="0"/>
              </a:spcAft>
              <a:buClr>
                <a:schemeClr val="dk1"/>
              </a:buClr>
              <a:buSzPct val="100000"/>
              <a:buNone/>
            </a:pPr>
            <a:r>
              <a:rPr lang="en-US"/>
              <a:t>{</a:t>
            </a:r>
            <a:endParaRPr/>
          </a:p>
          <a:p>
            <a:pPr marL="0" lvl="0" indent="0" algn="l" rtl="0">
              <a:spcBef>
                <a:spcPts val="370"/>
              </a:spcBef>
              <a:spcAft>
                <a:spcPts val="0"/>
              </a:spcAft>
              <a:buClr>
                <a:schemeClr val="dk1"/>
              </a:buClr>
              <a:buSzPct val="100000"/>
              <a:buNone/>
            </a:pPr>
            <a:r>
              <a:rPr lang="en-US"/>
              <a:t>    // Use IntelliSense to learn about possible attributes.</a:t>
            </a:r>
            <a:endParaRPr/>
          </a:p>
          <a:p>
            <a:pPr marL="0" lvl="0" indent="0" algn="l" rtl="0">
              <a:spcBef>
                <a:spcPts val="370"/>
              </a:spcBef>
              <a:spcAft>
                <a:spcPts val="0"/>
              </a:spcAft>
              <a:buClr>
                <a:schemeClr val="dk1"/>
              </a:buClr>
              <a:buSzPct val="100000"/>
              <a:buNone/>
            </a:pPr>
            <a:r>
              <a:rPr lang="en-US"/>
              <a:t>    // Hover to view descriptions of existing attributes.</a:t>
            </a:r>
            <a:endParaRPr/>
          </a:p>
          <a:p>
            <a:pPr marL="0" lvl="0" indent="0" algn="l" rtl="0">
              <a:spcBef>
                <a:spcPts val="370"/>
              </a:spcBef>
              <a:spcAft>
                <a:spcPts val="0"/>
              </a:spcAft>
              <a:buClr>
                <a:schemeClr val="dk1"/>
              </a:buClr>
              <a:buSzPct val="100000"/>
              <a:buNone/>
            </a:pPr>
            <a:r>
              <a:rPr lang="en-US"/>
              <a:t>    // For more information, visit: https://go.microsoft.com/fwlink/?linkid=830387</a:t>
            </a:r>
            <a:endParaRPr/>
          </a:p>
          <a:p>
            <a:pPr marL="0" lvl="0" indent="0" algn="l" rtl="0">
              <a:spcBef>
                <a:spcPts val="370"/>
              </a:spcBef>
              <a:spcAft>
                <a:spcPts val="0"/>
              </a:spcAft>
              <a:buClr>
                <a:schemeClr val="dk1"/>
              </a:buClr>
              <a:buSzPct val="100000"/>
              <a:buNone/>
            </a:pPr>
            <a:r>
              <a:rPr lang="en-US"/>
              <a:t>    "version": "0.2.0",</a:t>
            </a:r>
            <a:endParaRPr/>
          </a:p>
          <a:p>
            <a:pPr marL="0" lvl="0" indent="0" algn="l" rtl="0">
              <a:spcBef>
                <a:spcPts val="370"/>
              </a:spcBef>
              <a:spcAft>
                <a:spcPts val="0"/>
              </a:spcAft>
              <a:buClr>
                <a:schemeClr val="dk1"/>
              </a:buClr>
              <a:buSzPct val="100000"/>
              <a:buNone/>
            </a:pPr>
            <a:r>
              <a:rPr lang="en-US"/>
              <a:t>    "configurations": [</a:t>
            </a:r>
            <a:endParaRPr/>
          </a:p>
          <a:p>
            <a:pPr marL="0" lvl="0" indent="0" algn="l" rtl="0">
              <a:spcBef>
                <a:spcPts val="370"/>
              </a:spcBef>
              <a:spcAft>
                <a:spcPts val="0"/>
              </a:spcAft>
              <a:buClr>
                <a:schemeClr val="dk1"/>
              </a:buClr>
              <a:buSzPct val="100000"/>
              <a:buNone/>
            </a:pPr>
            <a:r>
              <a:rPr lang="en-US"/>
              <a:t>        {</a:t>
            </a:r>
            <a:endParaRPr/>
          </a:p>
          <a:p>
            <a:pPr marL="0" lvl="0" indent="0" algn="l" rtl="0">
              <a:spcBef>
                <a:spcPts val="370"/>
              </a:spcBef>
              <a:spcAft>
                <a:spcPts val="0"/>
              </a:spcAft>
              <a:buClr>
                <a:schemeClr val="dk1"/>
              </a:buClr>
              <a:buSzPct val="100000"/>
              <a:buNone/>
            </a:pPr>
            <a:r>
              <a:rPr lang="en-US"/>
              <a:t>            "type": "node-terminal",</a:t>
            </a:r>
            <a:endParaRPr/>
          </a:p>
          <a:p>
            <a:pPr marL="0" lvl="0" indent="0" algn="l" rtl="0">
              <a:spcBef>
                <a:spcPts val="370"/>
              </a:spcBef>
              <a:spcAft>
                <a:spcPts val="0"/>
              </a:spcAft>
              <a:buClr>
                <a:schemeClr val="dk1"/>
              </a:buClr>
              <a:buSzPct val="100000"/>
              <a:buNone/>
            </a:pPr>
            <a:r>
              <a:rPr lang="en-US"/>
              <a:t>            "request": "launch",</a:t>
            </a:r>
            <a:endParaRPr/>
          </a:p>
          <a:p>
            <a:pPr marL="0" lvl="0" indent="0" algn="l" rtl="0">
              <a:spcBef>
                <a:spcPts val="370"/>
              </a:spcBef>
              <a:spcAft>
                <a:spcPts val="0"/>
              </a:spcAft>
              <a:buClr>
                <a:schemeClr val="dk1"/>
              </a:buClr>
              <a:buSzPct val="100000"/>
              <a:buNone/>
            </a:pPr>
            <a:r>
              <a:rPr lang="en-US"/>
              <a:t>            "name": "Anubhav Trainings CAP Course",</a:t>
            </a:r>
            <a:endParaRPr/>
          </a:p>
          <a:p>
            <a:pPr marL="0" lvl="0" indent="0" algn="l" rtl="0">
              <a:spcBef>
                <a:spcPts val="370"/>
              </a:spcBef>
              <a:spcAft>
                <a:spcPts val="0"/>
              </a:spcAft>
              <a:buClr>
                <a:schemeClr val="dk1"/>
              </a:buClr>
              <a:buSzPct val="100000"/>
              <a:buNone/>
            </a:pPr>
            <a:r>
              <a:rPr lang="en-US"/>
              <a:t>            "skipFiles": [</a:t>
            </a:r>
            <a:endParaRPr/>
          </a:p>
          <a:p>
            <a:pPr marL="0" lvl="0" indent="0" algn="l" rtl="0">
              <a:spcBef>
                <a:spcPts val="370"/>
              </a:spcBef>
              <a:spcAft>
                <a:spcPts val="0"/>
              </a:spcAft>
              <a:buClr>
                <a:schemeClr val="dk1"/>
              </a:buClr>
              <a:buSzPct val="100000"/>
              <a:buNone/>
            </a:pPr>
            <a:r>
              <a:rPr lang="en-US"/>
              <a:t>                "&lt;node_internals&gt;/**"</a:t>
            </a:r>
            <a:endParaRPr/>
          </a:p>
          <a:p>
            <a:pPr marL="0" lvl="0" indent="0" algn="l" rtl="0">
              <a:spcBef>
                <a:spcPts val="370"/>
              </a:spcBef>
              <a:spcAft>
                <a:spcPts val="0"/>
              </a:spcAft>
              <a:buClr>
                <a:schemeClr val="dk1"/>
              </a:buClr>
              <a:buSzPct val="100000"/>
              <a:buNone/>
            </a:pPr>
            <a:r>
              <a:rPr lang="en-US"/>
              <a:t>            ],</a:t>
            </a:r>
            <a:endParaRPr/>
          </a:p>
          <a:p>
            <a:pPr marL="0" lvl="0" indent="0" algn="l" rtl="0">
              <a:spcBef>
                <a:spcPts val="370"/>
              </a:spcBef>
              <a:spcAft>
                <a:spcPts val="0"/>
              </a:spcAft>
              <a:buClr>
                <a:schemeClr val="dk1"/>
              </a:buClr>
              <a:buSzPct val="100000"/>
              <a:buNone/>
            </a:pPr>
            <a:r>
              <a:rPr lang="en-US"/>
              <a:t>            "command" : "cds watch",</a:t>
            </a:r>
            <a:endParaRPr/>
          </a:p>
          <a:p>
            <a:pPr marL="0" lvl="0" indent="0" algn="l" rtl="0">
              <a:spcBef>
                <a:spcPts val="370"/>
              </a:spcBef>
              <a:spcAft>
                <a:spcPts val="0"/>
              </a:spcAft>
              <a:buClr>
                <a:schemeClr val="dk1"/>
              </a:buClr>
              <a:buSzPct val="100000"/>
              <a:buNone/>
            </a:pPr>
            <a:r>
              <a:rPr lang="en-US"/>
              <a:t>            "cwd": "${workspaceFolder}/mycapapp"</a:t>
            </a:r>
            <a:endParaRPr/>
          </a:p>
          <a:p>
            <a:pPr marL="0" lvl="0" indent="0" algn="l" rtl="0">
              <a:spcBef>
                <a:spcPts val="370"/>
              </a:spcBef>
              <a:spcAft>
                <a:spcPts val="0"/>
              </a:spcAft>
              <a:buClr>
                <a:schemeClr val="dk1"/>
              </a:buClr>
              <a:buSzPct val="100000"/>
              <a:buNone/>
            </a:pPr>
            <a:r>
              <a:rPr lang="en-US"/>
              <a:t>        }</a:t>
            </a:r>
            <a:endParaRPr/>
          </a:p>
          <a:p>
            <a:pPr marL="0" lvl="0" indent="0" algn="l" rtl="0">
              <a:spcBef>
                <a:spcPts val="370"/>
              </a:spcBef>
              <a:spcAft>
                <a:spcPts val="0"/>
              </a:spcAft>
              <a:buClr>
                <a:schemeClr val="dk1"/>
              </a:buClr>
              <a:buSzPct val="100000"/>
              <a:buNone/>
            </a:pPr>
            <a:r>
              <a:rPr lang="en-US"/>
              <a:t>    ]</a:t>
            </a:r>
            <a:endParaRPr/>
          </a:p>
          <a:p>
            <a:pPr marL="0" lvl="0" indent="0" algn="l" rtl="0">
              <a:spcBef>
                <a:spcPts val="370"/>
              </a:spcBef>
              <a:spcAft>
                <a:spcPts val="0"/>
              </a:spcAft>
              <a:buClr>
                <a:schemeClr val="dk1"/>
              </a:buClr>
              <a:buSzPct val="100000"/>
              <a:buNone/>
            </a:pPr>
            <a:r>
              <a:rPr lang="en-US"/>
              <a:t>}</a:t>
            </a:r>
            <a:endParaRPr/>
          </a:p>
        </p:txBody>
      </p:sp>
      <p:graphicFrame>
        <p:nvGraphicFramePr>
          <p:cNvPr id="1810" name="Google Shape;1810;p84"/>
          <p:cNvGraphicFramePr/>
          <p:nvPr/>
        </p:nvGraphicFramePr>
        <p:xfrm>
          <a:off x="6733926" y="3861048"/>
          <a:ext cx="3000000" cy="3000000"/>
        </p:xfrm>
        <a:graphic>
          <a:graphicData uri="http://schemas.openxmlformats.org/drawingml/2006/table">
            <a:tbl>
              <a:tblPr firstRow="1" bandRow="1">
                <a:noFill/>
                <a:tableStyleId>{E2589203-8263-40D6-834C-8223FCB96578}</a:tableStyleId>
              </a:tblPr>
              <a:tblGrid>
                <a:gridCol w="1666350">
                  <a:extLst>
                    <a:ext uri="{9D8B030D-6E8A-4147-A177-3AD203B41FA5}">
                      <a16:colId xmlns:a16="http://schemas.microsoft.com/office/drawing/2014/main" val="20000"/>
                    </a:ext>
                  </a:extLst>
                </a:gridCol>
                <a:gridCol w="1666350">
                  <a:extLst>
                    <a:ext uri="{9D8B030D-6E8A-4147-A177-3AD203B41FA5}">
                      <a16:colId xmlns:a16="http://schemas.microsoft.com/office/drawing/2014/main" val="20001"/>
                    </a:ext>
                  </a:extLst>
                </a:gridCol>
                <a:gridCol w="1666350">
                  <a:extLst>
                    <a:ext uri="{9D8B030D-6E8A-4147-A177-3AD203B41FA5}">
                      <a16:colId xmlns:a16="http://schemas.microsoft.com/office/drawing/2014/main" val="20002"/>
                    </a:ext>
                  </a:extLst>
                </a:gridCol>
              </a:tblGrid>
              <a:tr h="175050">
                <a:tc>
                  <a:txBody>
                    <a:bodyPr/>
                    <a:lstStyle/>
                    <a:p>
                      <a:pPr marL="0" marR="0" lvl="0" indent="0" algn="l" rtl="0">
                        <a:spcBef>
                          <a:spcPts val="0"/>
                        </a:spcBef>
                        <a:spcAft>
                          <a:spcPts val="0"/>
                        </a:spcAft>
                        <a:buNone/>
                      </a:pPr>
                      <a:r>
                        <a:rPr lang="en-US" sz="1600"/>
                        <a:t>Debug</a:t>
                      </a:r>
                      <a:endParaRPr/>
                    </a:p>
                  </a:txBody>
                  <a:tcPr marL="91450" marR="91450" marT="45725" marB="45725"/>
                </a:tc>
                <a:tc>
                  <a:txBody>
                    <a:bodyPr/>
                    <a:lstStyle/>
                    <a:p>
                      <a:pPr marL="0" marR="0" lvl="0" indent="0" algn="l" rtl="0">
                        <a:spcBef>
                          <a:spcPts val="0"/>
                        </a:spcBef>
                        <a:spcAft>
                          <a:spcPts val="0"/>
                        </a:spcAft>
                        <a:buNone/>
                      </a:pPr>
                      <a:r>
                        <a:rPr lang="en-US" sz="1600"/>
                        <a:t>ABAP</a:t>
                      </a:r>
                      <a:endParaRPr/>
                    </a:p>
                  </a:txBody>
                  <a:tcPr marL="91450" marR="91450" marT="45725" marB="45725"/>
                </a:tc>
                <a:tc>
                  <a:txBody>
                    <a:bodyPr/>
                    <a:lstStyle/>
                    <a:p>
                      <a:pPr marL="0" marR="0" lvl="0" indent="0" algn="l" rtl="0">
                        <a:spcBef>
                          <a:spcPts val="0"/>
                        </a:spcBef>
                        <a:spcAft>
                          <a:spcPts val="0"/>
                        </a:spcAft>
                        <a:buNone/>
                      </a:pPr>
                      <a:r>
                        <a:rPr lang="en-US" sz="1600"/>
                        <a:t>CAP NodejS</a:t>
                      </a:r>
                      <a:endParaRPr sz="1600"/>
                    </a:p>
                  </a:txBody>
                  <a:tcPr marL="91450" marR="91450" marT="45725" marB="45725"/>
                </a:tc>
                <a:extLst>
                  <a:ext uri="{0D108BD9-81ED-4DB2-BD59-A6C34878D82A}">
                    <a16:rowId xmlns:a16="http://schemas.microsoft.com/office/drawing/2014/main" val="10000"/>
                  </a:ext>
                </a:extLst>
              </a:tr>
              <a:tr h="372700">
                <a:tc>
                  <a:txBody>
                    <a:bodyPr/>
                    <a:lstStyle/>
                    <a:p>
                      <a:pPr marL="0" marR="0" lvl="0" indent="0" algn="l" rtl="0">
                        <a:spcBef>
                          <a:spcPts val="0"/>
                        </a:spcBef>
                        <a:spcAft>
                          <a:spcPts val="0"/>
                        </a:spcAft>
                        <a:buNone/>
                      </a:pPr>
                      <a:r>
                        <a:rPr lang="en-US" sz="1600"/>
                        <a:t>Step over</a:t>
                      </a:r>
                      <a:endParaRPr/>
                    </a:p>
                  </a:txBody>
                  <a:tcPr marL="91450" marR="91450" marT="45725" marB="45725"/>
                </a:tc>
                <a:tc>
                  <a:txBody>
                    <a:bodyPr/>
                    <a:lstStyle/>
                    <a:p>
                      <a:pPr marL="0" marR="0" lvl="0" indent="0" algn="l" rtl="0">
                        <a:spcBef>
                          <a:spcPts val="0"/>
                        </a:spcBef>
                        <a:spcAft>
                          <a:spcPts val="0"/>
                        </a:spcAft>
                        <a:buNone/>
                      </a:pPr>
                      <a:r>
                        <a:rPr lang="en-US" sz="1600"/>
                        <a:t>F6</a:t>
                      </a:r>
                      <a:endParaRPr/>
                    </a:p>
                  </a:txBody>
                  <a:tcPr marL="91450" marR="91450" marT="45725" marB="45725"/>
                </a:tc>
                <a:tc>
                  <a:txBody>
                    <a:bodyPr/>
                    <a:lstStyle/>
                    <a:p>
                      <a:pPr marL="0" marR="0" lvl="0" indent="0" algn="l" rtl="0">
                        <a:spcBef>
                          <a:spcPts val="0"/>
                        </a:spcBef>
                        <a:spcAft>
                          <a:spcPts val="0"/>
                        </a:spcAft>
                        <a:buNone/>
                      </a:pPr>
                      <a:r>
                        <a:rPr lang="en-US" sz="1600"/>
                        <a:t>F10</a:t>
                      </a:r>
                      <a:endParaRPr/>
                    </a:p>
                  </a:txBody>
                  <a:tcPr marL="91450" marR="91450" marT="45725" marB="45725"/>
                </a:tc>
                <a:extLst>
                  <a:ext uri="{0D108BD9-81ED-4DB2-BD59-A6C34878D82A}">
                    <a16:rowId xmlns:a16="http://schemas.microsoft.com/office/drawing/2014/main" val="10001"/>
                  </a:ext>
                </a:extLst>
              </a:tr>
              <a:tr h="372700">
                <a:tc>
                  <a:txBody>
                    <a:bodyPr/>
                    <a:lstStyle/>
                    <a:p>
                      <a:pPr marL="0" marR="0" lvl="0" indent="0" algn="l" rtl="0">
                        <a:spcBef>
                          <a:spcPts val="0"/>
                        </a:spcBef>
                        <a:spcAft>
                          <a:spcPts val="0"/>
                        </a:spcAft>
                        <a:buNone/>
                      </a:pPr>
                      <a:r>
                        <a:rPr lang="en-US" sz="1600"/>
                        <a:t>Step In</a:t>
                      </a:r>
                      <a:endParaRPr/>
                    </a:p>
                  </a:txBody>
                  <a:tcPr marL="91450" marR="91450" marT="45725" marB="45725"/>
                </a:tc>
                <a:tc>
                  <a:txBody>
                    <a:bodyPr/>
                    <a:lstStyle/>
                    <a:p>
                      <a:pPr marL="0" marR="0" lvl="0" indent="0" algn="l" rtl="0">
                        <a:spcBef>
                          <a:spcPts val="0"/>
                        </a:spcBef>
                        <a:spcAft>
                          <a:spcPts val="0"/>
                        </a:spcAft>
                        <a:buNone/>
                      </a:pPr>
                      <a:r>
                        <a:rPr lang="en-US" sz="1600"/>
                        <a:t>F5</a:t>
                      </a:r>
                      <a:endParaRPr/>
                    </a:p>
                  </a:txBody>
                  <a:tcPr marL="91450" marR="91450" marT="45725" marB="45725"/>
                </a:tc>
                <a:tc>
                  <a:txBody>
                    <a:bodyPr/>
                    <a:lstStyle/>
                    <a:p>
                      <a:pPr marL="0" marR="0" lvl="0" indent="0" algn="l" rtl="0">
                        <a:spcBef>
                          <a:spcPts val="0"/>
                        </a:spcBef>
                        <a:spcAft>
                          <a:spcPts val="0"/>
                        </a:spcAft>
                        <a:buNone/>
                      </a:pPr>
                      <a:r>
                        <a:rPr lang="en-US" sz="1600"/>
                        <a:t>F11</a:t>
                      </a:r>
                      <a:endParaRPr/>
                    </a:p>
                  </a:txBody>
                  <a:tcPr marL="91450" marR="91450" marT="45725" marB="45725"/>
                </a:tc>
                <a:extLst>
                  <a:ext uri="{0D108BD9-81ED-4DB2-BD59-A6C34878D82A}">
                    <a16:rowId xmlns:a16="http://schemas.microsoft.com/office/drawing/2014/main" val="10002"/>
                  </a:ext>
                </a:extLst>
              </a:tr>
              <a:tr h="372700">
                <a:tc>
                  <a:txBody>
                    <a:bodyPr/>
                    <a:lstStyle/>
                    <a:p>
                      <a:pPr marL="0" marR="0" lvl="0" indent="0" algn="l" rtl="0">
                        <a:spcBef>
                          <a:spcPts val="0"/>
                        </a:spcBef>
                        <a:spcAft>
                          <a:spcPts val="0"/>
                        </a:spcAft>
                        <a:buNone/>
                      </a:pPr>
                      <a:r>
                        <a:rPr lang="en-US" sz="1600"/>
                        <a:t>Step Out</a:t>
                      </a:r>
                      <a:endParaRPr/>
                    </a:p>
                  </a:txBody>
                  <a:tcPr marL="91450" marR="91450" marT="45725" marB="45725"/>
                </a:tc>
                <a:tc>
                  <a:txBody>
                    <a:bodyPr/>
                    <a:lstStyle/>
                    <a:p>
                      <a:pPr marL="0" marR="0" lvl="0" indent="0" algn="l" rtl="0">
                        <a:spcBef>
                          <a:spcPts val="0"/>
                        </a:spcBef>
                        <a:spcAft>
                          <a:spcPts val="0"/>
                        </a:spcAft>
                        <a:buNone/>
                      </a:pPr>
                      <a:r>
                        <a:rPr lang="en-US" sz="1600"/>
                        <a:t>F7</a:t>
                      </a:r>
                      <a:endParaRPr/>
                    </a:p>
                  </a:txBody>
                  <a:tcPr marL="91450" marR="91450" marT="45725" marB="45725"/>
                </a:tc>
                <a:tc>
                  <a:txBody>
                    <a:bodyPr/>
                    <a:lstStyle/>
                    <a:p>
                      <a:pPr marL="0" marR="0" lvl="0" indent="0" algn="l" rtl="0">
                        <a:spcBef>
                          <a:spcPts val="0"/>
                        </a:spcBef>
                        <a:spcAft>
                          <a:spcPts val="0"/>
                        </a:spcAft>
                        <a:buNone/>
                      </a:pPr>
                      <a:r>
                        <a:rPr lang="en-US" sz="1600"/>
                        <a:t>Shift+F11</a:t>
                      </a:r>
                      <a:endParaRPr/>
                    </a:p>
                  </a:txBody>
                  <a:tcPr marL="91450" marR="91450" marT="45725" marB="45725"/>
                </a:tc>
                <a:extLst>
                  <a:ext uri="{0D108BD9-81ED-4DB2-BD59-A6C34878D82A}">
                    <a16:rowId xmlns:a16="http://schemas.microsoft.com/office/drawing/2014/main" val="10003"/>
                  </a:ext>
                </a:extLst>
              </a:tr>
              <a:tr h="372700">
                <a:tc>
                  <a:txBody>
                    <a:bodyPr/>
                    <a:lstStyle/>
                    <a:p>
                      <a:pPr marL="0" marR="0" lvl="0" indent="0" algn="l" rtl="0">
                        <a:spcBef>
                          <a:spcPts val="0"/>
                        </a:spcBef>
                        <a:spcAft>
                          <a:spcPts val="0"/>
                        </a:spcAft>
                        <a:buNone/>
                      </a:pPr>
                      <a:r>
                        <a:rPr lang="en-US" sz="1600"/>
                        <a:t>Continue</a:t>
                      </a:r>
                      <a:endParaRPr/>
                    </a:p>
                  </a:txBody>
                  <a:tcPr marL="91450" marR="91450" marT="45725" marB="45725"/>
                </a:tc>
                <a:tc>
                  <a:txBody>
                    <a:bodyPr/>
                    <a:lstStyle/>
                    <a:p>
                      <a:pPr marL="0" marR="0" lvl="0" indent="0" algn="l" rtl="0">
                        <a:spcBef>
                          <a:spcPts val="0"/>
                        </a:spcBef>
                        <a:spcAft>
                          <a:spcPts val="0"/>
                        </a:spcAft>
                        <a:buNone/>
                      </a:pPr>
                      <a:r>
                        <a:rPr lang="en-US" sz="1600"/>
                        <a:t>F8</a:t>
                      </a:r>
                      <a:endParaRPr/>
                    </a:p>
                  </a:txBody>
                  <a:tcPr marL="91450" marR="91450" marT="45725" marB="45725"/>
                </a:tc>
                <a:tc>
                  <a:txBody>
                    <a:bodyPr/>
                    <a:lstStyle/>
                    <a:p>
                      <a:pPr marL="0" marR="0" lvl="0" indent="0" algn="l" rtl="0">
                        <a:spcBef>
                          <a:spcPts val="0"/>
                        </a:spcBef>
                        <a:spcAft>
                          <a:spcPts val="0"/>
                        </a:spcAft>
                        <a:buNone/>
                      </a:pPr>
                      <a:r>
                        <a:rPr lang="en-US" sz="1600"/>
                        <a:t>F5</a:t>
                      </a:r>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815"/>
        <p:cNvGrpSpPr/>
        <p:nvPr/>
      </p:nvGrpSpPr>
      <p:grpSpPr>
        <a:xfrm>
          <a:off x="0" y="0"/>
          <a:ext cx="0" cy="0"/>
          <a:chOff x="0" y="0"/>
          <a:chExt cx="0" cy="0"/>
        </a:xfrm>
      </p:grpSpPr>
      <p:sp>
        <p:nvSpPr>
          <p:cNvPr id="1816" name="Google Shape;1816;p85"/>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Functions and Actions</a:t>
            </a:r>
            <a:endParaRPr/>
          </a:p>
        </p:txBody>
      </p:sp>
      <p:sp>
        <p:nvSpPr>
          <p:cNvPr id="1817" name="Google Shape;1817;p85"/>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Functions and Actions are non-standard operations in CAPM. Unlike the standard CRUD, they serve special purpose to run domain specific operations. These can be instance-bound or Non instance-bound (connected to an entity). If they are instance bound, the entity KEY will be passed automatically as a input to these handlers.</a:t>
            </a:r>
            <a:endParaRPr/>
          </a:p>
          <a:p>
            <a:pPr marL="0" lvl="0" indent="0" algn="l" rtl="0">
              <a:spcBef>
                <a:spcPts val="360"/>
              </a:spcBef>
              <a:spcAft>
                <a:spcPts val="0"/>
              </a:spcAft>
              <a:buClr>
                <a:schemeClr val="dk1"/>
              </a:buClr>
              <a:buSzPts val="1800"/>
              <a:buNone/>
            </a:pPr>
            <a:r>
              <a:rPr lang="en-US" sz="1800" b="1"/>
              <a:t>Functions</a:t>
            </a:r>
            <a:r>
              <a:rPr lang="en-US" sz="1800"/>
              <a:t> – like function import in abap odata service. They are side-effect free operations because they are just used to GET the data. They always return data in output either one entity instance (one record) or multiple entity instances (multiple records). E.g. write some logic to get top 3 most expensive purchase order.</a:t>
            </a:r>
            <a:endParaRPr/>
          </a:p>
          <a:p>
            <a:pPr marL="0" lvl="0" indent="0" algn="l" rtl="0">
              <a:spcBef>
                <a:spcPts val="360"/>
              </a:spcBef>
              <a:spcAft>
                <a:spcPts val="0"/>
              </a:spcAft>
              <a:buClr>
                <a:schemeClr val="dk1"/>
              </a:buClr>
              <a:buSzPts val="1800"/>
              <a:buNone/>
            </a:pPr>
            <a:r>
              <a:rPr lang="en-US" sz="1800" b="1"/>
              <a:t>Actions</a:t>
            </a:r>
            <a:r>
              <a:rPr lang="en-US" sz="1800"/>
              <a:t> – Called by POST calls, they can cause side-effect because they have ability to modify, create new data in the database. E.g. implement a boost functionality to boost </a:t>
            </a:r>
            <a:r>
              <a:rPr lang="en-US" sz="1800" b="1"/>
              <a:t>a purchase order </a:t>
            </a:r>
            <a:r>
              <a:rPr lang="en-US" sz="1800"/>
              <a:t>value by 20000.</a:t>
            </a:r>
            <a:endParaRPr/>
          </a:p>
          <a:p>
            <a:pPr marL="0" lvl="0" indent="0" algn="l" rtl="0">
              <a:spcBef>
                <a:spcPts val="360"/>
              </a:spcBef>
              <a:spcAft>
                <a:spcPts val="0"/>
              </a:spcAft>
              <a:buClr>
                <a:schemeClr val="dk1"/>
              </a:buClr>
              <a:buSzPts val="1800"/>
              <a:buNone/>
            </a:pPr>
            <a:endParaRPr sz="1800" b="1"/>
          </a:p>
          <a:p>
            <a:pPr marL="0" lvl="0" indent="0" algn="l" rtl="0">
              <a:spcBef>
                <a:spcPts val="360"/>
              </a:spcBef>
              <a:spcAft>
                <a:spcPts val="0"/>
              </a:spcAft>
              <a:buClr>
                <a:schemeClr val="dk1"/>
              </a:buClr>
              <a:buSzPts val="1800"/>
              <a:buNone/>
            </a:pPr>
            <a:r>
              <a:rPr lang="en-US" sz="1800" b="1"/>
              <a:t>CDS QL – CDS Query Language</a:t>
            </a:r>
            <a:endParaRPr/>
          </a:p>
          <a:p>
            <a:pPr marL="0" lvl="0" indent="0" algn="l" rtl="0">
              <a:spcBef>
                <a:spcPts val="360"/>
              </a:spcBef>
              <a:spcAft>
                <a:spcPts val="0"/>
              </a:spcAft>
              <a:buClr>
                <a:schemeClr val="dk1"/>
              </a:buClr>
              <a:buSzPts val="1800"/>
              <a:buNone/>
            </a:pPr>
            <a:r>
              <a:rPr lang="en-US" sz="1800"/>
              <a:t>Often the function and actions implementation is done with the help of cql which is a DB agnostic language to produce calls to database. We as a developer interact with database using Type-safe APIs, by not writing direct SQL to db. It offers APIs like SELECT, UPDATE, tx, CREATE to perform various database operations for customized implementation.</a:t>
            </a:r>
            <a:endParaRPr/>
          </a:p>
          <a:p>
            <a:pPr marL="0" lvl="0" indent="0" algn="l" rtl="0">
              <a:spcBef>
                <a:spcPts val="360"/>
              </a:spcBef>
              <a:spcAft>
                <a:spcPts val="0"/>
              </a:spcAft>
              <a:buClr>
                <a:schemeClr val="dk1"/>
              </a:buClr>
              <a:buSzPts val="1800"/>
              <a:buNone/>
            </a:pPr>
            <a:r>
              <a:rPr lang="en-US" sz="1800" u="sng">
                <a:solidFill>
                  <a:schemeClr val="hlink"/>
                </a:solidFill>
                <a:hlinkClick r:id="rId3"/>
              </a:rPr>
              <a:t>https://cap.cloud.sap/docs/node.js/cds-ql#select</a:t>
            </a:r>
            <a:endParaRPr sz="1800"/>
          </a:p>
          <a:p>
            <a:pPr marL="0" lvl="0" indent="0" algn="l" rtl="0">
              <a:spcBef>
                <a:spcPts val="360"/>
              </a:spcBef>
              <a:spcAft>
                <a:spcPts val="0"/>
              </a:spcAft>
              <a:buClr>
                <a:schemeClr val="dk1"/>
              </a:buClr>
              <a:buSzPts val="1800"/>
              <a:buNone/>
            </a:pPr>
            <a:r>
              <a:rPr lang="en-US" sz="1800"/>
              <a:t>General Thumb Rule – </a:t>
            </a:r>
            <a:r>
              <a:rPr lang="en-US" sz="1800" b="1"/>
              <a:t>Define, Implement, Test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829"/>
        <p:cNvGrpSpPr/>
        <p:nvPr/>
      </p:nvGrpSpPr>
      <p:grpSpPr>
        <a:xfrm>
          <a:off x="0" y="0"/>
          <a:ext cx="0" cy="0"/>
          <a:chOff x="0" y="0"/>
          <a:chExt cx="0" cy="0"/>
        </a:xfrm>
      </p:grpSpPr>
      <p:sp>
        <p:nvSpPr>
          <p:cNvPr id="1830" name="Google Shape;1830;p8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V2 v/s V4</a:t>
            </a:r>
            <a:endParaRPr/>
          </a:p>
        </p:txBody>
      </p:sp>
      <p:pic>
        <p:nvPicPr>
          <p:cNvPr id="1831" name="Google Shape;1831;p87"/>
          <p:cNvPicPr preferRelativeResize="0"/>
          <p:nvPr/>
        </p:nvPicPr>
        <p:blipFill rotWithShape="1">
          <a:blip r:embed="rId3">
            <a:alphaModFix/>
          </a:blip>
          <a:srcRect/>
          <a:stretch/>
        </p:blipFill>
        <p:spPr>
          <a:xfrm>
            <a:off x="223863" y="876453"/>
            <a:ext cx="11495013" cy="510509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836"/>
        <p:cNvGrpSpPr/>
        <p:nvPr/>
      </p:nvGrpSpPr>
      <p:grpSpPr>
        <a:xfrm>
          <a:off x="0" y="0"/>
          <a:ext cx="0" cy="0"/>
          <a:chOff x="0" y="0"/>
          <a:chExt cx="0" cy="0"/>
        </a:xfrm>
      </p:grpSpPr>
      <p:sp>
        <p:nvSpPr>
          <p:cNvPr id="1837" name="Google Shape;1837;p8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Virtual Elements</a:t>
            </a:r>
            <a:endParaRPr/>
          </a:p>
        </p:txBody>
      </p:sp>
      <p:sp>
        <p:nvSpPr>
          <p:cNvPr id="1838" name="Google Shape;1838;p88"/>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These are the fields which are added and computed in services at runtime, and they do not persists in the database. Sometimes in business applications we need to do computations at runtime, however we don’t want the data to be stored in the database. E.g. I want to show total cost of an order by multiplying amount X quantity.</a:t>
            </a:r>
            <a:endParaRPr/>
          </a:p>
          <a:p>
            <a:pPr marL="0" lvl="0" indent="0" algn="l" rtl="0">
              <a:spcBef>
                <a:spcPts val="360"/>
              </a:spcBef>
              <a:spcAft>
                <a:spcPts val="0"/>
              </a:spcAft>
              <a:buClr>
                <a:schemeClr val="dk1"/>
              </a:buClr>
              <a:buSzPts val="1800"/>
              <a:buNone/>
            </a:pPr>
            <a:r>
              <a:rPr lang="en-US" sz="1800"/>
              <a:t>When we want to calculate something based on formulas @ runtime.</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Use Case: We have products data coming from CDS View, my manager asked me to also show with every product a count. The count will tell us, how many times that product was ordered.</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843"/>
        <p:cNvGrpSpPr/>
        <p:nvPr/>
      </p:nvGrpSpPr>
      <p:grpSpPr>
        <a:xfrm>
          <a:off x="0" y="0"/>
          <a:ext cx="0" cy="0"/>
          <a:chOff x="0" y="0"/>
          <a:chExt cx="0" cy="0"/>
        </a:xfrm>
      </p:grpSpPr>
      <p:sp>
        <p:nvSpPr>
          <p:cNvPr id="1844" name="Google Shape;1844;p8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1845" name="Google Shape;1845;p89"/>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SELECT ProductId, count(ProductId) as </a:t>
            </a:r>
            <a:r>
              <a:rPr lang="en-US" sz="1800" b="1"/>
              <a:t>anubhav </a:t>
            </a:r>
            <a:r>
              <a:rPr lang="en-US" sz="1800"/>
              <a:t>FROM ItemSet</a:t>
            </a:r>
            <a:endParaRPr sz="1800"/>
          </a:p>
          <a:p>
            <a:pPr marL="0" lvl="0" indent="0" algn="l" rtl="0">
              <a:spcBef>
                <a:spcPts val="360"/>
              </a:spcBef>
              <a:spcAft>
                <a:spcPts val="0"/>
              </a:spcAft>
              <a:buClr>
                <a:schemeClr val="dk1"/>
              </a:buClr>
              <a:buSzPts val="1800"/>
              <a:buNone/>
            </a:pPr>
            <a:r>
              <a:rPr lang="en-US" sz="1800" b="1"/>
              <a:t>GROUP BY ProductId</a:t>
            </a:r>
            <a:endParaRPr sz="1800" b="1"/>
          </a:p>
          <a:p>
            <a:pPr marL="0" lvl="0" indent="0" algn="l" rtl="0">
              <a:spcBef>
                <a:spcPts val="360"/>
              </a:spcBef>
              <a:spcAft>
                <a:spcPts val="0"/>
              </a:spcAft>
              <a:buClr>
                <a:schemeClr val="dk1"/>
              </a:buClr>
              <a:buSzPts val="1800"/>
              <a:buNone/>
            </a:pPr>
            <a:r>
              <a:rPr lang="en-US" sz="1800" b="1"/>
              <a:t>WHERE ProductID IN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850"/>
        <p:cNvGrpSpPr/>
        <p:nvPr/>
      </p:nvGrpSpPr>
      <p:grpSpPr>
        <a:xfrm>
          <a:off x="0" y="0"/>
          <a:ext cx="0" cy="0"/>
          <a:chOff x="0" y="0"/>
          <a:chExt cx="0" cy="0"/>
        </a:xfrm>
      </p:grpSpPr>
      <p:sp>
        <p:nvSpPr>
          <p:cNvPr id="1851" name="Google Shape;1851;p9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Fiori Element</a:t>
            </a:r>
            <a:endParaRPr/>
          </a:p>
        </p:txBody>
      </p:sp>
      <p:sp>
        <p:nvSpPr>
          <p:cNvPr id="1852" name="Google Shape;1852;p90"/>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Fiori Elements is a farmwork to design and develop Fiori apps. You don’t need to learn coding of JS, HTML, CSS etc. The framework offers pre-defined templates to create end to end applications which are responsive. The UI Code is generated by SAP out-of-box.</a:t>
            </a:r>
            <a:endParaRPr/>
          </a:p>
          <a:p>
            <a:pPr marL="0" lvl="0" indent="0" algn="l" rtl="0">
              <a:spcBef>
                <a:spcPts val="360"/>
              </a:spcBef>
              <a:spcAft>
                <a:spcPts val="0"/>
              </a:spcAft>
              <a:buClr>
                <a:schemeClr val="dk1"/>
              </a:buClr>
              <a:buSzPts val="1800"/>
              <a:buNone/>
            </a:pPr>
            <a:endParaRPr sz="1800" b="1"/>
          </a:p>
          <a:p>
            <a:pPr marL="285750" lvl="0" indent="-285750" algn="l" rtl="0">
              <a:spcBef>
                <a:spcPts val="360"/>
              </a:spcBef>
              <a:spcAft>
                <a:spcPts val="0"/>
              </a:spcAft>
              <a:buClr>
                <a:schemeClr val="dk1"/>
              </a:buClr>
              <a:buSzPts val="1800"/>
              <a:buFont typeface="Arial"/>
              <a:buChar char="•"/>
            </a:pPr>
            <a:r>
              <a:rPr lang="en-US" sz="1800" b="1"/>
              <a:t>List Report Template – Fully transactional app </a:t>
            </a:r>
            <a:endParaRPr/>
          </a:p>
          <a:p>
            <a:pPr marL="285750" lvl="0" indent="-285750" algn="l" rtl="0">
              <a:spcBef>
                <a:spcPts val="360"/>
              </a:spcBef>
              <a:spcAft>
                <a:spcPts val="0"/>
              </a:spcAft>
              <a:buClr>
                <a:schemeClr val="dk1"/>
              </a:buClr>
              <a:buSzPts val="1800"/>
              <a:buFont typeface="Arial"/>
              <a:buChar char="•"/>
            </a:pPr>
            <a:r>
              <a:rPr lang="en-US" sz="1800" b="1"/>
              <a:t>Overview page</a:t>
            </a:r>
            <a:endParaRPr/>
          </a:p>
          <a:p>
            <a:pPr marL="285750" lvl="0" indent="-285750" algn="l" rtl="0">
              <a:spcBef>
                <a:spcPts val="360"/>
              </a:spcBef>
              <a:spcAft>
                <a:spcPts val="0"/>
              </a:spcAft>
              <a:buClr>
                <a:schemeClr val="dk1"/>
              </a:buClr>
              <a:buSzPts val="1800"/>
              <a:buFont typeface="Arial"/>
              <a:buChar char="•"/>
            </a:pPr>
            <a:r>
              <a:rPr lang="en-US" sz="1800" b="1"/>
              <a:t>Analytic List Page</a:t>
            </a:r>
            <a:endParaRPr/>
          </a:p>
          <a:p>
            <a:pPr marL="285750" lvl="0" indent="-285750" algn="l" rtl="0">
              <a:spcBef>
                <a:spcPts val="360"/>
              </a:spcBef>
              <a:spcAft>
                <a:spcPts val="0"/>
              </a:spcAft>
              <a:buClr>
                <a:schemeClr val="dk1"/>
              </a:buClr>
              <a:buSzPts val="1800"/>
              <a:buFont typeface="Arial"/>
              <a:buChar char="•"/>
            </a:pPr>
            <a:r>
              <a:rPr lang="en-US" sz="1800" b="1"/>
              <a:t>Worklist App</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856"/>
        <p:cNvGrpSpPr/>
        <p:nvPr/>
      </p:nvGrpSpPr>
      <p:grpSpPr>
        <a:xfrm>
          <a:off x="0" y="0"/>
          <a:ext cx="0" cy="0"/>
          <a:chOff x="0" y="0"/>
          <a:chExt cx="0" cy="0"/>
        </a:xfrm>
      </p:grpSpPr>
      <p:sp>
        <p:nvSpPr>
          <p:cNvPr id="1857" name="Google Shape;1857;p91"/>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rgbClr val="000000"/>
              </a:buClr>
              <a:buSzPts val="3200"/>
              <a:buFont typeface="Corben"/>
              <a:buNone/>
            </a:pPr>
            <a:r>
              <a:rPr lang="en-US" sz="3200" b="0" i="0" u="none" strike="noStrike" cap="none">
                <a:solidFill>
                  <a:srgbClr val="000000"/>
                </a:solidFill>
                <a:latin typeface="Corben"/>
                <a:ea typeface="Corben"/>
                <a:cs typeface="Corben"/>
                <a:sym typeface="Corben"/>
              </a:rPr>
              <a:t>Fiori Elements – Key benefits</a:t>
            </a:r>
            <a:endParaRPr sz="3200" b="0" i="0" u="none" strike="noStrike" cap="none">
              <a:solidFill>
                <a:srgbClr val="000000"/>
              </a:solidFill>
              <a:latin typeface="Corben"/>
              <a:ea typeface="Corben"/>
              <a:cs typeface="Corben"/>
              <a:sym typeface="Corben"/>
            </a:endParaRPr>
          </a:p>
        </p:txBody>
      </p:sp>
      <p:sp>
        <p:nvSpPr>
          <p:cNvPr id="1858" name="Google Shape;1858;p91"/>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2060"/>
              </a:buClr>
              <a:buSzPts val="1200"/>
              <a:buFont typeface="Corben"/>
              <a:buNone/>
            </a:pPr>
            <a:r>
              <a:rPr lang="en-US" sz="1200" b="0" i="0" u="none" strike="noStrike" cap="none">
                <a:solidFill>
                  <a:srgbClr val="002060"/>
                </a:solidFill>
                <a:latin typeface="Corben"/>
                <a:ea typeface="Corben"/>
                <a:cs typeface="Corben"/>
                <a:sym typeface="Corben"/>
              </a:rPr>
              <a:t>www.anubhavtrainings.com</a:t>
            </a:r>
            <a:endParaRPr sz="1200" b="0" i="0" u="none" strike="noStrike" cap="none">
              <a:solidFill>
                <a:srgbClr val="002060"/>
              </a:solidFill>
              <a:latin typeface="Corben"/>
              <a:ea typeface="Corben"/>
              <a:cs typeface="Corben"/>
              <a:sym typeface="Corben"/>
            </a:endParaRPr>
          </a:p>
        </p:txBody>
      </p:sp>
      <p:pic>
        <p:nvPicPr>
          <p:cNvPr id="1859" name="Google Shape;1859;p91"/>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1860" name="Google Shape;1860;p91"/>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11</a:t>
            </a:r>
            <a:endParaRPr sz="1100" b="0" i="0" u="none" strike="noStrike" cap="none">
              <a:solidFill>
                <a:srgbClr val="000000"/>
              </a:solidFill>
              <a:latin typeface="Calibri"/>
              <a:ea typeface="Calibri"/>
              <a:cs typeface="Calibri"/>
              <a:sym typeface="Calibri"/>
            </a:endParaRPr>
          </a:p>
        </p:txBody>
      </p:sp>
      <p:pic>
        <p:nvPicPr>
          <p:cNvPr id="1861" name="Google Shape;1861;p91"/>
          <p:cNvPicPr preferRelativeResize="0"/>
          <p:nvPr/>
        </p:nvPicPr>
        <p:blipFill rotWithShape="1">
          <a:blip r:embed="rId4">
            <a:alphaModFix/>
          </a:blip>
          <a:srcRect l="907"/>
          <a:stretch/>
        </p:blipFill>
        <p:spPr>
          <a:xfrm>
            <a:off x="261906" y="792523"/>
            <a:ext cx="11453485" cy="532087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6" name="Google Shape;1866;p92"/>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rgbClr val="000000"/>
              </a:buClr>
              <a:buSzPts val="3200"/>
              <a:buFont typeface="Corben"/>
              <a:buNone/>
            </a:pPr>
            <a:r>
              <a:rPr lang="en-US" sz="3200" b="0" i="0" u="none" strike="noStrike" cap="none">
                <a:solidFill>
                  <a:srgbClr val="000000"/>
                </a:solidFill>
                <a:latin typeface="Corben"/>
                <a:ea typeface="Corben"/>
                <a:cs typeface="Corben"/>
                <a:sym typeface="Corben"/>
              </a:rPr>
              <a:t>Features</a:t>
            </a:r>
            <a:endParaRPr sz="3200" b="0" i="0" u="none" strike="noStrike" cap="none">
              <a:solidFill>
                <a:srgbClr val="000000"/>
              </a:solidFill>
              <a:latin typeface="Corben"/>
              <a:ea typeface="Corben"/>
              <a:cs typeface="Corben"/>
              <a:sym typeface="Corben"/>
            </a:endParaRPr>
          </a:p>
        </p:txBody>
      </p:sp>
      <p:sp>
        <p:nvSpPr>
          <p:cNvPr id="1867" name="Google Shape;1867;p92"/>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2060"/>
              </a:buClr>
              <a:buSzPts val="1200"/>
              <a:buFont typeface="Corben"/>
              <a:buNone/>
            </a:pPr>
            <a:r>
              <a:rPr lang="en-US" sz="1200" b="0" i="0" u="none" strike="noStrike" cap="none">
                <a:solidFill>
                  <a:srgbClr val="002060"/>
                </a:solidFill>
                <a:latin typeface="Corben"/>
                <a:ea typeface="Corben"/>
                <a:cs typeface="Corben"/>
                <a:sym typeface="Corben"/>
              </a:rPr>
              <a:t>www.anubhavtrainings.com</a:t>
            </a:r>
            <a:endParaRPr sz="1200" b="0" i="0" u="none" strike="noStrike" cap="none">
              <a:solidFill>
                <a:srgbClr val="002060"/>
              </a:solidFill>
              <a:latin typeface="Corben"/>
              <a:ea typeface="Corben"/>
              <a:cs typeface="Corben"/>
              <a:sym typeface="Corben"/>
            </a:endParaRPr>
          </a:p>
        </p:txBody>
      </p:sp>
      <p:pic>
        <p:nvPicPr>
          <p:cNvPr id="1868" name="Google Shape;1868;p92"/>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1869" name="Google Shape;1869;p92"/>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11</a:t>
            </a:r>
            <a:endParaRPr sz="1100" b="0" i="0" u="none" strike="noStrike" cap="none">
              <a:solidFill>
                <a:srgbClr val="000000"/>
              </a:solidFill>
              <a:latin typeface="Calibri"/>
              <a:ea typeface="Calibri"/>
              <a:cs typeface="Calibri"/>
              <a:sym typeface="Calibri"/>
            </a:endParaRPr>
          </a:p>
        </p:txBody>
      </p:sp>
      <p:pic>
        <p:nvPicPr>
          <p:cNvPr id="1870" name="Google Shape;1870;p92"/>
          <p:cNvPicPr preferRelativeResize="0"/>
          <p:nvPr/>
        </p:nvPicPr>
        <p:blipFill rotWithShape="1">
          <a:blip r:embed="rId4">
            <a:alphaModFix/>
          </a:blip>
          <a:srcRect/>
          <a:stretch/>
        </p:blipFill>
        <p:spPr>
          <a:xfrm>
            <a:off x="549796" y="764704"/>
            <a:ext cx="11137885" cy="548848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874"/>
        <p:cNvGrpSpPr/>
        <p:nvPr/>
      </p:nvGrpSpPr>
      <p:grpSpPr>
        <a:xfrm>
          <a:off x="0" y="0"/>
          <a:ext cx="0" cy="0"/>
          <a:chOff x="0" y="0"/>
          <a:chExt cx="0" cy="0"/>
        </a:xfrm>
      </p:grpSpPr>
      <p:sp>
        <p:nvSpPr>
          <p:cNvPr id="1875" name="Google Shape;1875;p93"/>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rgbClr val="000000"/>
              </a:buClr>
              <a:buSzPts val="3200"/>
              <a:buFont typeface="Corben"/>
              <a:buNone/>
            </a:pPr>
            <a:r>
              <a:rPr lang="en-US" sz="3200" b="0" i="0" u="none" strike="noStrike" cap="none">
                <a:solidFill>
                  <a:srgbClr val="000000"/>
                </a:solidFill>
                <a:latin typeface="Corben"/>
                <a:ea typeface="Corben"/>
                <a:cs typeface="Corben"/>
                <a:sym typeface="Corben"/>
              </a:rPr>
              <a:t>Steps to be followed</a:t>
            </a:r>
            <a:endParaRPr sz="3200" b="0" i="0" u="none" strike="noStrike" cap="none">
              <a:solidFill>
                <a:srgbClr val="000000"/>
              </a:solidFill>
              <a:latin typeface="Corben"/>
              <a:ea typeface="Corben"/>
              <a:cs typeface="Corben"/>
              <a:sym typeface="Corben"/>
            </a:endParaRPr>
          </a:p>
        </p:txBody>
      </p:sp>
      <p:sp>
        <p:nvSpPr>
          <p:cNvPr id="1876" name="Google Shape;1876;p93"/>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2060"/>
              </a:buClr>
              <a:buSzPts val="1200"/>
              <a:buFont typeface="Corben"/>
              <a:buNone/>
            </a:pPr>
            <a:r>
              <a:rPr lang="en-US" sz="1200" b="0" i="0" u="none" strike="noStrike" cap="none">
                <a:solidFill>
                  <a:srgbClr val="002060"/>
                </a:solidFill>
                <a:latin typeface="Corben"/>
                <a:ea typeface="Corben"/>
                <a:cs typeface="Corben"/>
                <a:sym typeface="Corben"/>
              </a:rPr>
              <a:t>www.anubhavtrainings.com</a:t>
            </a:r>
            <a:endParaRPr sz="1200" b="0" i="0" u="none" strike="noStrike" cap="none">
              <a:solidFill>
                <a:srgbClr val="002060"/>
              </a:solidFill>
              <a:latin typeface="Corben"/>
              <a:ea typeface="Corben"/>
              <a:cs typeface="Corben"/>
              <a:sym typeface="Corben"/>
            </a:endParaRPr>
          </a:p>
        </p:txBody>
      </p:sp>
      <p:pic>
        <p:nvPicPr>
          <p:cNvPr id="1877" name="Google Shape;1877;p93"/>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1878" name="Google Shape;1878;p93"/>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11</a:t>
            </a:r>
            <a:endParaRPr sz="1100" b="0" i="0" u="none" strike="noStrike" cap="none">
              <a:solidFill>
                <a:srgbClr val="000000"/>
              </a:solidFill>
              <a:latin typeface="Calibri"/>
              <a:ea typeface="Calibri"/>
              <a:cs typeface="Calibri"/>
              <a:sym typeface="Calibri"/>
            </a:endParaRPr>
          </a:p>
        </p:txBody>
      </p:sp>
      <p:pic>
        <p:nvPicPr>
          <p:cNvPr id="1879" name="Google Shape;1879;p93"/>
          <p:cNvPicPr preferRelativeResize="0"/>
          <p:nvPr/>
        </p:nvPicPr>
        <p:blipFill rotWithShape="1">
          <a:blip r:embed="rId4">
            <a:alphaModFix/>
          </a:blip>
          <a:srcRect l="2043" t="4898"/>
          <a:stretch/>
        </p:blipFill>
        <p:spPr>
          <a:xfrm>
            <a:off x="549796" y="1052736"/>
            <a:ext cx="11388286" cy="4752528"/>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883"/>
        <p:cNvGrpSpPr/>
        <p:nvPr/>
      </p:nvGrpSpPr>
      <p:grpSpPr>
        <a:xfrm>
          <a:off x="0" y="0"/>
          <a:ext cx="0" cy="0"/>
          <a:chOff x="0" y="0"/>
          <a:chExt cx="0" cy="0"/>
        </a:xfrm>
      </p:grpSpPr>
      <p:sp>
        <p:nvSpPr>
          <p:cNvPr id="1884" name="Google Shape;1884;p94"/>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rgbClr val="000000"/>
              </a:buClr>
              <a:buSzPts val="3200"/>
              <a:buFont typeface="Corben"/>
              <a:buNone/>
            </a:pPr>
            <a:r>
              <a:rPr lang="en-US" sz="3200" b="0" i="0" u="none" strike="noStrike" cap="none">
                <a:solidFill>
                  <a:srgbClr val="000000"/>
                </a:solidFill>
                <a:latin typeface="Corben"/>
                <a:ea typeface="Corben"/>
                <a:cs typeface="Corben"/>
                <a:sym typeface="Corben"/>
              </a:rPr>
              <a:t>Fiori Elements v/s Freestyle Apps</a:t>
            </a:r>
            <a:endParaRPr sz="3200" b="0" i="0" u="none" strike="noStrike" cap="none">
              <a:solidFill>
                <a:srgbClr val="000000"/>
              </a:solidFill>
              <a:latin typeface="Corben"/>
              <a:ea typeface="Corben"/>
              <a:cs typeface="Corben"/>
              <a:sym typeface="Corben"/>
            </a:endParaRPr>
          </a:p>
        </p:txBody>
      </p:sp>
      <p:sp>
        <p:nvSpPr>
          <p:cNvPr id="1885" name="Google Shape;1885;p94"/>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2060"/>
              </a:buClr>
              <a:buSzPts val="1200"/>
              <a:buFont typeface="Corben"/>
              <a:buNone/>
            </a:pPr>
            <a:r>
              <a:rPr lang="en-US" sz="1200" b="0" i="0" u="none" strike="noStrike" cap="none">
                <a:solidFill>
                  <a:srgbClr val="002060"/>
                </a:solidFill>
                <a:latin typeface="Corben"/>
                <a:ea typeface="Corben"/>
                <a:cs typeface="Corben"/>
                <a:sym typeface="Corben"/>
              </a:rPr>
              <a:t>www.anubhavtrainings.com</a:t>
            </a:r>
            <a:endParaRPr sz="1200" b="0" i="0" u="none" strike="noStrike" cap="none">
              <a:solidFill>
                <a:srgbClr val="002060"/>
              </a:solidFill>
              <a:latin typeface="Corben"/>
              <a:ea typeface="Corben"/>
              <a:cs typeface="Corben"/>
              <a:sym typeface="Corben"/>
            </a:endParaRPr>
          </a:p>
        </p:txBody>
      </p:sp>
      <p:pic>
        <p:nvPicPr>
          <p:cNvPr id="1886" name="Google Shape;1886;p94"/>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1887" name="Google Shape;1887;p94"/>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11</a:t>
            </a:r>
            <a:endParaRPr sz="1100" b="0" i="0" u="none" strike="noStrike" cap="none">
              <a:solidFill>
                <a:srgbClr val="000000"/>
              </a:solidFill>
              <a:latin typeface="Calibri"/>
              <a:ea typeface="Calibri"/>
              <a:cs typeface="Calibri"/>
              <a:sym typeface="Calibri"/>
            </a:endParaRPr>
          </a:p>
        </p:txBody>
      </p:sp>
      <p:pic>
        <p:nvPicPr>
          <p:cNvPr id="1888" name="Google Shape;1888;p94"/>
          <p:cNvPicPr preferRelativeResize="0"/>
          <p:nvPr/>
        </p:nvPicPr>
        <p:blipFill rotWithShape="1">
          <a:blip r:embed="rId4">
            <a:alphaModFix/>
          </a:blip>
          <a:srcRect l="3165"/>
          <a:stretch/>
        </p:blipFill>
        <p:spPr>
          <a:xfrm>
            <a:off x="1341884" y="836712"/>
            <a:ext cx="9326701" cy="5548719"/>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892"/>
        <p:cNvGrpSpPr/>
        <p:nvPr/>
      </p:nvGrpSpPr>
      <p:grpSpPr>
        <a:xfrm>
          <a:off x="0" y="0"/>
          <a:ext cx="0" cy="0"/>
          <a:chOff x="0" y="0"/>
          <a:chExt cx="0" cy="0"/>
        </a:xfrm>
      </p:grpSpPr>
      <p:pic>
        <p:nvPicPr>
          <p:cNvPr id="1893" name="Google Shape;1893;p95"/>
          <p:cNvPicPr preferRelativeResize="0"/>
          <p:nvPr/>
        </p:nvPicPr>
        <p:blipFill rotWithShape="1">
          <a:blip r:embed="rId3">
            <a:alphaModFix/>
          </a:blip>
          <a:srcRect/>
          <a:stretch/>
        </p:blipFill>
        <p:spPr>
          <a:xfrm>
            <a:off x="117748" y="116632"/>
            <a:ext cx="7935820" cy="2792965"/>
          </a:xfrm>
          <a:prstGeom prst="rect">
            <a:avLst/>
          </a:prstGeom>
          <a:noFill/>
          <a:ln>
            <a:noFill/>
          </a:ln>
        </p:spPr>
      </p:pic>
      <p:pic>
        <p:nvPicPr>
          <p:cNvPr id="1894" name="Google Shape;1894;p95"/>
          <p:cNvPicPr preferRelativeResize="0"/>
          <p:nvPr/>
        </p:nvPicPr>
        <p:blipFill rotWithShape="1">
          <a:blip r:embed="rId4">
            <a:alphaModFix/>
          </a:blip>
          <a:srcRect/>
          <a:stretch/>
        </p:blipFill>
        <p:spPr>
          <a:xfrm>
            <a:off x="4798268" y="3140968"/>
            <a:ext cx="6624736" cy="3555742"/>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898"/>
        <p:cNvGrpSpPr/>
        <p:nvPr/>
      </p:nvGrpSpPr>
      <p:grpSpPr>
        <a:xfrm>
          <a:off x="0" y="0"/>
          <a:ext cx="0" cy="0"/>
          <a:chOff x="0" y="0"/>
          <a:chExt cx="0" cy="0"/>
        </a:xfrm>
      </p:grpSpPr>
      <p:pic>
        <p:nvPicPr>
          <p:cNvPr id="1899" name="Google Shape;1899;p96"/>
          <p:cNvPicPr preferRelativeResize="0"/>
          <p:nvPr/>
        </p:nvPicPr>
        <p:blipFill rotWithShape="1">
          <a:blip r:embed="rId3">
            <a:alphaModFix/>
          </a:blip>
          <a:srcRect/>
          <a:stretch/>
        </p:blipFill>
        <p:spPr>
          <a:xfrm>
            <a:off x="189756" y="188640"/>
            <a:ext cx="4727361" cy="4231954"/>
          </a:xfrm>
          <a:prstGeom prst="rect">
            <a:avLst/>
          </a:prstGeom>
          <a:noFill/>
          <a:ln>
            <a:noFill/>
          </a:ln>
        </p:spPr>
      </p:pic>
      <p:pic>
        <p:nvPicPr>
          <p:cNvPr id="1900" name="Google Shape;1900;p96"/>
          <p:cNvPicPr preferRelativeResize="0"/>
          <p:nvPr/>
        </p:nvPicPr>
        <p:blipFill rotWithShape="1">
          <a:blip r:embed="rId4">
            <a:alphaModFix/>
          </a:blip>
          <a:srcRect/>
          <a:stretch/>
        </p:blipFill>
        <p:spPr>
          <a:xfrm>
            <a:off x="6310436" y="1676163"/>
            <a:ext cx="5650765" cy="5026261"/>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904"/>
        <p:cNvGrpSpPr/>
        <p:nvPr/>
      </p:nvGrpSpPr>
      <p:grpSpPr>
        <a:xfrm>
          <a:off x="0" y="0"/>
          <a:ext cx="0" cy="0"/>
          <a:chOff x="0" y="0"/>
          <a:chExt cx="0" cy="0"/>
        </a:xfrm>
      </p:grpSpPr>
      <p:pic>
        <p:nvPicPr>
          <p:cNvPr id="1905" name="Google Shape;1905;p97"/>
          <p:cNvPicPr preferRelativeResize="0"/>
          <p:nvPr/>
        </p:nvPicPr>
        <p:blipFill rotWithShape="1">
          <a:blip r:embed="rId3">
            <a:alphaModFix/>
          </a:blip>
          <a:srcRect/>
          <a:stretch/>
        </p:blipFill>
        <p:spPr>
          <a:xfrm>
            <a:off x="261764" y="44624"/>
            <a:ext cx="6351704" cy="6858000"/>
          </a:xfrm>
          <a:prstGeom prst="rect">
            <a:avLst/>
          </a:prstGeom>
          <a:noFill/>
          <a:ln>
            <a:noFill/>
          </a:ln>
        </p:spPr>
      </p:pic>
      <p:sp>
        <p:nvSpPr>
          <p:cNvPr id="1906" name="Google Shape;1906;p97"/>
          <p:cNvSpPr txBox="1"/>
          <p:nvPr/>
        </p:nvSpPr>
        <p:spPr>
          <a:xfrm>
            <a:off x="7102524" y="2132856"/>
            <a:ext cx="4032448"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https://ui5.sap.com/#/topic/993e99eae4414b73bc7afef9518c79bf</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911"/>
        <p:cNvGrpSpPr/>
        <p:nvPr/>
      </p:nvGrpSpPr>
      <p:grpSpPr>
        <a:xfrm>
          <a:off x="0" y="0"/>
          <a:ext cx="0" cy="0"/>
          <a:chOff x="0" y="0"/>
          <a:chExt cx="0" cy="0"/>
        </a:xfrm>
      </p:grpSpPr>
      <p:sp>
        <p:nvSpPr>
          <p:cNvPr id="1912" name="Google Shape;1912;p9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Annotations Summary</a:t>
            </a:r>
            <a:endParaRPr/>
          </a:p>
        </p:txBody>
      </p:sp>
      <p:sp>
        <p:nvSpPr>
          <p:cNvPr id="1913" name="Google Shape;1913;p98"/>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@UI.SelectionField – to add filter fields in the filter bar</a:t>
            </a:r>
            <a:endParaRPr/>
          </a:p>
          <a:p>
            <a:pPr marL="0" lvl="0" indent="0" algn="l" rtl="0">
              <a:spcBef>
                <a:spcPts val="360"/>
              </a:spcBef>
              <a:spcAft>
                <a:spcPts val="0"/>
              </a:spcAft>
              <a:buClr>
                <a:schemeClr val="dk1"/>
              </a:buClr>
              <a:buSzPts val="1800"/>
              <a:buNone/>
            </a:pPr>
            <a:r>
              <a:rPr lang="en-US" sz="1800"/>
              <a:t>@UI.LineItem – to add columns to the table</a:t>
            </a:r>
            <a:endParaRPr/>
          </a:p>
          <a:p>
            <a:pPr marL="0" lvl="0" indent="0" algn="l" rtl="0">
              <a:spcBef>
                <a:spcPts val="360"/>
              </a:spcBef>
              <a:spcAft>
                <a:spcPts val="0"/>
              </a:spcAft>
              <a:buClr>
                <a:schemeClr val="dk1"/>
              </a:buClr>
              <a:buSzPts val="1800"/>
              <a:buNone/>
            </a:pPr>
            <a:r>
              <a:rPr lang="en-US" sz="1800"/>
              <a:t>@UI.HeaderInfo – to add title of table and header title for 2</a:t>
            </a:r>
            <a:r>
              <a:rPr lang="en-US" sz="1800" baseline="30000"/>
              <a:t>nd</a:t>
            </a:r>
            <a:r>
              <a:rPr lang="en-US" sz="1800"/>
              <a:t> (object page) screen</a:t>
            </a:r>
            <a:endParaRPr/>
          </a:p>
          <a:p>
            <a:pPr marL="0" lvl="0" indent="0" algn="l" rtl="0">
              <a:spcBef>
                <a:spcPts val="360"/>
              </a:spcBef>
              <a:spcAft>
                <a:spcPts val="0"/>
              </a:spcAft>
              <a:buClr>
                <a:schemeClr val="dk1"/>
              </a:buClr>
              <a:buSzPts val="1800"/>
              <a:buNone/>
            </a:pPr>
            <a:r>
              <a:rPr lang="en-US" sz="1800"/>
              <a:t>@UI.Facets – to add tabs</a:t>
            </a:r>
            <a:endParaRPr/>
          </a:p>
          <a:p>
            <a:pPr marL="0" lvl="0" indent="0" algn="l" rtl="0">
              <a:spcBef>
                <a:spcPts val="360"/>
              </a:spcBef>
              <a:spcAft>
                <a:spcPts val="0"/>
              </a:spcAft>
              <a:buClr>
                <a:schemeClr val="dk1"/>
              </a:buClr>
              <a:buSzPts val="1800"/>
              <a:buNone/>
            </a:pPr>
            <a:r>
              <a:rPr lang="en-US" sz="1800"/>
              <a:t>	UI.Collection – to add a big block of smaller blocks inside</a:t>
            </a:r>
            <a:endParaRPr/>
          </a:p>
          <a:p>
            <a:pPr marL="0" lvl="0" indent="0" algn="l" rtl="0">
              <a:spcBef>
                <a:spcPts val="360"/>
              </a:spcBef>
              <a:spcAft>
                <a:spcPts val="0"/>
              </a:spcAft>
              <a:buClr>
                <a:schemeClr val="dk1"/>
              </a:buClr>
              <a:buSzPts val="1800"/>
              <a:buNone/>
            </a:pPr>
            <a:r>
              <a:rPr lang="en-US" sz="1800"/>
              <a:t>	UI.ReferenceFacent – to refer blocks</a:t>
            </a:r>
            <a:endParaRPr/>
          </a:p>
          <a:p>
            <a:pPr marL="0" lvl="0" indent="0" algn="l" rtl="0">
              <a:spcBef>
                <a:spcPts val="360"/>
              </a:spcBef>
              <a:spcAft>
                <a:spcPts val="0"/>
              </a:spcAft>
              <a:buClr>
                <a:schemeClr val="dk1"/>
              </a:buClr>
              <a:buSzPts val="1800"/>
              <a:buNone/>
            </a:pPr>
            <a:r>
              <a:rPr lang="en-US" sz="1800"/>
              <a:t>@UI.Identification – to create a </a:t>
            </a:r>
            <a:r>
              <a:rPr lang="en-US" sz="1800" b="1"/>
              <a:t>default (one)</a:t>
            </a:r>
            <a:r>
              <a:rPr lang="en-US" sz="1800"/>
              <a:t> to create fields </a:t>
            </a:r>
            <a:endParaRPr/>
          </a:p>
          <a:p>
            <a:pPr marL="0" lvl="0" indent="0" algn="l" rtl="0">
              <a:spcBef>
                <a:spcPts val="360"/>
              </a:spcBef>
              <a:spcAft>
                <a:spcPts val="0"/>
              </a:spcAft>
              <a:buClr>
                <a:schemeClr val="dk1"/>
              </a:buClr>
              <a:buSzPts val="1800"/>
              <a:buNone/>
            </a:pPr>
            <a:r>
              <a:rPr lang="en-US" sz="1800"/>
              <a:t>@UI.FieldGroup – to add multiple group of fields, </a:t>
            </a:r>
            <a:r>
              <a:rPr lang="en-US" sz="1800" b="1"/>
              <a:t>multiple</a:t>
            </a:r>
            <a:r>
              <a:rPr lang="en-US" sz="1800"/>
              <a:t> blocks are allowed</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In order to make the labels available in different languages, we use concept of internationalization 🡺 i18n</a:t>
            </a:r>
            <a:endParaRPr/>
          </a:p>
          <a:p>
            <a:pPr marL="0" lvl="0" indent="0" algn="l" rtl="0">
              <a:spcBef>
                <a:spcPts val="360"/>
              </a:spcBef>
              <a:spcAft>
                <a:spcPts val="0"/>
              </a:spcAft>
              <a:buClr>
                <a:schemeClr val="dk1"/>
              </a:buClr>
              <a:buSzPts val="1800"/>
              <a:buNone/>
            </a:pPr>
            <a:r>
              <a:rPr lang="en-US" sz="1800"/>
              <a:t>https://port4004-workspaces-ws-nptuo.us10.trial.applicationstudio.cloud.sap/anubhav.ui.managepo/index.html</a:t>
            </a:r>
            <a:r>
              <a:rPr lang="en-US" sz="1800">
                <a:highlight>
                  <a:srgbClr val="FFFF00"/>
                </a:highlight>
              </a:rPr>
              <a:t>?sap-ui-language=de</a:t>
            </a:r>
            <a:endParaRPr/>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917"/>
        <p:cNvGrpSpPr/>
        <p:nvPr/>
      </p:nvGrpSpPr>
      <p:grpSpPr>
        <a:xfrm>
          <a:off x="0" y="0"/>
          <a:ext cx="0" cy="0"/>
          <a:chOff x="0" y="0"/>
          <a:chExt cx="0" cy="0"/>
        </a:xfrm>
      </p:grpSpPr>
      <p:sp>
        <p:nvSpPr>
          <p:cNvPr id="1918" name="Google Shape;1918;p99"/>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rgbClr val="000000"/>
              </a:buClr>
              <a:buSzPts val="3200"/>
              <a:buFont typeface="Corben"/>
              <a:buNone/>
            </a:pPr>
            <a:r>
              <a:rPr lang="en-US" sz="3200" b="0" i="0" u="none" strike="noStrike" cap="none">
                <a:solidFill>
                  <a:srgbClr val="000000"/>
                </a:solidFill>
                <a:latin typeface="Corben"/>
                <a:ea typeface="Corben"/>
                <a:cs typeface="Corben"/>
                <a:sym typeface="Corben"/>
              </a:rPr>
              <a:t>Selection Fields and Line Items</a:t>
            </a:r>
            <a:endParaRPr sz="3200" b="0" i="0" u="none" strike="noStrike" cap="none">
              <a:solidFill>
                <a:srgbClr val="000000"/>
              </a:solidFill>
              <a:latin typeface="Corben"/>
              <a:ea typeface="Corben"/>
              <a:cs typeface="Corben"/>
              <a:sym typeface="Corben"/>
            </a:endParaRPr>
          </a:p>
        </p:txBody>
      </p:sp>
      <p:sp>
        <p:nvSpPr>
          <p:cNvPr id="1919" name="Google Shape;1919;p99"/>
          <p:cNvSpPr txBox="1"/>
          <p:nvPr/>
        </p:nvSpPr>
        <p:spPr>
          <a:xfrm>
            <a:off x="177646" y="654346"/>
            <a:ext cx="11486844" cy="400109"/>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&lt;content&gt;</a:t>
            </a:r>
            <a:endParaRPr/>
          </a:p>
        </p:txBody>
      </p:sp>
      <p:sp>
        <p:nvSpPr>
          <p:cNvPr id="1920" name="Google Shape;1920;p99"/>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2060"/>
              </a:buClr>
              <a:buSzPts val="1200"/>
              <a:buFont typeface="Corben"/>
              <a:buNone/>
            </a:pPr>
            <a:r>
              <a:rPr lang="en-US" sz="1200" b="0" i="0" u="none" strike="noStrike" cap="none">
                <a:solidFill>
                  <a:srgbClr val="002060"/>
                </a:solidFill>
                <a:latin typeface="Corben"/>
                <a:ea typeface="Corben"/>
                <a:cs typeface="Corben"/>
                <a:sym typeface="Corben"/>
              </a:rPr>
              <a:t>www.anubhavtrainings.com</a:t>
            </a:r>
            <a:endParaRPr sz="1200" b="0" i="0" u="none" strike="noStrike" cap="none">
              <a:solidFill>
                <a:srgbClr val="002060"/>
              </a:solidFill>
              <a:latin typeface="Corben"/>
              <a:ea typeface="Corben"/>
              <a:cs typeface="Corben"/>
              <a:sym typeface="Corben"/>
            </a:endParaRPr>
          </a:p>
        </p:txBody>
      </p:sp>
      <p:pic>
        <p:nvPicPr>
          <p:cNvPr id="1921" name="Google Shape;1921;p99"/>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1922" name="Google Shape;1922;p99"/>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11</a:t>
            </a:r>
            <a:endParaRPr sz="1100" b="0" i="0" u="none" strike="noStrike" cap="none">
              <a:solidFill>
                <a:srgbClr val="000000"/>
              </a:solidFill>
              <a:latin typeface="Calibri"/>
              <a:ea typeface="Calibri"/>
              <a:cs typeface="Calibri"/>
              <a:sym typeface="Calibri"/>
            </a:endParaRPr>
          </a:p>
        </p:txBody>
      </p:sp>
      <p:pic>
        <p:nvPicPr>
          <p:cNvPr id="1923" name="Google Shape;1923;p99"/>
          <p:cNvPicPr preferRelativeResize="0"/>
          <p:nvPr/>
        </p:nvPicPr>
        <p:blipFill rotWithShape="1">
          <a:blip r:embed="rId4">
            <a:alphaModFix/>
          </a:blip>
          <a:srcRect/>
          <a:stretch/>
        </p:blipFill>
        <p:spPr>
          <a:xfrm>
            <a:off x="261764" y="764704"/>
            <a:ext cx="10056164" cy="4471213"/>
          </a:xfrm>
          <a:prstGeom prst="rect">
            <a:avLst/>
          </a:prstGeom>
          <a:noFill/>
          <a:ln>
            <a:noFill/>
          </a:ln>
        </p:spPr>
      </p:pic>
      <p:sp>
        <p:nvSpPr>
          <p:cNvPr id="1924" name="Google Shape;1924;p99"/>
          <p:cNvSpPr/>
          <p:nvPr/>
        </p:nvSpPr>
        <p:spPr>
          <a:xfrm>
            <a:off x="426930" y="1295863"/>
            <a:ext cx="8856984" cy="432048"/>
          </a:xfrm>
          <a:prstGeom prst="rect">
            <a:avLst/>
          </a:prstGeom>
          <a:solidFill>
            <a:srgbClr val="FFFF00">
              <a:alpha val="23137"/>
            </a:srgbClr>
          </a:solidFill>
          <a:ln w="25400" cap="flat" cmpd="sng">
            <a:solidFill>
              <a:srgbClr val="062E5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Calibri"/>
              <a:buNone/>
            </a:pPr>
            <a:endParaRPr sz="2400" b="0" i="0" u="none" strike="noStrike" cap="none">
              <a:solidFill>
                <a:srgbClr val="FFFFFF"/>
              </a:solidFill>
              <a:latin typeface="Calibri"/>
              <a:ea typeface="Calibri"/>
              <a:cs typeface="Calibri"/>
              <a:sym typeface="Calibri"/>
            </a:endParaRPr>
          </a:p>
        </p:txBody>
      </p:sp>
      <p:sp>
        <p:nvSpPr>
          <p:cNvPr id="1925" name="Google Shape;1925;p99"/>
          <p:cNvSpPr txBox="1"/>
          <p:nvPr/>
        </p:nvSpPr>
        <p:spPr>
          <a:xfrm>
            <a:off x="5662364" y="965089"/>
            <a:ext cx="309634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@UI.selectionField</a:t>
            </a:r>
            <a:endParaRPr/>
          </a:p>
        </p:txBody>
      </p:sp>
      <p:sp>
        <p:nvSpPr>
          <p:cNvPr id="1926" name="Google Shape;1926;p99"/>
          <p:cNvSpPr txBox="1"/>
          <p:nvPr/>
        </p:nvSpPr>
        <p:spPr>
          <a:xfrm>
            <a:off x="6598468" y="1838056"/>
            <a:ext cx="309634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@UI.LineItem</a:t>
            </a:r>
            <a:endParaRPr/>
          </a:p>
        </p:txBody>
      </p:sp>
      <p:sp>
        <p:nvSpPr>
          <p:cNvPr id="1927" name="Google Shape;1927;p99"/>
          <p:cNvSpPr/>
          <p:nvPr/>
        </p:nvSpPr>
        <p:spPr>
          <a:xfrm>
            <a:off x="426930" y="2157048"/>
            <a:ext cx="8856984" cy="2352072"/>
          </a:xfrm>
          <a:prstGeom prst="rect">
            <a:avLst/>
          </a:prstGeom>
          <a:solidFill>
            <a:srgbClr val="FFFF00">
              <a:alpha val="23137"/>
            </a:srgbClr>
          </a:solidFill>
          <a:ln w="25400" cap="flat" cmpd="sng">
            <a:solidFill>
              <a:srgbClr val="062E5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Calibri"/>
              <a:buNone/>
            </a:pPr>
            <a:endParaRPr sz="2400" b="0" i="0" u="none" strike="noStrike" cap="none">
              <a:solidFill>
                <a:srgbClr val="FFFFFF"/>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sp>
        <p:nvSpPr>
          <p:cNvPr id="1936" name="Google Shape;1936;p101"/>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rgbClr val="000000"/>
              </a:buClr>
              <a:buSzPts val="3200"/>
              <a:buFont typeface="Corben"/>
              <a:buNone/>
            </a:pPr>
            <a:r>
              <a:rPr lang="en-US" sz="3200" b="0" i="0" u="none" strike="noStrike" cap="none">
                <a:solidFill>
                  <a:srgbClr val="000000"/>
                </a:solidFill>
                <a:latin typeface="Corben"/>
                <a:ea typeface="Corben"/>
                <a:cs typeface="Corben"/>
                <a:sym typeface="Corben"/>
              </a:rPr>
              <a:t>Object Page</a:t>
            </a:r>
            <a:endParaRPr sz="3200" b="0" i="0" u="none" strike="noStrike" cap="none">
              <a:solidFill>
                <a:srgbClr val="000000"/>
              </a:solidFill>
              <a:latin typeface="Corben"/>
              <a:ea typeface="Corben"/>
              <a:cs typeface="Corben"/>
              <a:sym typeface="Corben"/>
            </a:endParaRPr>
          </a:p>
        </p:txBody>
      </p:sp>
      <p:sp>
        <p:nvSpPr>
          <p:cNvPr id="1937" name="Google Shape;1937;p101"/>
          <p:cNvSpPr txBox="1"/>
          <p:nvPr/>
        </p:nvSpPr>
        <p:spPr>
          <a:xfrm>
            <a:off x="177646" y="654346"/>
            <a:ext cx="11486844" cy="400109"/>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&lt;content&gt;</a:t>
            </a:r>
            <a:endParaRPr/>
          </a:p>
        </p:txBody>
      </p:sp>
      <p:sp>
        <p:nvSpPr>
          <p:cNvPr id="1938" name="Google Shape;1938;p101"/>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2060"/>
              </a:buClr>
              <a:buSzPts val="1200"/>
              <a:buFont typeface="Corben"/>
              <a:buNone/>
            </a:pPr>
            <a:r>
              <a:rPr lang="en-US" sz="1200" b="0" i="0" u="none" strike="noStrike" cap="none">
                <a:solidFill>
                  <a:srgbClr val="002060"/>
                </a:solidFill>
                <a:latin typeface="Corben"/>
                <a:ea typeface="Corben"/>
                <a:cs typeface="Corben"/>
                <a:sym typeface="Corben"/>
              </a:rPr>
              <a:t>www.anubhavtrainings.com</a:t>
            </a:r>
            <a:endParaRPr sz="1200" b="0" i="0" u="none" strike="noStrike" cap="none">
              <a:solidFill>
                <a:srgbClr val="002060"/>
              </a:solidFill>
              <a:latin typeface="Corben"/>
              <a:ea typeface="Corben"/>
              <a:cs typeface="Corben"/>
              <a:sym typeface="Corben"/>
            </a:endParaRPr>
          </a:p>
        </p:txBody>
      </p:sp>
      <p:pic>
        <p:nvPicPr>
          <p:cNvPr id="1939" name="Google Shape;1939;p101"/>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1940" name="Google Shape;1940;p101"/>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1100"/>
              <a:buFont typeface="Calibri"/>
              <a:buNone/>
            </a:pPr>
            <a:r>
              <a:rPr lang="en-US" sz="1100" b="0" i="0" u="none" strike="noStrike" cap="none">
                <a:solidFill>
                  <a:srgbClr val="000000"/>
                </a:solidFill>
                <a:latin typeface="Calibri"/>
                <a:ea typeface="Calibri"/>
                <a:cs typeface="Calibri"/>
                <a:sym typeface="Calibri"/>
              </a:rPr>
              <a:t>11</a:t>
            </a:r>
            <a:endParaRPr sz="1100" b="0" i="0" u="none" strike="noStrike" cap="none">
              <a:solidFill>
                <a:srgbClr val="000000"/>
              </a:solidFill>
              <a:latin typeface="Calibri"/>
              <a:ea typeface="Calibri"/>
              <a:cs typeface="Calibri"/>
              <a:sym typeface="Calibri"/>
            </a:endParaRPr>
          </a:p>
        </p:txBody>
      </p:sp>
      <p:pic>
        <p:nvPicPr>
          <p:cNvPr id="1941" name="Google Shape;1941;p101"/>
          <p:cNvPicPr preferRelativeResize="0"/>
          <p:nvPr/>
        </p:nvPicPr>
        <p:blipFill rotWithShape="1">
          <a:blip r:embed="rId4">
            <a:alphaModFix/>
          </a:blip>
          <a:srcRect/>
          <a:stretch/>
        </p:blipFill>
        <p:spPr>
          <a:xfrm>
            <a:off x="261764" y="654346"/>
            <a:ext cx="10010310" cy="593203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952"/>
        <p:cNvGrpSpPr/>
        <p:nvPr/>
      </p:nvGrpSpPr>
      <p:grpSpPr>
        <a:xfrm>
          <a:off x="0" y="0"/>
          <a:ext cx="0" cy="0"/>
          <a:chOff x="0" y="0"/>
          <a:chExt cx="0" cy="0"/>
        </a:xfrm>
      </p:grpSpPr>
      <p:sp>
        <p:nvSpPr>
          <p:cNvPr id="1953" name="Google Shape;1953;p10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Database in Cloud</a:t>
            </a:r>
            <a:endParaRPr/>
          </a:p>
        </p:txBody>
      </p:sp>
      <p:sp>
        <p:nvSpPr>
          <p:cNvPr id="1954" name="Google Shape;1954;p103"/>
          <p:cNvSpPr txBox="1">
            <a:spLocks noGrp="1"/>
          </p:cNvSpPr>
          <p:nvPr>
            <p:ph type="body" idx="1"/>
          </p:nvPr>
        </p:nvSpPr>
        <p:spPr>
          <a:xfrm>
            <a:off x="368762" y="836712"/>
            <a:ext cx="11558298" cy="5832648"/>
          </a:xfrm>
          <a:prstGeom prst="rect">
            <a:avLst/>
          </a:prstGeom>
          <a:noFill/>
          <a:ln>
            <a:noFill/>
          </a:ln>
        </p:spPr>
        <p:txBody>
          <a:bodyPr spcFirstLastPara="1" wrap="square" lIns="0" tIns="60925" rIns="0" bIns="60925" anchor="t" anchorCtr="0">
            <a:normAutofit fontScale="92500" lnSpcReduction="10000"/>
          </a:bodyPr>
          <a:lstStyle/>
          <a:p>
            <a:pPr marL="0" lvl="0" indent="0" algn="just" rtl="0">
              <a:spcBef>
                <a:spcPts val="0"/>
              </a:spcBef>
              <a:spcAft>
                <a:spcPts val="0"/>
              </a:spcAft>
              <a:buClr>
                <a:schemeClr val="dk1"/>
              </a:buClr>
              <a:buSzPct val="100000"/>
              <a:buNone/>
            </a:pPr>
            <a:r>
              <a:rPr lang="en-US" sz="1800"/>
              <a:t>So far in our CAP application we are using a local file-based database called SQLite, which is suitable for local development as long as we create app in vs code and bas tool. Once our app is fully ready, we will be deploying our app to cloud, and in the cloud for production scenario, we need a cloud-based database. </a:t>
            </a:r>
            <a:endParaRPr/>
          </a:p>
          <a:p>
            <a:pPr marL="0" lvl="0" indent="0" algn="just" rtl="0">
              <a:spcBef>
                <a:spcPts val="333"/>
              </a:spcBef>
              <a:spcAft>
                <a:spcPts val="0"/>
              </a:spcAft>
              <a:buClr>
                <a:schemeClr val="dk1"/>
              </a:buClr>
              <a:buSzPct val="100000"/>
              <a:buNone/>
            </a:pPr>
            <a:r>
              <a:rPr lang="en-US" sz="1800"/>
              <a:t>There are 2 options in BTP for the same</a:t>
            </a:r>
            <a:endParaRPr/>
          </a:p>
          <a:p>
            <a:pPr marL="342900" lvl="0" indent="-342900" algn="just" rtl="0">
              <a:spcBef>
                <a:spcPts val="333"/>
              </a:spcBef>
              <a:spcAft>
                <a:spcPts val="0"/>
              </a:spcAft>
              <a:buClr>
                <a:schemeClr val="dk1"/>
              </a:buClr>
              <a:buSzPct val="100000"/>
              <a:buAutoNum type="arabicPeriod"/>
            </a:pPr>
            <a:r>
              <a:rPr lang="en-US" sz="1800"/>
              <a:t>Postgres SQL – open-source database which is based on traditional RDBMS. Traditional databases stores data in HDD, they are relatively slow however they are cheaper. If you design simple cloud apps with simple analytics and CRUD scenarios (full stack apps with CAP), number of records are in millions.</a:t>
            </a:r>
            <a:endParaRPr/>
          </a:p>
          <a:p>
            <a:pPr marL="342900" lvl="0" indent="-342900" algn="just" rtl="0">
              <a:spcBef>
                <a:spcPts val="333"/>
              </a:spcBef>
              <a:spcAft>
                <a:spcPts val="0"/>
              </a:spcAft>
              <a:buClr>
                <a:schemeClr val="dk1"/>
              </a:buClr>
              <a:buSzPct val="100000"/>
              <a:buAutoNum type="arabicPeriod"/>
            </a:pPr>
            <a:r>
              <a:rPr lang="en-US" sz="1800"/>
              <a:t>HANA Cloud database – SAP’s proprietary database introduced in 2013. it evolved over the time and now available as DaaS service. It a in-memory database keeping data in RAM, multi-core CPU architecture, compression, data organization, column/object store, build agg. On fly, good for performance. If we want to create data-intensive applications on BTP which requires Billions of records to process on-fly. It is costly as compared to Postgres. Also offers capability of data lakes, vector engine, KGE.</a:t>
            </a:r>
            <a:endParaRPr/>
          </a:p>
          <a:p>
            <a:pPr marL="342900" lvl="0" indent="-237173" algn="just" rtl="0">
              <a:spcBef>
                <a:spcPts val="333"/>
              </a:spcBef>
              <a:spcAft>
                <a:spcPts val="0"/>
              </a:spcAft>
              <a:buClr>
                <a:schemeClr val="dk1"/>
              </a:buClr>
              <a:buSzPct val="100000"/>
              <a:buNone/>
            </a:pPr>
            <a:endParaRPr sz="1800"/>
          </a:p>
          <a:p>
            <a:pPr marL="0" lvl="0" indent="0" algn="just" rtl="0">
              <a:spcBef>
                <a:spcPts val="296"/>
              </a:spcBef>
              <a:spcAft>
                <a:spcPts val="0"/>
              </a:spcAft>
              <a:buClr>
                <a:schemeClr val="dk1"/>
              </a:buClr>
              <a:buSzPct val="100000"/>
              <a:buNone/>
            </a:pPr>
            <a:r>
              <a:rPr lang="en-US" sz="1600" i="1"/>
              <a:t>Difference between Data lakes, Database and Data warehouse</a:t>
            </a:r>
            <a:endParaRPr/>
          </a:p>
          <a:p>
            <a:pPr marL="0" lvl="0" indent="0" algn="just" rtl="0">
              <a:spcBef>
                <a:spcPts val="296"/>
              </a:spcBef>
              <a:spcAft>
                <a:spcPts val="0"/>
              </a:spcAft>
              <a:buClr>
                <a:schemeClr val="dk1"/>
              </a:buClr>
              <a:buSzPct val="100000"/>
              <a:buNone/>
            </a:pPr>
            <a:r>
              <a:rPr lang="en-US" sz="1600" i="1" u="sng">
                <a:solidFill>
                  <a:schemeClr val="hlink"/>
                </a:solidFill>
                <a:hlinkClick r:id="rId3"/>
              </a:rPr>
              <a:t>https://www.youtube.com/watch?v=BlnTn7Ewifs</a:t>
            </a:r>
            <a:endParaRPr sz="1600" i="1"/>
          </a:p>
          <a:p>
            <a:pPr marL="0" lvl="0" indent="0" algn="just" rtl="0">
              <a:spcBef>
                <a:spcPts val="296"/>
              </a:spcBef>
              <a:spcAft>
                <a:spcPts val="0"/>
              </a:spcAft>
              <a:buClr>
                <a:schemeClr val="dk1"/>
              </a:buClr>
              <a:buSzPct val="100000"/>
              <a:buNone/>
            </a:pPr>
            <a:r>
              <a:rPr lang="en-US" sz="1600" i="1"/>
              <a:t>Use Postgres and HANA Cloud together with hybrid configuration</a:t>
            </a:r>
            <a:endParaRPr/>
          </a:p>
          <a:p>
            <a:pPr marL="0" lvl="0" indent="0" algn="just" rtl="0">
              <a:spcBef>
                <a:spcPts val="296"/>
              </a:spcBef>
              <a:spcAft>
                <a:spcPts val="0"/>
              </a:spcAft>
              <a:buClr>
                <a:schemeClr val="dk1"/>
              </a:buClr>
              <a:buSzPct val="100000"/>
              <a:buNone/>
            </a:pPr>
            <a:r>
              <a:rPr lang="en-US" sz="1600" i="1" u="sng">
                <a:solidFill>
                  <a:schemeClr val="hlink"/>
                </a:solidFill>
                <a:hlinkClick r:id="rId4"/>
              </a:rPr>
              <a:t>https://www.youtube.com/watch?v=zZckRSi9Sy8</a:t>
            </a:r>
            <a:endParaRPr sz="1600" i="1"/>
          </a:p>
          <a:p>
            <a:pPr marL="0" lvl="0" indent="0" algn="just" rtl="0">
              <a:spcBef>
                <a:spcPts val="296"/>
              </a:spcBef>
              <a:spcAft>
                <a:spcPts val="0"/>
              </a:spcAft>
              <a:buClr>
                <a:schemeClr val="dk1"/>
              </a:buClr>
              <a:buSzPct val="100000"/>
              <a:buNone/>
            </a:pPr>
            <a:r>
              <a:rPr lang="en-US" sz="1600" i="1" u="sng">
                <a:solidFill>
                  <a:schemeClr val="hlink"/>
                </a:solidFill>
                <a:hlinkClick r:id="rId5"/>
              </a:rPr>
              <a:t>https://www.youtube.com/watch?v=lnPhJRxZPwQ</a:t>
            </a:r>
            <a:endParaRPr sz="1600" i="1"/>
          </a:p>
          <a:p>
            <a:pPr marL="0" lvl="0" indent="0" algn="just" rtl="0">
              <a:spcBef>
                <a:spcPts val="296"/>
              </a:spcBef>
              <a:spcAft>
                <a:spcPts val="0"/>
              </a:spcAft>
              <a:buClr>
                <a:schemeClr val="dk1"/>
              </a:buClr>
              <a:buSzPct val="100000"/>
              <a:buNone/>
            </a:pPr>
            <a:r>
              <a:rPr lang="en-US" sz="1600" i="1"/>
              <a:t>Can you also show one more complex data model on CAP</a:t>
            </a:r>
            <a:endParaRPr/>
          </a:p>
          <a:p>
            <a:pPr marL="0" lvl="0" indent="0" algn="just" rtl="0">
              <a:spcBef>
                <a:spcPts val="296"/>
              </a:spcBef>
              <a:spcAft>
                <a:spcPts val="0"/>
              </a:spcAft>
              <a:buClr>
                <a:schemeClr val="dk1"/>
              </a:buClr>
              <a:buSzPct val="100000"/>
              <a:buNone/>
            </a:pPr>
            <a:r>
              <a:rPr lang="en-US" sz="1600" i="1" u="sng">
                <a:solidFill>
                  <a:schemeClr val="hlink"/>
                </a:solidFill>
                <a:hlinkClick r:id="rId6"/>
              </a:rPr>
              <a:t>https://www.youtube.com/watch?v=5Ak-AO_xFbw</a:t>
            </a:r>
            <a:endParaRPr sz="1600" i="1"/>
          </a:p>
          <a:p>
            <a:pPr marL="0" lvl="0" indent="0" algn="just" rtl="0">
              <a:spcBef>
                <a:spcPts val="296"/>
              </a:spcBef>
              <a:spcAft>
                <a:spcPts val="0"/>
              </a:spcAft>
              <a:buClr>
                <a:schemeClr val="dk1"/>
              </a:buClr>
              <a:buSzPct val="100000"/>
              <a:buNone/>
            </a:pPr>
            <a:r>
              <a:rPr lang="en-US" sz="1600" i="1"/>
              <a:t>Can I use Mongo DB with BTP CAPM, finally run app not on BTP rather on AWS – framework is CAP</a:t>
            </a:r>
            <a:endParaRPr/>
          </a:p>
          <a:p>
            <a:pPr marL="0" lvl="0" indent="0" algn="just" rtl="0">
              <a:spcBef>
                <a:spcPts val="296"/>
              </a:spcBef>
              <a:spcAft>
                <a:spcPts val="0"/>
              </a:spcAft>
              <a:buClr>
                <a:schemeClr val="dk1"/>
              </a:buClr>
              <a:buSzPct val="100000"/>
              <a:buNone/>
            </a:pPr>
            <a:r>
              <a:rPr lang="en-US" sz="1600" i="1" u="sng">
                <a:solidFill>
                  <a:schemeClr val="hlink"/>
                </a:solidFill>
                <a:hlinkClick r:id="rId7"/>
              </a:rPr>
              <a:t>https://www.youtube.com/watch?v=zXZf8kKM9NA&amp;list=PLcxqFaocb9WLaza2kOjkUCDIQGbzNos6p&amp;index=47</a:t>
            </a:r>
            <a:endParaRPr sz="1600" i="1"/>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959"/>
        <p:cNvGrpSpPr/>
        <p:nvPr/>
      </p:nvGrpSpPr>
      <p:grpSpPr>
        <a:xfrm>
          <a:off x="0" y="0"/>
          <a:ext cx="0" cy="0"/>
          <a:chOff x="0" y="0"/>
          <a:chExt cx="0" cy="0"/>
        </a:xfrm>
      </p:grpSpPr>
      <p:sp>
        <p:nvSpPr>
          <p:cNvPr id="1960" name="Google Shape;1960;p10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1961" name="Google Shape;1961;p10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Text</a:t>
            </a:r>
            <a:endParaRPr/>
          </a:p>
        </p:txBody>
      </p:sp>
      <p:sp>
        <p:nvSpPr>
          <p:cNvPr id="1962" name="Google Shape;1962;p104"/>
          <p:cNvSpPr txBox="1"/>
          <p:nvPr/>
        </p:nvSpPr>
        <p:spPr>
          <a:xfrm>
            <a:off x="261764" y="5217036"/>
            <a:ext cx="12097344"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    "data": {        "memory": 16,        "systempassword": "Welcome1",        "edition": "cloud",        "whitelistIPs": [          "0.0.0.0/0"        ]    }}</a:t>
            </a:r>
            <a:endParaRPr/>
          </a:p>
          <a:p>
            <a:pPr marL="0" marR="0" lvl="0" indent="0" algn="l" rtl="0">
              <a:spcBef>
                <a:spcPts val="0"/>
              </a:spcBef>
              <a:spcAft>
                <a:spcPts val="0"/>
              </a:spcAft>
              <a:buNone/>
            </a:pPr>
            <a:endParaRPr sz="1400">
              <a:solidFill>
                <a:schemeClr val="dk1"/>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400"/>
              <a:buFont typeface="Arial"/>
              <a:buChar char="•"/>
            </a:pPr>
            <a:r>
              <a:rPr lang="en-US" sz="1400" b="1">
                <a:solidFill>
                  <a:schemeClr val="dk1"/>
                </a:solidFill>
                <a:latin typeface="Quattrocento Sans"/>
                <a:ea typeface="Quattrocento Sans"/>
                <a:cs typeface="Quattrocento Sans"/>
                <a:sym typeface="Quattrocento Sans"/>
              </a:rPr>
              <a:t>In SAP BTP </a:t>
            </a:r>
            <a:r>
              <a:rPr lang="en-US" sz="1400" b="1" u="sng">
                <a:solidFill>
                  <a:srgbClr val="FF0000"/>
                </a:solidFill>
                <a:latin typeface="Quattrocento Sans"/>
                <a:ea typeface="Quattrocento Sans"/>
                <a:cs typeface="Quattrocento Sans"/>
                <a:sym typeface="Quattrocento Sans"/>
              </a:rPr>
              <a:t>Trial Account</a:t>
            </a:r>
            <a:r>
              <a:rPr lang="en-US" sz="1400" b="1" i="1" u="sng">
                <a:solidFill>
                  <a:srgbClr val="FF0000"/>
                </a:solidFill>
                <a:latin typeface="Quattrocento Sans"/>
                <a:ea typeface="Quattrocento Sans"/>
                <a:cs typeface="Quattrocento Sans"/>
                <a:sym typeface="Quattrocento Sans"/>
              </a:rPr>
              <a:t> </a:t>
            </a:r>
            <a:r>
              <a:rPr lang="en-US" sz="1400" b="1">
                <a:solidFill>
                  <a:schemeClr val="dk1"/>
                </a:solidFill>
                <a:latin typeface="Quattrocento Sans"/>
                <a:ea typeface="Quattrocento Sans"/>
                <a:cs typeface="Quattrocento Sans"/>
                <a:sym typeface="Quattrocento Sans"/>
              </a:rPr>
              <a:t>SAP will stop the database instance everyday 11.30 AM India time. So if you have a CAP application running on top of it, you should make sure that DB is running during that time else you have to restart the DB instance using HANA Cloud tools.</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967"/>
        <p:cNvGrpSpPr/>
        <p:nvPr/>
      </p:nvGrpSpPr>
      <p:grpSpPr>
        <a:xfrm>
          <a:off x="0" y="0"/>
          <a:ext cx="0" cy="0"/>
          <a:chOff x="0" y="0"/>
          <a:chExt cx="0" cy="0"/>
        </a:xfrm>
      </p:grpSpPr>
      <p:sp>
        <p:nvSpPr>
          <p:cNvPr id="1968" name="Google Shape;1968;p105"/>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Schema?</a:t>
            </a:r>
            <a:endParaRPr/>
          </a:p>
        </p:txBody>
      </p:sp>
      <p:sp>
        <p:nvSpPr>
          <p:cNvPr id="1969" name="Google Shape;1969;p105"/>
          <p:cNvSpPr txBox="1">
            <a:spLocks noGrp="1"/>
          </p:cNvSpPr>
          <p:nvPr>
            <p:ph type="body" idx="1"/>
          </p:nvPr>
        </p:nvSpPr>
        <p:spPr>
          <a:xfrm>
            <a:off x="423275" y="620688"/>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Schema is a mandatory database object which exist in every database in the world. It contains all the runtime objects of database (like tables, views, sequences, triggers, structures). The benefit is that it provides the grouping, separation of concerns and security to our database content. It also makes our database used by several systems together.</a:t>
            </a:r>
            <a:endParaRPr/>
          </a:p>
          <a:p>
            <a:pPr marL="0" lvl="0" indent="0" algn="l" rtl="0">
              <a:spcBef>
                <a:spcPts val="360"/>
              </a:spcBef>
              <a:spcAft>
                <a:spcPts val="0"/>
              </a:spcAft>
              <a:buClr>
                <a:schemeClr val="dk1"/>
              </a:buClr>
              <a:buSzPts val="1800"/>
              <a:buNone/>
            </a:pPr>
            <a:r>
              <a:rPr lang="en-US" sz="1800"/>
              <a:t>Cons:</a:t>
            </a:r>
            <a:endParaRPr/>
          </a:p>
          <a:p>
            <a:pPr marL="285750" lvl="0" indent="-285750" algn="l" rtl="0">
              <a:spcBef>
                <a:spcPts val="360"/>
              </a:spcBef>
              <a:spcAft>
                <a:spcPts val="0"/>
              </a:spcAft>
              <a:buClr>
                <a:schemeClr val="dk1"/>
              </a:buClr>
              <a:buSzPts val="1800"/>
              <a:buFont typeface="Arial"/>
              <a:buChar char="•"/>
            </a:pPr>
            <a:r>
              <a:rPr lang="en-US" sz="1800"/>
              <a:t>It is created manually by a database consultant (Human), All the permissions are with the human and if the human leaves the company they need to transfer the permission to someone else. = ownership</a:t>
            </a:r>
            <a:endParaRPr/>
          </a:p>
          <a:p>
            <a:pPr marL="285750" lvl="0" indent="-285750" algn="l" rtl="0">
              <a:spcBef>
                <a:spcPts val="360"/>
              </a:spcBef>
              <a:spcAft>
                <a:spcPts val="0"/>
              </a:spcAft>
              <a:buClr>
                <a:schemeClr val="dk1"/>
              </a:buClr>
              <a:buSzPts val="1800"/>
              <a:buFont typeface="Arial"/>
              <a:buChar char="•"/>
            </a:pPr>
            <a:r>
              <a:rPr lang="en-US" sz="1800"/>
              <a:t>A schema cannot be created in cloud because it does not use microservice.</a:t>
            </a:r>
            <a:endParaRPr/>
          </a:p>
          <a:p>
            <a:pPr marL="0" lvl="0" indent="0" algn="l" rtl="0">
              <a:spcBef>
                <a:spcPts val="360"/>
              </a:spcBef>
              <a:spcAft>
                <a:spcPts val="0"/>
              </a:spcAft>
              <a:buClr>
                <a:schemeClr val="dk1"/>
              </a:buClr>
              <a:buSzPts val="1800"/>
              <a:buNone/>
            </a:pPr>
            <a:r>
              <a:rPr lang="en-US" sz="1800"/>
              <a:t>Solution</a:t>
            </a:r>
            <a:endParaRPr/>
          </a:p>
          <a:p>
            <a:pPr marL="0" lvl="0" indent="0" algn="l" rtl="0">
              <a:spcBef>
                <a:spcPts val="360"/>
              </a:spcBef>
              <a:spcAft>
                <a:spcPts val="0"/>
              </a:spcAft>
              <a:buClr>
                <a:schemeClr val="dk1"/>
              </a:buClr>
              <a:buSzPts val="1800"/>
              <a:buNone/>
            </a:pPr>
            <a:r>
              <a:rPr lang="en-US" sz="1800" b="1"/>
              <a:t>HDI Containers</a:t>
            </a:r>
            <a:endParaRPr/>
          </a:p>
          <a:p>
            <a:pPr marL="0" lvl="0" indent="0" algn="l" rtl="0">
              <a:spcBef>
                <a:spcPts val="360"/>
              </a:spcBef>
              <a:spcAft>
                <a:spcPts val="0"/>
              </a:spcAft>
              <a:buClr>
                <a:schemeClr val="dk1"/>
              </a:buClr>
              <a:buSzPts val="1800"/>
              <a:buNone/>
            </a:pPr>
            <a:r>
              <a:rPr lang="en-US" sz="1800" b="1" i="1"/>
              <a:t>HANA Deployment</a:t>
            </a:r>
            <a:endParaRPr/>
          </a:p>
          <a:p>
            <a:pPr marL="0" lvl="0" indent="0" algn="l" rtl="0">
              <a:spcBef>
                <a:spcPts val="360"/>
              </a:spcBef>
              <a:spcAft>
                <a:spcPts val="0"/>
              </a:spcAft>
              <a:buClr>
                <a:schemeClr val="dk1"/>
              </a:buClr>
              <a:buSzPts val="1800"/>
              <a:buNone/>
            </a:pPr>
            <a:r>
              <a:rPr lang="en-US" sz="1800" b="1" i="1"/>
              <a:t>Infrastructure</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974"/>
        <p:cNvGrpSpPr/>
        <p:nvPr/>
      </p:nvGrpSpPr>
      <p:grpSpPr>
        <a:xfrm>
          <a:off x="0" y="0"/>
          <a:ext cx="0" cy="0"/>
          <a:chOff x="0" y="0"/>
          <a:chExt cx="0" cy="0"/>
        </a:xfrm>
      </p:grpSpPr>
      <p:sp>
        <p:nvSpPr>
          <p:cNvPr id="1975" name="Google Shape;1975;p106"/>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HDI Container and HDI Service</a:t>
            </a:r>
            <a:endParaRPr/>
          </a:p>
        </p:txBody>
      </p:sp>
      <p:sp>
        <p:nvSpPr>
          <p:cNvPr id="1976" name="Google Shape;1976;p106"/>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A HDI container is just like a schema, it contains all the runtime objects. It is not created or managed by Humans.</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b="1"/>
              <a:t>Who manages it?</a:t>
            </a:r>
            <a:endParaRPr/>
          </a:p>
          <a:p>
            <a:pPr marL="0" lvl="0" indent="0" algn="l" rtl="0">
              <a:spcBef>
                <a:spcPts val="360"/>
              </a:spcBef>
              <a:spcAft>
                <a:spcPts val="0"/>
              </a:spcAft>
              <a:buClr>
                <a:schemeClr val="dk1"/>
              </a:buClr>
              <a:buSzPts val="1800"/>
              <a:buNone/>
            </a:pPr>
            <a:r>
              <a:rPr lang="en-US" sz="1800"/>
              <a:t>It is managed by application, as long as you have application code protected with you (github), you still have access to the HDI container. Even a developer leaves the job, the access is still with whole team.</a:t>
            </a:r>
            <a:endParaRPr/>
          </a:p>
          <a:p>
            <a:pPr marL="0" lvl="0" indent="0" algn="l" rtl="0">
              <a:spcBef>
                <a:spcPts val="360"/>
              </a:spcBef>
              <a:spcAft>
                <a:spcPts val="0"/>
              </a:spcAft>
              <a:buClr>
                <a:schemeClr val="dk1"/>
              </a:buClr>
              <a:buSzPts val="1800"/>
              <a:buNone/>
            </a:pPr>
            <a:r>
              <a:rPr lang="en-US" sz="1800" b="1"/>
              <a:t>How will application talk to HDI container?</a:t>
            </a:r>
            <a:endParaRPr/>
          </a:p>
          <a:p>
            <a:pPr marL="0" lvl="0" indent="0" algn="l" rtl="0">
              <a:spcBef>
                <a:spcPts val="360"/>
              </a:spcBef>
              <a:spcAft>
                <a:spcPts val="0"/>
              </a:spcAft>
              <a:buClr>
                <a:schemeClr val="dk1"/>
              </a:buClr>
              <a:buSzPts val="1800"/>
              <a:buNone/>
            </a:pPr>
            <a:r>
              <a:rPr lang="en-US" sz="1800"/>
              <a:t>Application will use a BTP backing service called HDI microservice to talk to the HANA DB and manage the HDI container. Since the HDI container is managed by service, we can use them in cloud.</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Two aspects for HDI Container when you build CAP app</a:t>
            </a:r>
            <a:endParaRPr/>
          </a:p>
          <a:p>
            <a:pPr marL="285750" lvl="0" indent="-285750" algn="l" rtl="0">
              <a:spcBef>
                <a:spcPts val="360"/>
              </a:spcBef>
              <a:spcAft>
                <a:spcPts val="0"/>
              </a:spcAft>
              <a:buClr>
                <a:schemeClr val="dk1"/>
              </a:buClr>
              <a:buSzPts val="1800"/>
              <a:buFont typeface="Noto Sans Symbols"/>
              <a:buChar char="⮚"/>
            </a:pPr>
            <a:r>
              <a:rPr lang="en-US" sz="1800"/>
              <a:t>Design time – when developers are building app and testing locally (developers should separate data) – each developer when they connect to DB, will work with their private HDI Containers.</a:t>
            </a:r>
            <a:endParaRPr/>
          </a:p>
          <a:p>
            <a:pPr marL="285750" lvl="0" indent="-285750" algn="l" rtl="0">
              <a:spcBef>
                <a:spcPts val="360"/>
              </a:spcBef>
              <a:spcAft>
                <a:spcPts val="0"/>
              </a:spcAft>
              <a:buClr>
                <a:schemeClr val="dk1"/>
              </a:buClr>
              <a:buSzPts val="1800"/>
              <a:buFont typeface="Noto Sans Symbols"/>
              <a:buChar char="⮚"/>
            </a:pPr>
            <a:r>
              <a:rPr lang="en-US" sz="1800"/>
              <a:t>Run time – when app is used by production users finally (users should share data)</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988"/>
        <p:cNvGrpSpPr/>
        <p:nvPr/>
      </p:nvGrpSpPr>
      <p:grpSpPr>
        <a:xfrm>
          <a:off x="0" y="0"/>
          <a:ext cx="0" cy="0"/>
          <a:chOff x="0" y="0"/>
          <a:chExt cx="0" cy="0"/>
        </a:xfrm>
      </p:grpSpPr>
      <p:sp>
        <p:nvSpPr>
          <p:cNvPr id="1989" name="Google Shape;1989;p10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Design time</a:t>
            </a:r>
            <a:endParaRPr/>
          </a:p>
        </p:txBody>
      </p:sp>
      <p:sp>
        <p:nvSpPr>
          <p:cNvPr id="1990" name="Google Shape;1990;p108"/>
          <p:cNvSpPr/>
          <p:nvPr/>
        </p:nvSpPr>
        <p:spPr>
          <a:xfrm>
            <a:off x="2710036" y="2540832"/>
            <a:ext cx="3384376" cy="201622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1">
                <a:solidFill>
                  <a:schemeClr val="lt1"/>
                </a:solidFill>
                <a:latin typeface="Quattrocento Sans"/>
                <a:ea typeface="Quattrocento Sans"/>
                <a:cs typeface="Quattrocento Sans"/>
                <a:sym typeface="Quattrocento Sans"/>
              </a:rPr>
              <a:t>mycapapp</a:t>
            </a:r>
            <a:endParaRPr sz="2400" b="1" i="1">
              <a:solidFill>
                <a:schemeClr val="lt1"/>
              </a:solidFill>
              <a:latin typeface="Quattrocento Sans"/>
              <a:ea typeface="Quattrocento Sans"/>
              <a:cs typeface="Quattrocento Sans"/>
              <a:sym typeface="Quattrocento Sans"/>
            </a:endParaRPr>
          </a:p>
        </p:txBody>
      </p:sp>
      <p:pic>
        <p:nvPicPr>
          <p:cNvPr id="1991" name="Google Shape;1991;p108" descr="Male Female Avatar Vector Art, Icons, and Graphics for Free Download"/>
          <p:cNvPicPr preferRelativeResize="0"/>
          <p:nvPr/>
        </p:nvPicPr>
        <p:blipFill rotWithShape="1">
          <a:blip r:embed="rId3">
            <a:alphaModFix/>
          </a:blip>
          <a:srcRect r="48529"/>
          <a:stretch/>
        </p:blipFill>
        <p:spPr>
          <a:xfrm>
            <a:off x="189756" y="711081"/>
            <a:ext cx="1368152" cy="1809998"/>
          </a:xfrm>
          <a:prstGeom prst="rect">
            <a:avLst/>
          </a:prstGeom>
          <a:noFill/>
          <a:ln>
            <a:noFill/>
          </a:ln>
        </p:spPr>
      </p:pic>
      <p:pic>
        <p:nvPicPr>
          <p:cNvPr id="1992" name="Google Shape;1992;p108" descr="Male Female Avatar Vector Art, Icons, and Graphics for Free Download"/>
          <p:cNvPicPr preferRelativeResize="0"/>
          <p:nvPr/>
        </p:nvPicPr>
        <p:blipFill rotWithShape="1">
          <a:blip r:embed="rId3">
            <a:alphaModFix/>
          </a:blip>
          <a:srcRect l="50000"/>
          <a:stretch/>
        </p:blipFill>
        <p:spPr>
          <a:xfrm>
            <a:off x="117748" y="4797152"/>
            <a:ext cx="1296144" cy="1765176"/>
          </a:xfrm>
          <a:prstGeom prst="rect">
            <a:avLst/>
          </a:prstGeom>
          <a:noFill/>
          <a:ln>
            <a:noFill/>
          </a:ln>
        </p:spPr>
      </p:pic>
      <p:cxnSp>
        <p:nvCxnSpPr>
          <p:cNvPr id="1993" name="Google Shape;1993;p108"/>
          <p:cNvCxnSpPr/>
          <p:nvPr/>
        </p:nvCxnSpPr>
        <p:spPr>
          <a:xfrm>
            <a:off x="873832" y="2204864"/>
            <a:ext cx="1836300" cy="792000"/>
          </a:xfrm>
          <a:prstGeom prst="bentConnector3">
            <a:avLst>
              <a:gd name="adj1" fmla="val -3460"/>
            </a:avLst>
          </a:prstGeom>
          <a:noFill/>
          <a:ln w="9525" cap="flat" cmpd="sng">
            <a:solidFill>
              <a:srgbClr val="FE421C"/>
            </a:solidFill>
            <a:prstDash val="solid"/>
            <a:round/>
            <a:headEnd type="none" w="sm" len="sm"/>
            <a:tailEnd type="triangle" w="med" len="med"/>
          </a:ln>
        </p:spPr>
      </p:cxnSp>
      <p:cxnSp>
        <p:nvCxnSpPr>
          <p:cNvPr id="1994" name="Google Shape;1994;p108"/>
          <p:cNvCxnSpPr>
            <a:stCxn id="1992" idx="0"/>
          </p:cNvCxnSpPr>
          <p:nvPr/>
        </p:nvCxnSpPr>
        <p:spPr>
          <a:xfrm rot="-5400000">
            <a:off x="1311070" y="3380102"/>
            <a:ext cx="871800" cy="1962300"/>
          </a:xfrm>
          <a:prstGeom prst="bentConnector2">
            <a:avLst/>
          </a:prstGeom>
          <a:noFill/>
          <a:ln w="9525" cap="flat" cmpd="sng">
            <a:solidFill>
              <a:srgbClr val="FE421C"/>
            </a:solidFill>
            <a:prstDash val="solid"/>
            <a:round/>
            <a:headEnd type="none" w="sm" len="sm"/>
            <a:tailEnd type="triangle" w="med" len="med"/>
          </a:ln>
        </p:spPr>
      </p:cxnSp>
      <p:sp>
        <p:nvSpPr>
          <p:cNvPr id="1995" name="Google Shape;1995;p108"/>
          <p:cNvSpPr/>
          <p:nvPr/>
        </p:nvSpPr>
        <p:spPr>
          <a:xfrm>
            <a:off x="8410975" y="1406305"/>
            <a:ext cx="3528393" cy="4536504"/>
          </a:xfrm>
          <a:prstGeom prst="flowChartMagneticDisk">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HDB</a:t>
            </a:r>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996" name="Google Shape;1996;p108"/>
          <p:cNvSpPr/>
          <p:nvPr/>
        </p:nvSpPr>
        <p:spPr>
          <a:xfrm>
            <a:off x="9118748" y="2924944"/>
            <a:ext cx="2016224" cy="1080120"/>
          </a:xfrm>
          <a:prstGeom prst="flowChartMagneticDisk">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1997" name="Google Shape;1997;p108"/>
          <p:cNvCxnSpPr/>
          <p:nvPr/>
        </p:nvCxnSpPr>
        <p:spPr>
          <a:xfrm>
            <a:off x="6094412" y="3212976"/>
            <a:ext cx="3024336" cy="0"/>
          </a:xfrm>
          <a:prstGeom prst="straightConnector1">
            <a:avLst/>
          </a:prstGeom>
          <a:noFill/>
          <a:ln w="9525" cap="flat" cmpd="sng">
            <a:solidFill>
              <a:srgbClr val="FE421C"/>
            </a:solidFill>
            <a:prstDash val="solid"/>
            <a:round/>
            <a:headEnd type="none" w="sm" len="sm"/>
            <a:tailEnd type="triangle" w="med" len="med"/>
          </a:ln>
        </p:spPr>
      </p:cxnSp>
      <p:sp>
        <p:nvSpPr>
          <p:cNvPr id="1998" name="Google Shape;1998;p108"/>
          <p:cNvSpPr txBox="1"/>
          <p:nvPr/>
        </p:nvSpPr>
        <p:spPr>
          <a:xfrm>
            <a:off x="6294446" y="2880229"/>
            <a:ext cx="217254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cds deploy --to hana:</a:t>
            </a:r>
            <a:r>
              <a:rPr lang="en-US" sz="1600" b="1">
                <a:solidFill>
                  <a:schemeClr val="dk1"/>
                </a:solidFill>
                <a:highlight>
                  <a:srgbClr val="FFFF00"/>
                </a:highlight>
                <a:latin typeface="Quattrocento Sans"/>
                <a:ea typeface="Quattrocento Sans"/>
                <a:cs typeface="Quattrocento Sans"/>
                <a:sym typeface="Quattrocento Sans"/>
              </a:rPr>
              <a:t>mickey</a:t>
            </a:r>
            <a:endParaRPr sz="1600" b="1">
              <a:solidFill>
                <a:schemeClr val="dk1"/>
              </a:solidFill>
              <a:highlight>
                <a:srgbClr val="FFFF00"/>
              </a:highlight>
              <a:latin typeface="Quattrocento Sans"/>
              <a:ea typeface="Quattrocento Sans"/>
              <a:cs typeface="Quattrocento Sans"/>
              <a:sym typeface="Quattrocento Sans"/>
            </a:endParaRPr>
          </a:p>
        </p:txBody>
      </p:sp>
      <p:pic>
        <p:nvPicPr>
          <p:cNvPr id="1999" name="Google Shape;1999;p108" descr="PNG Mickey Mouse Disney Round Logo | Citypng"/>
          <p:cNvPicPr preferRelativeResize="0"/>
          <p:nvPr/>
        </p:nvPicPr>
        <p:blipFill rotWithShape="1">
          <a:blip r:embed="rId4">
            <a:alphaModFix/>
          </a:blip>
          <a:srcRect/>
          <a:stretch/>
        </p:blipFill>
        <p:spPr>
          <a:xfrm>
            <a:off x="9646500" y="2999946"/>
            <a:ext cx="864096" cy="864096"/>
          </a:xfrm>
          <a:prstGeom prst="rect">
            <a:avLst/>
          </a:prstGeom>
          <a:noFill/>
          <a:ln>
            <a:noFill/>
          </a:ln>
        </p:spPr>
      </p:pic>
      <p:cxnSp>
        <p:nvCxnSpPr>
          <p:cNvPr id="2000" name="Google Shape;2000;p108"/>
          <p:cNvCxnSpPr/>
          <p:nvPr/>
        </p:nvCxnSpPr>
        <p:spPr>
          <a:xfrm>
            <a:off x="6094412" y="4359207"/>
            <a:ext cx="3168352" cy="581961"/>
          </a:xfrm>
          <a:prstGeom prst="straightConnector1">
            <a:avLst/>
          </a:prstGeom>
          <a:noFill/>
          <a:ln w="9525" cap="flat" cmpd="sng">
            <a:solidFill>
              <a:srgbClr val="FE421C"/>
            </a:solidFill>
            <a:prstDash val="solid"/>
            <a:round/>
            <a:headEnd type="none" w="sm" len="sm"/>
            <a:tailEnd type="triangle" w="med" len="med"/>
          </a:ln>
        </p:spPr>
      </p:cxnSp>
      <p:sp>
        <p:nvSpPr>
          <p:cNvPr id="2001" name="Google Shape;2001;p108"/>
          <p:cNvSpPr/>
          <p:nvPr/>
        </p:nvSpPr>
        <p:spPr>
          <a:xfrm>
            <a:off x="9274446" y="4449915"/>
            <a:ext cx="2016224" cy="1080120"/>
          </a:xfrm>
          <a:prstGeom prst="flowChartMagneticDisk">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2002" name="Google Shape;2002;p108" descr="Donald Duck Daffy Duck T-shirt, donald duck, heroes, logo, head png |  PNGWing"/>
          <p:cNvPicPr preferRelativeResize="0"/>
          <p:nvPr/>
        </p:nvPicPr>
        <p:blipFill rotWithShape="1">
          <a:blip r:embed="rId5">
            <a:alphaModFix/>
          </a:blip>
          <a:srcRect/>
          <a:stretch/>
        </p:blipFill>
        <p:spPr>
          <a:xfrm>
            <a:off x="9895806" y="4538706"/>
            <a:ext cx="773504" cy="912989"/>
          </a:xfrm>
          <a:prstGeom prst="rect">
            <a:avLst/>
          </a:prstGeom>
          <a:noFill/>
          <a:ln>
            <a:noFill/>
          </a:ln>
        </p:spPr>
      </p:pic>
      <p:sp>
        <p:nvSpPr>
          <p:cNvPr id="2003" name="Google Shape;2003;p108"/>
          <p:cNvSpPr txBox="1"/>
          <p:nvPr/>
        </p:nvSpPr>
        <p:spPr>
          <a:xfrm>
            <a:off x="6352438" y="4246318"/>
            <a:ext cx="217254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cds deploy --to hana:</a:t>
            </a:r>
            <a:r>
              <a:rPr lang="en-US" sz="1600" b="1">
                <a:solidFill>
                  <a:schemeClr val="dk1"/>
                </a:solidFill>
                <a:highlight>
                  <a:srgbClr val="FFFF00"/>
                </a:highlight>
                <a:latin typeface="Quattrocento Sans"/>
                <a:ea typeface="Quattrocento Sans"/>
                <a:cs typeface="Quattrocento Sans"/>
                <a:sym typeface="Quattrocento Sans"/>
              </a:rPr>
              <a:t>donald</a:t>
            </a:r>
            <a:endParaRPr sz="1600" b="1">
              <a:solidFill>
                <a:schemeClr val="dk1"/>
              </a:solidFill>
              <a:highlight>
                <a:srgbClr val="FFFF00"/>
              </a:highlight>
              <a:latin typeface="Quattrocento Sans"/>
              <a:ea typeface="Quattrocento Sans"/>
              <a:cs typeface="Quattrocento Sans"/>
              <a:sym typeface="Quattrocento San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008"/>
        <p:cNvGrpSpPr/>
        <p:nvPr/>
      </p:nvGrpSpPr>
      <p:grpSpPr>
        <a:xfrm>
          <a:off x="0" y="0"/>
          <a:ext cx="0" cy="0"/>
          <a:chOff x="0" y="0"/>
          <a:chExt cx="0" cy="0"/>
        </a:xfrm>
      </p:grpSpPr>
      <p:sp>
        <p:nvSpPr>
          <p:cNvPr id="2009" name="Google Shape;2009;p10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2800"/>
              <a:buFont typeface="Corben"/>
              <a:buNone/>
            </a:pPr>
            <a:r>
              <a:rPr lang="en-US" sz="2800"/>
              <a:t>Make your app run on HANA connected to BAS tool</a:t>
            </a:r>
            <a:endParaRPr/>
          </a:p>
        </p:txBody>
      </p:sp>
      <p:sp>
        <p:nvSpPr>
          <p:cNvPr id="2010" name="Google Shape;2010;p109"/>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342900" lvl="0" indent="-342900" algn="l" rtl="0">
              <a:spcBef>
                <a:spcPts val="0"/>
              </a:spcBef>
              <a:spcAft>
                <a:spcPts val="0"/>
              </a:spcAft>
              <a:buClr>
                <a:schemeClr val="dk1"/>
              </a:buClr>
              <a:buSzPts val="1800"/>
              <a:buAutoNum type="arabicPeriod"/>
            </a:pPr>
            <a:r>
              <a:rPr lang="en-US" sz="1800"/>
              <a:t>We need to connect to our BTP a/c from BAS/VS Code to let computer know where we have HDB – </a:t>
            </a:r>
            <a:r>
              <a:rPr lang="en-US" sz="1800" b="1"/>
              <a:t>cf login</a:t>
            </a:r>
            <a:endParaRPr/>
          </a:p>
          <a:p>
            <a:pPr marL="342900" lvl="0" indent="-342900" algn="l" rtl="0">
              <a:spcBef>
                <a:spcPts val="360"/>
              </a:spcBef>
              <a:spcAft>
                <a:spcPts val="0"/>
              </a:spcAft>
              <a:buClr>
                <a:schemeClr val="dk1"/>
              </a:buClr>
              <a:buSzPts val="1800"/>
              <a:buAutoNum type="arabicPeriod"/>
            </a:pPr>
            <a:r>
              <a:rPr lang="en-US" sz="1800"/>
              <a:t>We need to add dependency on HANA module that manage the HDI service in BTP - </a:t>
            </a:r>
            <a:r>
              <a:rPr lang="en-US" sz="1800" b="1"/>
              <a:t>cds add hana</a:t>
            </a:r>
            <a:endParaRPr sz="1800" b="1"/>
          </a:p>
          <a:p>
            <a:pPr marL="342900" lvl="0" indent="-342900" algn="l" rtl="0">
              <a:spcBef>
                <a:spcPts val="360"/>
              </a:spcBef>
              <a:spcAft>
                <a:spcPts val="0"/>
              </a:spcAft>
              <a:buClr>
                <a:schemeClr val="dk1"/>
              </a:buClr>
              <a:buSzPts val="1800"/>
              <a:buAutoNum type="arabicPeriod"/>
            </a:pPr>
            <a:r>
              <a:rPr lang="en-US" sz="1800"/>
              <a:t>Install the dependency added (@cap-js/hana) – </a:t>
            </a:r>
            <a:r>
              <a:rPr lang="en-US" sz="1800" b="1"/>
              <a:t>npm install</a:t>
            </a:r>
            <a:endParaRPr/>
          </a:p>
          <a:p>
            <a:pPr marL="342900" lvl="0" indent="-342900" algn="l" rtl="0">
              <a:spcBef>
                <a:spcPts val="360"/>
              </a:spcBef>
              <a:spcAft>
                <a:spcPts val="0"/>
              </a:spcAft>
              <a:buClr>
                <a:schemeClr val="dk1"/>
              </a:buClr>
              <a:buSzPts val="1800"/>
              <a:buAutoNum type="arabicPeriod"/>
            </a:pPr>
            <a:r>
              <a:rPr lang="en-US" sz="1800"/>
              <a:t>CAP needs to convert the .cds file to HANA specific format (.hdbtable etc) – </a:t>
            </a:r>
            <a:r>
              <a:rPr lang="en-US" sz="1800" b="1"/>
              <a:t>cds build --production</a:t>
            </a:r>
            <a:endParaRPr/>
          </a:p>
          <a:p>
            <a:pPr marL="342900" lvl="0" indent="-342900" algn="l" rtl="0">
              <a:spcBef>
                <a:spcPts val="360"/>
              </a:spcBef>
              <a:spcAft>
                <a:spcPts val="0"/>
              </a:spcAft>
              <a:buClr>
                <a:schemeClr val="dk1"/>
              </a:buClr>
              <a:buSzPts val="1800"/>
              <a:buAutoNum type="arabicPeriod"/>
            </a:pPr>
            <a:r>
              <a:rPr lang="en-US" sz="1800"/>
              <a:t>[Extra], please download the hanacsv.zip file provided by Anubhav to replace all csv’s in data folder.</a:t>
            </a:r>
            <a:endParaRPr/>
          </a:p>
          <a:p>
            <a:pPr marL="342900" lvl="0" indent="-342900" algn="l" rtl="0">
              <a:spcBef>
                <a:spcPts val="360"/>
              </a:spcBef>
              <a:spcAft>
                <a:spcPts val="0"/>
              </a:spcAft>
              <a:buClr>
                <a:schemeClr val="dk1"/>
              </a:buClr>
              <a:buSzPts val="1800"/>
              <a:buFont typeface="Arial"/>
              <a:buAutoNum type="arabicPeriod"/>
            </a:pPr>
            <a:r>
              <a:rPr lang="en-US" sz="1800"/>
              <a:t>Lets deploy container to DB – </a:t>
            </a:r>
            <a:r>
              <a:rPr lang="en-US" sz="1800" b="1"/>
              <a:t>cds deploy --to hana:</a:t>
            </a:r>
            <a:r>
              <a:rPr lang="en-US" sz="1800" b="1">
                <a:highlight>
                  <a:srgbClr val="FFFF00"/>
                </a:highlight>
              </a:rPr>
              <a:t>mickey</a:t>
            </a:r>
            <a:endParaRPr sz="1800">
              <a:highlight>
                <a:srgbClr val="FFFF00"/>
              </a:highlight>
            </a:endParaRPr>
          </a:p>
          <a:p>
            <a:pPr marL="342900" lvl="0" indent="-342900" algn="l" rtl="0">
              <a:spcBef>
                <a:spcPts val="360"/>
              </a:spcBef>
              <a:spcAft>
                <a:spcPts val="0"/>
              </a:spcAft>
              <a:buClr>
                <a:schemeClr val="dk1"/>
              </a:buClr>
              <a:buSzPts val="1800"/>
              <a:buAutoNum type="arabicPeriod"/>
            </a:pPr>
            <a:r>
              <a:rPr lang="en-US" sz="1800"/>
              <a:t>Once done system will create a file </a:t>
            </a:r>
            <a:r>
              <a:rPr lang="en-US" sz="1800" b="1"/>
              <a:t>.cdsrc-private.json</a:t>
            </a:r>
            <a:r>
              <a:rPr lang="en-US" sz="1800"/>
              <a:t> it contains our BTP microservice connection details with our project so later when you restart BAS the project still knows which container its connected to. It creates a configuration which has the details of connected services and keys to use.</a:t>
            </a:r>
            <a:r>
              <a:rPr lang="en-US" sz="1800">
                <a:highlight>
                  <a:srgbClr val="FFFF00"/>
                </a:highlight>
              </a:rPr>
              <a:t> </a:t>
            </a:r>
            <a:endParaRPr/>
          </a:p>
          <a:p>
            <a:pPr marL="342900" lvl="0" indent="-342900" algn="l" rtl="0">
              <a:spcBef>
                <a:spcPts val="360"/>
              </a:spcBef>
              <a:spcAft>
                <a:spcPts val="0"/>
              </a:spcAft>
              <a:buClr>
                <a:schemeClr val="dk1"/>
              </a:buClr>
              <a:buSzPts val="1800"/>
              <a:buAutoNum type="arabicPeriod"/>
            </a:pPr>
            <a:r>
              <a:rPr lang="en-US" sz="1800"/>
              <a:t>To run our app connected with HANA DB configuration (name: hybrid) we need to run command </a:t>
            </a:r>
            <a:endParaRPr/>
          </a:p>
          <a:p>
            <a:pPr marL="0" lvl="0" indent="0" algn="l" rtl="0">
              <a:spcBef>
                <a:spcPts val="360"/>
              </a:spcBef>
              <a:spcAft>
                <a:spcPts val="0"/>
              </a:spcAft>
              <a:buClr>
                <a:schemeClr val="dk1"/>
              </a:buClr>
              <a:buSzPts val="1800"/>
              <a:buNone/>
            </a:pPr>
            <a:r>
              <a:rPr lang="en-US" sz="1800"/>
              <a:t>      </a:t>
            </a:r>
            <a:r>
              <a:rPr lang="en-US" sz="1800" b="1"/>
              <a:t>cds watch --profile hybrid</a:t>
            </a:r>
            <a:endParaRPr/>
          </a:p>
          <a:p>
            <a:pPr marL="342900" lvl="0" indent="-228600" algn="l" rtl="0">
              <a:spcBef>
                <a:spcPts val="360"/>
              </a:spcBef>
              <a:spcAft>
                <a:spcPts val="0"/>
              </a:spcAft>
              <a:buClr>
                <a:schemeClr val="dk1"/>
              </a:buClr>
              <a:buSzPts val="1800"/>
              <a:buNone/>
            </a:pPr>
            <a:endParaRPr sz="1800">
              <a:highlight>
                <a:srgbClr val="FFFF00"/>
              </a:highlight>
            </a:endParaRPr>
          </a:p>
          <a:p>
            <a:pPr marL="342900" lvl="0" indent="-342900" algn="l" rtl="0">
              <a:spcBef>
                <a:spcPts val="360"/>
              </a:spcBef>
              <a:spcAft>
                <a:spcPts val="0"/>
              </a:spcAft>
              <a:buClr>
                <a:schemeClr val="dk1"/>
              </a:buClr>
              <a:buSzPts val="1800"/>
              <a:buAutoNum type="arabicPeriod"/>
            </a:pPr>
            <a:r>
              <a:rPr lang="en-US" sz="1800">
                <a:highlight>
                  <a:srgbClr val="FFFF00"/>
                </a:highlight>
              </a:rPr>
              <a:t>Open HANA Cloud tools to start stop instance </a:t>
            </a:r>
            <a:endParaRPr/>
          </a:p>
          <a:p>
            <a:pPr marL="342900" lvl="0" indent="-342900" algn="l" rtl="0">
              <a:spcBef>
                <a:spcPts val="360"/>
              </a:spcBef>
              <a:spcAft>
                <a:spcPts val="0"/>
              </a:spcAft>
              <a:buClr>
                <a:schemeClr val="dk1"/>
              </a:buClr>
              <a:buSzPts val="1800"/>
              <a:buAutoNum type="arabicPeriod"/>
            </a:pPr>
            <a:r>
              <a:rPr lang="en-US" sz="1800">
                <a:highlight>
                  <a:srgbClr val="FFFF00"/>
                </a:highlight>
              </a:rPr>
              <a:t>Open HANA Database Explorer tool – DBAMIN / Welcome1</a:t>
            </a:r>
            <a:endParaRPr/>
          </a:p>
          <a:p>
            <a:pPr marL="342900" lvl="0" indent="-228600" algn="l" rtl="0">
              <a:spcBef>
                <a:spcPts val="360"/>
              </a:spcBef>
              <a:spcAft>
                <a:spcPts val="0"/>
              </a:spcAft>
              <a:buClr>
                <a:schemeClr val="dk1"/>
              </a:buClr>
              <a:buSzPts val="1800"/>
              <a:buNone/>
            </a:pPr>
            <a:endParaRPr sz="1800">
              <a:highlight>
                <a:srgbClr val="FFFF00"/>
              </a:highlight>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022"/>
        <p:cNvGrpSpPr/>
        <p:nvPr/>
      </p:nvGrpSpPr>
      <p:grpSpPr>
        <a:xfrm>
          <a:off x="0" y="0"/>
          <a:ext cx="0" cy="0"/>
          <a:chOff x="0" y="0"/>
          <a:chExt cx="0" cy="0"/>
        </a:xfrm>
      </p:grpSpPr>
      <p:sp>
        <p:nvSpPr>
          <p:cNvPr id="2023" name="Google Shape;2023;p11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Reminder: Start HANA DB</a:t>
            </a:r>
            <a:endParaRPr/>
          </a:p>
        </p:txBody>
      </p:sp>
      <p:sp>
        <p:nvSpPr>
          <p:cNvPr id="2024" name="Google Shape;2024;p111"/>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Text</a:t>
            </a:r>
            <a:endParaRPr/>
          </a:p>
        </p:txBody>
      </p:sp>
      <p:pic>
        <p:nvPicPr>
          <p:cNvPr id="2025" name="Google Shape;2025;p111"/>
          <p:cNvPicPr preferRelativeResize="0"/>
          <p:nvPr/>
        </p:nvPicPr>
        <p:blipFill rotWithShape="1">
          <a:blip r:embed="rId3">
            <a:alphaModFix/>
          </a:blip>
          <a:srcRect/>
          <a:stretch/>
        </p:blipFill>
        <p:spPr>
          <a:xfrm>
            <a:off x="189757" y="711081"/>
            <a:ext cx="10441160" cy="5652429"/>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030"/>
        <p:cNvGrpSpPr/>
        <p:nvPr/>
      </p:nvGrpSpPr>
      <p:grpSpPr>
        <a:xfrm>
          <a:off x="0" y="0"/>
          <a:ext cx="0" cy="0"/>
          <a:chOff x="0" y="0"/>
          <a:chExt cx="0" cy="0"/>
        </a:xfrm>
      </p:grpSpPr>
      <p:sp>
        <p:nvSpPr>
          <p:cNvPr id="2031" name="Google Shape;2031;p11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Auth</a:t>
            </a:r>
            <a:r>
              <a:rPr lang="en-US">
                <a:solidFill>
                  <a:srgbClr val="FF0000"/>
                </a:solidFill>
              </a:rPr>
              <a:t>e</a:t>
            </a:r>
            <a:r>
              <a:rPr lang="en-US"/>
              <a:t>ntication &amp; Auth</a:t>
            </a:r>
            <a:r>
              <a:rPr lang="en-US">
                <a:solidFill>
                  <a:srgbClr val="FF0000"/>
                </a:solidFill>
              </a:rPr>
              <a:t>o</a:t>
            </a:r>
            <a:r>
              <a:rPr lang="en-US"/>
              <a:t>rization</a:t>
            </a:r>
            <a:endParaRPr/>
          </a:p>
        </p:txBody>
      </p:sp>
      <p:sp>
        <p:nvSpPr>
          <p:cNvPr id="2032" name="Google Shape;2032;p112"/>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b="1"/>
              <a:t>Authentication</a:t>
            </a:r>
            <a:r>
              <a:rPr lang="en-US" sz="1800"/>
              <a:t> – is a process in which application security is checked by ensuring a valid user is coming to our app. Does he/she come to our app are a valid application user in the company. It is enforced using a login screen. The login screen can be a standard login screen offered by SAP or a custom login screen of our company. Usually the login screens are managed by special software called IDP (Identity Provider). This IDP is registered by our BTP account in the trust section.</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b="1"/>
              <a:t>Authorization</a:t>
            </a:r>
            <a:r>
              <a:rPr lang="en-US" sz="1800"/>
              <a:t> – Once the user is authenticated, the authorization comes into play. It ensures a logged on user have specific permissions to perform particular activities in our application (like Create, Update, Delete, Approve, Reject). This is often configured using </a:t>
            </a:r>
            <a:r>
              <a:rPr lang="en-US" sz="1800" b="1"/>
              <a:t>Roles</a:t>
            </a:r>
            <a:r>
              <a:rPr lang="en-US" sz="1800"/>
              <a:t> in SAP. In case of BTP we use modular approach – Scopes, Role Templates and Role Collections. As a application developer, it is your responsibility to define these for your app.</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In case of SAP BTP, there are 2 major components which controls the overall security</a:t>
            </a:r>
            <a:endParaRPr/>
          </a:p>
          <a:p>
            <a:pPr marL="285750" lvl="0" indent="-285750" algn="l" rtl="0">
              <a:spcBef>
                <a:spcPts val="360"/>
              </a:spcBef>
              <a:spcAft>
                <a:spcPts val="0"/>
              </a:spcAft>
              <a:buClr>
                <a:schemeClr val="dk1"/>
              </a:buClr>
              <a:buSzPts val="1800"/>
              <a:buFont typeface="Arial"/>
              <a:buChar char="•"/>
            </a:pPr>
            <a:r>
              <a:rPr lang="en-US" sz="1800"/>
              <a:t>IDP – Identity Provider</a:t>
            </a:r>
            <a:endParaRPr/>
          </a:p>
          <a:p>
            <a:pPr marL="285750" lvl="0" indent="-285750" algn="l" rtl="0">
              <a:spcBef>
                <a:spcPts val="360"/>
              </a:spcBef>
              <a:spcAft>
                <a:spcPts val="0"/>
              </a:spcAft>
              <a:buClr>
                <a:schemeClr val="dk1"/>
              </a:buClr>
              <a:buSzPts val="1800"/>
              <a:buFont typeface="Arial"/>
              <a:buChar char="•"/>
            </a:pPr>
            <a:r>
              <a:rPr lang="en-US" sz="1800"/>
              <a:t>XSUAA – XS – eXtended Services, UAA – User Account and Authorization</a:t>
            </a:r>
            <a:endParaRPr/>
          </a:p>
        </p:txBody>
      </p:sp>
      <p:pic>
        <p:nvPicPr>
          <p:cNvPr id="2033" name="Google Shape;2033;p112" descr="SAP Labs Break Out Area - Bangalore | homify"/>
          <p:cNvPicPr preferRelativeResize="0"/>
          <p:nvPr/>
        </p:nvPicPr>
        <p:blipFill rotWithShape="1">
          <a:blip r:embed="rId3">
            <a:alphaModFix/>
          </a:blip>
          <a:srcRect/>
          <a:stretch/>
        </p:blipFill>
        <p:spPr>
          <a:xfrm>
            <a:off x="2852997" y="5301723"/>
            <a:ext cx="2727772" cy="1363886"/>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038"/>
        <p:cNvGrpSpPr/>
        <p:nvPr/>
      </p:nvGrpSpPr>
      <p:grpSpPr>
        <a:xfrm>
          <a:off x="0" y="0"/>
          <a:ext cx="0" cy="0"/>
          <a:chOff x="0" y="0"/>
          <a:chExt cx="0" cy="0"/>
        </a:xfrm>
      </p:grpSpPr>
      <p:sp>
        <p:nvSpPr>
          <p:cNvPr id="2039" name="Google Shape;2039;p11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IDP – Identity Provider</a:t>
            </a:r>
            <a:endParaRPr/>
          </a:p>
        </p:txBody>
      </p:sp>
      <p:sp>
        <p:nvSpPr>
          <p:cNvPr id="2040" name="Google Shape;2040;p113"/>
          <p:cNvSpPr txBox="1">
            <a:spLocks noGrp="1"/>
          </p:cNvSpPr>
          <p:nvPr>
            <p:ph type="body" idx="1"/>
          </p:nvPr>
        </p:nvSpPr>
        <p:spPr>
          <a:xfrm>
            <a:off x="261764" y="684441"/>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It ensures the login mechanism for our users. It offers the LOGON screen for users coming to connect to our app.</a:t>
            </a:r>
            <a:endParaRPr/>
          </a:p>
          <a:p>
            <a:pPr marL="285750" lvl="0" indent="-285750" algn="l" rtl="0">
              <a:spcBef>
                <a:spcPts val="360"/>
              </a:spcBef>
              <a:spcAft>
                <a:spcPts val="0"/>
              </a:spcAft>
              <a:buClr>
                <a:schemeClr val="dk1"/>
              </a:buClr>
              <a:buSzPts val="1800"/>
              <a:buFont typeface="Arial"/>
              <a:buChar char="•"/>
            </a:pPr>
            <a:r>
              <a:rPr lang="en-US" sz="1800"/>
              <a:t>Centrally stores all the users, credentials and authority (clerk, manager, ceo, cio)</a:t>
            </a:r>
            <a:endParaRPr/>
          </a:p>
          <a:p>
            <a:pPr marL="285750" lvl="0" indent="-285750" algn="l" rtl="0">
              <a:spcBef>
                <a:spcPts val="360"/>
              </a:spcBef>
              <a:spcAft>
                <a:spcPts val="0"/>
              </a:spcAft>
              <a:buClr>
                <a:schemeClr val="dk1"/>
              </a:buClr>
              <a:buSzPts val="1800"/>
              <a:buFont typeface="Arial"/>
              <a:buChar char="•"/>
            </a:pPr>
            <a:r>
              <a:rPr lang="en-US" sz="1800"/>
              <a:t>When a user leaves the company, the admin just need to delete/block user from IDP</a:t>
            </a:r>
            <a:endParaRPr/>
          </a:p>
          <a:p>
            <a:pPr marL="285750" lvl="0" indent="-285750" algn="l" rtl="0">
              <a:spcBef>
                <a:spcPts val="360"/>
              </a:spcBef>
              <a:spcAft>
                <a:spcPts val="0"/>
              </a:spcAft>
              <a:buClr>
                <a:schemeClr val="dk1"/>
              </a:buClr>
              <a:buSzPts val="1800"/>
              <a:buFont typeface="Arial"/>
              <a:buChar char="•"/>
            </a:pPr>
            <a:r>
              <a:rPr lang="en-US" sz="1800"/>
              <a:t>It simplifies the login process for the user and user don’t need to remember many passwords</a:t>
            </a:r>
            <a:endParaRPr/>
          </a:p>
          <a:p>
            <a:pPr marL="285750" lvl="0" indent="-285750" algn="l" rtl="0">
              <a:spcBef>
                <a:spcPts val="360"/>
              </a:spcBef>
              <a:spcAft>
                <a:spcPts val="0"/>
              </a:spcAft>
              <a:buClr>
                <a:schemeClr val="dk1"/>
              </a:buClr>
              <a:buSzPts val="1800"/>
              <a:buFont typeface="Arial"/>
              <a:buChar char="•"/>
            </a:pPr>
            <a:r>
              <a:rPr lang="en-US" sz="1800"/>
              <a:t>Single source of truth for all the users/credentials and permissions and scopes</a:t>
            </a:r>
            <a:endParaRPr/>
          </a:p>
          <a:p>
            <a:pPr marL="285750" lvl="0" indent="-285750" algn="l" rtl="0">
              <a:spcBef>
                <a:spcPts val="360"/>
              </a:spcBef>
              <a:spcAft>
                <a:spcPts val="0"/>
              </a:spcAft>
              <a:buClr>
                <a:schemeClr val="dk1"/>
              </a:buClr>
              <a:buSzPts val="1800"/>
              <a:buFont typeface="Arial"/>
              <a:buChar char="•"/>
            </a:pPr>
            <a:r>
              <a:rPr lang="en-US" sz="1800"/>
              <a:t>Companies often buy IDP and configure it with their own branding and login screen</a:t>
            </a:r>
            <a:endParaRPr/>
          </a:p>
          <a:p>
            <a:pPr marL="285750" lvl="0" indent="-285750" algn="l" rtl="0">
              <a:spcBef>
                <a:spcPts val="360"/>
              </a:spcBef>
              <a:spcAft>
                <a:spcPts val="0"/>
              </a:spcAft>
              <a:buClr>
                <a:schemeClr val="dk1"/>
              </a:buClr>
              <a:buSzPts val="1800"/>
              <a:buFont typeface="Arial"/>
              <a:buChar char="•"/>
            </a:pPr>
            <a:r>
              <a:rPr lang="en-US" sz="1800"/>
              <a:t>E.g. SSO, Google IDP, Linkedin, Meta IDP, X IDP, Active Directory, SAP also provide a IDP software as a service called </a:t>
            </a:r>
            <a:r>
              <a:rPr lang="en-US" sz="1800" b="1" i="1"/>
              <a:t>CIS (Cloud Identity Service)</a:t>
            </a:r>
            <a:endParaRPr/>
          </a:p>
        </p:txBody>
      </p:sp>
      <p:sp>
        <p:nvSpPr>
          <p:cNvPr id="2041" name="Google Shape;2041;p113"/>
          <p:cNvSpPr/>
          <p:nvPr/>
        </p:nvSpPr>
        <p:spPr>
          <a:xfrm>
            <a:off x="3131078" y="3378860"/>
            <a:ext cx="2016224" cy="504056"/>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Quattrocento Sans"/>
                <a:ea typeface="Quattrocento Sans"/>
                <a:cs typeface="Quattrocento Sans"/>
                <a:sym typeface="Quattrocento Sans"/>
              </a:rPr>
              <a:t>SAP systems</a:t>
            </a:r>
            <a:endParaRPr/>
          </a:p>
        </p:txBody>
      </p:sp>
      <p:sp>
        <p:nvSpPr>
          <p:cNvPr id="2042" name="Google Shape;2042;p113"/>
          <p:cNvSpPr/>
          <p:nvPr/>
        </p:nvSpPr>
        <p:spPr>
          <a:xfrm>
            <a:off x="3131078" y="3945731"/>
            <a:ext cx="2016224" cy="504056"/>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Quattrocento Sans"/>
                <a:ea typeface="Quattrocento Sans"/>
                <a:cs typeface="Quattrocento Sans"/>
                <a:sym typeface="Quattrocento Sans"/>
              </a:rPr>
              <a:t>Fiori launchpad</a:t>
            </a:r>
            <a:endParaRPr/>
          </a:p>
        </p:txBody>
      </p:sp>
      <p:sp>
        <p:nvSpPr>
          <p:cNvPr id="2043" name="Google Shape;2043;p113"/>
          <p:cNvSpPr/>
          <p:nvPr/>
        </p:nvSpPr>
        <p:spPr>
          <a:xfrm>
            <a:off x="3131078" y="4513248"/>
            <a:ext cx="2016224" cy="504056"/>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Quattrocento Sans"/>
                <a:ea typeface="Quattrocento Sans"/>
                <a:cs typeface="Quattrocento Sans"/>
                <a:sym typeface="Quattrocento Sans"/>
              </a:rPr>
              <a:t>CO. Portal</a:t>
            </a:r>
            <a:endParaRPr/>
          </a:p>
        </p:txBody>
      </p:sp>
      <p:sp>
        <p:nvSpPr>
          <p:cNvPr id="2044" name="Google Shape;2044;p113"/>
          <p:cNvSpPr/>
          <p:nvPr/>
        </p:nvSpPr>
        <p:spPr>
          <a:xfrm>
            <a:off x="3131078" y="5097070"/>
            <a:ext cx="2016224" cy="504056"/>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Quattrocento Sans"/>
                <a:ea typeface="Quattrocento Sans"/>
                <a:cs typeface="Quattrocento Sans"/>
                <a:sym typeface="Quattrocento Sans"/>
              </a:rPr>
              <a:t>SRM</a:t>
            </a:r>
            <a:endParaRPr/>
          </a:p>
        </p:txBody>
      </p:sp>
      <p:sp>
        <p:nvSpPr>
          <p:cNvPr id="2045" name="Google Shape;2045;p113"/>
          <p:cNvSpPr/>
          <p:nvPr/>
        </p:nvSpPr>
        <p:spPr>
          <a:xfrm>
            <a:off x="3131078" y="5669255"/>
            <a:ext cx="2016224" cy="504056"/>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Quattrocento Sans"/>
                <a:ea typeface="Quattrocento Sans"/>
                <a:cs typeface="Quattrocento Sans"/>
                <a:sym typeface="Quattrocento Sans"/>
              </a:rPr>
              <a:t>Outlook</a:t>
            </a:r>
            <a:endParaRPr/>
          </a:p>
        </p:txBody>
      </p:sp>
      <p:sp>
        <p:nvSpPr>
          <p:cNvPr id="2046" name="Google Shape;2046;p113"/>
          <p:cNvSpPr/>
          <p:nvPr/>
        </p:nvSpPr>
        <p:spPr>
          <a:xfrm>
            <a:off x="3131078" y="6254988"/>
            <a:ext cx="2016224" cy="504056"/>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Quattrocento Sans"/>
                <a:ea typeface="Quattrocento Sans"/>
                <a:cs typeface="Quattrocento Sans"/>
                <a:sym typeface="Quattrocento Sans"/>
              </a:rPr>
              <a:t>mycapapp</a:t>
            </a:r>
            <a:endParaRPr sz="1800" b="1">
              <a:solidFill>
                <a:schemeClr val="lt1"/>
              </a:solidFill>
              <a:latin typeface="Quattrocento Sans"/>
              <a:ea typeface="Quattrocento Sans"/>
              <a:cs typeface="Quattrocento Sans"/>
              <a:sym typeface="Quattrocento Sans"/>
            </a:endParaRPr>
          </a:p>
        </p:txBody>
      </p:sp>
      <p:sp>
        <p:nvSpPr>
          <p:cNvPr id="2047" name="Google Shape;2047;p113"/>
          <p:cNvSpPr/>
          <p:nvPr/>
        </p:nvSpPr>
        <p:spPr>
          <a:xfrm>
            <a:off x="189756" y="4765276"/>
            <a:ext cx="1368152" cy="835850"/>
          </a:xfrm>
          <a:prstGeom prst="roundRect">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SSO</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(idp)</a:t>
            </a:r>
            <a:endParaRPr/>
          </a:p>
        </p:txBody>
      </p:sp>
      <p:sp>
        <p:nvSpPr>
          <p:cNvPr id="2048" name="Google Shape;2048;p113"/>
          <p:cNvSpPr txBox="1"/>
          <p:nvPr/>
        </p:nvSpPr>
        <p:spPr>
          <a:xfrm>
            <a:off x="117748" y="5669255"/>
            <a:ext cx="2664296"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venir"/>
                <a:ea typeface="Avenir"/>
                <a:cs typeface="Avenir"/>
                <a:sym typeface="Avenir"/>
              </a:rPr>
              <a:t>Single Source of truth about users, Roles, passwords centrally</a:t>
            </a:r>
            <a:endParaRPr/>
          </a:p>
        </p:txBody>
      </p:sp>
      <p:cxnSp>
        <p:nvCxnSpPr>
          <p:cNvPr id="2049" name="Google Shape;2049;p113"/>
          <p:cNvCxnSpPr>
            <a:stCxn id="2047" idx="3"/>
            <a:endCxn id="2041" idx="1"/>
          </p:cNvCxnSpPr>
          <p:nvPr/>
        </p:nvCxnSpPr>
        <p:spPr>
          <a:xfrm rot="10800000" flipH="1">
            <a:off x="1557908" y="3631001"/>
            <a:ext cx="1573200" cy="1552200"/>
          </a:xfrm>
          <a:prstGeom prst="straightConnector1">
            <a:avLst/>
          </a:prstGeom>
          <a:noFill/>
          <a:ln w="9525" cap="flat" cmpd="sng">
            <a:solidFill>
              <a:srgbClr val="FE421C"/>
            </a:solidFill>
            <a:prstDash val="dash"/>
            <a:round/>
            <a:headEnd type="none" w="sm" len="sm"/>
            <a:tailEnd type="none" w="sm" len="sm"/>
          </a:ln>
        </p:spPr>
      </p:cxnSp>
      <p:cxnSp>
        <p:nvCxnSpPr>
          <p:cNvPr id="2050" name="Google Shape;2050;p113"/>
          <p:cNvCxnSpPr>
            <a:endCxn id="2042" idx="1"/>
          </p:cNvCxnSpPr>
          <p:nvPr/>
        </p:nvCxnSpPr>
        <p:spPr>
          <a:xfrm rot="10800000" flipH="1">
            <a:off x="1710278" y="4197759"/>
            <a:ext cx="1420800" cy="1137900"/>
          </a:xfrm>
          <a:prstGeom prst="straightConnector1">
            <a:avLst/>
          </a:prstGeom>
          <a:noFill/>
          <a:ln w="9525" cap="flat" cmpd="sng">
            <a:solidFill>
              <a:srgbClr val="FE421C"/>
            </a:solidFill>
            <a:prstDash val="dash"/>
            <a:round/>
            <a:headEnd type="none" w="sm" len="sm"/>
            <a:tailEnd type="none" w="sm" len="sm"/>
          </a:ln>
        </p:spPr>
      </p:cxnSp>
      <p:cxnSp>
        <p:nvCxnSpPr>
          <p:cNvPr id="2051" name="Google Shape;2051;p113"/>
          <p:cNvCxnSpPr>
            <a:endCxn id="2043" idx="1"/>
          </p:cNvCxnSpPr>
          <p:nvPr/>
        </p:nvCxnSpPr>
        <p:spPr>
          <a:xfrm rot="10800000" flipH="1">
            <a:off x="1710278" y="4765276"/>
            <a:ext cx="1420800" cy="570300"/>
          </a:xfrm>
          <a:prstGeom prst="straightConnector1">
            <a:avLst/>
          </a:prstGeom>
          <a:noFill/>
          <a:ln w="9525" cap="flat" cmpd="sng">
            <a:solidFill>
              <a:srgbClr val="FE421C"/>
            </a:solidFill>
            <a:prstDash val="dash"/>
            <a:round/>
            <a:headEnd type="none" w="sm" len="sm"/>
            <a:tailEnd type="none" w="sm" len="sm"/>
          </a:ln>
        </p:spPr>
      </p:cxnSp>
      <p:cxnSp>
        <p:nvCxnSpPr>
          <p:cNvPr id="2052" name="Google Shape;2052;p113"/>
          <p:cNvCxnSpPr>
            <a:endCxn id="2044" idx="1"/>
          </p:cNvCxnSpPr>
          <p:nvPr/>
        </p:nvCxnSpPr>
        <p:spPr>
          <a:xfrm>
            <a:off x="1710278" y="5335598"/>
            <a:ext cx="1420800" cy="13500"/>
          </a:xfrm>
          <a:prstGeom prst="straightConnector1">
            <a:avLst/>
          </a:prstGeom>
          <a:noFill/>
          <a:ln w="9525" cap="flat" cmpd="sng">
            <a:solidFill>
              <a:srgbClr val="FE421C"/>
            </a:solidFill>
            <a:prstDash val="dash"/>
            <a:round/>
            <a:headEnd type="none" w="sm" len="sm"/>
            <a:tailEnd type="none" w="sm" len="sm"/>
          </a:ln>
        </p:spPr>
      </p:cxnSp>
      <p:cxnSp>
        <p:nvCxnSpPr>
          <p:cNvPr id="2053" name="Google Shape;2053;p113"/>
          <p:cNvCxnSpPr>
            <a:endCxn id="2045" idx="1"/>
          </p:cNvCxnSpPr>
          <p:nvPr/>
        </p:nvCxnSpPr>
        <p:spPr>
          <a:xfrm>
            <a:off x="1710278" y="5335683"/>
            <a:ext cx="1420800" cy="585600"/>
          </a:xfrm>
          <a:prstGeom prst="straightConnector1">
            <a:avLst/>
          </a:prstGeom>
          <a:noFill/>
          <a:ln w="9525" cap="flat" cmpd="sng">
            <a:solidFill>
              <a:srgbClr val="FE421C"/>
            </a:solidFill>
            <a:prstDash val="dash"/>
            <a:round/>
            <a:headEnd type="none" w="sm" len="sm"/>
            <a:tailEnd type="none" w="sm" len="sm"/>
          </a:ln>
        </p:spPr>
      </p:cxnSp>
      <p:pic>
        <p:nvPicPr>
          <p:cNvPr id="2054" name="Google Shape;2054;p113"/>
          <p:cNvPicPr preferRelativeResize="0"/>
          <p:nvPr/>
        </p:nvPicPr>
        <p:blipFill rotWithShape="1">
          <a:blip r:embed="rId3">
            <a:alphaModFix/>
          </a:blip>
          <a:srcRect/>
          <a:stretch/>
        </p:blipFill>
        <p:spPr>
          <a:xfrm>
            <a:off x="-134348" y="4879703"/>
            <a:ext cx="606996" cy="606996"/>
          </a:xfrm>
          <a:prstGeom prst="rect">
            <a:avLst/>
          </a:prstGeom>
          <a:noFill/>
          <a:ln>
            <a:noFill/>
          </a:ln>
        </p:spPr>
      </p:pic>
      <p:pic>
        <p:nvPicPr>
          <p:cNvPr id="2055" name="Google Shape;2055;p113"/>
          <p:cNvPicPr preferRelativeResize="0"/>
          <p:nvPr/>
        </p:nvPicPr>
        <p:blipFill rotWithShape="1">
          <a:blip r:embed="rId4">
            <a:alphaModFix/>
          </a:blip>
          <a:srcRect/>
          <a:stretch/>
        </p:blipFill>
        <p:spPr>
          <a:xfrm>
            <a:off x="154647" y="3378860"/>
            <a:ext cx="860280" cy="860280"/>
          </a:xfrm>
          <a:prstGeom prst="rect">
            <a:avLst/>
          </a:prstGeom>
          <a:noFill/>
          <a:ln>
            <a:noFill/>
          </a:ln>
        </p:spPr>
      </p:pic>
      <p:sp>
        <p:nvSpPr>
          <p:cNvPr id="2056" name="Google Shape;2056;p113"/>
          <p:cNvSpPr/>
          <p:nvPr/>
        </p:nvSpPr>
        <p:spPr>
          <a:xfrm>
            <a:off x="1125860" y="3945731"/>
            <a:ext cx="1944216" cy="247360"/>
          </a:xfrm>
          <a:prstGeom prst="rightArrow">
            <a:avLst>
              <a:gd name="adj1" fmla="val 50000"/>
              <a:gd name="adj2" fmla="val 50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057" name="Google Shape;2057;p113"/>
          <p:cNvSpPr/>
          <p:nvPr/>
        </p:nvSpPr>
        <p:spPr>
          <a:xfrm rot="3145287">
            <a:off x="2293876" y="3977963"/>
            <a:ext cx="324104" cy="2008395"/>
          </a:xfrm>
          <a:prstGeom prst="curvedLeftArrow">
            <a:avLst>
              <a:gd name="adj1" fmla="val 25000"/>
              <a:gd name="adj2" fmla="val 50000"/>
              <a:gd name="adj3" fmla="val 2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cxnSp>
        <p:nvCxnSpPr>
          <p:cNvPr id="2058" name="Google Shape;2058;p113"/>
          <p:cNvCxnSpPr>
            <a:stCxn id="2055" idx="2"/>
          </p:cNvCxnSpPr>
          <p:nvPr/>
        </p:nvCxnSpPr>
        <p:spPr>
          <a:xfrm rot="5400000">
            <a:off x="232137" y="4412690"/>
            <a:ext cx="526200" cy="179100"/>
          </a:xfrm>
          <a:prstGeom prst="curvedConnector3">
            <a:avLst>
              <a:gd name="adj1" fmla="val 50000"/>
            </a:avLst>
          </a:prstGeom>
          <a:noFill/>
          <a:ln w="9525" cap="flat" cmpd="sng">
            <a:solidFill>
              <a:srgbClr val="FE421C"/>
            </a:solidFill>
            <a:prstDash val="solid"/>
            <a:round/>
            <a:headEnd type="none" w="sm" len="sm"/>
            <a:tailEnd type="triangle" w="med" len="med"/>
          </a:ln>
        </p:spPr>
      </p:cxnSp>
      <p:sp>
        <p:nvSpPr>
          <p:cNvPr id="2059" name="Google Shape;2059;p113"/>
          <p:cNvSpPr/>
          <p:nvPr/>
        </p:nvSpPr>
        <p:spPr>
          <a:xfrm rot="-7384302">
            <a:off x="2152367" y="3653848"/>
            <a:ext cx="324104" cy="2008395"/>
          </a:xfrm>
          <a:prstGeom prst="curvedLeftArrow">
            <a:avLst>
              <a:gd name="adj1" fmla="val 25000"/>
              <a:gd name="adj2" fmla="val 50000"/>
              <a:gd name="adj3" fmla="val 2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pic>
        <p:nvPicPr>
          <p:cNvPr id="2060" name="Google Shape;2060;p113"/>
          <p:cNvPicPr preferRelativeResize="0"/>
          <p:nvPr/>
        </p:nvPicPr>
        <p:blipFill rotWithShape="1">
          <a:blip r:embed="rId5">
            <a:alphaModFix/>
          </a:blip>
          <a:srcRect/>
          <a:stretch/>
        </p:blipFill>
        <p:spPr>
          <a:xfrm>
            <a:off x="7678588" y="3470876"/>
            <a:ext cx="1690286" cy="1995818"/>
          </a:xfrm>
          <a:prstGeom prst="rect">
            <a:avLst/>
          </a:prstGeom>
          <a:noFill/>
          <a:ln>
            <a:noFill/>
          </a:ln>
        </p:spPr>
      </p:pic>
      <p:sp>
        <p:nvSpPr>
          <p:cNvPr id="2061" name="Google Shape;2061;p113"/>
          <p:cNvSpPr/>
          <p:nvPr/>
        </p:nvSpPr>
        <p:spPr>
          <a:xfrm rot="-5400000">
            <a:off x="6184389" y="2503204"/>
            <a:ext cx="324104" cy="2808309"/>
          </a:xfrm>
          <a:prstGeom prst="curvedLeftArrow">
            <a:avLst>
              <a:gd name="adj1" fmla="val 25000"/>
              <a:gd name="adj2" fmla="val 50000"/>
              <a:gd name="adj3" fmla="val 2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2062" name="Google Shape;2062;p113"/>
          <p:cNvSpPr/>
          <p:nvPr/>
        </p:nvSpPr>
        <p:spPr>
          <a:xfrm rot="5400000">
            <a:off x="6250893" y="3040965"/>
            <a:ext cx="324104" cy="2808309"/>
          </a:xfrm>
          <a:prstGeom prst="curvedLeftArrow">
            <a:avLst>
              <a:gd name="adj1" fmla="val 25000"/>
              <a:gd name="adj2" fmla="val 50000"/>
              <a:gd name="adj3" fmla="val 2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067"/>
        <p:cNvGrpSpPr/>
        <p:nvPr/>
      </p:nvGrpSpPr>
      <p:grpSpPr>
        <a:xfrm>
          <a:off x="0" y="0"/>
          <a:ext cx="0" cy="0"/>
          <a:chOff x="0" y="0"/>
          <a:chExt cx="0" cy="0"/>
        </a:xfrm>
      </p:grpSpPr>
      <p:sp>
        <p:nvSpPr>
          <p:cNvPr id="2068" name="Google Shape;2068;p11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XSUAA – Security guard of BTP a/c</a:t>
            </a:r>
            <a:endParaRPr/>
          </a:p>
        </p:txBody>
      </p:sp>
      <p:sp>
        <p:nvSpPr>
          <p:cNvPr id="2069" name="Google Shape;2069;p11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As a developer we don’t want to interact or learn various IDPs and their protocols, to ensure security of our BTP application SAP introduced a standard component called XSUAA in cloud foundry. This is </a:t>
            </a:r>
            <a:r>
              <a:rPr lang="en-US" sz="1800" b="1"/>
              <a:t>built-in</a:t>
            </a:r>
            <a:endParaRPr/>
          </a:p>
          <a:p>
            <a:pPr marL="0" lvl="0" indent="0" algn="l" rtl="0">
              <a:spcBef>
                <a:spcPts val="360"/>
              </a:spcBef>
              <a:spcAft>
                <a:spcPts val="0"/>
              </a:spcAft>
              <a:buClr>
                <a:schemeClr val="dk1"/>
              </a:buClr>
              <a:buSzPts val="1800"/>
              <a:buNone/>
            </a:pPr>
            <a:r>
              <a:rPr lang="en-US" sz="1800"/>
              <a:t>It offers below:</a:t>
            </a:r>
            <a:endParaRPr/>
          </a:p>
          <a:p>
            <a:pPr marL="285750" lvl="0" indent="-285750" algn="l" rtl="0">
              <a:spcBef>
                <a:spcPts val="360"/>
              </a:spcBef>
              <a:spcAft>
                <a:spcPts val="0"/>
              </a:spcAft>
              <a:buClr>
                <a:schemeClr val="dk1"/>
              </a:buClr>
              <a:buSzPts val="1800"/>
              <a:buFont typeface="Arial"/>
              <a:buChar char="•"/>
            </a:pPr>
            <a:r>
              <a:rPr lang="en-US" sz="1800"/>
              <a:t>XSUAA is the middle component between our Application and IDP, by ensuring a trust relation with IDP</a:t>
            </a:r>
            <a:endParaRPr/>
          </a:p>
          <a:p>
            <a:pPr marL="285750" lvl="0" indent="-285750" algn="l" rtl="0">
              <a:spcBef>
                <a:spcPts val="360"/>
              </a:spcBef>
              <a:spcAft>
                <a:spcPts val="0"/>
              </a:spcAft>
              <a:buClr>
                <a:schemeClr val="dk1"/>
              </a:buClr>
              <a:buSzPts val="1800"/>
              <a:buFont typeface="Arial"/>
              <a:buChar char="•"/>
            </a:pPr>
            <a:r>
              <a:rPr lang="en-US" sz="1800"/>
              <a:t>It will redirect our user to IDP when he/she tries to access our app and not authenticated</a:t>
            </a:r>
            <a:endParaRPr/>
          </a:p>
          <a:p>
            <a:pPr marL="285750" lvl="0" indent="-285750" algn="l" rtl="0">
              <a:spcBef>
                <a:spcPts val="360"/>
              </a:spcBef>
              <a:spcAft>
                <a:spcPts val="0"/>
              </a:spcAft>
              <a:buClr>
                <a:schemeClr val="dk1"/>
              </a:buClr>
              <a:buSzPts val="1800"/>
              <a:buFont typeface="Arial"/>
              <a:buChar char="•"/>
            </a:pPr>
            <a:r>
              <a:rPr lang="en-US" sz="1800"/>
              <a:t>It validates the token which user get from the IDP (SAML – Security Assertion Markup Language)</a:t>
            </a:r>
            <a:endParaRPr/>
          </a:p>
          <a:p>
            <a:pPr marL="285750" lvl="0" indent="-285750" algn="l" rtl="0">
              <a:spcBef>
                <a:spcPts val="360"/>
              </a:spcBef>
              <a:spcAft>
                <a:spcPts val="0"/>
              </a:spcAft>
              <a:buClr>
                <a:schemeClr val="dk1"/>
              </a:buClr>
              <a:buSzPts val="1800"/>
              <a:buFont typeface="Arial"/>
              <a:buChar char="•"/>
            </a:pPr>
            <a:r>
              <a:rPr lang="en-US" sz="1800"/>
              <a:t>It ensure secure access to all our BTP applications</a:t>
            </a:r>
            <a:endParaRPr/>
          </a:p>
          <a:p>
            <a:pPr marL="285750" lvl="0" indent="-285750" algn="l" rtl="0">
              <a:spcBef>
                <a:spcPts val="360"/>
              </a:spcBef>
              <a:spcAft>
                <a:spcPts val="0"/>
              </a:spcAft>
              <a:buClr>
                <a:schemeClr val="dk1"/>
              </a:buClr>
              <a:buSzPts val="1800"/>
              <a:buFont typeface="Arial"/>
              <a:buChar char="•"/>
            </a:pPr>
            <a:r>
              <a:rPr lang="en-US" sz="1800"/>
              <a:t>It manages also authorization (application security), As a application developer we need to inform prior to the XSUAA, what roles and permissions will be required inside our app</a:t>
            </a:r>
            <a:endParaRPr/>
          </a:p>
          <a:p>
            <a:pPr marL="285750" lvl="0" indent="-285750" algn="l" rtl="0">
              <a:spcBef>
                <a:spcPts val="360"/>
              </a:spcBef>
              <a:spcAft>
                <a:spcPts val="0"/>
              </a:spcAft>
              <a:buClr>
                <a:schemeClr val="dk1"/>
              </a:buClr>
              <a:buSzPts val="1800"/>
              <a:buFont typeface="Arial"/>
              <a:buChar char="•"/>
            </a:pPr>
            <a:r>
              <a:rPr lang="en-US" sz="1800"/>
              <a:t>As a developer we will create a special file called </a:t>
            </a:r>
            <a:r>
              <a:rPr lang="en-US" sz="1800" b="1"/>
              <a:t>xs-security.json</a:t>
            </a:r>
            <a:r>
              <a:rPr lang="en-US" sz="1800"/>
              <a:t> file in root directory of our cap project</a:t>
            </a:r>
            <a:endParaRPr/>
          </a:p>
          <a:p>
            <a:pPr marL="285750" lvl="0" indent="-285750" algn="l" rtl="0">
              <a:spcBef>
                <a:spcPts val="360"/>
              </a:spcBef>
              <a:spcAft>
                <a:spcPts val="0"/>
              </a:spcAft>
              <a:buClr>
                <a:schemeClr val="dk1"/>
              </a:buClr>
              <a:buSzPts val="1800"/>
              <a:buFont typeface="Arial"/>
              <a:buChar char="•"/>
            </a:pPr>
            <a:r>
              <a:rPr lang="en-US" sz="1800"/>
              <a:t>In this file you maintain Scope, Attributes, Role Collections, Special configuration</a:t>
            </a:r>
            <a:endParaRPr/>
          </a:p>
          <a:p>
            <a:pPr marL="285750" lvl="0" indent="-285750" algn="l" rtl="0">
              <a:spcBef>
                <a:spcPts val="360"/>
              </a:spcBef>
              <a:spcAft>
                <a:spcPts val="0"/>
              </a:spcAft>
              <a:buClr>
                <a:schemeClr val="dk1"/>
              </a:buClr>
              <a:buSzPts val="1800"/>
              <a:buFont typeface="Arial"/>
              <a:buChar char="•"/>
            </a:pPr>
            <a:r>
              <a:rPr lang="en-US" sz="1800"/>
              <a:t>We must follow the SAP guideline to define the file as </a:t>
            </a:r>
            <a:r>
              <a:rPr lang="en-US" sz="1800" u="sng">
                <a:solidFill>
                  <a:schemeClr val="hlink"/>
                </a:solidFill>
                <a:hlinkClick r:id="rId3"/>
              </a:rPr>
              <a:t>here</a:t>
            </a:r>
            <a:endParaRPr sz="1800"/>
          </a:p>
          <a:p>
            <a:pPr marL="285750" lvl="0" indent="-285750" algn="l" rtl="0">
              <a:spcBef>
                <a:spcPts val="360"/>
              </a:spcBef>
              <a:spcAft>
                <a:spcPts val="0"/>
              </a:spcAft>
              <a:buClr>
                <a:schemeClr val="dk1"/>
              </a:buClr>
              <a:buSzPts val="1800"/>
              <a:buFont typeface="Arial"/>
              <a:buChar char="•"/>
            </a:pPr>
            <a:r>
              <a:rPr lang="en-US" sz="1800"/>
              <a:t>In case your are confused, what roles to define, what scopes, usually you can create basic scope and role collections like Viewer (who have view permission) and Admin (who have Write/Delete access of data)</a:t>
            </a:r>
            <a:endParaRPr/>
          </a:p>
          <a:p>
            <a:pPr marL="285750" lvl="0" indent="-285750" algn="l" rtl="0">
              <a:spcBef>
                <a:spcPts val="360"/>
              </a:spcBef>
              <a:spcAft>
                <a:spcPts val="0"/>
              </a:spcAft>
              <a:buClr>
                <a:schemeClr val="dk1"/>
              </a:buClr>
              <a:buSzPts val="1800"/>
              <a:buFont typeface="Arial"/>
              <a:buChar char="•"/>
            </a:pPr>
            <a:r>
              <a:rPr lang="en-US" sz="1800"/>
              <a:t>Additionally, we can control ROW level permissions and security of our data</a:t>
            </a:r>
            <a:endParaRPr/>
          </a:p>
          <a:p>
            <a:pPr marL="285750" lvl="0" indent="-285750" algn="l" rtl="0">
              <a:spcBef>
                <a:spcPts val="360"/>
              </a:spcBef>
              <a:spcAft>
                <a:spcPts val="0"/>
              </a:spcAft>
              <a:buClr>
                <a:schemeClr val="dk1"/>
              </a:buClr>
              <a:buSzPts val="1800"/>
              <a:buFont typeface="Arial"/>
              <a:buChar char="•"/>
            </a:pPr>
            <a:r>
              <a:rPr lang="en-US" sz="1800"/>
              <a:t>Accepts the SAML token from IDP and verifies it. Issues a JWT (JSON Web Token) to the user/application user is trying to access by injecting the Role assigned in BTP along with attribute value.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080"/>
        <p:cNvGrpSpPr/>
        <p:nvPr/>
      </p:nvGrpSpPr>
      <p:grpSpPr>
        <a:xfrm>
          <a:off x="0" y="0"/>
          <a:ext cx="0" cy="0"/>
          <a:chOff x="0" y="0"/>
          <a:chExt cx="0" cy="0"/>
        </a:xfrm>
      </p:grpSpPr>
      <p:sp>
        <p:nvSpPr>
          <p:cNvPr id="2081" name="Google Shape;2081;p116"/>
          <p:cNvSpPr/>
          <p:nvPr/>
        </p:nvSpPr>
        <p:spPr>
          <a:xfrm>
            <a:off x="345105" y="1124744"/>
            <a:ext cx="9349707" cy="5400600"/>
          </a:xfrm>
          <a:prstGeom prst="rect">
            <a:avLst/>
          </a:prstGeom>
          <a:no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082" name="Google Shape;2082;p116"/>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Scope, Role Template, Attributes, RC</a:t>
            </a:r>
            <a:endParaRPr/>
          </a:p>
        </p:txBody>
      </p:sp>
      <p:sp>
        <p:nvSpPr>
          <p:cNvPr id="2083" name="Google Shape;2083;p116"/>
          <p:cNvSpPr/>
          <p:nvPr/>
        </p:nvSpPr>
        <p:spPr>
          <a:xfrm>
            <a:off x="621804" y="1484784"/>
            <a:ext cx="3456384" cy="2160240"/>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Quattrocento Sans"/>
                <a:ea typeface="Quattrocento Sans"/>
                <a:cs typeface="Quattrocento Sans"/>
                <a:sym typeface="Quattrocento Sans"/>
              </a:rPr>
              <a:t>Scope</a:t>
            </a:r>
            <a:endParaRPr/>
          </a:p>
          <a:p>
            <a:pPr marL="0" marR="0" lvl="0" indent="0" algn="ctr" rtl="0">
              <a:spcBef>
                <a:spcPts val="0"/>
              </a:spcBef>
              <a:spcAft>
                <a:spcPts val="0"/>
              </a:spcAft>
              <a:buNone/>
            </a:pPr>
            <a:r>
              <a:rPr lang="en-US" sz="2000">
                <a:solidFill>
                  <a:schemeClr val="lt1"/>
                </a:solidFill>
                <a:latin typeface="Quattrocento Sans"/>
                <a:ea typeface="Quattrocento Sans"/>
                <a:cs typeface="Quattrocento Sans"/>
                <a:sym typeface="Quattrocento Sans"/>
              </a:rPr>
              <a:t>(most granular level permission for our application like viewer, editor, admin, approve)</a:t>
            </a:r>
            <a:endParaRPr/>
          </a:p>
        </p:txBody>
      </p:sp>
      <p:sp>
        <p:nvSpPr>
          <p:cNvPr id="2084" name="Google Shape;2084;p116"/>
          <p:cNvSpPr/>
          <p:nvPr/>
        </p:nvSpPr>
        <p:spPr>
          <a:xfrm>
            <a:off x="621804" y="4005064"/>
            <a:ext cx="3456384" cy="2160240"/>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Quattrocento Sans"/>
                <a:ea typeface="Quattrocento Sans"/>
                <a:cs typeface="Quattrocento Sans"/>
                <a:sym typeface="Quattrocento Sans"/>
              </a:rPr>
              <a:t>Attributes</a:t>
            </a:r>
            <a:endParaRPr/>
          </a:p>
          <a:p>
            <a:pPr marL="0" marR="0" lvl="0" indent="0" algn="ctr" rtl="0">
              <a:spcBef>
                <a:spcPts val="0"/>
              </a:spcBef>
              <a:spcAft>
                <a:spcPts val="0"/>
              </a:spcAft>
              <a:buNone/>
            </a:pPr>
            <a:r>
              <a:rPr lang="en-US" sz="2000">
                <a:solidFill>
                  <a:schemeClr val="lt1"/>
                </a:solidFill>
                <a:latin typeface="Quattrocento Sans"/>
                <a:ea typeface="Quattrocento Sans"/>
                <a:cs typeface="Quattrocento Sans"/>
                <a:sym typeface="Quattrocento Sans"/>
              </a:rPr>
              <a:t>(simple properties to control row level security like costcenter, profit center, sales org, bank name)</a:t>
            </a:r>
            <a:endParaRPr/>
          </a:p>
        </p:txBody>
      </p:sp>
      <p:sp>
        <p:nvSpPr>
          <p:cNvPr id="2085" name="Google Shape;2085;p116"/>
          <p:cNvSpPr/>
          <p:nvPr/>
        </p:nvSpPr>
        <p:spPr>
          <a:xfrm>
            <a:off x="5302324" y="2204864"/>
            <a:ext cx="3888432" cy="2520280"/>
          </a:xfrm>
          <a:prstGeom prst="roundRect">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Quattrocento Sans"/>
                <a:ea typeface="Quattrocento Sans"/>
                <a:cs typeface="Quattrocento Sans"/>
                <a:sym typeface="Quattrocento Sans"/>
              </a:rPr>
              <a:t>Role Templates</a:t>
            </a:r>
            <a:endParaRPr/>
          </a:p>
          <a:p>
            <a:pPr marL="0" marR="0" lvl="0" indent="0" algn="ctr" rtl="0">
              <a:spcBef>
                <a:spcPts val="0"/>
              </a:spcBef>
              <a:spcAft>
                <a:spcPts val="0"/>
              </a:spcAft>
              <a:buNone/>
            </a:pPr>
            <a:r>
              <a:rPr lang="en-US" sz="2000">
                <a:solidFill>
                  <a:schemeClr val="lt1"/>
                </a:solidFill>
                <a:latin typeface="Quattrocento Sans"/>
                <a:ea typeface="Quattrocento Sans"/>
                <a:cs typeface="Quattrocento Sans"/>
                <a:sym typeface="Quattrocento Sans"/>
              </a:rPr>
              <a:t>(create a template (skeleton) to model final role in BTP, binds the scope(s) and attribute(s) so we can create final role)</a:t>
            </a:r>
            <a:endParaRPr/>
          </a:p>
        </p:txBody>
      </p:sp>
      <p:cxnSp>
        <p:nvCxnSpPr>
          <p:cNvPr id="2086" name="Google Shape;2086;p116"/>
          <p:cNvCxnSpPr>
            <a:stCxn id="2083" idx="3"/>
          </p:cNvCxnSpPr>
          <p:nvPr/>
        </p:nvCxnSpPr>
        <p:spPr>
          <a:xfrm>
            <a:off x="4078188" y="2564904"/>
            <a:ext cx="1224000" cy="720000"/>
          </a:xfrm>
          <a:prstGeom prst="bentConnector3">
            <a:avLst>
              <a:gd name="adj1" fmla="val 50000"/>
            </a:avLst>
          </a:prstGeom>
          <a:noFill/>
          <a:ln w="9525" cap="flat" cmpd="sng">
            <a:solidFill>
              <a:srgbClr val="FE421C"/>
            </a:solidFill>
            <a:prstDash val="solid"/>
            <a:round/>
            <a:headEnd type="none" w="sm" len="sm"/>
            <a:tailEnd type="triangle" w="med" len="med"/>
          </a:ln>
        </p:spPr>
      </p:cxnSp>
      <p:cxnSp>
        <p:nvCxnSpPr>
          <p:cNvPr id="2087" name="Google Shape;2087;p116"/>
          <p:cNvCxnSpPr>
            <a:stCxn id="2084" idx="3"/>
          </p:cNvCxnSpPr>
          <p:nvPr/>
        </p:nvCxnSpPr>
        <p:spPr>
          <a:xfrm rot="10800000" flipH="1">
            <a:off x="4078188" y="4005184"/>
            <a:ext cx="1224000" cy="1080000"/>
          </a:xfrm>
          <a:prstGeom prst="bentConnector3">
            <a:avLst>
              <a:gd name="adj1" fmla="val 50000"/>
            </a:avLst>
          </a:prstGeom>
          <a:noFill/>
          <a:ln w="9525" cap="flat" cmpd="sng">
            <a:solidFill>
              <a:srgbClr val="FE421C"/>
            </a:solidFill>
            <a:prstDash val="solid"/>
            <a:round/>
            <a:headEnd type="none" w="sm" len="sm"/>
            <a:tailEnd type="triangle" w="med" len="med"/>
          </a:ln>
        </p:spPr>
      </p:cxnSp>
      <p:sp>
        <p:nvSpPr>
          <p:cNvPr id="2088" name="Google Shape;2088;p116"/>
          <p:cNvSpPr/>
          <p:nvPr/>
        </p:nvSpPr>
        <p:spPr>
          <a:xfrm>
            <a:off x="9838828" y="2240868"/>
            <a:ext cx="3096344" cy="2448272"/>
          </a:xfrm>
          <a:prstGeom prst="rect">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Quattrocento Sans"/>
                <a:ea typeface="Quattrocento Sans"/>
                <a:cs typeface="Quattrocento Sans"/>
                <a:sym typeface="Quattrocento Sans"/>
              </a:rPr>
              <a:t>Role Collection</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@Runtime in SAP BTP Account using the template where you provide the value of attributes</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093"/>
        <p:cNvGrpSpPr/>
        <p:nvPr/>
      </p:nvGrpSpPr>
      <p:grpSpPr>
        <a:xfrm>
          <a:off x="0" y="0"/>
          <a:ext cx="0" cy="0"/>
          <a:chOff x="0" y="0"/>
          <a:chExt cx="0" cy="0"/>
        </a:xfrm>
      </p:grpSpPr>
      <p:sp>
        <p:nvSpPr>
          <p:cNvPr id="2094" name="Google Shape;2094;p11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Flow</a:t>
            </a:r>
            <a:endParaRPr/>
          </a:p>
        </p:txBody>
      </p:sp>
      <p:pic>
        <p:nvPicPr>
          <p:cNvPr id="2095" name="Google Shape;2095;p117" descr="User icon icon | Premium AI-generated vector"/>
          <p:cNvPicPr preferRelativeResize="0"/>
          <p:nvPr/>
        </p:nvPicPr>
        <p:blipFill rotWithShape="1">
          <a:blip r:embed="rId3">
            <a:alphaModFix/>
          </a:blip>
          <a:srcRect/>
          <a:stretch/>
        </p:blipFill>
        <p:spPr>
          <a:xfrm>
            <a:off x="184756" y="908230"/>
            <a:ext cx="1224136" cy="1224136"/>
          </a:xfrm>
          <a:prstGeom prst="rect">
            <a:avLst/>
          </a:prstGeom>
          <a:noFill/>
          <a:ln>
            <a:noFill/>
          </a:ln>
        </p:spPr>
      </p:pic>
      <p:sp>
        <p:nvSpPr>
          <p:cNvPr id="2096" name="Google Shape;2096;p117"/>
          <p:cNvSpPr/>
          <p:nvPr/>
        </p:nvSpPr>
        <p:spPr>
          <a:xfrm>
            <a:off x="8038628" y="908230"/>
            <a:ext cx="3168352" cy="1148471"/>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Our Application</a:t>
            </a:r>
            <a:endParaRPr/>
          </a:p>
        </p:txBody>
      </p:sp>
      <p:sp>
        <p:nvSpPr>
          <p:cNvPr id="2097" name="Google Shape;2097;p117"/>
          <p:cNvSpPr/>
          <p:nvPr/>
        </p:nvSpPr>
        <p:spPr>
          <a:xfrm>
            <a:off x="2205980" y="1124744"/>
            <a:ext cx="2160240" cy="79208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Browser</a:t>
            </a:r>
            <a:endParaRPr/>
          </a:p>
        </p:txBody>
      </p:sp>
      <p:cxnSp>
        <p:nvCxnSpPr>
          <p:cNvPr id="2098" name="Google Shape;2098;p117"/>
          <p:cNvCxnSpPr>
            <a:endCxn id="2097" idx="1"/>
          </p:cNvCxnSpPr>
          <p:nvPr/>
        </p:nvCxnSpPr>
        <p:spPr>
          <a:xfrm>
            <a:off x="1413980" y="1520788"/>
            <a:ext cx="792000" cy="0"/>
          </a:xfrm>
          <a:prstGeom prst="straightConnector1">
            <a:avLst/>
          </a:prstGeom>
          <a:noFill/>
          <a:ln w="9525" cap="flat" cmpd="sng">
            <a:solidFill>
              <a:srgbClr val="FE421C"/>
            </a:solidFill>
            <a:prstDash val="solid"/>
            <a:round/>
            <a:headEnd type="none" w="sm" len="sm"/>
            <a:tailEnd type="triangle" w="med" len="med"/>
          </a:ln>
        </p:spPr>
      </p:cxnSp>
      <p:cxnSp>
        <p:nvCxnSpPr>
          <p:cNvPr id="2099" name="Google Shape;2099;p117"/>
          <p:cNvCxnSpPr>
            <a:stCxn id="2097" idx="3"/>
            <a:endCxn id="2096" idx="1"/>
          </p:cNvCxnSpPr>
          <p:nvPr/>
        </p:nvCxnSpPr>
        <p:spPr>
          <a:xfrm rot="10800000" flipH="1">
            <a:off x="4366220" y="1482388"/>
            <a:ext cx="3672300" cy="38400"/>
          </a:xfrm>
          <a:prstGeom prst="straightConnector1">
            <a:avLst/>
          </a:prstGeom>
          <a:noFill/>
          <a:ln w="9525" cap="flat" cmpd="sng">
            <a:solidFill>
              <a:srgbClr val="FE421C"/>
            </a:solidFill>
            <a:prstDash val="solid"/>
            <a:round/>
            <a:headEnd type="none" w="sm" len="sm"/>
            <a:tailEnd type="triangle" w="med" len="med"/>
          </a:ln>
        </p:spPr>
      </p:cxn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104"/>
        <p:cNvGrpSpPr/>
        <p:nvPr/>
      </p:nvGrpSpPr>
      <p:grpSpPr>
        <a:xfrm>
          <a:off x="0" y="0"/>
          <a:ext cx="0" cy="0"/>
          <a:chOff x="0" y="0"/>
          <a:chExt cx="0" cy="0"/>
        </a:xfrm>
      </p:grpSpPr>
      <p:sp>
        <p:nvSpPr>
          <p:cNvPr id="2105" name="Google Shape;2105;p11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Documentations</a:t>
            </a:r>
            <a:endParaRPr/>
          </a:p>
        </p:txBody>
      </p:sp>
      <p:sp>
        <p:nvSpPr>
          <p:cNvPr id="2106" name="Google Shape;2106;p118"/>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u="sng">
                <a:solidFill>
                  <a:schemeClr val="hlink"/>
                </a:solidFill>
                <a:hlinkClick r:id="rId3"/>
              </a:rPr>
              <a:t>https://cap.cloud.sap/docs/node.js/authentication#mocked</a:t>
            </a:r>
            <a:endParaRPr sz="1800"/>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111"/>
        <p:cNvGrpSpPr/>
        <p:nvPr/>
      </p:nvGrpSpPr>
      <p:grpSpPr>
        <a:xfrm>
          <a:off x="0" y="0"/>
          <a:ext cx="0" cy="0"/>
          <a:chOff x="0" y="0"/>
          <a:chExt cx="0" cy="0"/>
        </a:xfrm>
      </p:grpSpPr>
      <p:sp>
        <p:nvSpPr>
          <p:cNvPr id="2112" name="Google Shape;2112;p11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Steps</a:t>
            </a:r>
            <a:endParaRPr/>
          </a:p>
        </p:txBody>
      </p:sp>
      <p:sp>
        <p:nvSpPr>
          <p:cNvPr id="2113" name="Google Shape;2113;p119"/>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342900" lvl="0" indent="-342900" algn="l" rtl="0">
              <a:spcBef>
                <a:spcPts val="0"/>
              </a:spcBef>
              <a:spcAft>
                <a:spcPts val="0"/>
              </a:spcAft>
              <a:buClr>
                <a:schemeClr val="dk1"/>
              </a:buClr>
              <a:buSzPts val="1800"/>
              <a:buAutoNum type="arabicPeriod"/>
            </a:pPr>
            <a:r>
              <a:rPr lang="en-US" sz="1800"/>
              <a:t>Open CatalogService.cds and add @requires: ‘authenticated-user’ to ensure authentication is asked</a:t>
            </a:r>
            <a:endParaRPr/>
          </a:p>
          <a:p>
            <a:pPr marL="342900" lvl="0" indent="-342900" algn="l" rtl="0">
              <a:spcBef>
                <a:spcPts val="360"/>
              </a:spcBef>
              <a:spcAft>
                <a:spcPts val="0"/>
              </a:spcAft>
              <a:buClr>
                <a:schemeClr val="dk1"/>
              </a:buClr>
              <a:buSzPts val="1800"/>
              <a:buAutoNum type="arabicPeriod"/>
            </a:pPr>
            <a:r>
              <a:rPr lang="en-US" sz="1800"/>
              <a:t>Add the strategy for testing locally, we added development profile with mocked – and mock user for local testing and production strategy as xsuaa</a:t>
            </a:r>
            <a:endParaRPr sz="1800"/>
          </a:p>
          <a:p>
            <a:pPr marL="342900" lvl="0" indent="-342900" algn="l" rtl="0">
              <a:spcBef>
                <a:spcPts val="360"/>
              </a:spcBef>
              <a:spcAft>
                <a:spcPts val="0"/>
              </a:spcAft>
              <a:buClr>
                <a:schemeClr val="dk1"/>
              </a:buClr>
              <a:buSzPts val="1800"/>
              <a:buAutoNum type="arabicPeriod"/>
            </a:pPr>
            <a:r>
              <a:rPr lang="en-US" sz="1800"/>
              <a:t>Add the xsuaa support – </a:t>
            </a:r>
            <a:r>
              <a:rPr lang="en-US" sz="1800" b="1"/>
              <a:t>cd mycapapp &amp;&amp; cds add xsuaa </a:t>
            </a:r>
            <a:r>
              <a:rPr lang="en-US" sz="1800"/>
              <a:t>in mycapapp directory</a:t>
            </a:r>
            <a:endParaRPr/>
          </a:p>
          <a:p>
            <a:pPr marL="342900" lvl="0" indent="-342900" algn="l" rtl="0">
              <a:spcBef>
                <a:spcPts val="360"/>
              </a:spcBef>
              <a:spcAft>
                <a:spcPts val="0"/>
              </a:spcAft>
              <a:buClr>
                <a:schemeClr val="dk1"/>
              </a:buClr>
              <a:buSzPts val="1800"/>
              <a:buAutoNum type="arabicPeriod"/>
            </a:pPr>
            <a:r>
              <a:rPr lang="en-US" sz="1800"/>
              <a:t>It adds the node module @sap/xssec and xs-security.json file which will be used by developer to define scopes for our app</a:t>
            </a:r>
            <a:endParaRPr/>
          </a:p>
          <a:p>
            <a:pPr marL="342900" lvl="0" indent="-342900" algn="l" rtl="0">
              <a:spcBef>
                <a:spcPts val="360"/>
              </a:spcBef>
              <a:spcAft>
                <a:spcPts val="0"/>
              </a:spcAft>
              <a:buClr>
                <a:schemeClr val="dk1"/>
              </a:buClr>
              <a:buSzPts val="1800"/>
              <a:buAutoNum type="arabicPeriod"/>
            </a:pPr>
            <a:r>
              <a:rPr lang="en-US" sz="1800"/>
              <a:t>Install node module – </a:t>
            </a:r>
            <a:r>
              <a:rPr lang="en-US" sz="1800" b="1"/>
              <a:t>npm install</a:t>
            </a:r>
            <a:endParaRPr/>
          </a:p>
          <a:p>
            <a:pPr marL="342900" lvl="0" indent="-342900" algn="l" rtl="0">
              <a:spcBef>
                <a:spcPts val="360"/>
              </a:spcBef>
              <a:spcAft>
                <a:spcPts val="0"/>
              </a:spcAft>
              <a:buClr>
                <a:schemeClr val="dk1"/>
              </a:buClr>
              <a:buSzPts val="1800"/>
              <a:buAutoNum type="arabicPeriod"/>
            </a:pPr>
            <a:r>
              <a:rPr lang="en-US" sz="1800"/>
              <a:t>Fill the </a:t>
            </a:r>
            <a:r>
              <a:rPr lang="en-US" sz="1800" b="1"/>
              <a:t>xs-security.json </a:t>
            </a:r>
            <a:r>
              <a:rPr lang="en-US" sz="1800"/>
              <a:t>file with desired scope, attributes, role templates which your application would need when it runs in the cloud.</a:t>
            </a:r>
            <a:endParaRPr/>
          </a:p>
          <a:p>
            <a:pPr marL="342900" lvl="0" indent="-342900" algn="l" rtl="0">
              <a:spcBef>
                <a:spcPts val="360"/>
              </a:spcBef>
              <a:spcAft>
                <a:spcPts val="0"/>
              </a:spcAft>
              <a:buClr>
                <a:schemeClr val="dk1"/>
              </a:buClr>
              <a:buSzPts val="1800"/>
              <a:buAutoNum type="arabicPeriod"/>
            </a:pPr>
            <a:r>
              <a:rPr lang="en-US" sz="1800"/>
              <a:t>We have define the roles and scopes, now we need to link these roles with our entities.</a:t>
            </a:r>
            <a:endParaRPr/>
          </a:p>
          <a:p>
            <a:pPr marL="342900" lvl="0" indent="-342900" algn="l" rtl="0">
              <a:spcBef>
                <a:spcPts val="360"/>
              </a:spcBef>
              <a:spcAft>
                <a:spcPts val="0"/>
              </a:spcAft>
              <a:buClr>
                <a:schemeClr val="dk1"/>
              </a:buClr>
              <a:buSzPts val="1800"/>
              <a:buAutoNum type="arabicPeriod"/>
            </a:pPr>
            <a:r>
              <a:rPr lang="en-US" sz="1800"/>
              <a:t>When you deploy the app, this file has to be submitted to your XSUAA component of BTP a/c to make these role collections visible in BTP a/c security secrtion. That work will be done by a special microservice in btp called xsuaa microservice.</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118"/>
        <p:cNvGrpSpPr/>
        <p:nvPr/>
      </p:nvGrpSpPr>
      <p:grpSpPr>
        <a:xfrm>
          <a:off x="0" y="0"/>
          <a:ext cx="0" cy="0"/>
          <a:chOff x="0" y="0"/>
          <a:chExt cx="0" cy="0"/>
        </a:xfrm>
      </p:grpSpPr>
      <p:sp>
        <p:nvSpPr>
          <p:cNvPr id="2119" name="Google Shape;2119;p12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Flow</a:t>
            </a:r>
            <a:endParaRPr/>
          </a:p>
        </p:txBody>
      </p:sp>
      <p:pic>
        <p:nvPicPr>
          <p:cNvPr id="2120" name="Google Shape;2120;p120" descr="User icon icon | Premium AI-generated vector"/>
          <p:cNvPicPr preferRelativeResize="0"/>
          <p:nvPr/>
        </p:nvPicPr>
        <p:blipFill rotWithShape="1">
          <a:blip r:embed="rId3">
            <a:alphaModFix/>
          </a:blip>
          <a:srcRect/>
          <a:stretch/>
        </p:blipFill>
        <p:spPr>
          <a:xfrm>
            <a:off x="279766" y="891575"/>
            <a:ext cx="1224136" cy="1224136"/>
          </a:xfrm>
          <a:prstGeom prst="rect">
            <a:avLst/>
          </a:prstGeom>
          <a:noFill/>
          <a:ln>
            <a:noFill/>
          </a:ln>
        </p:spPr>
      </p:pic>
      <p:sp>
        <p:nvSpPr>
          <p:cNvPr id="2121" name="Google Shape;2121;p120"/>
          <p:cNvSpPr/>
          <p:nvPr/>
        </p:nvSpPr>
        <p:spPr>
          <a:xfrm>
            <a:off x="8038628" y="908230"/>
            <a:ext cx="3168352" cy="1148471"/>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Our Application</a:t>
            </a:r>
            <a:endParaRPr/>
          </a:p>
        </p:txBody>
      </p:sp>
      <p:sp>
        <p:nvSpPr>
          <p:cNvPr id="2122" name="Google Shape;2122;p120"/>
          <p:cNvSpPr/>
          <p:nvPr/>
        </p:nvSpPr>
        <p:spPr>
          <a:xfrm>
            <a:off x="2241984" y="1124744"/>
            <a:ext cx="2160240" cy="79208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Browser</a:t>
            </a:r>
            <a:endParaRPr/>
          </a:p>
        </p:txBody>
      </p:sp>
      <p:cxnSp>
        <p:nvCxnSpPr>
          <p:cNvPr id="2123" name="Google Shape;2123;p120"/>
          <p:cNvCxnSpPr>
            <a:endCxn id="2122" idx="1"/>
          </p:cNvCxnSpPr>
          <p:nvPr/>
        </p:nvCxnSpPr>
        <p:spPr>
          <a:xfrm>
            <a:off x="1449984" y="1520788"/>
            <a:ext cx="792000" cy="0"/>
          </a:xfrm>
          <a:prstGeom prst="straightConnector1">
            <a:avLst/>
          </a:prstGeom>
          <a:noFill/>
          <a:ln w="9525" cap="flat" cmpd="sng">
            <a:solidFill>
              <a:srgbClr val="FE421C"/>
            </a:solidFill>
            <a:prstDash val="solid"/>
            <a:round/>
            <a:headEnd type="none" w="sm" len="sm"/>
            <a:tailEnd type="triangle" w="med" len="med"/>
          </a:ln>
        </p:spPr>
      </p:cxnSp>
      <p:cxnSp>
        <p:nvCxnSpPr>
          <p:cNvPr id="2124" name="Google Shape;2124;p120"/>
          <p:cNvCxnSpPr/>
          <p:nvPr/>
        </p:nvCxnSpPr>
        <p:spPr>
          <a:xfrm rot="10800000" flipH="1">
            <a:off x="4438228" y="1346900"/>
            <a:ext cx="3672408" cy="38322"/>
          </a:xfrm>
          <a:prstGeom prst="straightConnector1">
            <a:avLst/>
          </a:prstGeom>
          <a:noFill/>
          <a:ln w="9525" cap="flat" cmpd="sng">
            <a:solidFill>
              <a:srgbClr val="FE421C"/>
            </a:solidFill>
            <a:prstDash val="solid"/>
            <a:round/>
            <a:headEnd type="none" w="sm" len="sm"/>
            <a:tailEnd type="triangle" w="med" len="med"/>
          </a:ln>
        </p:spPr>
      </p:cxnSp>
      <p:sp>
        <p:nvSpPr>
          <p:cNvPr id="2125" name="Google Shape;2125;p120"/>
          <p:cNvSpPr txBox="1"/>
          <p:nvPr/>
        </p:nvSpPr>
        <p:spPr>
          <a:xfrm>
            <a:off x="8254652" y="781336"/>
            <a:ext cx="3335004" cy="273152"/>
          </a:xfrm>
          <a:prstGeom prst="rect">
            <a:avLst/>
          </a:prstGeom>
          <a:solidFill>
            <a:srgbClr val="D92400"/>
          </a:solidFill>
          <a:ln>
            <a:noFill/>
          </a:ln>
        </p:spPr>
        <p:txBody>
          <a:bodyPr spcFirstLastPara="1" wrap="square" lIns="91425" tIns="45700" rIns="91425" bIns="45700" anchor="t" anchorCtr="0">
            <a:spAutoFit/>
          </a:bodyPr>
          <a:lstStyle/>
          <a:p>
            <a:pPr marL="0" marR="0" lvl="0" indent="0" algn="l" rtl="0">
              <a:lnSpc>
                <a:spcPct val="118750"/>
              </a:lnSpc>
              <a:spcBef>
                <a:spcPts val="0"/>
              </a:spcBef>
              <a:spcAft>
                <a:spcPts val="0"/>
              </a:spcAft>
              <a:buClr>
                <a:srgbClr val="569CD6"/>
              </a:buClr>
              <a:buSzPts val="1200"/>
              <a:buFont typeface="Consolas"/>
              <a:buNone/>
            </a:pPr>
            <a:r>
              <a:rPr lang="en-US" sz="1200" b="0">
                <a:solidFill>
                  <a:srgbClr val="569CD6"/>
                </a:solidFill>
                <a:highlight>
                  <a:srgbClr val="FFFF00"/>
                </a:highlight>
                <a:latin typeface="Consolas"/>
                <a:ea typeface="Consolas"/>
                <a:cs typeface="Consolas"/>
                <a:sym typeface="Consolas"/>
              </a:rPr>
              <a:t>requires</a:t>
            </a:r>
            <a:r>
              <a:rPr lang="en-US" sz="1200" b="0">
                <a:solidFill>
                  <a:srgbClr val="D4D4D4"/>
                </a:solidFill>
                <a:highlight>
                  <a:srgbClr val="FFFF00"/>
                </a:highlight>
                <a:latin typeface="Consolas"/>
                <a:ea typeface="Consolas"/>
                <a:cs typeface="Consolas"/>
                <a:sym typeface="Consolas"/>
              </a:rPr>
              <a:t>:</a:t>
            </a:r>
            <a:r>
              <a:rPr lang="en-US" sz="1200" b="0">
                <a:solidFill>
                  <a:srgbClr val="CCCCCC"/>
                </a:solidFill>
                <a:highlight>
                  <a:srgbClr val="FFFF00"/>
                </a:highlight>
                <a:latin typeface="Consolas"/>
                <a:ea typeface="Consolas"/>
                <a:cs typeface="Consolas"/>
                <a:sym typeface="Consolas"/>
              </a:rPr>
              <a:t> </a:t>
            </a:r>
            <a:r>
              <a:rPr lang="en-US" sz="1200" b="0">
                <a:solidFill>
                  <a:srgbClr val="CE9178"/>
                </a:solidFill>
                <a:highlight>
                  <a:srgbClr val="FFFF00"/>
                </a:highlight>
                <a:latin typeface="Consolas"/>
                <a:ea typeface="Consolas"/>
                <a:cs typeface="Consolas"/>
                <a:sym typeface="Consolas"/>
              </a:rPr>
              <a:t>'authenticated-user'</a:t>
            </a:r>
            <a:endParaRPr sz="1200" b="0">
              <a:solidFill>
                <a:srgbClr val="CCCCCC"/>
              </a:solidFill>
              <a:highlight>
                <a:srgbClr val="FFFF00"/>
              </a:highlight>
              <a:latin typeface="Consolas"/>
              <a:ea typeface="Consolas"/>
              <a:cs typeface="Consolas"/>
              <a:sym typeface="Consolas"/>
            </a:endParaRPr>
          </a:p>
        </p:txBody>
      </p:sp>
      <p:sp>
        <p:nvSpPr>
          <p:cNvPr id="2126" name="Google Shape;2126;p120"/>
          <p:cNvSpPr/>
          <p:nvPr/>
        </p:nvSpPr>
        <p:spPr>
          <a:xfrm>
            <a:off x="8038628" y="3212976"/>
            <a:ext cx="2520280" cy="144430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XSUAA</a:t>
            </a:r>
            <a:endParaRPr/>
          </a:p>
        </p:txBody>
      </p:sp>
      <p:cxnSp>
        <p:nvCxnSpPr>
          <p:cNvPr id="2127" name="Google Shape;2127;p120"/>
          <p:cNvCxnSpPr>
            <a:endCxn id="2122" idx="3"/>
          </p:cNvCxnSpPr>
          <p:nvPr/>
        </p:nvCxnSpPr>
        <p:spPr>
          <a:xfrm flipH="1">
            <a:off x="4402224" y="1503688"/>
            <a:ext cx="3744300" cy="17100"/>
          </a:xfrm>
          <a:prstGeom prst="straightConnector1">
            <a:avLst/>
          </a:prstGeom>
          <a:noFill/>
          <a:ln w="9525" cap="flat" cmpd="sng">
            <a:solidFill>
              <a:srgbClr val="FE421C"/>
            </a:solidFill>
            <a:prstDash val="solid"/>
            <a:round/>
            <a:headEnd type="none" w="sm" len="sm"/>
            <a:tailEnd type="triangle" w="med" len="med"/>
          </a:ln>
        </p:spPr>
      </p:cxnSp>
      <p:cxnSp>
        <p:nvCxnSpPr>
          <p:cNvPr id="2128" name="Google Shape;2128;p120"/>
          <p:cNvCxnSpPr/>
          <p:nvPr/>
        </p:nvCxnSpPr>
        <p:spPr>
          <a:xfrm>
            <a:off x="3862164" y="1916832"/>
            <a:ext cx="4176464" cy="1800200"/>
          </a:xfrm>
          <a:prstGeom prst="straightConnector1">
            <a:avLst/>
          </a:prstGeom>
          <a:noFill/>
          <a:ln w="9525" cap="flat" cmpd="sng">
            <a:solidFill>
              <a:srgbClr val="FE421C"/>
            </a:solidFill>
            <a:prstDash val="solid"/>
            <a:round/>
            <a:headEnd type="none" w="sm" len="sm"/>
            <a:tailEnd type="triangle" w="med" len="med"/>
          </a:ln>
        </p:spPr>
      </p:cxnSp>
      <p:cxnSp>
        <p:nvCxnSpPr>
          <p:cNvPr id="2129" name="Google Shape;2129;p120"/>
          <p:cNvCxnSpPr>
            <a:stCxn id="2126" idx="1"/>
          </p:cNvCxnSpPr>
          <p:nvPr/>
        </p:nvCxnSpPr>
        <p:spPr>
          <a:xfrm rot="10800000">
            <a:off x="3430028" y="1916730"/>
            <a:ext cx="4608600" cy="2018400"/>
          </a:xfrm>
          <a:prstGeom prst="straightConnector1">
            <a:avLst/>
          </a:prstGeom>
          <a:noFill/>
          <a:ln w="9525" cap="flat" cmpd="sng">
            <a:solidFill>
              <a:srgbClr val="FE421C"/>
            </a:solidFill>
            <a:prstDash val="solid"/>
            <a:round/>
            <a:headEnd type="none" w="sm" len="sm"/>
            <a:tailEnd type="triangle" w="med" len="med"/>
          </a:ln>
        </p:spPr>
      </p:cxnSp>
      <p:sp>
        <p:nvSpPr>
          <p:cNvPr id="2130" name="Google Shape;2130;p120"/>
          <p:cNvSpPr/>
          <p:nvPr/>
        </p:nvSpPr>
        <p:spPr>
          <a:xfrm>
            <a:off x="5446340" y="1124744"/>
            <a:ext cx="360040" cy="26047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1</a:t>
            </a:r>
            <a:endParaRPr/>
          </a:p>
        </p:txBody>
      </p:sp>
      <p:sp>
        <p:nvSpPr>
          <p:cNvPr id="2131" name="Google Shape;2131;p120"/>
          <p:cNvSpPr/>
          <p:nvPr/>
        </p:nvSpPr>
        <p:spPr>
          <a:xfrm>
            <a:off x="6037874" y="1404813"/>
            <a:ext cx="360040" cy="26047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2</a:t>
            </a:r>
            <a:endParaRPr/>
          </a:p>
        </p:txBody>
      </p:sp>
      <p:sp>
        <p:nvSpPr>
          <p:cNvPr id="2132" name="Google Shape;2132;p120"/>
          <p:cNvSpPr/>
          <p:nvPr/>
        </p:nvSpPr>
        <p:spPr>
          <a:xfrm>
            <a:off x="5761339" y="2562773"/>
            <a:ext cx="360040" cy="26047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3</a:t>
            </a:r>
            <a:endParaRPr/>
          </a:p>
        </p:txBody>
      </p:sp>
      <p:sp>
        <p:nvSpPr>
          <p:cNvPr id="2133" name="Google Shape;2133;p120"/>
          <p:cNvSpPr/>
          <p:nvPr/>
        </p:nvSpPr>
        <p:spPr>
          <a:xfrm>
            <a:off x="6030143" y="3074792"/>
            <a:ext cx="360040" cy="26047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4</a:t>
            </a:r>
            <a:endParaRPr/>
          </a:p>
        </p:txBody>
      </p:sp>
      <p:sp>
        <p:nvSpPr>
          <p:cNvPr id="2134" name="Google Shape;2134;p120"/>
          <p:cNvSpPr/>
          <p:nvPr/>
        </p:nvSpPr>
        <p:spPr>
          <a:xfrm>
            <a:off x="5230316" y="2925981"/>
            <a:ext cx="891063" cy="689358"/>
          </a:xfrm>
          <a:prstGeom prst="verticalScroll">
            <a:avLst>
              <a:gd name="adj" fmla="val 125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jwt</a:t>
            </a:r>
            <a:endParaRPr sz="2400">
              <a:solidFill>
                <a:schemeClr val="lt1"/>
              </a:solidFill>
              <a:latin typeface="Quattrocento Sans"/>
              <a:ea typeface="Quattrocento Sans"/>
              <a:cs typeface="Quattrocento Sans"/>
              <a:sym typeface="Quattrocento Sans"/>
            </a:endParaRPr>
          </a:p>
        </p:txBody>
      </p:sp>
      <p:sp>
        <p:nvSpPr>
          <p:cNvPr id="2135" name="Google Shape;2135;p120"/>
          <p:cNvSpPr/>
          <p:nvPr/>
        </p:nvSpPr>
        <p:spPr>
          <a:xfrm>
            <a:off x="6327209" y="1757538"/>
            <a:ext cx="775316" cy="648405"/>
          </a:xfrm>
          <a:prstGeom prst="verticalScroll">
            <a:avLst>
              <a:gd name="adj" fmla="val 125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jwt</a:t>
            </a:r>
            <a:endParaRPr sz="2400">
              <a:solidFill>
                <a:schemeClr val="lt1"/>
              </a:solidFill>
              <a:latin typeface="Quattrocento Sans"/>
              <a:ea typeface="Quattrocento Sans"/>
              <a:cs typeface="Quattrocento Sans"/>
              <a:sym typeface="Quattrocento Sans"/>
            </a:endParaRPr>
          </a:p>
        </p:txBody>
      </p:sp>
      <p:cxnSp>
        <p:nvCxnSpPr>
          <p:cNvPr id="2136" name="Google Shape;2136;p120"/>
          <p:cNvCxnSpPr/>
          <p:nvPr/>
        </p:nvCxnSpPr>
        <p:spPr>
          <a:xfrm>
            <a:off x="4438228" y="1772816"/>
            <a:ext cx="3600400" cy="0"/>
          </a:xfrm>
          <a:prstGeom prst="straightConnector1">
            <a:avLst/>
          </a:prstGeom>
          <a:noFill/>
          <a:ln w="9525" cap="flat" cmpd="sng">
            <a:solidFill>
              <a:srgbClr val="FE421C"/>
            </a:solidFill>
            <a:prstDash val="solid"/>
            <a:round/>
            <a:headEnd type="none" w="sm" len="sm"/>
            <a:tailEnd type="triangle" w="med" len="med"/>
          </a:ln>
        </p:spPr>
      </p:cxnSp>
      <p:sp>
        <p:nvSpPr>
          <p:cNvPr id="2137" name="Google Shape;2137;p120"/>
          <p:cNvSpPr/>
          <p:nvPr/>
        </p:nvSpPr>
        <p:spPr>
          <a:xfrm>
            <a:off x="5923366" y="1723315"/>
            <a:ext cx="360040" cy="26047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5</a:t>
            </a:r>
            <a:endParaRPr/>
          </a:p>
        </p:txBody>
      </p:sp>
      <p:cxnSp>
        <p:nvCxnSpPr>
          <p:cNvPr id="2138" name="Google Shape;2138;p120"/>
          <p:cNvCxnSpPr/>
          <p:nvPr/>
        </p:nvCxnSpPr>
        <p:spPr>
          <a:xfrm>
            <a:off x="9046740" y="2060848"/>
            <a:ext cx="0" cy="1152128"/>
          </a:xfrm>
          <a:prstGeom prst="straightConnector1">
            <a:avLst/>
          </a:prstGeom>
          <a:noFill/>
          <a:ln w="9525" cap="flat" cmpd="sng">
            <a:solidFill>
              <a:srgbClr val="FE421C"/>
            </a:solidFill>
            <a:prstDash val="solid"/>
            <a:round/>
            <a:headEnd type="none" w="sm" len="sm"/>
            <a:tailEnd type="triangle" w="med" len="med"/>
          </a:ln>
        </p:spPr>
      </p:cxnSp>
      <p:sp>
        <p:nvSpPr>
          <p:cNvPr id="2139" name="Google Shape;2139;p120"/>
          <p:cNvSpPr/>
          <p:nvPr/>
        </p:nvSpPr>
        <p:spPr>
          <a:xfrm>
            <a:off x="7966620" y="2375706"/>
            <a:ext cx="2592288" cy="474371"/>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400" b="1">
                <a:solidFill>
                  <a:schemeClr val="lt1"/>
                </a:solidFill>
                <a:latin typeface="Quattrocento Sans"/>
                <a:ea typeface="Quattrocento Sans"/>
                <a:cs typeface="Quattrocento Sans"/>
                <a:sym typeface="Quattrocento Sans"/>
              </a:rPr>
              <a:t>mycapapp-auth</a:t>
            </a:r>
            <a:endParaRPr/>
          </a:p>
        </p:txBody>
      </p:sp>
      <p:sp>
        <p:nvSpPr>
          <p:cNvPr id="2140" name="Google Shape;2140;p120"/>
          <p:cNvSpPr/>
          <p:nvPr/>
        </p:nvSpPr>
        <p:spPr>
          <a:xfrm>
            <a:off x="8866720" y="2241320"/>
            <a:ext cx="360040" cy="26047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6</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145"/>
        <p:cNvGrpSpPr/>
        <p:nvPr/>
      </p:nvGrpSpPr>
      <p:grpSpPr>
        <a:xfrm>
          <a:off x="0" y="0"/>
          <a:ext cx="0" cy="0"/>
          <a:chOff x="0" y="0"/>
          <a:chExt cx="0" cy="0"/>
        </a:xfrm>
      </p:grpSpPr>
      <p:sp>
        <p:nvSpPr>
          <p:cNvPr id="2146" name="Google Shape;2146;p12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mta.yaml – Application descriptor file</a:t>
            </a:r>
            <a:endParaRPr/>
          </a:p>
        </p:txBody>
      </p:sp>
      <p:sp>
        <p:nvSpPr>
          <p:cNvPr id="2147" name="Google Shape;2147;p121"/>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This is a special file which is an advance version of manifest.yml, the purpose is to describe all the microservice which we have in our project. Mandatory file which we need to have to deploy our project to btp.</a:t>
            </a:r>
            <a:endParaRPr/>
          </a:p>
          <a:p>
            <a:pPr marL="0" lvl="0" indent="0" algn="l" rtl="0">
              <a:spcBef>
                <a:spcPts val="360"/>
              </a:spcBef>
              <a:spcAft>
                <a:spcPts val="0"/>
              </a:spcAft>
              <a:buClr>
                <a:schemeClr val="dk1"/>
              </a:buClr>
              <a:buSzPts val="1800"/>
              <a:buNone/>
            </a:pPr>
            <a:r>
              <a:rPr lang="en-US" sz="1800"/>
              <a:t>MTA stands for Multi Target Application fully supporting microservice.</a:t>
            </a:r>
            <a:endParaRPr/>
          </a:p>
          <a:p>
            <a:pPr marL="0" lvl="0" indent="0" algn="l" rtl="0">
              <a:spcBef>
                <a:spcPts val="360"/>
              </a:spcBef>
              <a:spcAft>
                <a:spcPts val="0"/>
              </a:spcAft>
              <a:buClr>
                <a:schemeClr val="dk1"/>
              </a:buClr>
              <a:buSzPts val="1800"/>
              <a:buNone/>
            </a:pPr>
            <a:r>
              <a:rPr lang="en-US" sz="1800"/>
              <a:t>The file includes modules, resources, application details (name, id, version, runtime)</a:t>
            </a:r>
            <a:endParaRPr/>
          </a:p>
          <a:p>
            <a:pPr marL="0" lvl="0" indent="0" algn="l" rtl="0">
              <a:spcBef>
                <a:spcPts val="360"/>
              </a:spcBef>
              <a:spcAft>
                <a:spcPts val="0"/>
              </a:spcAft>
              <a:buClr>
                <a:schemeClr val="dk1"/>
              </a:buClr>
              <a:buSzPts val="1800"/>
              <a:buNone/>
            </a:pPr>
            <a:r>
              <a:rPr lang="en-US" sz="1800" b="1"/>
              <a:t>Modules – </a:t>
            </a:r>
            <a:r>
              <a:rPr lang="en-US" sz="1800"/>
              <a:t>contains all the multiple microservice which are part of our project like cap (node), db (deployer), ui (html5). Since these services are built using multiple technologies, its called multi-target.</a:t>
            </a:r>
            <a:endParaRPr/>
          </a:p>
          <a:p>
            <a:pPr marL="0" lvl="0" indent="0" algn="l" rtl="0">
              <a:spcBef>
                <a:spcPts val="360"/>
              </a:spcBef>
              <a:spcAft>
                <a:spcPts val="0"/>
              </a:spcAft>
              <a:buClr>
                <a:schemeClr val="dk1"/>
              </a:buClr>
              <a:buSzPts val="1800"/>
              <a:buNone/>
            </a:pPr>
            <a:r>
              <a:rPr lang="en-US" sz="1800" b="1"/>
              <a:t>Resources – </a:t>
            </a:r>
            <a:r>
              <a:rPr lang="en-US" sz="1800"/>
              <a:t>list of backing service (instance-based services) required by modules to make them work. When we our app goes to Q and P system, there no devs intervention required to manually create them, App should auto create all dependencies on backing services automatically. </a:t>
            </a:r>
            <a:endParaRPr/>
          </a:p>
          <a:p>
            <a:pPr marL="0" lvl="0" indent="0" algn="l" rtl="0">
              <a:spcBef>
                <a:spcPts val="360"/>
              </a:spcBef>
              <a:spcAft>
                <a:spcPts val="0"/>
              </a:spcAft>
              <a:buClr>
                <a:schemeClr val="dk1"/>
              </a:buClr>
              <a:buSzPts val="1800"/>
              <a:buNone/>
            </a:pPr>
            <a:endParaRPr sz="1800" b="1"/>
          </a:p>
          <a:p>
            <a:pPr marL="0" lvl="0" indent="0" algn="l" rtl="0">
              <a:spcBef>
                <a:spcPts val="360"/>
              </a:spcBef>
              <a:spcAft>
                <a:spcPts val="0"/>
              </a:spcAft>
              <a:buClr>
                <a:schemeClr val="dk1"/>
              </a:buClr>
              <a:buSzPts val="1800"/>
              <a:buNone/>
            </a:pPr>
            <a:r>
              <a:rPr lang="en-US" sz="1800" b="1"/>
              <a:t>Backing Services (Resources) required in our app:</a:t>
            </a:r>
            <a:endParaRPr/>
          </a:p>
          <a:p>
            <a:pPr marL="342900" lvl="0" indent="-342900" algn="l" rtl="0">
              <a:spcBef>
                <a:spcPts val="360"/>
              </a:spcBef>
              <a:spcAft>
                <a:spcPts val="0"/>
              </a:spcAft>
              <a:buClr>
                <a:schemeClr val="dk1"/>
              </a:buClr>
              <a:buSzPts val="1800"/>
              <a:buAutoNum type="arabicPeriod"/>
            </a:pPr>
            <a:r>
              <a:rPr lang="en-US" sz="1800" b="1"/>
              <a:t>Hdi microservice- </a:t>
            </a:r>
            <a:r>
              <a:rPr lang="en-US" sz="1800"/>
              <a:t>this service will be used by DB_Deployer module that will use this backing (hdi) to create our container @ runtime. Essentially the db_deployer will start, run </a:t>
            </a:r>
            <a:r>
              <a:rPr lang="en-US" sz="1800">
                <a:highlight>
                  <a:srgbClr val="FFFF00"/>
                </a:highlight>
              </a:rPr>
              <a:t>cds deploy --to hana:&lt;con&gt; </a:t>
            </a:r>
            <a:r>
              <a:rPr lang="en-US" sz="1800"/>
              <a:t>for us automatically and stop. We will add a statement in mta.yaml called </a:t>
            </a:r>
            <a:r>
              <a:rPr lang="en-US" sz="1800" i="1"/>
              <a:t>requires</a:t>
            </a:r>
            <a:endParaRPr sz="1800"/>
          </a:p>
          <a:p>
            <a:pPr marL="342900" lvl="0" indent="-342900" algn="l" rtl="0">
              <a:spcBef>
                <a:spcPts val="360"/>
              </a:spcBef>
              <a:spcAft>
                <a:spcPts val="0"/>
              </a:spcAft>
              <a:buClr>
                <a:schemeClr val="dk1"/>
              </a:buClr>
              <a:buSzPts val="1800"/>
              <a:buAutoNum type="arabicPeriod"/>
            </a:pPr>
            <a:r>
              <a:rPr lang="en-US" sz="1800" b="1"/>
              <a:t>Xsuaa microservice – </a:t>
            </a:r>
            <a:r>
              <a:rPr lang="en-US" sz="1800"/>
              <a:t>when we deploy our app, it will take xs-security.json file from our project and gives it to our BTP system to register the roles and scopes. Verify the JWT token with XSUAA @ runtime. We need to bind this service with our UI module and SRV module (cap) so they can consume it.</a:t>
            </a:r>
            <a:endParaRPr/>
          </a:p>
          <a:p>
            <a:pPr marL="0" lvl="0" indent="0" algn="l" rtl="0">
              <a:spcBef>
                <a:spcPts val="360"/>
              </a:spcBef>
              <a:spcAft>
                <a:spcPts val="0"/>
              </a:spcAft>
              <a:buClr>
                <a:schemeClr val="dk1"/>
              </a:buClr>
              <a:buSzPts val="1800"/>
              <a:buNone/>
            </a:pPr>
            <a:endParaRPr sz="1800" b="1"/>
          </a:p>
          <a:p>
            <a:pPr marL="342900" lvl="0" indent="-228600" algn="l" rtl="0">
              <a:spcBef>
                <a:spcPts val="360"/>
              </a:spcBef>
              <a:spcAft>
                <a:spcPts val="0"/>
              </a:spcAft>
              <a:buClr>
                <a:schemeClr val="dk1"/>
              </a:buClr>
              <a:buSzPts val="1800"/>
              <a:buNone/>
            </a:pPr>
            <a:endParaRPr sz="1800" b="1"/>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152"/>
        <p:cNvGrpSpPr/>
        <p:nvPr/>
      </p:nvGrpSpPr>
      <p:grpSpPr>
        <a:xfrm>
          <a:off x="0" y="0"/>
          <a:ext cx="0" cy="0"/>
          <a:chOff x="0" y="0"/>
          <a:chExt cx="0" cy="0"/>
        </a:xfrm>
      </p:grpSpPr>
      <p:sp>
        <p:nvSpPr>
          <p:cNvPr id="2153" name="Google Shape;2153;p12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Runtime for DB</a:t>
            </a:r>
            <a:endParaRPr/>
          </a:p>
        </p:txBody>
      </p:sp>
      <p:sp>
        <p:nvSpPr>
          <p:cNvPr id="2154" name="Google Shape;2154;p122"/>
          <p:cNvSpPr/>
          <p:nvPr/>
        </p:nvSpPr>
        <p:spPr>
          <a:xfrm>
            <a:off x="345105" y="1196752"/>
            <a:ext cx="4885211" cy="259228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BTP</a:t>
            </a:r>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155" name="Google Shape;2155;p122"/>
          <p:cNvSpPr/>
          <p:nvPr/>
        </p:nvSpPr>
        <p:spPr>
          <a:xfrm>
            <a:off x="1197868" y="1916832"/>
            <a:ext cx="3312368" cy="1296144"/>
          </a:xfrm>
          <a:prstGeom prst="rect">
            <a:avLst/>
          </a:prstGeom>
          <a:solidFill>
            <a:schemeClr val="accent3"/>
          </a:solidFill>
          <a:ln w="25400" cap="flat" cmpd="sng">
            <a:solidFill>
              <a:srgbClr val="3A4D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Mycapapp</a:t>
            </a: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Module : db_deployer</a:t>
            </a:r>
            <a:endParaRPr sz="2400">
              <a:solidFill>
                <a:schemeClr val="lt1"/>
              </a:solidFill>
              <a:latin typeface="Quattrocento Sans"/>
              <a:ea typeface="Quattrocento Sans"/>
              <a:cs typeface="Quattrocento Sans"/>
              <a:sym typeface="Quattrocento Sans"/>
            </a:endParaRPr>
          </a:p>
        </p:txBody>
      </p:sp>
      <p:sp>
        <p:nvSpPr>
          <p:cNvPr id="2156" name="Google Shape;2156;p122"/>
          <p:cNvSpPr/>
          <p:nvPr/>
        </p:nvSpPr>
        <p:spPr>
          <a:xfrm>
            <a:off x="693812" y="711081"/>
            <a:ext cx="360040" cy="341655"/>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157" name="Google Shape;2157;p122"/>
          <p:cNvSpPr/>
          <p:nvPr/>
        </p:nvSpPr>
        <p:spPr>
          <a:xfrm>
            <a:off x="1402559" y="713992"/>
            <a:ext cx="360040" cy="341655"/>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158" name="Google Shape;2158;p122"/>
          <p:cNvSpPr/>
          <p:nvPr/>
        </p:nvSpPr>
        <p:spPr>
          <a:xfrm>
            <a:off x="2110276" y="692696"/>
            <a:ext cx="360040" cy="341655"/>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159" name="Google Shape;2159;p122"/>
          <p:cNvSpPr/>
          <p:nvPr/>
        </p:nvSpPr>
        <p:spPr>
          <a:xfrm>
            <a:off x="2926060" y="716897"/>
            <a:ext cx="360040" cy="341655"/>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160" name="Google Shape;2160;p122"/>
          <p:cNvSpPr/>
          <p:nvPr/>
        </p:nvSpPr>
        <p:spPr>
          <a:xfrm>
            <a:off x="3875447" y="711081"/>
            <a:ext cx="360040" cy="341655"/>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161" name="Google Shape;2161;p122"/>
          <p:cNvSpPr/>
          <p:nvPr/>
        </p:nvSpPr>
        <p:spPr>
          <a:xfrm>
            <a:off x="8254652" y="4631051"/>
            <a:ext cx="3240360" cy="1800200"/>
          </a:xfrm>
          <a:prstGeom prst="flowChartMagneticDisk">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162" name="Google Shape;2162;p122"/>
          <p:cNvSpPr/>
          <p:nvPr/>
        </p:nvSpPr>
        <p:spPr>
          <a:xfrm>
            <a:off x="8650696" y="5229200"/>
            <a:ext cx="2448272" cy="864096"/>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Mycappapp-db</a:t>
            </a:r>
            <a:endParaRPr sz="2400">
              <a:solidFill>
                <a:schemeClr val="lt1"/>
              </a:solidFill>
              <a:latin typeface="Quattrocento Sans"/>
              <a:ea typeface="Quattrocento Sans"/>
              <a:cs typeface="Quattrocento Sans"/>
              <a:sym typeface="Quattrocento Sans"/>
            </a:endParaRPr>
          </a:p>
        </p:txBody>
      </p:sp>
      <p:sp>
        <p:nvSpPr>
          <p:cNvPr id="2163" name="Google Shape;2163;p122"/>
          <p:cNvSpPr/>
          <p:nvPr/>
        </p:nvSpPr>
        <p:spPr>
          <a:xfrm rot="-3595802">
            <a:off x="5030394" y="2487309"/>
            <a:ext cx="360040" cy="1997619"/>
          </a:xfrm>
          <a:prstGeom prst="upDownArrow">
            <a:avLst>
              <a:gd name="adj1" fmla="val 50000"/>
              <a:gd name="adj2" fmla="val 50000"/>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164" name="Google Shape;2164;p122"/>
          <p:cNvSpPr txBox="1"/>
          <p:nvPr/>
        </p:nvSpPr>
        <p:spPr>
          <a:xfrm>
            <a:off x="6248413" y="3212976"/>
            <a:ext cx="217254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cds deploy --to hana:</a:t>
            </a:r>
            <a:r>
              <a:rPr lang="en-US" sz="1600" b="1">
                <a:solidFill>
                  <a:schemeClr val="dk1"/>
                </a:solidFill>
                <a:highlight>
                  <a:srgbClr val="FFFF00"/>
                </a:highlight>
                <a:latin typeface="Quattrocento Sans"/>
                <a:ea typeface="Quattrocento Sans"/>
                <a:cs typeface="Quattrocento Sans"/>
                <a:sym typeface="Quattrocento Sans"/>
              </a:rPr>
              <a:t>mycapapp-db</a:t>
            </a:r>
            <a:endParaRPr sz="1600" b="1">
              <a:solidFill>
                <a:schemeClr val="dk1"/>
              </a:solidFill>
              <a:highlight>
                <a:srgbClr val="FFFF00"/>
              </a:highlight>
              <a:latin typeface="Quattrocento Sans"/>
              <a:ea typeface="Quattrocento Sans"/>
              <a:cs typeface="Quattrocento Sans"/>
              <a:sym typeface="Quattrocento Sans"/>
            </a:endParaRPr>
          </a:p>
        </p:txBody>
      </p:sp>
      <p:sp>
        <p:nvSpPr>
          <p:cNvPr id="2165" name="Google Shape;2165;p122"/>
          <p:cNvSpPr txBox="1"/>
          <p:nvPr/>
        </p:nvSpPr>
        <p:spPr>
          <a:xfrm>
            <a:off x="261764" y="4293096"/>
            <a:ext cx="5472608"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i="1">
                <a:solidFill>
                  <a:schemeClr val="dk1"/>
                </a:solidFill>
                <a:latin typeface="Quattrocento Sans"/>
                <a:ea typeface="Quattrocento Sans"/>
                <a:cs typeface="Quattrocento Sans"/>
                <a:sym typeface="Quattrocento Sans"/>
              </a:rPr>
              <a:t>We need a module that can automate our command to create HDI container @ runtime when app is deployed to cloud.</a:t>
            </a:r>
            <a:endParaRPr/>
          </a:p>
        </p:txBody>
      </p:sp>
      <p:sp>
        <p:nvSpPr>
          <p:cNvPr id="2166" name="Google Shape;2166;p122"/>
          <p:cNvSpPr/>
          <p:nvPr/>
        </p:nvSpPr>
        <p:spPr>
          <a:xfrm>
            <a:off x="5740525" y="3995945"/>
            <a:ext cx="1728192" cy="798796"/>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Quattrocento Sans"/>
                <a:ea typeface="Quattrocento Sans"/>
                <a:cs typeface="Quattrocento Sans"/>
                <a:sym typeface="Quattrocento Sans"/>
              </a:rPr>
              <a:t>Mycappapp-db</a:t>
            </a:r>
            <a:endParaRPr sz="1200" b="1">
              <a:solidFill>
                <a:schemeClr val="lt1"/>
              </a:solidFill>
              <a:latin typeface="Quattrocento Sans"/>
              <a:ea typeface="Quattrocento Sans"/>
              <a:cs typeface="Quattrocento Sans"/>
              <a:sym typeface="Quattrocento Sans"/>
            </a:endParaRPr>
          </a:p>
        </p:txBody>
      </p:sp>
      <p:sp>
        <p:nvSpPr>
          <p:cNvPr id="2167" name="Google Shape;2167;p122"/>
          <p:cNvSpPr/>
          <p:nvPr/>
        </p:nvSpPr>
        <p:spPr>
          <a:xfrm rot="-3595802">
            <a:off x="7877088" y="4010290"/>
            <a:ext cx="360040" cy="1997619"/>
          </a:xfrm>
          <a:prstGeom prst="upDownArrow">
            <a:avLst>
              <a:gd name="adj1" fmla="val 50000"/>
              <a:gd name="adj2" fmla="val 50000"/>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172"/>
        <p:cNvGrpSpPr/>
        <p:nvPr/>
      </p:nvGrpSpPr>
      <p:grpSpPr>
        <a:xfrm>
          <a:off x="0" y="0"/>
          <a:ext cx="0" cy="0"/>
          <a:chOff x="0" y="0"/>
          <a:chExt cx="0" cy="0"/>
        </a:xfrm>
      </p:grpSpPr>
      <p:sp>
        <p:nvSpPr>
          <p:cNvPr id="2173" name="Google Shape;2173;p12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Steps</a:t>
            </a:r>
            <a:endParaRPr/>
          </a:p>
        </p:txBody>
      </p:sp>
      <p:sp>
        <p:nvSpPr>
          <p:cNvPr id="2174" name="Google Shape;2174;p123"/>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342900" lvl="0" indent="-342900" algn="l" rtl="0">
              <a:spcBef>
                <a:spcPts val="0"/>
              </a:spcBef>
              <a:spcAft>
                <a:spcPts val="0"/>
              </a:spcAft>
              <a:buClr>
                <a:schemeClr val="dk1"/>
              </a:buClr>
              <a:buSzPts val="1800"/>
              <a:buAutoNum type="arabicPeriod"/>
            </a:pPr>
            <a:r>
              <a:rPr lang="en-US" sz="1800"/>
              <a:t>Open CatalogService.cds and add @requires: ‘authenticated-user’ to ensure authentication is asked</a:t>
            </a:r>
            <a:endParaRPr/>
          </a:p>
          <a:p>
            <a:pPr marL="342900" lvl="0" indent="-342900" algn="l" rtl="0">
              <a:spcBef>
                <a:spcPts val="360"/>
              </a:spcBef>
              <a:spcAft>
                <a:spcPts val="0"/>
              </a:spcAft>
              <a:buClr>
                <a:schemeClr val="dk1"/>
              </a:buClr>
              <a:buSzPts val="1800"/>
              <a:buAutoNum type="arabicPeriod"/>
            </a:pPr>
            <a:r>
              <a:rPr lang="en-US" sz="1800"/>
              <a:t>Add the strategy for testing locally, we added development profile with mocked – and mock user for local testing and production strategy as xsuaa</a:t>
            </a:r>
            <a:endParaRPr sz="1800"/>
          </a:p>
          <a:p>
            <a:pPr marL="342900" lvl="0" indent="-342900" algn="l" rtl="0">
              <a:spcBef>
                <a:spcPts val="360"/>
              </a:spcBef>
              <a:spcAft>
                <a:spcPts val="0"/>
              </a:spcAft>
              <a:buClr>
                <a:schemeClr val="dk1"/>
              </a:buClr>
              <a:buSzPts val="1800"/>
              <a:buAutoNum type="arabicPeriod"/>
            </a:pPr>
            <a:r>
              <a:rPr lang="en-US" sz="1800"/>
              <a:t>Add the xsuaa support – </a:t>
            </a:r>
            <a:r>
              <a:rPr lang="en-US" sz="1800" b="1"/>
              <a:t>cd mycapapp &amp;&amp; cds add xsuaa </a:t>
            </a:r>
            <a:r>
              <a:rPr lang="en-US" sz="1800"/>
              <a:t>in mycapapp directory</a:t>
            </a:r>
            <a:endParaRPr/>
          </a:p>
          <a:p>
            <a:pPr marL="342900" lvl="0" indent="-342900" algn="l" rtl="0">
              <a:spcBef>
                <a:spcPts val="360"/>
              </a:spcBef>
              <a:spcAft>
                <a:spcPts val="0"/>
              </a:spcAft>
              <a:buClr>
                <a:schemeClr val="dk1"/>
              </a:buClr>
              <a:buSzPts val="1800"/>
              <a:buAutoNum type="arabicPeriod"/>
            </a:pPr>
            <a:r>
              <a:rPr lang="en-US" sz="1800"/>
              <a:t>It adds the node module @sap/xssec and xs-security.json file which will be used by developer to define scopes for our app</a:t>
            </a:r>
            <a:endParaRPr/>
          </a:p>
          <a:p>
            <a:pPr marL="342900" lvl="0" indent="-342900" algn="l" rtl="0">
              <a:spcBef>
                <a:spcPts val="360"/>
              </a:spcBef>
              <a:spcAft>
                <a:spcPts val="0"/>
              </a:spcAft>
              <a:buClr>
                <a:schemeClr val="dk1"/>
              </a:buClr>
              <a:buSzPts val="1800"/>
              <a:buAutoNum type="arabicPeriod"/>
            </a:pPr>
            <a:r>
              <a:rPr lang="en-US" sz="1800"/>
              <a:t>Install node module – </a:t>
            </a:r>
            <a:r>
              <a:rPr lang="en-US" sz="1800" b="1"/>
              <a:t>npm install</a:t>
            </a:r>
            <a:endParaRPr/>
          </a:p>
          <a:p>
            <a:pPr marL="342900" lvl="0" indent="-342900" algn="l" rtl="0">
              <a:spcBef>
                <a:spcPts val="360"/>
              </a:spcBef>
              <a:spcAft>
                <a:spcPts val="0"/>
              </a:spcAft>
              <a:buClr>
                <a:schemeClr val="dk1"/>
              </a:buClr>
              <a:buSzPts val="1800"/>
              <a:buAutoNum type="arabicPeriod"/>
            </a:pPr>
            <a:r>
              <a:rPr lang="en-US" sz="1800"/>
              <a:t>Fill the </a:t>
            </a:r>
            <a:r>
              <a:rPr lang="en-US" sz="1800" b="1"/>
              <a:t>xs-security.json </a:t>
            </a:r>
            <a:r>
              <a:rPr lang="en-US" sz="1800"/>
              <a:t>file with desired scope, attributes, role templates which your application would need when it runs in the cloud.</a:t>
            </a:r>
            <a:endParaRPr/>
          </a:p>
          <a:p>
            <a:pPr marL="342900" lvl="0" indent="-342900" algn="l" rtl="0">
              <a:spcBef>
                <a:spcPts val="360"/>
              </a:spcBef>
              <a:spcAft>
                <a:spcPts val="0"/>
              </a:spcAft>
              <a:buClr>
                <a:schemeClr val="dk1"/>
              </a:buClr>
              <a:buSzPts val="1800"/>
              <a:buAutoNum type="arabicPeriod"/>
            </a:pPr>
            <a:r>
              <a:rPr lang="en-US" sz="1800"/>
              <a:t>We have define the roles and scopes, now we need to link these roles with our entities.</a:t>
            </a:r>
            <a:endParaRPr/>
          </a:p>
          <a:p>
            <a:pPr marL="342900" lvl="0" indent="-342900" algn="l" rtl="0">
              <a:spcBef>
                <a:spcPts val="360"/>
              </a:spcBef>
              <a:spcAft>
                <a:spcPts val="0"/>
              </a:spcAft>
              <a:buClr>
                <a:schemeClr val="dk1"/>
              </a:buClr>
              <a:buSzPts val="1800"/>
              <a:buAutoNum type="arabicPeriod"/>
            </a:pPr>
            <a:r>
              <a:rPr lang="en-US" sz="1800"/>
              <a:t>When you deploy the app, this file has to be submitted to your XSUAA component of BTP a/c to make these role collections visible in BTP a/c security secrtion. That work will be done by a special microservice in btp called xsuaa microservice.</a:t>
            </a:r>
            <a:endParaRPr/>
          </a:p>
          <a:p>
            <a:pPr marL="342900" lvl="0" indent="-342900" algn="l" rtl="0">
              <a:spcBef>
                <a:spcPts val="360"/>
              </a:spcBef>
              <a:spcAft>
                <a:spcPts val="0"/>
              </a:spcAft>
              <a:buClr>
                <a:schemeClr val="dk1"/>
              </a:buClr>
              <a:buSzPts val="1800"/>
              <a:buAutoNum type="arabicPeriod"/>
            </a:pPr>
            <a:r>
              <a:rPr lang="en-US" sz="1800"/>
              <a:t>We will add the deployment descriptor file – </a:t>
            </a:r>
            <a:r>
              <a:rPr lang="en-US" sz="1800" b="1"/>
              <a:t>cds add mta &amp;&amp; npm install</a:t>
            </a:r>
            <a:endParaRPr/>
          </a:p>
          <a:p>
            <a:pPr marL="342900" lvl="0" indent="-342900" algn="l" rtl="0">
              <a:spcBef>
                <a:spcPts val="360"/>
              </a:spcBef>
              <a:spcAft>
                <a:spcPts val="0"/>
              </a:spcAft>
              <a:buClr>
                <a:schemeClr val="dk1"/>
              </a:buClr>
              <a:buSzPts val="1800"/>
              <a:buAutoNum type="arabicPeriod"/>
            </a:pPr>
            <a:r>
              <a:rPr lang="en-US" sz="1800"/>
              <a:t>Right click on mta.yaml and choose Build MTA archive, Analyze logs if the mtar is not generated</a:t>
            </a:r>
            <a:endParaRPr/>
          </a:p>
          <a:p>
            <a:pPr marL="342900" lvl="0" indent="-342900" algn="l" rtl="0">
              <a:spcBef>
                <a:spcPts val="360"/>
              </a:spcBef>
              <a:spcAft>
                <a:spcPts val="0"/>
              </a:spcAft>
              <a:buClr>
                <a:schemeClr val="dk1"/>
              </a:buClr>
              <a:buSzPts val="1800"/>
              <a:buAutoNum type="arabicPeriod"/>
            </a:pPr>
            <a:r>
              <a:rPr lang="en-US" sz="1800"/>
              <a:t>Right on the mta_archives folder and deploy the mtar, make sure you login to sap btp a/c </a:t>
            </a:r>
            <a:r>
              <a:rPr lang="en-US" sz="1800" b="1"/>
              <a:t>cf login --sso</a:t>
            </a:r>
            <a:endParaRPr sz="1800" b="1"/>
          </a:p>
          <a:p>
            <a:pPr marL="342900" lvl="0" indent="-228600" algn="l" rtl="0">
              <a:spcBef>
                <a:spcPts val="360"/>
              </a:spcBef>
              <a:spcAft>
                <a:spcPts val="0"/>
              </a:spcAft>
              <a:buClr>
                <a:schemeClr val="dk1"/>
              </a:buClr>
              <a:buSzPts val="1800"/>
              <a:buNone/>
            </a:pPr>
            <a:endParaRPr sz="18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179"/>
        <p:cNvGrpSpPr/>
        <p:nvPr/>
      </p:nvGrpSpPr>
      <p:grpSpPr>
        <a:xfrm>
          <a:off x="0" y="0"/>
          <a:ext cx="0" cy="0"/>
          <a:chOff x="0" y="0"/>
          <a:chExt cx="0" cy="0"/>
        </a:xfrm>
      </p:grpSpPr>
      <p:sp>
        <p:nvSpPr>
          <p:cNvPr id="2180" name="Google Shape;2180;p12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How to test</a:t>
            </a:r>
            <a:endParaRPr/>
          </a:p>
        </p:txBody>
      </p:sp>
      <p:sp>
        <p:nvSpPr>
          <p:cNvPr id="2181" name="Google Shape;2181;p124"/>
          <p:cNvSpPr txBox="1">
            <a:spLocks noGrp="1"/>
          </p:cNvSpPr>
          <p:nvPr>
            <p:ph type="body" idx="1"/>
          </p:nvPr>
        </p:nvSpPr>
        <p:spPr>
          <a:xfrm>
            <a:off x="261764" y="836712"/>
            <a:ext cx="11449272" cy="5688632"/>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After the deployment to test like a developer, we use the postman tool to access the resource url of deployed app. The app gives authentication error as “Unauthorized” so we go to postman tool.</a:t>
            </a:r>
            <a:endParaRPr/>
          </a:p>
          <a:p>
            <a:pPr marL="0" lvl="0" indent="0" algn="l" rtl="0">
              <a:spcBef>
                <a:spcPts val="360"/>
              </a:spcBef>
              <a:spcAft>
                <a:spcPts val="0"/>
              </a:spcAft>
              <a:buClr>
                <a:schemeClr val="dk1"/>
              </a:buClr>
              <a:buSzPts val="1800"/>
              <a:buNone/>
            </a:pPr>
            <a:r>
              <a:rPr lang="en-US" sz="1800"/>
              <a:t>Open our service key of auth service and pass data under Authorization tab of postman from service key as below</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Use the generated token and access the service. We can access all entry points except the one’s protected by authorization. </a:t>
            </a:r>
            <a:endParaRPr/>
          </a:p>
          <a:p>
            <a:pPr marL="0" lvl="0" indent="0" algn="l" rtl="0">
              <a:spcBef>
                <a:spcPts val="360"/>
              </a:spcBef>
              <a:spcAft>
                <a:spcPts val="0"/>
              </a:spcAft>
              <a:buClr>
                <a:schemeClr val="dk1"/>
              </a:buClr>
              <a:buSzPts val="1800"/>
              <a:buNone/>
            </a:pPr>
            <a:r>
              <a:rPr lang="en-US" sz="1800"/>
              <a:t>We go back to BTP a/c in Roles section, create role, pass value of attribute and save role</a:t>
            </a:r>
            <a:endParaRPr/>
          </a:p>
          <a:p>
            <a:pPr marL="0" lvl="0" indent="0" algn="l" rtl="0">
              <a:spcBef>
                <a:spcPts val="360"/>
              </a:spcBef>
              <a:spcAft>
                <a:spcPts val="0"/>
              </a:spcAft>
              <a:buClr>
                <a:schemeClr val="dk1"/>
              </a:buClr>
              <a:buSzPts val="1800"/>
              <a:buNone/>
            </a:pPr>
            <a:r>
              <a:rPr lang="en-US" sz="1800"/>
              <a:t>Create Role collection, add role, and add the user id of our btp a/c to grant the role</a:t>
            </a:r>
            <a:endParaRPr/>
          </a:p>
          <a:p>
            <a:pPr marL="0" lvl="0" indent="0" algn="l" rtl="0">
              <a:spcBef>
                <a:spcPts val="360"/>
              </a:spcBef>
              <a:spcAft>
                <a:spcPts val="0"/>
              </a:spcAft>
              <a:buClr>
                <a:schemeClr val="dk1"/>
              </a:buClr>
              <a:buSzPts val="1800"/>
              <a:buNone/>
            </a:pPr>
            <a:endParaRPr sz="1800"/>
          </a:p>
        </p:txBody>
      </p:sp>
      <p:graphicFrame>
        <p:nvGraphicFramePr>
          <p:cNvPr id="2182" name="Google Shape;2182;p124"/>
          <p:cNvGraphicFramePr/>
          <p:nvPr/>
        </p:nvGraphicFramePr>
        <p:xfrm>
          <a:off x="328282" y="1916832"/>
          <a:ext cx="3000000" cy="3000000"/>
        </p:xfrm>
        <a:graphic>
          <a:graphicData uri="http://schemas.openxmlformats.org/drawingml/2006/table">
            <a:tbl>
              <a:tblPr firstRow="1" bandRow="1">
                <a:noFill/>
                <a:tableStyleId>{E2589203-8263-40D6-834C-8223FCB96578}</a:tableStyleId>
              </a:tblPr>
              <a:tblGrid>
                <a:gridCol w="3888425">
                  <a:extLst>
                    <a:ext uri="{9D8B030D-6E8A-4147-A177-3AD203B41FA5}">
                      <a16:colId xmlns:a16="http://schemas.microsoft.com/office/drawing/2014/main" val="20000"/>
                    </a:ext>
                  </a:extLst>
                </a:gridCol>
                <a:gridCol w="3888425">
                  <a:extLst>
                    <a:ext uri="{9D8B030D-6E8A-4147-A177-3AD203B41FA5}">
                      <a16:colId xmlns:a16="http://schemas.microsoft.com/office/drawing/2014/main" val="20001"/>
                    </a:ext>
                  </a:extLst>
                </a:gridCol>
              </a:tblGrid>
              <a:tr h="288025">
                <a:tc>
                  <a:txBody>
                    <a:bodyPr/>
                    <a:lstStyle/>
                    <a:p>
                      <a:pPr marL="0" marR="0" lvl="0" indent="0" algn="l" rtl="0">
                        <a:spcBef>
                          <a:spcPts val="0"/>
                        </a:spcBef>
                        <a:spcAft>
                          <a:spcPts val="0"/>
                        </a:spcAft>
                        <a:buNone/>
                      </a:pPr>
                      <a:r>
                        <a:rPr lang="en-US" sz="1600"/>
                        <a:t>Property</a:t>
                      </a:r>
                      <a:endParaRPr/>
                    </a:p>
                  </a:txBody>
                  <a:tcPr marL="91450" marR="91450" marT="45725" marB="45725"/>
                </a:tc>
                <a:tc>
                  <a:txBody>
                    <a:bodyPr/>
                    <a:lstStyle/>
                    <a:p>
                      <a:pPr marL="0" marR="0" lvl="0" indent="0" algn="l" rtl="0">
                        <a:spcBef>
                          <a:spcPts val="0"/>
                        </a:spcBef>
                        <a:spcAft>
                          <a:spcPts val="0"/>
                        </a:spcAft>
                        <a:buNone/>
                      </a:pPr>
                      <a:r>
                        <a:rPr lang="en-US" sz="1600"/>
                        <a:t>Value</a:t>
                      </a:r>
                      <a:endParaRPr/>
                    </a:p>
                  </a:txBody>
                  <a:tcPr marL="91450" marR="91450" marT="45725" marB="45725"/>
                </a:tc>
                <a:extLst>
                  <a:ext uri="{0D108BD9-81ED-4DB2-BD59-A6C34878D82A}">
                    <a16:rowId xmlns:a16="http://schemas.microsoft.com/office/drawing/2014/main" val="10000"/>
                  </a:ext>
                </a:extLst>
              </a:tr>
              <a:tr h="288025">
                <a:tc>
                  <a:txBody>
                    <a:bodyPr/>
                    <a:lstStyle/>
                    <a:p>
                      <a:pPr marL="0" marR="0" lvl="0" indent="0" algn="l" rtl="0">
                        <a:spcBef>
                          <a:spcPts val="0"/>
                        </a:spcBef>
                        <a:spcAft>
                          <a:spcPts val="0"/>
                        </a:spcAft>
                        <a:buNone/>
                      </a:pPr>
                      <a:r>
                        <a:rPr lang="en-US" sz="1600"/>
                        <a:t>Header Prefix</a:t>
                      </a:r>
                      <a:endParaRPr/>
                    </a:p>
                  </a:txBody>
                  <a:tcPr marL="91450" marR="91450" marT="45725" marB="45725"/>
                </a:tc>
                <a:tc>
                  <a:txBody>
                    <a:bodyPr/>
                    <a:lstStyle/>
                    <a:p>
                      <a:pPr marL="0" marR="0" lvl="0" indent="0" algn="l" rtl="0">
                        <a:spcBef>
                          <a:spcPts val="0"/>
                        </a:spcBef>
                        <a:spcAft>
                          <a:spcPts val="0"/>
                        </a:spcAft>
                        <a:buNone/>
                      </a:pPr>
                      <a:r>
                        <a:rPr lang="en-US" sz="1600"/>
                        <a:t>Bearer</a:t>
                      </a:r>
                      <a:endParaRPr/>
                    </a:p>
                  </a:txBody>
                  <a:tcPr marL="91450" marR="91450" marT="45725" marB="45725"/>
                </a:tc>
                <a:extLst>
                  <a:ext uri="{0D108BD9-81ED-4DB2-BD59-A6C34878D82A}">
                    <a16:rowId xmlns:a16="http://schemas.microsoft.com/office/drawing/2014/main" val="10001"/>
                  </a:ext>
                </a:extLst>
              </a:tr>
              <a:tr h="288025">
                <a:tc>
                  <a:txBody>
                    <a:bodyPr/>
                    <a:lstStyle/>
                    <a:p>
                      <a:pPr marL="0" marR="0" lvl="0" indent="0" algn="l" rtl="0">
                        <a:spcBef>
                          <a:spcPts val="0"/>
                        </a:spcBef>
                        <a:spcAft>
                          <a:spcPts val="0"/>
                        </a:spcAft>
                        <a:buNone/>
                      </a:pPr>
                      <a:r>
                        <a:rPr lang="en-US" sz="1600"/>
                        <a:t>Token Name</a:t>
                      </a:r>
                      <a:endParaRPr/>
                    </a:p>
                  </a:txBody>
                  <a:tcPr marL="91450" marR="91450" marT="45725" marB="45725"/>
                </a:tc>
                <a:tc>
                  <a:txBody>
                    <a:bodyPr/>
                    <a:lstStyle/>
                    <a:p>
                      <a:pPr marL="0" marR="0" lvl="0" indent="0" algn="l" rtl="0">
                        <a:spcBef>
                          <a:spcPts val="0"/>
                        </a:spcBef>
                        <a:spcAft>
                          <a:spcPts val="0"/>
                        </a:spcAft>
                        <a:buNone/>
                      </a:pPr>
                      <a:r>
                        <a:rPr lang="en-US" sz="1600"/>
                        <a:t>&lt;anything&gt;</a:t>
                      </a:r>
                      <a:endParaRPr/>
                    </a:p>
                  </a:txBody>
                  <a:tcPr marL="91450" marR="91450" marT="45725" marB="45725"/>
                </a:tc>
                <a:extLst>
                  <a:ext uri="{0D108BD9-81ED-4DB2-BD59-A6C34878D82A}">
                    <a16:rowId xmlns:a16="http://schemas.microsoft.com/office/drawing/2014/main" val="10002"/>
                  </a:ext>
                </a:extLst>
              </a:tr>
              <a:tr h="288025">
                <a:tc>
                  <a:txBody>
                    <a:bodyPr/>
                    <a:lstStyle/>
                    <a:p>
                      <a:pPr marL="0" marR="0" lvl="0" indent="0" algn="l" rtl="0">
                        <a:spcBef>
                          <a:spcPts val="0"/>
                        </a:spcBef>
                        <a:spcAft>
                          <a:spcPts val="0"/>
                        </a:spcAft>
                        <a:buNone/>
                      </a:pPr>
                      <a:r>
                        <a:rPr lang="en-US" sz="1600" b="0" i="0">
                          <a:solidFill>
                            <a:schemeClr val="dk1"/>
                          </a:solidFill>
                          <a:latin typeface="Quattrocento Sans"/>
                          <a:ea typeface="Quattrocento Sans"/>
                          <a:cs typeface="Quattrocento Sans"/>
                          <a:sym typeface="Quattrocento Sans"/>
                        </a:rPr>
                        <a:t>Grant type</a:t>
                      </a:r>
                      <a:endParaRPr sz="1600"/>
                    </a:p>
                  </a:txBody>
                  <a:tcPr marL="91450" marR="91450" marT="45725" marB="45725"/>
                </a:tc>
                <a:tc>
                  <a:txBody>
                    <a:bodyPr/>
                    <a:lstStyle/>
                    <a:p>
                      <a:pPr marL="0" marR="0" lvl="0" indent="0" algn="l" rtl="0">
                        <a:spcBef>
                          <a:spcPts val="0"/>
                        </a:spcBef>
                        <a:spcAft>
                          <a:spcPts val="0"/>
                        </a:spcAft>
                        <a:buNone/>
                      </a:pPr>
                      <a:r>
                        <a:rPr lang="en-US" sz="1600"/>
                        <a:t>Password credentials</a:t>
                      </a:r>
                      <a:endParaRPr/>
                    </a:p>
                  </a:txBody>
                  <a:tcPr marL="91450" marR="91450" marT="45725" marB="45725"/>
                </a:tc>
                <a:extLst>
                  <a:ext uri="{0D108BD9-81ED-4DB2-BD59-A6C34878D82A}">
                    <a16:rowId xmlns:a16="http://schemas.microsoft.com/office/drawing/2014/main" val="10003"/>
                  </a:ext>
                </a:extLst>
              </a:tr>
              <a:tr h="288025">
                <a:tc>
                  <a:txBody>
                    <a:bodyPr/>
                    <a:lstStyle/>
                    <a:p>
                      <a:pPr marL="0" marR="0" lvl="0" indent="0" algn="l" rtl="0">
                        <a:spcBef>
                          <a:spcPts val="0"/>
                        </a:spcBef>
                        <a:spcAft>
                          <a:spcPts val="0"/>
                        </a:spcAft>
                        <a:buNone/>
                      </a:pPr>
                      <a:r>
                        <a:rPr lang="en-US" sz="1600"/>
                        <a:t>Access Token URL</a:t>
                      </a:r>
                      <a:endParaRPr/>
                    </a:p>
                  </a:txBody>
                  <a:tcPr marL="91450" marR="91450" marT="45725" marB="45725"/>
                </a:tc>
                <a:tc>
                  <a:txBody>
                    <a:bodyPr/>
                    <a:lstStyle/>
                    <a:p>
                      <a:pPr marL="0" marR="0" lvl="0" indent="0" algn="l" rtl="0">
                        <a:spcBef>
                          <a:spcPts val="0"/>
                        </a:spcBef>
                        <a:spcAft>
                          <a:spcPts val="0"/>
                        </a:spcAft>
                        <a:buNone/>
                      </a:pPr>
                      <a:r>
                        <a:rPr lang="en-US" sz="1600"/>
                        <a:t>URL/oauth/token</a:t>
                      </a:r>
                      <a:endParaRPr/>
                    </a:p>
                  </a:txBody>
                  <a:tcPr marL="91450" marR="91450" marT="45725" marB="45725"/>
                </a:tc>
                <a:extLst>
                  <a:ext uri="{0D108BD9-81ED-4DB2-BD59-A6C34878D82A}">
                    <a16:rowId xmlns:a16="http://schemas.microsoft.com/office/drawing/2014/main" val="10004"/>
                  </a:ext>
                </a:extLst>
              </a:tr>
              <a:tr h="288025">
                <a:tc>
                  <a:txBody>
                    <a:bodyPr/>
                    <a:lstStyle/>
                    <a:p>
                      <a:pPr marL="0" marR="0" lvl="0" indent="0" algn="l" rtl="0">
                        <a:spcBef>
                          <a:spcPts val="0"/>
                        </a:spcBef>
                        <a:spcAft>
                          <a:spcPts val="0"/>
                        </a:spcAft>
                        <a:buNone/>
                      </a:pPr>
                      <a:r>
                        <a:rPr lang="en-US" sz="1600"/>
                        <a:t>Client id</a:t>
                      </a:r>
                      <a:endParaRPr/>
                    </a:p>
                  </a:txBody>
                  <a:tcPr marL="91450" marR="91450" marT="45725" marB="45725"/>
                </a:tc>
                <a:tc>
                  <a:txBody>
                    <a:bodyPr/>
                    <a:lstStyle/>
                    <a:p>
                      <a:pPr marL="0" marR="0" lvl="0" indent="0" algn="l" rtl="0">
                        <a:spcBef>
                          <a:spcPts val="0"/>
                        </a:spcBef>
                        <a:spcAft>
                          <a:spcPts val="0"/>
                        </a:spcAft>
                        <a:buNone/>
                      </a:pPr>
                      <a:r>
                        <a:rPr lang="en-US" sz="1600"/>
                        <a:t>Client id from service key</a:t>
                      </a:r>
                      <a:endParaRPr/>
                    </a:p>
                  </a:txBody>
                  <a:tcPr marL="91450" marR="91450" marT="45725" marB="45725"/>
                </a:tc>
                <a:extLst>
                  <a:ext uri="{0D108BD9-81ED-4DB2-BD59-A6C34878D82A}">
                    <a16:rowId xmlns:a16="http://schemas.microsoft.com/office/drawing/2014/main" val="10005"/>
                  </a:ext>
                </a:extLst>
              </a:tr>
              <a:tr h="288025">
                <a:tc>
                  <a:txBody>
                    <a:bodyPr/>
                    <a:lstStyle/>
                    <a:p>
                      <a:pPr marL="0" marR="0" lvl="0" indent="0" algn="l" rtl="0">
                        <a:spcBef>
                          <a:spcPts val="0"/>
                        </a:spcBef>
                        <a:spcAft>
                          <a:spcPts val="0"/>
                        </a:spcAft>
                        <a:buNone/>
                      </a:pPr>
                      <a:r>
                        <a:rPr lang="en-US" sz="1600"/>
                        <a:t>Client Secret</a:t>
                      </a:r>
                      <a:endParaRPr/>
                    </a:p>
                  </a:txBody>
                  <a:tcPr marL="91450" marR="91450" marT="45725" marB="45725"/>
                </a:tc>
                <a:tc>
                  <a:txBody>
                    <a:bodyPr/>
                    <a:lstStyle/>
                    <a:p>
                      <a:pPr marL="0" marR="0" lvl="0" indent="0" algn="l" rtl="0">
                        <a:spcBef>
                          <a:spcPts val="0"/>
                        </a:spcBef>
                        <a:spcAft>
                          <a:spcPts val="0"/>
                        </a:spcAft>
                        <a:buNone/>
                      </a:pPr>
                      <a:r>
                        <a:rPr lang="en-US" sz="1600"/>
                        <a:t>Client Secret from service key</a:t>
                      </a:r>
                      <a:endParaRPr/>
                    </a:p>
                  </a:txBody>
                  <a:tcPr marL="91450" marR="91450" marT="45725" marB="45725"/>
                </a:tc>
                <a:extLst>
                  <a:ext uri="{0D108BD9-81ED-4DB2-BD59-A6C34878D82A}">
                    <a16:rowId xmlns:a16="http://schemas.microsoft.com/office/drawing/2014/main" val="10006"/>
                  </a:ext>
                </a:extLst>
              </a:tr>
              <a:tr h="288025">
                <a:tc>
                  <a:txBody>
                    <a:bodyPr/>
                    <a:lstStyle/>
                    <a:p>
                      <a:pPr marL="0" marR="0" lvl="0" indent="0" algn="l" rtl="0">
                        <a:spcBef>
                          <a:spcPts val="0"/>
                        </a:spcBef>
                        <a:spcAft>
                          <a:spcPts val="0"/>
                        </a:spcAft>
                        <a:buNone/>
                      </a:pPr>
                      <a:r>
                        <a:rPr lang="en-US" sz="1600"/>
                        <a:t>Username and password </a:t>
                      </a:r>
                      <a:endParaRPr/>
                    </a:p>
                  </a:txBody>
                  <a:tcPr marL="91450" marR="91450" marT="45725" marB="45725"/>
                </a:tc>
                <a:tc>
                  <a:txBody>
                    <a:bodyPr/>
                    <a:lstStyle/>
                    <a:p>
                      <a:pPr marL="0" marR="0" lvl="0" indent="0" algn="l" rtl="0">
                        <a:spcBef>
                          <a:spcPts val="0"/>
                        </a:spcBef>
                        <a:spcAft>
                          <a:spcPts val="0"/>
                        </a:spcAft>
                        <a:buNone/>
                      </a:pPr>
                      <a:r>
                        <a:rPr lang="en-US" sz="1600"/>
                        <a:t>Our btp user credentials</a:t>
                      </a:r>
                      <a:endParaRPr/>
                    </a:p>
                  </a:txBody>
                  <a:tcPr marL="91450" marR="91450" marT="45725" marB="45725"/>
                </a:tc>
                <a:extLst>
                  <a:ext uri="{0D108BD9-81ED-4DB2-BD59-A6C34878D82A}">
                    <a16:rowId xmlns:a16="http://schemas.microsoft.com/office/drawing/2014/main" val="10007"/>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187"/>
        <p:cNvGrpSpPr/>
        <p:nvPr/>
      </p:nvGrpSpPr>
      <p:grpSpPr>
        <a:xfrm>
          <a:off x="0" y="0"/>
          <a:ext cx="0" cy="0"/>
          <a:chOff x="0" y="0"/>
          <a:chExt cx="0" cy="0"/>
        </a:xfrm>
      </p:grpSpPr>
      <p:sp>
        <p:nvSpPr>
          <p:cNvPr id="2188" name="Google Shape;2188;p125"/>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Problem Statement</a:t>
            </a:r>
            <a:endParaRPr/>
          </a:p>
        </p:txBody>
      </p:sp>
      <p:sp>
        <p:nvSpPr>
          <p:cNvPr id="2189" name="Google Shape;2189;p125"/>
          <p:cNvSpPr txBox="1">
            <a:spLocks noGrp="1"/>
          </p:cNvSpPr>
          <p:nvPr>
            <p:ph type="body" idx="1"/>
          </p:nvPr>
        </p:nvSpPr>
        <p:spPr>
          <a:xfrm>
            <a:off x="368762" y="804956"/>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There is a strong technical knowledge required to obtain JWT token in the postman tool. Often our end user (manager in a manufacturing co.) will not have this technical knowledge. </a:t>
            </a:r>
            <a:endParaRPr/>
          </a:p>
          <a:p>
            <a:pPr marL="285750" lvl="0" indent="-285750" algn="l" rtl="0">
              <a:spcBef>
                <a:spcPts val="360"/>
              </a:spcBef>
              <a:spcAft>
                <a:spcPts val="0"/>
              </a:spcAft>
              <a:buClr>
                <a:schemeClr val="dk1"/>
              </a:buClr>
              <a:buSzPts val="1800"/>
              <a:buFont typeface="Arial"/>
              <a:buChar char="•"/>
            </a:pPr>
            <a:r>
              <a:rPr lang="en-US" sz="1800"/>
              <a:t>For end user the experience has to be seamless where, they should first get Login screen, pass credential, the IDP issue SAML token, which goes to XSUAA, and XSUAA issue JWT token, which should go to app.</a:t>
            </a:r>
            <a:endParaRPr/>
          </a:p>
          <a:p>
            <a:pPr marL="285750" lvl="0" indent="-285750" algn="l" rtl="0">
              <a:spcBef>
                <a:spcPts val="360"/>
              </a:spcBef>
              <a:spcAft>
                <a:spcPts val="0"/>
              </a:spcAft>
              <a:buClr>
                <a:schemeClr val="dk1"/>
              </a:buClr>
              <a:buSzPts val="1800"/>
              <a:buFont typeface="Arial"/>
              <a:buChar char="•"/>
            </a:pPr>
            <a:r>
              <a:rPr lang="en-US" sz="1800"/>
              <a:t>All the token exchanges has to happen seamlessly in background w/o user knowing it.</a:t>
            </a:r>
            <a:endParaRPr/>
          </a:p>
          <a:p>
            <a:pPr marL="285750" lvl="0" indent="-285750" algn="l" rtl="0">
              <a:spcBef>
                <a:spcPts val="360"/>
              </a:spcBef>
              <a:spcAft>
                <a:spcPts val="0"/>
              </a:spcAft>
              <a:buClr>
                <a:schemeClr val="dk1"/>
              </a:buClr>
              <a:buSzPts val="1800"/>
              <a:buFont typeface="Arial"/>
              <a:buChar char="•"/>
            </a:pPr>
            <a:r>
              <a:rPr lang="en-US" sz="1800"/>
              <a:t>The tokens also needs to be passed to every microservice which needs it when JWT is issued.</a:t>
            </a:r>
            <a:endParaRPr/>
          </a:p>
          <a:p>
            <a:pPr marL="285750" lvl="0" indent="-285750" algn="l" rtl="0">
              <a:spcBef>
                <a:spcPts val="360"/>
              </a:spcBef>
              <a:spcAft>
                <a:spcPts val="0"/>
              </a:spcAft>
              <a:buClr>
                <a:schemeClr val="dk1"/>
              </a:buClr>
              <a:buSzPts val="1800"/>
              <a:buFont typeface="Arial"/>
              <a:buChar char="•"/>
            </a:pPr>
            <a:r>
              <a:rPr lang="en-US" sz="1800"/>
              <a:t>In real-time we will have multiple microservices in our app like ui, java, node, db.. We need a mechanism that can communicate to all the inter-service communication. Because they are all logically connected to single App.</a:t>
            </a:r>
            <a:endParaRPr/>
          </a:p>
          <a:p>
            <a:pPr marL="285750" lvl="0" indent="-285750" algn="l" rtl="0">
              <a:spcBef>
                <a:spcPts val="360"/>
              </a:spcBef>
              <a:spcAft>
                <a:spcPts val="0"/>
              </a:spcAft>
              <a:buClr>
                <a:schemeClr val="dk1"/>
              </a:buClr>
              <a:buSzPts val="1800"/>
              <a:buFont typeface="Arial"/>
              <a:buChar char="•"/>
            </a:pPr>
            <a:r>
              <a:rPr lang="en-US" sz="1800"/>
              <a:t>We need to also add our UI module, the UI module should talk to SRV module, we need someone who can do this communication securely. </a:t>
            </a:r>
            <a:endParaRPr/>
          </a:p>
          <a:p>
            <a:pPr marL="285750" lvl="0" indent="-285750" algn="l" rtl="0">
              <a:spcBef>
                <a:spcPts val="360"/>
              </a:spcBef>
              <a:spcAft>
                <a:spcPts val="0"/>
              </a:spcAft>
              <a:buClr>
                <a:schemeClr val="dk1"/>
              </a:buClr>
              <a:buSzPts val="1800"/>
              <a:buFont typeface="Arial"/>
              <a:buChar char="•"/>
            </a:pPr>
            <a:r>
              <a:rPr lang="en-US" sz="1800"/>
              <a:t>As a application user, we should only have ONE URL of the entire app. A Single point to your APP rather each microservice. </a:t>
            </a:r>
            <a:endParaRPr/>
          </a:p>
        </p:txBody>
      </p:sp>
      <p:sp>
        <p:nvSpPr>
          <p:cNvPr id="2190" name="Google Shape;2190;p125"/>
          <p:cNvSpPr/>
          <p:nvPr/>
        </p:nvSpPr>
        <p:spPr>
          <a:xfrm>
            <a:off x="2854052" y="4509120"/>
            <a:ext cx="7488832" cy="93610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Quattrocento Sans"/>
                <a:ea typeface="Quattrocento Sans"/>
                <a:cs typeface="Quattrocento Sans"/>
                <a:sym typeface="Quattrocento Sans"/>
              </a:rPr>
              <a:t>App router</a:t>
            </a:r>
            <a:endParaRPr/>
          </a:p>
          <a:p>
            <a:pPr marL="0" marR="0" lvl="0" indent="0" algn="ctr" rtl="0">
              <a:spcBef>
                <a:spcPts val="0"/>
              </a:spcBef>
              <a:spcAft>
                <a:spcPts val="0"/>
              </a:spcAft>
              <a:buNone/>
            </a:pPr>
            <a:r>
              <a:rPr lang="en-US" sz="1800">
                <a:solidFill>
                  <a:schemeClr val="lt1"/>
                </a:solidFill>
                <a:latin typeface="Arial"/>
                <a:ea typeface="Arial"/>
                <a:cs typeface="Arial"/>
                <a:sym typeface="Arial"/>
              </a:rPr>
              <a:t>Single entry point for our entire Cloud application, no matter how many microservices are inside your project, Works like a façade layer</a:t>
            </a:r>
            <a:endParaRPr/>
          </a:p>
        </p:txBody>
      </p:sp>
      <p:sp>
        <p:nvSpPr>
          <p:cNvPr id="2191" name="Google Shape;2191;p125"/>
          <p:cNvSpPr/>
          <p:nvPr/>
        </p:nvSpPr>
        <p:spPr>
          <a:xfrm>
            <a:off x="368762" y="4653136"/>
            <a:ext cx="1045130" cy="864096"/>
          </a:xfrm>
          <a:prstGeom prst="smileyFace">
            <a:avLst>
              <a:gd name="adj" fmla="val 4653"/>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192" name="Google Shape;2192;p125"/>
          <p:cNvSpPr/>
          <p:nvPr/>
        </p:nvSpPr>
        <p:spPr>
          <a:xfrm>
            <a:off x="1413892" y="4797152"/>
            <a:ext cx="1440160" cy="360040"/>
          </a:xfrm>
          <a:prstGeom prst="rightArrow">
            <a:avLst>
              <a:gd name="adj1" fmla="val 50000"/>
              <a:gd name="adj2" fmla="val 50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193" name="Google Shape;2193;p125"/>
          <p:cNvSpPr/>
          <p:nvPr/>
        </p:nvSpPr>
        <p:spPr>
          <a:xfrm>
            <a:off x="2854052" y="5949280"/>
            <a:ext cx="2520280" cy="57606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CatalogService</a:t>
            </a:r>
            <a:endParaRPr sz="2400">
              <a:solidFill>
                <a:schemeClr val="lt1"/>
              </a:solidFill>
              <a:latin typeface="Quattrocento Sans"/>
              <a:ea typeface="Quattrocento Sans"/>
              <a:cs typeface="Quattrocento Sans"/>
              <a:sym typeface="Quattrocento Sans"/>
            </a:endParaRPr>
          </a:p>
        </p:txBody>
      </p:sp>
      <p:sp>
        <p:nvSpPr>
          <p:cNvPr id="2194" name="Google Shape;2194;p125"/>
          <p:cNvSpPr/>
          <p:nvPr/>
        </p:nvSpPr>
        <p:spPr>
          <a:xfrm>
            <a:off x="5590356" y="5949280"/>
            <a:ext cx="2520280" cy="57606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CDSService</a:t>
            </a:r>
            <a:endParaRPr sz="2400">
              <a:solidFill>
                <a:schemeClr val="lt1"/>
              </a:solidFill>
              <a:latin typeface="Quattrocento Sans"/>
              <a:ea typeface="Quattrocento Sans"/>
              <a:cs typeface="Quattrocento Sans"/>
              <a:sym typeface="Quattrocento Sans"/>
            </a:endParaRPr>
          </a:p>
        </p:txBody>
      </p:sp>
      <p:sp>
        <p:nvSpPr>
          <p:cNvPr id="2195" name="Google Shape;2195;p125"/>
          <p:cNvSpPr/>
          <p:nvPr/>
        </p:nvSpPr>
        <p:spPr>
          <a:xfrm>
            <a:off x="8307678" y="5949280"/>
            <a:ext cx="2520280" cy="57606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Index.html</a:t>
            </a:r>
            <a:endParaRPr/>
          </a:p>
        </p:txBody>
      </p:sp>
      <p:sp>
        <p:nvSpPr>
          <p:cNvPr id="2196" name="Google Shape;2196;p125"/>
          <p:cNvSpPr/>
          <p:nvPr/>
        </p:nvSpPr>
        <p:spPr>
          <a:xfrm>
            <a:off x="10827958" y="4581128"/>
            <a:ext cx="2520280" cy="576064"/>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mycapapp-auth</a:t>
            </a:r>
            <a:endParaRPr/>
          </a:p>
        </p:txBody>
      </p:sp>
      <p:sp>
        <p:nvSpPr>
          <p:cNvPr id="2197" name="Google Shape;2197;p125"/>
          <p:cNvSpPr/>
          <p:nvPr/>
        </p:nvSpPr>
        <p:spPr>
          <a:xfrm>
            <a:off x="4222204" y="5517232"/>
            <a:ext cx="1944216" cy="360040"/>
          </a:xfrm>
          <a:prstGeom prst="uturnArrow">
            <a:avLst>
              <a:gd name="adj1" fmla="val 25000"/>
              <a:gd name="adj2" fmla="val 25000"/>
              <a:gd name="adj3" fmla="val 25000"/>
              <a:gd name="adj4" fmla="val 43750"/>
              <a:gd name="adj5" fmla="val 7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2198" name="Google Shape;2198;p125"/>
          <p:cNvSpPr/>
          <p:nvPr/>
        </p:nvSpPr>
        <p:spPr>
          <a:xfrm>
            <a:off x="7534572" y="5526425"/>
            <a:ext cx="1944216" cy="360040"/>
          </a:xfrm>
          <a:prstGeom prst="uturnArrow">
            <a:avLst>
              <a:gd name="adj1" fmla="val 25000"/>
              <a:gd name="adj2" fmla="val 25000"/>
              <a:gd name="adj3" fmla="val 25000"/>
              <a:gd name="adj4" fmla="val 43750"/>
              <a:gd name="adj5" fmla="val 7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2199" name="Google Shape;2199;p125"/>
          <p:cNvSpPr/>
          <p:nvPr/>
        </p:nvSpPr>
        <p:spPr>
          <a:xfrm flipH="1">
            <a:off x="6318820" y="5669632"/>
            <a:ext cx="2655912" cy="360040"/>
          </a:xfrm>
          <a:prstGeom prst="uturnArrow">
            <a:avLst>
              <a:gd name="adj1" fmla="val 25000"/>
              <a:gd name="adj2" fmla="val 25000"/>
              <a:gd name="adj3" fmla="val 25000"/>
              <a:gd name="adj4" fmla="val 43750"/>
              <a:gd name="adj5" fmla="val 7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2200" name="Google Shape;2200;p125"/>
          <p:cNvSpPr/>
          <p:nvPr/>
        </p:nvSpPr>
        <p:spPr>
          <a:xfrm flipH="1">
            <a:off x="3582516" y="5669632"/>
            <a:ext cx="3448000" cy="360040"/>
          </a:xfrm>
          <a:prstGeom prst="uturnArrow">
            <a:avLst>
              <a:gd name="adj1" fmla="val 25000"/>
              <a:gd name="adj2" fmla="val 25000"/>
              <a:gd name="adj3" fmla="val 25000"/>
              <a:gd name="adj4" fmla="val 43750"/>
              <a:gd name="adj5" fmla="val 75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2201" name="Google Shape;2201;p125"/>
          <p:cNvSpPr/>
          <p:nvPr/>
        </p:nvSpPr>
        <p:spPr>
          <a:xfrm>
            <a:off x="10342884" y="4795490"/>
            <a:ext cx="576064" cy="216024"/>
          </a:xfrm>
          <a:prstGeom prst="leftRightArrow">
            <a:avLst>
              <a:gd name="adj1" fmla="val 50000"/>
              <a:gd name="adj2" fmla="val 500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206"/>
        <p:cNvGrpSpPr/>
        <p:nvPr/>
      </p:nvGrpSpPr>
      <p:grpSpPr>
        <a:xfrm>
          <a:off x="0" y="0"/>
          <a:ext cx="0" cy="0"/>
          <a:chOff x="0" y="0"/>
          <a:chExt cx="0" cy="0"/>
        </a:xfrm>
      </p:grpSpPr>
      <p:sp>
        <p:nvSpPr>
          <p:cNvPr id="2207" name="Google Shape;2207;p126"/>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App Router</a:t>
            </a:r>
            <a:endParaRPr/>
          </a:p>
        </p:txBody>
      </p:sp>
      <p:sp>
        <p:nvSpPr>
          <p:cNvPr id="2208" name="Google Shape;2208;p126"/>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A node application which a developer needs to create in our cap project to provide single entry point for entire app. Orchestrate between all the microservices behind the scenes.</a:t>
            </a:r>
            <a:endParaRPr/>
          </a:p>
          <a:p>
            <a:pPr marL="285750" lvl="0" indent="-285750" algn="l" rtl="0">
              <a:spcBef>
                <a:spcPts val="360"/>
              </a:spcBef>
              <a:spcAft>
                <a:spcPts val="0"/>
              </a:spcAft>
              <a:buClr>
                <a:schemeClr val="dk1"/>
              </a:buClr>
              <a:buSzPts val="1800"/>
              <a:buFont typeface="Arial"/>
              <a:buChar char="•"/>
            </a:pPr>
            <a:r>
              <a:rPr lang="en-US" sz="1800"/>
              <a:t>A node module provided by sap  </a:t>
            </a:r>
            <a:r>
              <a:rPr lang="en-US" sz="1800" b="1"/>
              <a:t>@sap/approuter</a:t>
            </a:r>
            <a:r>
              <a:rPr lang="en-US" sz="1800"/>
              <a:t>, which starts along with UI</a:t>
            </a:r>
            <a:endParaRPr/>
          </a:p>
          <a:p>
            <a:pPr marL="285750" lvl="0" indent="-285750" algn="l" rtl="0">
              <a:spcBef>
                <a:spcPts val="360"/>
              </a:spcBef>
              <a:spcAft>
                <a:spcPts val="0"/>
              </a:spcAft>
              <a:buClr>
                <a:schemeClr val="dk1"/>
              </a:buClr>
              <a:buSzPts val="1800"/>
              <a:buFont typeface="Arial"/>
              <a:buChar char="•"/>
            </a:pPr>
            <a:r>
              <a:rPr lang="en-US" sz="1800"/>
              <a:t>It does all the communication between App, IDP and XSUAA, essentially exchange of all tokens.</a:t>
            </a:r>
            <a:endParaRPr/>
          </a:p>
          <a:p>
            <a:pPr marL="285750" lvl="0" indent="-285750" algn="l" rtl="0">
              <a:spcBef>
                <a:spcPts val="360"/>
              </a:spcBef>
              <a:spcAft>
                <a:spcPts val="0"/>
              </a:spcAft>
              <a:buClr>
                <a:schemeClr val="dk1"/>
              </a:buClr>
              <a:buSzPts val="1800"/>
              <a:buFont typeface="Arial"/>
              <a:buChar char="•"/>
            </a:pPr>
            <a:r>
              <a:rPr lang="en-US" sz="1800"/>
              <a:t>Offers one single URL for our entire app, no matter how many microservice inside your app.</a:t>
            </a:r>
            <a:endParaRPr/>
          </a:p>
          <a:p>
            <a:pPr marL="285750" lvl="0" indent="-285750" algn="l" rtl="0">
              <a:spcBef>
                <a:spcPts val="360"/>
              </a:spcBef>
              <a:spcAft>
                <a:spcPts val="0"/>
              </a:spcAft>
              <a:buClr>
                <a:schemeClr val="dk1"/>
              </a:buClr>
              <a:buSzPts val="1800"/>
              <a:buFont typeface="Arial"/>
              <a:buChar char="•"/>
            </a:pPr>
            <a:r>
              <a:rPr lang="en-US" sz="1800"/>
              <a:t>To let the app router know about microservices which we have inside our app, we create a configuration file for the app router called </a:t>
            </a:r>
            <a:r>
              <a:rPr lang="en-US" sz="1800" b="1"/>
              <a:t>xs-app.json </a:t>
            </a:r>
            <a:r>
              <a:rPr lang="en-US" sz="1800"/>
              <a:t>file.</a:t>
            </a:r>
            <a:endParaRPr/>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213"/>
        <p:cNvGrpSpPr/>
        <p:nvPr/>
      </p:nvGrpSpPr>
      <p:grpSpPr>
        <a:xfrm>
          <a:off x="0" y="0"/>
          <a:ext cx="0" cy="0"/>
          <a:chOff x="0" y="0"/>
          <a:chExt cx="0" cy="0"/>
        </a:xfrm>
      </p:grpSpPr>
      <p:sp>
        <p:nvSpPr>
          <p:cNvPr id="2214" name="Google Shape;2214;p127"/>
          <p:cNvSpPr/>
          <p:nvPr/>
        </p:nvSpPr>
        <p:spPr>
          <a:xfrm>
            <a:off x="9118748" y="2495594"/>
            <a:ext cx="3421165" cy="3885734"/>
          </a:xfrm>
          <a:prstGeom prst="rect">
            <a:avLst/>
          </a:prstGeom>
          <a:solidFill>
            <a:schemeClr val="accent5"/>
          </a:solidFill>
          <a:ln w="25400" cap="flat" cmpd="sng">
            <a:solidFill>
              <a:srgbClr val="2664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Quattrocento Sans"/>
                <a:ea typeface="Quattrocento Sans"/>
                <a:cs typeface="Quattrocento Sans"/>
                <a:sym typeface="Quattrocento Sans"/>
              </a:rPr>
              <a:t>Mycapapp multiple microservices</a:t>
            </a:r>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800" b="1">
              <a:solidFill>
                <a:schemeClr val="lt1"/>
              </a:solidFill>
              <a:latin typeface="Quattrocento Sans"/>
              <a:ea typeface="Quattrocento Sans"/>
              <a:cs typeface="Quattrocento Sans"/>
              <a:sym typeface="Quattrocento Sans"/>
            </a:endParaRPr>
          </a:p>
        </p:txBody>
      </p:sp>
      <p:sp>
        <p:nvSpPr>
          <p:cNvPr id="2215" name="Google Shape;2215;p12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Real life example of App Router</a:t>
            </a:r>
            <a:endParaRPr/>
          </a:p>
        </p:txBody>
      </p:sp>
      <p:pic>
        <p:nvPicPr>
          <p:cNvPr id="2216" name="Google Shape;2216;p127" descr="Customer - Free people icons"/>
          <p:cNvPicPr preferRelativeResize="0"/>
          <p:nvPr/>
        </p:nvPicPr>
        <p:blipFill rotWithShape="1">
          <a:blip r:embed="rId3">
            <a:alphaModFix/>
          </a:blip>
          <a:srcRect/>
          <a:stretch/>
        </p:blipFill>
        <p:spPr>
          <a:xfrm>
            <a:off x="477788" y="1196752"/>
            <a:ext cx="1142256" cy="1142256"/>
          </a:xfrm>
          <a:prstGeom prst="rect">
            <a:avLst/>
          </a:prstGeom>
          <a:noFill/>
          <a:ln>
            <a:noFill/>
          </a:ln>
        </p:spPr>
      </p:pic>
      <p:sp>
        <p:nvSpPr>
          <p:cNvPr id="2217" name="Google Shape;2217;p127"/>
          <p:cNvSpPr txBox="1"/>
          <p:nvPr/>
        </p:nvSpPr>
        <p:spPr>
          <a:xfrm>
            <a:off x="477788" y="836712"/>
            <a:ext cx="129614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Quattrocento Sans"/>
                <a:ea typeface="Quattrocento Sans"/>
                <a:cs typeface="Quattrocento Sans"/>
                <a:sym typeface="Quattrocento Sans"/>
              </a:rPr>
              <a:t>Anubhav</a:t>
            </a:r>
            <a:endParaRPr/>
          </a:p>
        </p:txBody>
      </p:sp>
      <p:pic>
        <p:nvPicPr>
          <p:cNvPr id="2218" name="Google Shape;2218;p127" descr="Bank Cashier icon in vector. Illustration 33544849 Vector Art at Vecteezy"/>
          <p:cNvPicPr preferRelativeResize="0"/>
          <p:nvPr/>
        </p:nvPicPr>
        <p:blipFill rotWithShape="1">
          <a:blip r:embed="rId4">
            <a:alphaModFix/>
          </a:blip>
          <a:srcRect/>
          <a:stretch/>
        </p:blipFill>
        <p:spPr>
          <a:xfrm>
            <a:off x="4870276" y="711081"/>
            <a:ext cx="2636912" cy="2636912"/>
          </a:xfrm>
          <a:prstGeom prst="rect">
            <a:avLst/>
          </a:prstGeom>
          <a:noFill/>
          <a:ln>
            <a:noFill/>
          </a:ln>
        </p:spPr>
      </p:pic>
      <p:cxnSp>
        <p:nvCxnSpPr>
          <p:cNvPr id="2219" name="Google Shape;2219;p127"/>
          <p:cNvCxnSpPr/>
          <p:nvPr/>
        </p:nvCxnSpPr>
        <p:spPr>
          <a:xfrm>
            <a:off x="1773932" y="1556792"/>
            <a:ext cx="3312368" cy="0"/>
          </a:xfrm>
          <a:prstGeom prst="straightConnector1">
            <a:avLst/>
          </a:prstGeom>
          <a:noFill/>
          <a:ln w="9525" cap="flat" cmpd="sng">
            <a:solidFill>
              <a:srgbClr val="FE421C"/>
            </a:solidFill>
            <a:prstDash val="solid"/>
            <a:round/>
            <a:headEnd type="none" w="sm" len="sm"/>
            <a:tailEnd type="triangle" w="med" len="med"/>
          </a:ln>
        </p:spPr>
      </p:cxnSp>
      <p:sp>
        <p:nvSpPr>
          <p:cNvPr id="2220" name="Google Shape;2220;p127"/>
          <p:cNvSpPr/>
          <p:nvPr/>
        </p:nvSpPr>
        <p:spPr>
          <a:xfrm>
            <a:off x="3070076" y="1268760"/>
            <a:ext cx="576064" cy="43204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1</a:t>
            </a:r>
            <a:endParaRPr/>
          </a:p>
        </p:txBody>
      </p:sp>
      <p:sp>
        <p:nvSpPr>
          <p:cNvPr id="2221" name="Google Shape;2221;p127"/>
          <p:cNvSpPr/>
          <p:nvPr/>
        </p:nvSpPr>
        <p:spPr>
          <a:xfrm>
            <a:off x="9334772" y="3140968"/>
            <a:ext cx="2854053" cy="576064"/>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Loan</a:t>
            </a:r>
            <a:endParaRPr/>
          </a:p>
        </p:txBody>
      </p:sp>
      <p:sp>
        <p:nvSpPr>
          <p:cNvPr id="2222" name="Google Shape;2222;p127"/>
          <p:cNvSpPr/>
          <p:nvPr/>
        </p:nvSpPr>
        <p:spPr>
          <a:xfrm>
            <a:off x="9262764" y="3789040"/>
            <a:ext cx="2929481" cy="576064"/>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FDs</a:t>
            </a:r>
            <a:endParaRPr/>
          </a:p>
        </p:txBody>
      </p:sp>
      <p:sp>
        <p:nvSpPr>
          <p:cNvPr id="2223" name="Google Shape;2223;p127"/>
          <p:cNvSpPr/>
          <p:nvPr/>
        </p:nvSpPr>
        <p:spPr>
          <a:xfrm>
            <a:off x="9262764" y="4437112"/>
            <a:ext cx="2926061" cy="576064"/>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Credit Card</a:t>
            </a:r>
            <a:endParaRPr/>
          </a:p>
        </p:txBody>
      </p:sp>
      <p:sp>
        <p:nvSpPr>
          <p:cNvPr id="2224" name="Google Shape;2224;p127"/>
          <p:cNvSpPr/>
          <p:nvPr/>
        </p:nvSpPr>
        <p:spPr>
          <a:xfrm>
            <a:off x="9334772" y="5085184"/>
            <a:ext cx="2926061" cy="576064"/>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insurance</a:t>
            </a:r>
            <a:endParaRPr/>
          </a:p>
        </p:txBody>
      </p:sp>
      <p:sp>
        <p:nvSpPr>
          <p:cNvPr id="2225" name="Google Shape;2225;p127"/>
          <p:cNvSpPr/>
          <p:nvPr/>
        </p:nvSpPr>
        <p:spPr>
          <a:xfrm>
            <a:off x="9334772" y="5733256"/>
            <a:ext cx="2926061" cy="576064"/>
          </a:xfrm>
          <a:prstGeom prst="flowChartPreparation">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Locker</a:t>
            </a:r>
            <a:endParaRPr/>
          </a:p>
        </p:txBody>
      </p:sp>
      <p:sp>
        <p:nvSpPr>
          <p:cNvPr id="2226" name="Google Shape;2226;p127"/>
          <p:cNvSpPr txBox="1"/>
          <p:nvPr/>
        </p:nvSpPr>
        <p:spPr>
          <a:xfrm>
            <a:off x="5386775" y="672271"/>
            <a:ext cx="21787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Reception</a:t>
            </a:r>
            <a:endParaRPr/>
          </a:p>
        </p:txBody>
      </p:sp>
      <p:cxnSp>
        <p:nvCxnSpPr>
          <p:cNvPr id="2227" name="Google Shape;2227;p127"/>
          <p:cNvCxnSpPr/>
          <p:nvPr/>
        </p:nvCxnSpPr>
        <p:spPr>
          <a:xfrm rot="10800000">
            <a:off x="1809936" y="1916832"/>
            <a:ext cx="3240360" cy="0"/>
          </a:xfrm>
          <a:prstGeom prst="straightConnector1">
            <a:avLst/>
          </a:prstGeom>
          <a:noFill/>
          <a:ln w="9525" cap="flat" cmpd="sng">
            <a:solidFill>
              <a:srgbClr val="FE421C"/>
            </a:solidFill>
            <a:prstDash val="solid"/>
            <a:round/>
            <a:headEnd type="none" w="sm" len="sm"/>
            <a:tailEnd type="triangle" w="med" len="med"/>
          </a:ln>
        </p:spPr>
      </p:cxnSp>
      <p:sp>
        <p:nvSpPr>
          <p:cNvPr id="2228" name="Google Shape;2228;p127"/>
          <p:cNvSpPr/>
          <p:nvPr/>
        </p:nvSpPr>
        <p:spPr>
          <a:xfrm>
            <a:off x="3695836" y="1689067"/>
            <a:ext cx="576064" cy="43204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2</a:t>
            </a:r>
            <a:endParaRPr/>
          </a:p>
        </p:txBody>
      </p:sp>
      <p:pic>
        <p:nvPicPr>
          <p:cNvPr id="2229" name="Google Shape;2229;p127" descr="Image of HDFC Bank ATM Machine Withdrawing Cash, Bank Account Information  Transaction Transfer-DK032117-Picxy"/>
          <p:cNvPicPr preferRelativeResize="0"/>
          <p:nvPr/>
        </p:nvPicPr>
        <p:blipFill rotWithShape="1">
          <a:blip r:embed="rId5">
            <a:alphaModFix/>
          </a:blip>
          <a:srcRect/>
          <a:stretch/>
        </p:blipFill>
        <p:spPr>
          <a:xfrm>
            <a:off x="217008" y="3347993"/>
            <a:ext cx="1592928" cy="1941676"/>
          </a:xfrm>
          <a:prstGeom prst="rect">
            <a:avLst/>
          </a:prstGeom>
          <a:noFill/>
          <a:ln>
            <a:noFill/>
          </a:ln>
        </p:spPr>
      </p:pic>
      <p:cxnSp>
        <p:nvCxnSpPr>
          <p:cNvPr id="2230" name="Google Shape;2230;p127"/>
          <p:cNvCxnSpPr/>
          <p:nvPr/>
        </p:nvCxnSpPr>
        <p:spPr>
          <a:xfrm>
            <a:off x="671500" y="2420888"/>
            <a:ext cx="0" cy="927105"/>
          </a:xfrm>
          <a:prstGeom prst="straightConnector1">
            <a:avLst/>
          </a:prstGeom>
          <a:noFill/>
          <a:ln w="9525" cap="flat" cmpd="sng">
            <a:solidFill>
              <a:srgbClr val="FE421C"/>
            </a:solidFill>
            <a:prstDash val="solid"/>
            <a:round/>
            <a:headEnd type="none" w="sm" len="sm"/>
            <a:tailEnd type="triangle" w="med" len="med"/>
          </a:ln>
        </p:spPr>
      </p:cxnSp>
      <p:sp>
        <p:nvSpPr>
          <p:cNvPr id="2231" name="Google Shape;2231;p127"/>
          <p:cNvSpPr/>
          <p:nvPr/>
        </p:nvSpPr>
        <p:spPr>
          <a:xfrm>
            <a:off x="383468" y="2610509"/>
            <a:ext cx="576064" cy="43204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3</a:t>
            </a:r>
            <a:endParaRPr/>
          </a:p>
        </p:txBody>
      </p:sp>
      <p:sp>
        <p:nvSpPr>
          <p:cNvPr id="2232" name="Google Shape;2232;p127"/>
          <p:cNvSpPr/>
          <p:nvPr/>
        </p:nvSpPr>
        <p:spPr>
          <a:xfrm>
            <a:off x="121668" y="6093297"/>
            <a:ext cx="2520278" cy="432046"/>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a:t>
            </a:r>
            <a:endParaRPr/>
          </a:p>
        </p:txBody>
      </p:sp>
      <p:cxnSp>
        <p:nvCxnSpPr>
          <p:cNvPr id="2233" name="Google Shape;2233;p127"/>
          <p:cNvCxnSpPr/>
          <p:nvPr/>
        </p:nvCxnSpPr>
        <p:spPr>
          <a:xfrm>
            <a:off x="671500" y="5289669"/>
            <a:ext cx="0" cy="803628"/>
          </a:xfrm>
          <a:prstGeom prst="straightConnector1">
            <a:avLst/>
          </a:prstGeom>
          <a:noFill/>
          <a:ln w="9525" cap="flat" cmpd="sng">
            <a:solidFill>
              <a:srgbClr val="FE421C"/>
            </a:solidFill>
            <a:prstDash val="solid"/>
            <a:round/>
            <a:headEnd type="none" w="sm" len="sm"/>
            <a:tailEnd type="triangle" w="med" len="med"/>
          </a:ln>
        </p:spPr>
      </p:cxnSp>
      <p:sp>
        <p:nvSpPr>
          <p:cNvPr id="2234" name="Google Shape;2234;p127"/>
          <p:cNvSpPr/>
          <p:nvPr/>
        </p:nvSpPr>
        <p:spPr>
          <a:xfrm>
            <a:off x="95436" y="5475459"/>
            <a:ext cx="576064" cy="43204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4</a:t>
            </a:r>
            <a:endParaRPr/>
          </a:p>
        </p:txBody>
      </p:sp>
      <p:cxnSp>
        <p:nvCxnSpPr>
          <p:cNvPr id="2235" name="Google Shape;2235;p127"/>
          <p:cNvCxnSpPr/>
          <p:nvPr/>
        </p:nvCxnSpPr>
        <p:spPr>
          <a:xfrm rot="10800000">
            <a:off x="1269876" y="5289669"/>
            <a:ext cx="0" cy="731619"/>
          </a:xfrm>
          <a:prstGeom prst="straightConnector1">
            <a:avLst/>
          </a:prstGeom>
          <a:noFill/>
          <a:ln w="9525" cap="flat" cmpd="sng">
            <a:solidFill>
              <a:srgbClr val="FE421C"/>
            </a:solidFill>
            <a:prstDash val="solid"/>
            <a:round/>
            <a:headEnd type="none" w="sm" len="sm"/>
            <a:tailEnd type="triangle" w="med" len="med"/>
          </a:ln>
        </p:spPr>
      </p:cxnSp>
      <p:cxnSp>
        <p:nvCxnSpPr>
          <p:cNvPr id="2236" name="Google Shape;2236;p127"/>
          <p:cNvCxnSpPr/>
          <p:nvPr/>
        </p:nvCxnSpPr>
        <p:spPr>
          <a:xfrm rot="10800000">
            <a:off x="1246593" y="2420888"/>
            <a:ext cx="0" cy="927105"/>
          </a:xfrm>
          <a:prstGeom prst="straightConnector1">
            <a:avLst/>
          </a:prstGeom>
          <a:noFill/>
          <a:ln w="9525" cap="flat" cmpd="sng">
            <a:solidFill>
              <a:srgbClr val="FE421C"/>
            </a:solidFill>
            <a:prstDash val="solid"/>
            <a:round/>
            <a:headEnd type="none" w="sm" len="sm"/>
            <a:tailEnd type="triangle" w="med" len="med"/>
          </a:ln>
        </p:spPr>
      </p:cxnSp>
      <p:sp>
        <p:nvSpPr>
          <p:cNvPr id="2237" name="Google Shape;2237;p127"/>
          <p:cNvSpPr/>
          <p:nvPr/>
        </p:nvSpPr>
        <p:spPr>
          <a:xfrm>
            <a:off x="1093775" y="2658981"/>
            <a:ext cx="576064" cy="43204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4</a:t>
            </a:r>
            <a:endParaRPr/>
          </a:p>
        </p:txBody>
      </p:sp>
      <p:pic>
        <p:nvPicPr>
          <p:cNvPr id="2238" name="Google Shape;2238;p127" descr="I am waiting from last 30 minutes for deposit cash in SBI Bank Durgapura  branch jaipur. I am attaching token also that mentioned timing at 2:31 but  up to 3o clock I"/>
          <p:cNvPicPr preferRelativeResize="0"/>
          <p:nvPr/>
        </p:nvPicPr>
        <p:blipFill rotWithShape="1">
          <a:blip r:embed="rId6">
            <a:alphaModFix/>
          </a:blip>
          <a:srcRect l="17801" t="26337" r="13676" b="10368"/>
          <a:stretch/>
        </p:blipFill>
        <p:spPr>
          <a:xfrm>
            <a:off x="1533655" y="2495594"/>
            <a:ext cx="598378" cy="736957"/>
          </a:xfrm>
          <a:prstGeom prst="rect">
            <a:avLst/>
          </a:prstGeom>
          <a:noFill/>
          <a:ln>
            <a:noFill/>
          </a:ln>
        </p:spPr>
      </p:pic>
      <p:cxnSp>
        <p:nvCxnSpPr>
          <p:cNvPr id="2239" name="Google Shape;2239;p127"/>
          <p:cNvCxnSpPr/>
          <p:nvPr/>
        </p:nvCxnSpPr>
        <p:spPr>
          <a:xfrm>
            <a:off x="1917948" y="2204864"/>
            <a:ext cx="3168352" cy="0"/>
          </a:xfrm>
          <a:prstGeom prst="straightConnector1">
            <a:avLst/>
          </a:prstGeom>
          <a:noFill/>
          <a:ln w="9525" cap="flat" cmpd="sng">
            <a:solidFill>
              <a:srgbClr val="FE421C"/>
            </a:solidFill>
            <a:prstDash val="solid"/>
            <a:round/>
            <a:headEnd type="none" w="sm" len="sm"/>
            <a:tailEnd type="triangle" w="med" len="med"/>
          </a:ln>
        </p:spPr>
      </p:cxnSp>
      <p:pic>
        <p:nvPicPr>
          <p:cNvPr id="2240" name="Google Shape;2240;p127" descr="I am waiting from last 30 minutes for deposit cash in SBI Bank Durgapura  branch jaipur. I am attaching token also that mentioned timing at 2:31 but  up to 3o clock I"/>
          <p:cNvPicPr preferRelativeResize="0"/>
          <p:nvPr/>
        </p:nvPicPr>
        <p:blipFill rotWithShape="1">
          <a:blip r:embed="rId7">
            <a:alphaModFix/>
          </a:blip>
          <a:srcRect l="17801" t="26337" r="13676" b="10368"/>
          <a:stretch/>
        </p:blipFill>
        <p:spPr>
          <a:xfrm>
            <a:off x="3172784" y="2090241"/>
            <a:ext cx="403976" cy="497533"/>
          </a:xfrm>
          <a:prstGeom prst="rect">
            <a:avLst/>
          </a:prstGeom>
          <a:noFill/>
          <a:ln>
            <a:noFill/>
          </a:ln>
        </p:spPr>
      </p:pic>
      <p:sp>
        <p:nvSpPr>
          <p:cNvPr id="2241" name="Google Shape;2241;p127"/>
          <p:cNvSpPr/>
          <p:nvPr/>
        </p:nvSpPr>
        <p:spPr>
          <a:xfrm>
            <a:off x="3995024" y="2090241"/>
            <a:ext cx="576064" cy="43204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3</a:t>
            </a:r>
            <a:endParaRPr/>
          </a:p>
        </p:txBody>
      </p:sp>
      <p:cxnSp>
        <p:nvCxnSpPr>
          <p:cNvPr id="2242" name="Google Shape;2242;p127"/>
          <p:cNvCxnSpPr>
            <a:stCxn id="2218" idx="2"/>
          </p:cNvCxnSpPr>
          <p:nvPr/>
        </p:nvCxnSpPr>
        <p:spPr>
          <a:xfrm rot="5400000">
            <a:off x="3328682" y="1937243"/>
            <a:ext cx="1449300" cy="4270800"/>
          </a:xfrm>
          <a:prstGeom prst="bentConnector2">
            <a:avLst/>
          </a:prstGeom>
          <a:noFill/>
          <a:ln w="9525" cap="flat" cmpd="sng">
            <a:solidFill>
              <a:srgbClr val="FE421C"/>
            </a:solidFill>
            <a:prstDash val="solid"/>
            <a:round/>
            <a:headEnd type="triangle" w="med" len="med"/>
            <a:tailEnd type="triangle" w="med" len="med"/>
          </a:ln>
        </p:spPr>
      </p:cxnSp>
      <p:sp>
        <p:nvSpPr>
          <p:cNvPr id="2243" name="Google Shape;2243;p127"/>
          <p:cNvSpPr/>
          <p:nvPr/>
        </p:nvSpPr>
        <p:spPr>
          <a:xfrm>
            <a:off x="5050296" y="4581129"/>
            <a:ext cx="576064" cy="43204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4</a:t>
            </a:r>
            <a:endParaRPr/>
          </a:p>
        </p:txBody>
      </p:sp>
      <p:cxnSp>
        <p:nvCxnSpPr>
          <p:cNvPr id="2244" name="Google Shape;2244;p127"/>
          <p:cNvCxnSpPr/>
          <p:nvPr/>
        </p:nvCxnSpPr>
        <p:spPr>
          <a:xfrm rot="-5400000" flipH="1">
            <a:off x="6737993" y="3405100"/>
            <a:ext cx="2673300" cy="2520300"/>
          </a:xfrm>
          <a:prstGeom prst="bentConnector2">
            <a:avLst/>
          </a:prstGeom>
          <a:noFill/>
          <a:ln w="9525" cap="flat" cmpd="sng">
            <a:solidFill>
              <a:srgbClr val="FE421C"/>
            </a:solidFill>
            <a:prstDash val="solid"/>
            <a:round/>
            <a:headEnd type="none" w="sm" len="sm"/>
            <a:tailEnd type="triangle" w="med" len="med"/>
          </a:ln>
        </p:spPr>
      </p:cxnSp>
      <p:sp>
        <p:nvSpPr>
          <p:cNvPr id="2245" name="Google Shape;2245;p127"/>
          <p:cNvSpPr/>
          <p:nvPr/>
        </p:nvSpPr>
        <p:spPr>
          <a:xfrm>
            <a:off x="7674671" y="5783982"/>
            <a:ext cx="576064" cy="432048"/>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5</a:t>
            </a:r>
            <a:endParaRPr/>
          </a:p>
        </p:txBody>
      </p:sp>
      <p:sp>
        <p:nvSpPr>
          <p:cNvPr id="2246" name="Google Shape;2246;p127"/>
          <p:cNvSpPr txBox="1"/>
          <p:nvPr/>
        </p:nvSpPr>
        <p:spPr>
          <a:xfrm>
            <a:off x="7318548" y="642065"/>
            <a:ext cx="21787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Quattrocento Sans"/>
                <a:ea typeface="Quattrocento Sans"/>
                <a:cs typeface="Quattrocento Sans"/>
                <a:sym typeface="Quattrocento Sans"/>
              </a:rPr>
              <a:t>App Router</a:t>
            </a:r>
            <a:endParaRPr/>
          </a:p>
        </p:txBody>
      </p:sp>
      <p:sp>
        <p:nvSpPr>
          <p:cNvPr id="2247" name="Google Shape;2247;p127"/>
          <p:cNvSpPr txBox="1"/>
          <p:nvPr/>
        </p:nvSpPr>
        <p:spPr>
          <a:xfrm>
            <a:off x="7318548" y="1133936"/>
            <a:ext cx="4176464"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Single entry point to access all the services of the app. Façade layer. It redirect user to correct services. App router uses a file </a:t>
            </a:r>
            <a:r>
              <a:rPr lang="en-US" sz="1400" b="1">
                <a:solidFill>
                  <a:schemeClr val="dk1"/>
                </a:solidFill>
                <a:latin typeface="Quattrocento Sans"/>
                <a:ea typeface="Quattrocento Sans"/>
                <a:cs typeface="Quattrocento Sans"/>
                <a:sym typeface="Quattrocento Sans"/>
              </a:rPr>
              <a:t>xs-app.json</a:t>
            </a:r>
            <a:r>
              <a:rPr lang="en-US" sz="1400">
                <a:solidFill>
                  <a:schemeClr val="dk1"/>
                </a:solidFill>
                <a:latin typeface="Quattrocento Sans"/>
                <a:ea typeface="Quattrocento Sans"/>
                <a:cs typeface="Quattrocento Sans"/>
                <a:sym typeface="Quattrocento Sans"/>
              </a:rPr>
              <a:t> to know all the services of our app.</a:t>
            </a:r>
            <a:endParaRPr/>
          </a:p>
        </p:txBody>
      </p:sp>
      <p:sp>
        <p:nvSpPr>
          <p:cNvPr id="2248" name="Google Shape;2248;p127"/>
          <p:cNvSpPr txBox="1"/>
          <p:nvPr/>
        </p:nvSpPr>
        <p:spPr>
          <a:xfrm>
            <a:off x="1816295" y="3557250"/>
            <a:ext cx="2178729"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Quattrocento Sans"/>
                <a:ea typeface="Quattrocento Sans"/>
                <a:cs typeface="Quattrocento Sans"/>
                <a:sym typeface="Quattrocento Sans"/>
              </a:rPr>
              <a:t>XSUAA</a:t>
            </a:r>
            <a:endParaRPr/>
          </a:p>
          <a:p>
            <a:pPr marL="0" marR="0" lvl="0" indent="0" algn="l" rtl="0">
              <a:spcBef>
                <a:spcPts val="0"/>
              </a:spcBef>
              <a:spcAft>
                <a:spcPts val="0"/>
              </a:spcAft>
              <a:buNone/>
            </a:pPr>
            <a:r>
              <a:rPr lang="en-US" sz="1400" b="1">
                <a:solidFill>
                  <a:srgbClr val="FF0000"/>
                </a:solidFill>
                <a:latin typeface="Quattrocento Sans"/>
                <a:ea typeface="Quattrocento Sans"/>
                <a:cs typeface="Quattrocento Sans"/>
                <a:sym typeface="Quattrocento Sans"/>
              </a:rPr>
              <a:t>Make sure that user is authenticated and authorizations</a:t>
            </a:r>
            <a:endParaRPr/>
          </a:p>
        </p:txBody>
      </p:sp>
      <p:sp>
        <p:nvSpPr>
          <p:cNvPr id="2249" name="Google Shape;2249;p127"/>
          <p:cNvSpPr txBox="1"/>
          <p:nvPr/>
        </p:nvSpPr>
        <p:spPr>
          <a:xfrm>
            <a:off x="2612253" y="5769754"/>
            <a:ext cx="2178729" cy="8925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Quattrocento Sans"/>
                <a:ea typeface="Quattrocento Sans"/>
                <a:cs typeface="Quattrocento Sans"/>
                <a:sym typeface="Quattrocento Sans"/>
              </a:rPr>
              <a:t>IdP</a:t>
            </a:r>
            <a:endParaRPr/>
          </a:p>
          <a:p>
            <a:pPr marL="0" marR="0" lvl="0" indent="0" algn="l" rtl="0">
              <a:spcBef>
                <a:spcPts val="0"/>
              </a:spcBef>
              <a:spcAft>
                <a:spcPts val="0"/>
              </a:spcAft>
              <a:buNone/>
            </a:pPr>
            <a:r>
              <a:rPr lang="en-US" sz="1400" b="1">
                <a:solidFill>
                  <a:srgbClr val="FF0000"/>
                </a:solidFill>
                <a:latin typeface="Quattrocento Sans"/>
                <a:ea typeface="Quattrocento Sans"/>
                <a:cs typeface="Quattrocento Sans"/>
                <a:sym typeface="Quattrocento Sans"/>
              </a:rPr>
              <a:t>Ask user to prove their identity</a:t>
            </a:r>
            <a:endParaRPr/>
          </a:p>
        </p:txBody>
      </p:sp>
      <p:sp>
        <p:nvSpPr>
          <p:cNvPr id="2250" name="Google Shape;2250;p127"/>
          <p:cNvSpPr txBox="1"/>
          <p:nvPr/>
        </p:nvSpPr>
        <p:spPr>
          <a:xfrm>
            <a:off x="1125860" y="5475459"/>
            <a:ext cx="14863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SAML</a:t>
            </a:r>
            <a:endParaRPr/>
          </a:p>
        </p:txBody>
      </p:sp>
      <p:sp>
        <p:nvSpPr>
          <p:cNvPr id="2251" name="Google Shape;2251;p127"/>
          <p:cNvSpPr txBox="1"/>
          <p:nvPr/>
        </p:nvSpPr>
        <p:spPr>
          <a:xfrm>
            <a:off x="1773932" y="2828748"/>
            <a:ext cx="14863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JWT</a:t>
            </a:r>
            <a:endParaRPr/>
          </a:p>
        </p:txBody>
      </p:sp>
      <p:sp>
        <p:nvSpPr>
          <p:cNvPr id="2252" name="Google Shape;2252;p127"/>
          <p:cNvSpPr txBox="1"/>
          <p:nvPr/>
        </p:nvSpPr>
        <p:spPr>
          <a:xfrm>
            <a:off x="2874313" y="2153691"/>
            <a:ext cx="14863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JWT</a:t>
            </a:r>
            <a:endParaRPr/>
          </a:p>
        </p:txBody>
      </p:sp>
      <p:sp>
        <p:nvSpPr>
          <p:cNvPr id="2253" name="Google Shape;2253;p127"/>
          <p:cNvSpPr txBox="1"/>
          <p:nvPr/>
        </p:nvSpPr>
        <p:spPr>
          <a:xfrm>
            <a:off x="4406576" y="4939106"/>
            <a:ext cx="2178729"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Quattrocento Sans"/>
                <a:ea typeface="Quattrocento Sans"/>
                <a:cs typeface="Quattrocento Sans"/>
                <a:sym typeface="Quattrocento Sans"/>
              </a:rPr>
              <a:t>Auth service</a:t>
            </a:r>
            <a:endParaRPr/>
          </a:p>
          <a:p>
            <a:pPr marL="0" marR="0" lvl="0" indent="0" algn="l" rtl="0">
              <a:spcBef>
                <a:spcPts val="0"/>
              </a:spcBef>
              <a:spcAft>
                <a:spcPts val="0"/>
              </a:spcAft>
              <a:buNone/>
            </a:pPr>
            <a:r>
              <a:rPr lang="en-US" sz="1100" b="1">
                <a:solidFill>
                  <a:srgbClr val="FF0000"/>
                </a:solidFill>
                <a:latin typeface="Quattrocento Sans"/>
                <a:ea typeface="Quattrocento Sans"/>
                <a:cs typeface="Quattrocento Sans"/>
                <a:sym typeface="Quattrocento Sans"/>
              </a:rPr>
              <a:t>Xsuaa service to verify JWT token</a:t>
            </a:r>
            <a:endParaRPr/>
          </a:p>
        </p:txBody>
      </p:sp>
      <p:sp>
        <p:nvSpPr>
          <p:cNvPr id="2254" name="Google Shape;2254;p127"/>
          <p:cNvSpPr txBox="1"/>
          <p:nvPr/>
        </p:nvSpPr>
        <p:spPr>
          <a:xfrm>
            <a:off x="6877256" y="5121516"/>
            <a:ext cx="217872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Quattrocento Sans"/>
                <a:ea typeface="Quattrocento Sans"/>
                <a:cs typeface="Quattrocento Sans"/>
                <a:sym typeface="Quattrocento Sans"/>
              </a:rPr>
              <a:t>Redirect to </a:t>
            </a:r>
            <a:endParaRPr/>
          </a:p>
          <a:p>
            <a:pPr marL="0" marR="0" lvl="0" indent="0" algn="l" rtl="0">
              <a:spcBef>
                <a:spcPts val="0"/>
              </a:spcBef>
              <a:spcAft>
                <a:spcPts val="0"/>
              </a:spcAft>
              <a:buNone/>
            </a:pPr>
            <a:r>
              <a:rPr lang="en-US" sz="1800" b="1">
                <a:solidFill>
                  <a:srgbClr val="FF0000"/>
                </a:solidFill>
                <a:latin typeface="Quattrocento Sans"/>
                <a:ea typeface="Quattrocento Sans"/>
                <a:cs typeface="Quattrocento Sans"/>
                <a:sym typeface="Quattrocento Sans"/>
              </a:rPr>
              <a:t>Access service</a:t>
            </a:r>
            <a:endParaRPr sz="11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Implementing App Router</a:t>
            </a:r>
            <a:endParaRPr/>
          </a:p>
        </p:txBody>
      </p:sp>
      <p:sp>
        <p:nvSpPr>
          <p:cNvPr id="2261" name="Google Shape;2261;p128"/>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Navigate to the app directory (app router is implemented with ui module) – </a:t>
            </a:r>
            <a:r>
              <a:rPr lang="en-US" sz="1800" b="1"/>
              <a:t>cd mycapapp/app</a:t>
            </a:r>
            <a:endParaRPr/>
          </a:p>
          <a:p>
            <a:pPr marL="285750" lvl="0" indent="-285750" algn="l" rtl="0">
              <a:spcBef>
                <a:spcPts val="360"/>
              </a:spcBef>
              <a:spcAft>
                <a:spcPts val="0"/>
              </a:spcAft>
              <a:buClr>
                <a:schemeClr val="dk1"/>
              </a:buClr>
              <a:buSzPts val="1800"/>
              <a:buFont typeface="Arial"/>
              <a:buChar char="•"/>
            </a:pPr>
            <a:r>
              <a:rPr lang="en-US" sz="1800"/>
              <a:t>Initialize node application because app router is a node app – </a:t>
            </a:r>
            <a:r>
              <a:rPr lang="en-US" sz="1800" b="1"/>
              <a:t>npm init</a:t>
            </a:r>
            <a:endParaRPr sz="1800" b="1"/>
          </a:p>
          <a:p>
            <a:pPr marL="285750" lvl="0" indent="-285750" algn="l" rtl="0">
              <a:spcBef>
                <a:spcPts val="360"/>
              </a:spcBef>
              <a:spcAft>
                <a:spcPts val="0"/>
              </a:spcAft>
              <a:buClr>
                <a:schemeClr val="dk1"/>
              </a:buClr>
              <a:buSzPts val="1800"/>
              <a:buFont typeface="Arial"/>
              <a:buChar char="•"/>
            </a:pPr>
            <a:r>
              <a:rPr lang="en-US" sz="1800"/>
              <a:t>Bring the standard SAP approuter module as part of dependency of this app- </a:t>
            </a:r>
            <a:r>
              <a:rPr lang="en-US" sz="1800" b="1"/>
              <a:t>npm install @sap/approuter</a:t>
            </a:r>
            <a:endParaRPr/>
          </a:p>
          <a:p>
            <a:pPr marL="285750" lvl="0" indent="-285750" algn="l" rtl="0">
              <a:spcBef>
                <a:spcPts val="360"/>
              </a:spcBef>
              <a:spcAft>
                <a:spcPts val="0"/>
              </a:spcAft>
              <a:buClr>
                <a:schemeClr val="dk1"/>
              </a:buClr>
              <a:buSzPts val="1800"/>
              <a:buFont typeface="Arial"/>
              <a:buChar char="•"/>
            </a:pPr>
            <a:r>
              <a:rPr lang="en-US" sz="1800"/>
              <a:t>When we deploy this app to cloud, the approuter should start automatically – “</a:t>
            </a:r>
            <a:r>
              <a:rPr lang="en-US" sz="1800" b="1"/>
              <a:t>start</a:t>
            </a:r>
            <a:r>
              <a:rPr lang="en-US" sz="1800"/>
              <a:t>” in the </a:t>
            </a:r>
            <a:r>
              <a:rPr lang="en-US" sz="1800" b="1"/>
              <a:t>app/package.json</a:t>
            </a:r>
            <a:endParaRPr sz="1800" b="1"/>
          </a:p>
          <a:p>
            <a:pPr marL="285750" lvl="0" indent="-285750" algn="l" rtl="0">
              <a:spcBef>
                <a:spcPts val="360"/>
              </a:spcBef>
              <a:spcAft>
                <a:spcPts val="0"/>
              </a:spcAft>
              <a:buClr>
                <a:schemeClr val="dk1"/>
              </a:buClr>
              <a:buSzPts val="1800"/>
              <a:buFont typeface="Arial"/>
              <a:buChar char="•"/>
            </a:pPr>
            <a:r>
              <a:rPr lang="en-US" sz="1800"/>
              <a:t>Tell the approuter about the microservice which we will have inside our app – </a:t>
            </a:r>
            <a:r>
              <a:rPr lang="en-US" sz="1800" b="1"/>
              <a:t>touch xs-app.json</a:t>
            </a:r>
            <a:endParaRPr sz="1800"/>
          </a:p>
          <a:p>
            <a:pPr marL="285750" lvl="0" indent="-285750" algn="l" rtl="0">
              <a:spcBef>
                <a:spcPts val="360"/>
              </a:spcBef>
              <a:spcAft>
                <a:spcPts val="0"/>
              </a:spcAft>
              <a:buClr>
                <a:schemeClr val="dk1"/>
              </a:buClr>
              <a:buSzPts val="1800"/>
              <a:buFont typeface="Arial"/>
              <a:buChar char="•"/>
            </a:pPr>
            <a:r>
              <a:rPr lang="en-US" sz="1800"/>
              <a:t>Documentation for xs-app.json is </a:t>
            </a:r>
            <a:r>
              <a:rPr lang="en-US" sz="1800" u="sng">
                <a:solidFill>
                  <a:schemeClr val="hlink"/>
                </a:solidFill>
                <a:hlinkClick r:id="rId3"/>
              </a:rPr>
              <a:t>here</a:t>
            </a:r>
            <a:endParaRPr sz="1800"/>
          </a:p>
          <a:p>
            <a:pPr marL="285750" lvl="0" indent="-285750" algn="l" rtl="0">
              <a:spcBef>
                <a:spcPts val="360"/>
              </a:spcBef>
              <a:spcAft>
                <a:spcPts val="0"/>
              </a:spcAft>
              <a:buClr>
                <a:schemeClr val="dk1"/>
              </a:buClr>
              <a:buSzPts val="1800"/>
              <a:buFont typeface="Arial"/>
              <a:buChar char="•"/>
            </a:pPr>
            <a:r>
              <a:rPr lang="en-US" sz="1800"/>
              <a:t>Add the configuration for mta.yaml file to deploy our approuter with ui module, you can use </a:t>
            </a:r>
            <a:r>
              <a:rPr lang="en-US" sz="1800" b="1"/>
              <a:t>cds up</a:t>
            </a:r>
            <a:r>
              <a:rPr lang="en-US" sz="1800"/>
              <a:t> command to package and deploy</a:t>
            </a:r>
            <a:endParaRPr/>
          </a:p>
          <a:p>
            <a:pPr marL="285750" lvl="0" indent="-171450" algn="l" rtl="0">
              <a:spcBef>
                <a:spcPts val="360"/>
              </a:spcBef>
              <a:spcAft>
                <a:spcPts val="0"/>
              </a:spcAft>
              <a:buClr>
                <a:schemeClr val="dk1"/>
              </a:buClr>
              <a:buSzPts val="1800"/>
              <a:buFont typeface="Arial"/>
              <a:buNone/>
            </a:pPr>
            <a:endParaRPr sz="1800"/>
          </a:p>
        </p:txBody>
      </p:sp>
      <p:sp>
        <p:nvSpPr>
          <p:cNvPr id="2262" name="Google Shape;2262;p128"/>
          <p:cNvSpPr txBox="1"/>
          <p:nvPr/>
        </p:nvSpPr>
        <p:spPr>
          <a:xfrm>
            <a:off x="549796" y="3501008"/>
            <a:ext cx="6408711" cy="3491597"/>
          </a:xfrm>
          <a:prstGeom prst="rect">
            <a:avLst/>
          </a:prstGeom>
          <a:solidFill>
            <a:schemeClr val="dk1"/>
          </a:solidFill>
          <a:ln>
            <a:noFill/>
          </a:ln>
        </p:spPr>
        <p:txBody>
          <a:bodyPr spcFirstLastPara="1" wrap="square" lIns="91425" tIns="45700" rIns="91425" bIns="45700" anchor="t" anchorCtr="0">
            <a:spAutoFit/>
          </a:bodyPr>
          <a:lstStyle/>
          <a:p>
            <a:pPr marL="0" marR="0" lvl="0" indent="0" algn="l" rtl="0">
              <a:lnSpc>
                <a:spcPct val="142500"/>
              </a:lnSpc>
              <a:spcBef>
                <a:spcPts val="0"/>
              </a:spcBef>
              <a:spcAft>
                <a:spcPts val="0"/>
              </a:spcAft>
              <a:buClr>
                <a:srgbClr val="6A9955"/>
              </a:buClr>
              <a:buSzPts val="1000"/>
              <a:buFont typeface="Consolas"/>
              <a:buNone/>
            </a:pPr>
            <a:r>
              <a:rPr lang="en-US" sz="1000" b="0">
                <a:solidFill>
                  <a:srgbClr val="6A9955"/>
                </a:solidFill>
                <a:latin typeface="Consolas"/>
                <a:ea typeface="Consolas"/>
                <a:cs typeface="Consolas"/>
                <a:sym typeface="Consolas"/>
              </a:rPr>
              <a:t>##this is our UI module added = fioriui+approuter</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 </a:t>
            </a:r>
            <a:r>
              <a:rPr lang="en-US" sz="1000" b="0">
                <a:solidFill>
                  <a:srgbClr val="569CD6"/>
                </a:solidFill>
                <a:latin typeface="Consolas"/>
                <a:ea typeface="Consolas"/>
                <a:cs typeface="Consolas"/>
                <a:sym typeface="Consolas"/>
              </a:rPr>
              <a:t>name</a:t>
            </a:r>
            <a:r>
              <a:rPr lang="en-US" sz="1000" b="0">
                <a:solidFill>
                  <a:srgbClr val="D4D4D4"/>
                </a:solidFill>
                <a:latin typeface="Consolas"/>
                <a:ea typeface="Consolas"/>
                <a:cs typeface="Consolas"/>
                <a:sym typeface="Consolas"/>
              </a:rPr>
              <a:t>: </a:t>
            </a:r>
            <a:r>
              <a:rPr lang="en-US" sz="1000" b="0">
                <a:solidFill>
                  <a:srgbClr val="CE9178"/>
                </a:solidFill>
                <a:latin typeface="Consolas"/>
                <a:ea typeface="Consolas"/>
                <a:cs typeface="Consolas"/>
                <a:sym typeface="Consolas"/>
              </a:rPr>
              <a:t>mycapapp-ui</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type</a:t>
            </a:r>
            <a:r>
              <a:rPr lang="en-US" sz="1000" b="0">
                <a:solidFill>
                  <a:srgbClr val="D4D4D4"/>
                </a:solidFill>
                <a:latin typeface="Consolas"/>
                <a:ea typeface="Consolas"/>
                <a:cs typeface="Consolas"/>
                <a:sym typeface="Consolas"/>
              </a:rPr>
              <a:t>: </a:t>
            </a:r>
            <a:r>
              <a:rPr lang="en-US" sz="1000" b="0">
                <a:solidFill>
                  <a:srgbClr val="CE9178"/>
                </a:solidFill>
                <a:latin typeface="Consolas"/>
                <a:ea typeface="Consolas"/>
                <a:cs typeface="Consolas"/>
                <a:sym typeface="Consolas"/>
              </a:rPr>
              <a:t>nodejs</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path</a:t>
            </a:r>
            <a:r>
              <a:rPr lang="en-US" sz="1000" b="0">
                <a:solidFill>
                  <a:srgbClr val="D4D4D4"/>
                </a:solidFill>
                <a:latin typeface="Consolas"/>
                <a:ea typeface="Consolas"/>
                <a:cs typeface="Consolas"/>
                <a:sym typeface="Consolas"/>
              </a:rPr>
              <a:t>: </a:t>
            </a:r>
            <a:r>
              <a:rPr lang="en-US" sz="1000" b="0">
                <a:solidFill>
                  <a:srgbClr val="CE9178"/>
                </a:solidFill>
                <a:latin typeface="Consolas"/>
                <a:ea typeface="Consolas"/>
                <a:cs typeface="Consolas"/>
                <a:sym typeface="Consolas"/>
              </a:rPr>
              <a:t>app</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parameters</a:t>
            </a:r>
            <a:r>
              <a:rPr lang="en-US" sz="1000" b="0">
                <a:solidFill>
                  <a:srgbClr val="D4D4D4"/>
                </a:solidFill>
                <a:latin typeface="Consolas"/>
                <a:ea typeface="Consolas"/>
                <a:cs typeface="Consolas"/>
                <a:sym typeface="Consolas"/>
              </a:rPr>
              <a:t>:</a:t>
            </a:r>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instances</a:t>
            </a:r>
            <a:r>
              <a:rPr lang="en-US" sz="1000" b="0">
                <a:solidFill>
                  <a:srgbClr val="D4D4D4"/>
                </a:solidFill>
                <a:latin typeface="Consolas"/>
                <a:ea typeface="Consolas"/>
                <a:cs typeface="Consolas"/>
                <a:sym typeface="Consolas"/>
              </a:rPr>
              <a:t>: </a:t>
            </a:r>
            <a:r>
              <a:rPr lang="en-US" sz="1000" b="0">
                <a:solidFill>
                  <a:srgbClr val="B5CEA8"/>
                </a:solidFill>
                <a:latin typeface="Consolas"/>
                <a:ea typeface="Consolas"/>
                <a:cs typeface="Consolas"/>
                <a:sym typeface="Consolas"/>
              </a:rPr>
              <a:t>1</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buildpack</a:t>
            </a:r>
            <a:r>
              <a:rPr lang="en-US" sz="1000" b="0">
                <a:solidFill>
                  <a:srgbClr val="D4D4D4"/>
                </a:solidFill>
                <a:latin typeface="Consolas"/>
                <a:ea typeface="Consolas"/>
                <a:cs typeface="Consolas"/>
                <a:sym typeface="Consolas"/>
              </a:rPr>
              <a:t>: </a:t>
            </a:r>
            <a:r>
              <a:rPr lang="en-US" sz="1000" b="0">
                <a:solidFill>
                  <a:srgbClr val="CE9178"/>
                </a:solidFill>
                <a:latin typeface="Consolas"/>
                <a:ea typeface="Consolas"/>
                <a:cs typeface="Consolas"/>
                <a:sym typeface="Consolas"/>
              </a:rPr>
              <a:t>nodejs_buildpack</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build-parameters</a:t>
            </a:r>
            <a:r>
              <a:rPr lang="en-US" sz="1000" b="0">
                <a:solidFill>
                  <a:srgbClr val="D4D4D4"/>
                </a:solidFill>
                <a:latin typeface="Consolas"/>
                <a:ea typeface="Consolas"/>
                <a:cs typeface="Consolas"/>
                <a:sym typeface="Consolas"/>
              </a:rPr>
              <a:t>:</a:t>
            </a:r>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builder</a:t>
            </a:r>
            <a:r>
              <a:rPr lang="en-US" sz="1000" b="0">
                <a:solidFill>
                  <a:srgbClr val="D4D4D4"/>
                </a:solidFill>
                <a:latin typeface="Consolas"/>
                <a:ea typeface="Consolas"/>
                <a:cs typeface="Consolas"/>
                <a:sym typeface="Consolas"/>
              </a:rPr>
              <a:t>: </a:t>
            </a:r>
            <a:r>
              <a:rPr lang="en-US" sz="1000" b="0">
                <a:solidFill>
                  <a:srgbClr val="CE9178"/>
                </a:solidFill>
                <a:latin typeface="Consolas"/>
                <a:ea typeface="Consolas"/>
                <a:cs typeface="Consolas"/>
                <a:sym typeface="Consolas"/>
              </a:rPr>
              <a:t>npm-ci</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requires</a:t>
            </a:r>
            <a:r>
              <a:rPr lang="en-US" sz="1000" b="0">
                <a:solidFill>
                  <a:srgbClr val="D4D4D4"/>
                </a:solidFill>
                <a:latin typeface="Consolas"/>
                <a:ea typeface="Consolas"/>
                <a:cs typeface="Consolas"/>
                <a:sym typeface="Consolas"/>
              </a:rPr>
              <a:t>:</a:t>
            </a:r>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 </a:t>
            </a:r>
            <a:r>
              <a:rPr lang="en-US" sz="1000" b="0">
                <a:solidFill>
                  <a:srgbClr val="569CD6"/>
                </a:solidFill>
                <a:latin typeface="Consolas"/>
                <a:ea typeface="Consolas"/>
                <a:cs typeface="Consolas"/>
                <a:sym typeface="Consolas"/>
              </a:rPr>
              <a:t>name</a:t>
            </a:r>
            <a:r>
              <a:rPr lang="en-US" sz="1000" b="0">
                <a:solidFill>
                  <a:srgbClr val="D4D4D4"/>
                </a:solidFill>
                <a:latin typeface="Consolas"/>
                <a:ea typeface="Consolas"/>
                <a:cs typeface="Consolas"/>
                <a:sym typeface="Consolas"/>
              </a:rPr>
              <a:t>: </a:t>
            </a:r>
            <a:r>
              <a:rPr lang="en-US" sz="1000" b="0">
                <a:solidFill>
                  <a:srgbClr val="CE9178"/>
                </a:solidFill>
                <a:latin typeface="Consolas"/>
                <a:ea typeface="Consolas"/>
                <a:cs typeface="Consolas"/>
                <a:sym typeface="Consolas"/>
              </a:rPr>
              <a:t>mycapapp-auth</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 </a:t>
            </a:r>
            <a:r>
              <a:rPr lang="en-US" sz="1000" b="0">
                <a:solidFill>
                  <a:srgbClr val="569CD6"/>
                </a:solidFill>
                <a:latin typeface="Consolas"/>
                <a:ea typeface="Consolas"/>
                <a:cs typeface="Consolas"/>
                <a:sym typeface="Consolas"/>
              </a:rPr>
              <a:t>name</a:t>
            </a:r>
            <a:r>
              <a:rPr lang="en-US" sz="1000" b="0">
                <a:solidFill>
                  <a:srgbClr val="D4D4D4"/>
                </a:solidFill>
                <a:latin typeface="Consolas"/>
                <a:ea typeface="Consolas"/>
                <a:cs typeface="Consolas"/>
                <a:sym typeface="Consolas"/>
              </a:rPr>
              <a:t>: </a:t>
            </a:r>
            <a:r>
              <a:rPr lang="en-US" sz="1000" b="0">
                <a:solidFill>
                  <a:srgbClr val="CE9178"/>
                </a:solidFill>
                <a:latin typeface="Consolas"/>
                <a:ea typeface="Consolas"/>
                <a:cs typeface="Consolas"/>
                <a:sym typeface="Consolas"/>
              </a:rPr>
              <a:t>srv-api</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group</a:t>
            </a:r>
            <a:r>
              <a:rPr lang="en-US" sz="1000" b="0">
                <a:solidFill>
                  <a:srgbClr val="D4D4D4"/>
                </a:solidFill>
                <a:latin typeface="Consolas"/>
                <a:ea typeface="Consolas"/>
                <a:cs typeface="Consolas"/>
                <a:sym typeface="Consolas"/>
              </a:rPr>
              <a:t>: </a:t>
            </a:r>
            <a:r>
              <a:rPr lang="en-US" sz="1000" b="0">
                <a:solidFill>
                  <a:srgbClr val="CE9178"/>
                </a:solidFill>
                <a:latin typeface="Consolas"/>
                <a:ea typeface="Consolas"/>
                <a:cs typeface="Consolas"/>
                <a:sym typeface="Consolas"/>
              </a:rPr>
              <a:t>destinations</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properties</a:t>
            </a:r>
            <a:r>
              <a:rPr lang="en-US" sz="1000" b="0">
                <a:solidFill>
                  <a:srgbClr val="D4D4D4"/>
                </a:solidFill>
                <a:latin typeface="Consolas"/>
                <a:ea typeface="Consolas"/>
                <a:cs typeface="Consolas"/>
                <a:sym typeface="Consolas"/>
              </a:rPr>
              <a:t>:</a:t>
            </a:r>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name</a:t>
            </a:r>
            <a:r>
              <a:rPr lang="en-US" sz="1000" b="0">
                <a:solidFill>
                  <a:srgbClr val="D4D4D4"/>
                </a:solidFill>
                <a:latin typeface="Consolas"/>
                <a:ea typeface="Consolas"/>
                <a:cs typeface="Consolas"/>
                <a:sym typeface="Consolas"/>
              </a:rPr>
              <a:t>: </a:t>
            </a:r>
            <a:r>
              <a:rPr lang="en-US" sz="1000" b="0">
                <a:solidFill>
                  <a:srgbClr val="CE9178"/>
                </a:solidFill>
                <a:latin typeface="Consolas"/>
                <a:ea typeface="Consolas"/>
                <a:cs typeface="Consolas"/>
                <a:sym typeface="Consolas"/>
              </a:rPr>
              <a:t>srv-api</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strictSSL</a:t>
            </a: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true</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forwardAuthToken</a:t>
            </a: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true</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D4D4D4"/>
              </a:buClr>
              <a:buSzPts val="1000"/>
              <a:buFont typeface="Consolas"/>
              <a:buNone/>
            </a:pPr>
            <a:r>
              <a:rPr lang="en-US" sz="1000" b="0">
                <a:solidFill>
                  <a:srgbClr val="D4D4D4"/>
                </a:solidFill>
                <a:latin typeface="Consolas"/>
                <a:ea typeface="Consolas"/>
                <a:cs typeface="Consolas"/>
                <a:sym typeface="Consolas"/>
              </a:rPr>
              <a:t>          </a:t>
            </a:r>
            <a:r>
              <a:rPr lang="en-US" sz="1000" b="0">
                <a:solidFill>
                  <a:srgbClr val="569CD6"/>
                </a:solidFill>
                <a:latin typeface="Consolas"/>
                <a:ea typeface="Consolas"/>
                <a:cs typeface="Consolas"/>
                <a:sym typeface="Consolas"/>
              </a:rPr>
              <a:t>url</a:t>
            </a:r>
            <a:r>
              <a:rPr lang="en-US" sz="1000" b="0">
                <a:solidFill>
                  <a:srgbClr val="D4D4D4"/>
                </a:solidFill>
                <a:latin typeface="Consolas"/>
                <a:ea typeface="Consolas"/>
                <a:cs typeface="Consolas"/>
                <a:sym typeface="Consolas"/>
              </a:rPr>
              <a:t>: </a:t>
            </a:r>
            <a:r>
              <a:rPr lang="en-US" sz="1000" b="0">
                <a:solidFill>
                  <a:srgbClr val="CE9178"/>
                </a:solidFill>
                <a:latin typeface="Consolas"/>
                <a:ea typeface="Consolas"/>
                <a:cs typeface="Consolas"/>
                <a:sym typeface="Consolas"/>
              </a:rPr>
              <a:t>'~{srv-url}'</a:t>
            </a:r>
            <a:endParaRPr sz="1000" b="0">
              <a:solidFill>
                <a:srgbClr val="D4D4D4"/>
              </a:solidFill>
              <a:latin typeface="Consolas"/>
              <a:ea typeface="Consolas"/>
              <a:cs typeface="Consolas"/>
              <a:sym typeface="Consolas"/>
            </a:endParaRPr>
          </a:p>
          <a:p>
            <a:pPr marL="0" marR="0" lvl="0" indent="0" algn="l" rtl="0">
              <a:lnSpc>
                <a:spcPct val="142500"/>
              </a:lnSpc>
              <a:spcBef>
                <a:spcPts val="0"/>
              </a:spcBef>
              <a:spcAft>
                <a:spcPts val="0"/>
              </a:spcAft>
              <a:buClr>
                <a:srgbClr val="6A9955"/>
              </a:buClr>
              <a:buSzPts val="1000"/>
              <a:buFont typeface="Consolas"/>
              <a:buNone/>
            </a:pPr>
            <a:r>
              <a:rPr lang="en-US" sz="1000" b="0">
                <a:solidFill>
                  <a:srgbClr val="6A9955"/>
                </a:solidFill>
                <a:latin typeface="Consolas"/>
                <a:ea typeface="Consolas"/>
                <a:cs typeface="Consolas"/>
                <a:sym typeface="Consolas"/>
              </a:rPr>
              <a:t>##end of code</a:t>
            </a:r>
            <a:endParaRPr sz="1000" b="0">
              <a:solidFill>
                <a:srgbClr val="D4D4D4"/>
              </a:solidFill>
              <a:latin typeface="Consolas"/>
              <a:ea typeface="Consolas"/>
              <a:cs typeface="Consolas"/>
              <a:sym typeface="Consola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267"/>
        <p:cNvGrpSpPr/>
        <p:nvPr/>
      </p:nvGrpSpPr>
      <p:grpSpPr>
        <a:xfrm>
          <a:off x="0" y="0"/>
          <a:ext cx="0" cy="0"/>
          <a:chOff x="0" y="0"/>
          <a:chExt cx="0" cy="0"/>
        </a:xfrm>
      </p:grpSpPr>
      <p:sp>
        <p:nvSpPr>
          <p:cNvPr id="2268" name="Google Shape;2268;p12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2800"/>
              <a:buFont typeface="Corben"/>
              <a:buNone/>
            </a:pPr>
            <a:r>
              <a:rPr lang="en-US" sz="2800"/>
              <a:t>Working with Real-time project – code management</a:t>
            </a:r>
            <a:endParaRPr/>
          </a:p>
        </p:txBody>
      </p:sp>
      <p:sp>
        <p:nvSpPr>
          <p:cNvPr id="2269" name="Google Shape;2269;p129"/>
          <p:cNvSpPr txBox="1">
            <a:spLocks noGrp="1"/>
          </p:cNvSpPr>
          <p:nvPr>
            <p:ph type="body" idx="1"/>
          </p:nvPr>
        </p:nvSpPr>
        <p:spPr>
          <a:xfrm>
            <a:off x="189756" y="711080"/>
            <a:ext cx="11999069" cy="6146919"/>
          </a:xfrm>
          <a:prstGeom prst="rect">
            <a:avLst/>
          </a:prstGeom>
          <a:noFill/>
          <a:ln>
            <a:noFill/>
          </a:ln>
        </p:spPr>
        <p:txBody>
          <a:bodyPr spcFirstLastPara="1" wrap="square" lIns="0" tIns="60925" rIns="0" bIns="60925" anchor="t" anchorCtr="0">
            <a:normAutofit fontScale="92500" lnSpcReduction="20000"/>
          </a:bodyPr>
          <a:lstStyle/>
          <a:p>
            <a:pPr marL="285750" lvl="0" indent="-285750" algn="l" rtl="0">
              <a:spcBef>
                <a:spcPts val="0"/>
              </a:spcBef>
              <a:spcAft>
                <a:spcPts val="0"/>
              </a:spcAft>
              <a:buClr>
                <a:schemeClr val="dk1"/>
              </a:buClr>
              <a:buSzPct val="100000"/>
              <a:buFont typeface="Noto Sans Symbols"/>
              <a:buChar char="✔"/>
            </a:pPr>
            <a:r>
              <a:rPr lang="en-US" sz="1800"/>
              <a:t>Anubhav, last night my CAP code was stable, this morning I had fight with my wife, I came to office was not in a good mood and I messed up the code with 500 changes, and refresh bas tool. The undo is not working; I pray to god to go back to last night state for my project. Will my prayers work?</a:t>
            </a:r>
            <a:endParaRPr/>
          </a:p>
          <a:p>
            <a:pPr marL="285750" lvl="0" indent="-285750" algn="l" rtl="0">
              <a:spcBef>
                <a:spcPts val="333"/>
              </a:spcBef>
              <a:spcAft>
                <a:spcPts val="0"/>
              </a:spcAft>
              <a:buClr>
                <a:schemeClr val="dk1"/>
              </a:buClr>
              <a:buSzPct val="100000"/>
              <a:buFont typeface="Noto Sans Symbols"/>
              <a:buChar char="✔"/>
            </a:pPr>
            <a:r>
              <a:rPr lang="en-US" sz="1800"/>
              <a:t>How to do version management of the code in local machine VS code or BAS tool.</a:t>
            </a:r>
            <a:endParaRPr/>
          </a:p>
          <a:p>
            <a:pPr marL="285750" lvl="0" indent="-285750" algn="l" rtl="0">
              <a:spcBef>
                <a:spcPts val="333"/>
              </a:spcBef>
              <a:spcAft>
                <a:spcPts val="0"/>
              </a:spcAft>
              <a:buClr>
                <a:schemeClr val="dk1"/>
              </a:buClr>
              <a:buSzPct val="100000"/>
              <a:buFont typeface="Noto Sans Symbols"/>
              <a:buChar char="✔"/>
            </a:pPr>
            <a:r>
              <a:rPr lang="en-US" sz="1800"/>
              <a:t>I have made changes to my code, I want to create a stable version (like a copy) so I can compare the changes I have done recently, I can keep them or discard them from multiple files.</a:t>
            </a:r>
            <a:endParaRPr/>
          </a:p>
          <a:p>
            <a:pPr marL="285750" lvl="0" indent="-285750" algn="l" rtl="0">
              <a:spcBef>
                <a:spcPts val="333"/>
              </a:spcBef>
              <a:spcAft>
                <a:spcPts val="0"/>
              </a:spcAft>
              <a:buClr>
                <a:schemeClr val="dk1"/>
              </a:buClr>
              <a:buSzPct val="100000"/>
              <a:buFont typeface="Noto Sans Symbols"/>
              <a:buChar char="✔"/>
            </a:pPr>
            <a:r>
              <a:rPr lang="en-US" sz="1800"/>
              <a:t>Anubhav, currently I am developing a CAP application for my company, right now to share the code with fellow developers, I am downloading the TAR file and sending email to colleagues to use my project and start work on it. At the end of day, we have piles of email in our inbox with each team member sending their TAR file ☹ how can we merge all the code??</a:t>
            </a:r>
            <a:endParaRPr/>
          </a:p>
          <a:p>
            <a:pPr marL="285750" lvl="0" indent="-285750" algn="l" rtl="0">
              <a:spcBef>
                <a:spcPts val="333"/>
              </a:spcBef>
              <a:spcAft>
                <a:spcPts val="0"/>
              </a:spcAft>
              <a:buClr>
                <a:schemeClr val="dk1"/>
              </a:buClr>
              <a:buSzPct val="100000"/>
              <a:buFont typeface="Noto Sans Symbols"/>
              <a:buChar char="✔"/>
            </a:pPr>
            <a:r>
              <a:rPr lang="en-US" sz="1800"/>
              <a:t>My company is an MNC, we have colleagues working in Denmark, Sweden, New York, Delhi, Gurgaon, Mumbai, Pune, with different time zones, how can we ensure as team to have a stable merged code together. So when a developer comes in the morning to office, can get the latest code changes by fellow colleagues on different zone.</a:t>
            </a:r>
            <a:endParaRPr/>
          </a:p>
          <a:p>
            <a:pPr marL="285750" lvl="0" indent="-285750" algn="l" rtl="0">
              <a:spcBef>
                <a:spcPts val="333"/>
              </a:spcBef>
              <a:spcAft>
                <a:spcPts val="0"/>
              </a:spcAft>
              <a:buClr>
                <a:schemeClr val="dk1"/>
              </a:buClr>
              <a:buSzPct val="100000"/>
              <a:buFont typeface="Noto Sans Symbols"/>
              <a:buChar char="✔"/>
            </a:pPr>
            <a:r>
              <a:rPr lang="en-US" sz="1800"/>
              <a:t>My colleague suddenly emergency leave, my manager asked me to took over the urgent bug fixes in source code, how can I get latest code of CAP project?</a:t>
            </a:r>
            <a:endParaRPr/>
          </a:p>
          <a:p>
            <a:pPr marL="285750" lvl="0" indent="-285750" algn="l" rtl="0">
              <a:spcBef>
                <a:spcPts val="333"/>
              </a:spcBef>
              <a:spcAft>
                <a:spcPts val="0"/>
              </a:spcAft>
              <a:buClr>
                <a:schemeClr val="dk1"/>
              </a:buClr>
              <a:buSzPct val="100000"/>
              <a:buFont typeface="Noto Sans Symbols"/>
              <a:buChar char="✔"/>
            </a:pPr>
            <a:r>
              <a:rPr lang="en-US" sz="1800"/>
              <a:t>How to know Who, When, What time made what changes to the production code, so when a issue comes we can find the right developer to blame.</a:t>
            </a:r>
            <a:endParaRPr/>
          </a:p>
          <a:p>
            <a:pPr marL="285750" lvl="0" indent="-285750" algn="l" rtl="0">
              <a:spcBef>
                <a:spcPts val="333"/>
              </a:spcBef>
              <a:spcAft>
                <a:spcPts val="0"/>
              </a:spcAft>
              <a:buClr>
                <a:schemeClr val="dk1"/>
              </a:buClr>
              <a:buSzPct val="100000"/>
              <a:buFont typeface="Noto Sans Symbols"/>
              <a:buChar char="✔"/>
            </a:pPr>
            <a:r>
              <a:rPr lang="en-US" sz="1800"/>
              <a:t>What is the best practice/gold standard to manage capm projects in real-world company.</a:t>
            </a:r>
            <a:endParaRPr/>
          </a:p>
          <a:p>
            <a:pPr marL="285750" lvl="0" indent="-285750" algn="l" rtl="0">
              <a:spcBef>
                <a:spcPts val="333"/>
              </a:spcBef>
              <a:spcAft>
                <a:spcPts val="0"/>
              </a:spcAft>
              <a:buClr>
                <a:schemeClr val="dk1"/>
              </a:buClr>
              <a:buSzPct val="100000"/>
              <a:buFont typeface="Noto Sans Symbols"/>
              <a:buChar char="✔"/>
            </a:pPr>
            <a:r>
              <a:rPr lang="en-US" sz="1800"/>
              <a:t>I just joined a new company/project on capm with 5x salary, they directly ask me to enhance code of existing cap project, how to get started?</a:t>
            </a:r>
            <a:endParaRPr/>
          </a:p>
          <a:p>
            <a:pPr marL="285750" lvl="0" indent="-285750" algn="l" rtl="0">
              <a:spcBef>
                <a:spcPts val="333"/>
              </a:spcBef>
              <a:spcAft>
                <a:spcPts val="0"/>
              </a:spcAft>
              <a:buClr>
                <a:schemeClr val="dk1"/>
              </a:buClr>
              <a:buSzPct val="100000"/>
              <a:buFont typeface="Noto Sans Symbols"/>
              <a:buChar char="✔"/>
            </a:pPr>
            <a:r>
              <a:rPr lang="en-US" sz="1800"/>
              <a:t>There was a cap project built by EX employees, they left. I was hired recently to manage existing cap apps.</a:t>
            </a:r>
            <a:endParaRPr/>
          </a:p>
          <a:p>
            <a:pPr marL="285750" lvl="0" indent="-285750" algn="l" rtl="0">
              <a:spcBef>
                <a:spcPts val="333"/>
              </a:spcBef>
              <a:spcAft>
                <a:spcPts val="0"/>
              </a:spcAft>
              <a:buClr>
                <a:schemeClr val="dk1"/>
              </a:buClr>
              <a:buSzPct val="100000"/>
              <a:buFont typeface="Noto Sans Symbols"/>
              <a:buChar char="✔"/>
            </a:pPr>
            <a:r>
              <a:rPr lang="en-US" sz="1800"/>
              <a:t>Multiple developers working simultaneously on same lines of code in their dev tool w/o knowing if I am also changing same file, whos change will take priority, how do we resolve conflicts.</a:t>
            </a:r>
            <a:endParaRPr/>
          </a:p>
          <a:p>
            <a:pPr marL="285750" lvl="0" indent="-285750" algn="l" rtl="0">
              <a:spcBef>
                <a:spcPts val="333"/>
              </a:spcBef>
              <a:spcAft>
                <a:spcPts val="0"/>
              </a:spcAft>
              <a:buClr>
                <a:schemeClr val="dk1"/>
              </a:buClr>
              <a:buSzPct val="100000"/>
              <a:buFont typeface="Noto Sans Symbols"/>
              <a:buChar char="✔"/>
            </a:pPr>
            <a:r>
              <a:rPr lang="en-US" sz="1800"/>
              <a:t>I am using VS code, but Alex is using BAS tool in my company, how can we port the code between different development tools.</a:t>
            </a:r>
            <a:endParaRPr/>
          </a:p>
          <a:p>
            <a:pPr marL="285750" lvl="0" indent="-285750" algn="l" rtl="0">
              <a:spcBef>
                <a:spcPts val="333"/>
              </a:spcBef>
              <a:spcAft>
                <a:spcPts val="0"/>
              </a:spcAft>
              <a:buClr>
                <a:schemeClr val="dk1"/>
              </a:buClr>
              <a:buSzPct val="100000"/>
              <a:buFont typeface="Noto Sans Symbols"/>
              <a:buChar char="✔"/>
            </a:pPr>
            <a:r>
              <a:rPr lang="en-US" sz="1800"/>
              <a:t>Clean-desk policy in SAP labs.</a:t>
            </a:r>
            <a:endParaRPr/>
          </a:p>
          <a:p>
            <a:pPr marL="0" lvl="0" indent="0" algn="l" rtl="0">
              <a:spcBef>
                <a:spcPts val="407"/>
              </a:spcBef>
              <a:spcAft>
                <a:spcPts val="0"/>
              </a:spcAft>
              <a:buClr>
                <a:schemeClr val="dk1"/>
              </a:buClr>
              <a:buSzPct val="100000"/>
              <a:buNone/>
            </a:pPr>
            <a:r>
              <a:rPr lang="en-US" sz="1800"/>
              <a:t>			</a:t>
            </a:r>
            <a:r>
              <a:rPr lang="en-US" sz="2200" b="1"/>
              <a:t>Git and Git HUB</a:t>
            </a:r>
            <a:endParaRPr sz="18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274"/>
        <p:cNvGrpSpPr/>
        <p:nvPr/>
      </p:nvGrpSpPr>
      <p:grpSpPr>
        <a:xfrm>
          <a:off x="0" y="0"/>
          <a:ext cx="0" cy="0"/>
          <a:chOff x="0" y="0"/>
          <a:chExt cx="0" cy="0"/>
        </a:xfrm>
      </p:grpSpPr>
      <p:sp>
        <p:nvSpPr>
          <p:cNvPr id="2275" name="Google Shape;2275;p13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Git and GIT HUB</a:t>
            </a:r>
            <a:endParaRPr/>
          </a:p>
        </p:txBody>
      </p:sp>
      <p:sp>
        <p:nvSpPr>
          <p:cNvPr id="2276" name="Google Shape;2276;p130"/>
          <p:cNvSpPr txBox="1">
            <a:spLocks noGrp="1"/>
          </p:cNvSpPr>
          <p:nvPr>
            <p:ph type="body" idx="1"/>
          </p:nvPr>
        </p:nvSpPr>
        <p:spPr>
          <a:xfrm>
            <a:off x="357430" y="620688"/>
            <a:ext cx="11486290" cy="1008112"/>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Git – it is a </a:t>
            </a:r>
            <a:r>
              <a:rPr lang="en-US" sz="1800" b="1"/>
              <a:t>distributed</a:t>
            </a:r>
            <a:r>
              <a:rPr lang="en-US" sz="1800"/>
              <a:t> source code repository management system for developers to manage any kind of code, CAPM, ABAP, MDK, Fiori etc. with version management capabilities.</a:t>
            </a:r>
            <a:endParaRPr/>
          </a:p>
          <a:p>
            <a:pPr marL="0" lvl="0" indent="0" algn="l" rtl="0">
              <a:spcBef>
                <a:spcPts val="360"/>
              </a:spcBef>
              <a:spcAft>
                <a:spcPts val="0"/>
              </a:spcAft>
              <a:buClr>
                <a:schemeClr val="dk1"/>
              </a:buClr>
              <a:buSzPts val="1800"/>
              <a:buNone/>
            </a:pPr>
            <a:r>
              <a:rPr lang="en-US" sz="1800"/>
              <a:t>Git HUB – it’s a google drive for developers. It is a central (remote) repository management system for projects.</a:t>
            </a:r>
            <a:endParaRPr/>
          </a:p>
        </p:txBody>
      </p:sp>
      <p:pic>
        <p:nvPicPr>
          <p:cNvPr id="2277" name="Google Shape;2277;p130" descr="Avatar Programmer 3D Icons - Free Download in PNG, glTF"/>
          <p:cNvPicPr preferRelativeResize="0"/>
          <p:nvPr/>
        </p:nvPicPr>
        <p:blipFill rotWithShape="1">
          <a:blip r:embed="rId3">
            <a:alphaModFix/>
          </a:blip>
          <a:srcRect/>
          <a:stretch/>
        </p:blipFill>
        <p:spPr>
          <a:xfrm>
            <a:off x="357430" y="1628800"/>
            <a:ext cx="1855093" cy="1855093"/>
          </a:xfrm>
          <a:prstGeom prst="rect">
            <a:avLst/>
          </a:prstGeom>
          <a:noFill/>
          <a:ln>
            <a:noFill/>
          </a:ln>
        </p:spPr>
      </p:pic>
      <p:sp>
        <p:nvSpPr>
          <p:cNvPr id="2278" name="Google Shape;2278;p130"/>
          <p:cNvSpPr txBox="1"/>
          <p:nvPr/>
        </p:nvSpPr>
        <p:spPr>
          <a:xfrm>
            <a:off x="357430" y="3483893"/>
            <a:ext cx="206457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Anubhav</a:t>
            </a:r>
            <a:endParaRPr/>
          </a:p>
        </p:txBody>
      </p:sp>
      <p:sp>
        <p:nvSpPr>
          <p:cNvPr id="2279" name="Google Shape;2279;p130"/>
          <p:cNvSpPr/>
          <p:nvPr/>
        </p:nvSpPr>
        <p:spPr>
          <a:xfrm>
            <a:off x="4078188" y="2852936"/>
            <a:ext cx="2016224" cy="43204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BAS tool</a:t>
            </a:r>
            <a:endParaRPr/>
          </a:p>
        </p:txBody>
      </p:sp>
      <p:sp>
        <p:nvSpPr>
          <p:cNvPr id="2280" name="Google Shape;2280;p130"/>
          <p:cNvSpPr/>
          <p:nvPr/>
        </p:nvSpPr>
        <p:spPr>
          <a:xfrm>
            <a:off x="3934172" y="2204864"/>
            <a:ext cx="2448272" cy="576064"/>
          </a:xfrm>
          <a:prstGeom prst="plaque">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mycapapp</a:t>
            </a:r>
            <a:endParaRPr sz="2400">
              <a:solidFill>
                <a:schemeClr val="lt1"/>
              </a:solidFill>
              <a:latin typeface="Quattrocento Sans"/>
              <a:ea typeface="Quattrocento Sans"/>
              <a:cs typeface="Quattrocento Sans"/>
              <a:sym typeface="Quattrocento Sans"/>
            </a:endParaRPr>
          </a:p>
        </p:txBody>
      </p:sp>
      <p:cxnSp>
        <p:nvCxnSpPr>
          <p:cNvPr id="2281" name="Google Shape;2281;p130"/>
          <p:cNvCxnSpPr>
            <a:endCxn id="2280" idx="1"/>
          </p:cNvCxnSpPr>
          <p:nvPr/>
        </p:nvCxnSpPr>
        <p:spPr>
          <a:xfrm>
            <a:off x="2349872" y="2492896"/>
            <a:ext cx="1584300" cy="0"/>
          </a:xfrm>
          <a:prstGeom prst="straightConnector1">
            <a:avLst/>
          </a:prstGeom>
          <a:noFill/>
          <a:ln w="9525" cap="flat" cmpd="sng">
            <a:solidFill>
              <a:srgbClr val="FE421C"/>
            </a:solidFill>
            <a:prstDash val="solid"/>
            <a:round/>
            <a:headEnd type="none" w="sm" len="sm"/>
            <a:tailEnd type="triangle" w="med" len="med"/>
          </a:ln>
        </p:spPr>
      </p:cxnSp>
      <p:sp>
        <p:nvSpPr>
          <p:cNvPr id="2282" name="Google Shape;2282;p130"/>
          <p:cNvSpPr/>
          <p:nvPr/>
        </p:nvSpPr>
        <p:spPr>
          <a:xfrm>
            <a:off x="8830716" y="1882081"/>
            <a:ext cx="3312368" cy="1584176"/>
          </a:xfrm>
          <a:prstGeom prst="roundRect">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Local Repository</a:t>
            </a:r>
            <a:endParaRPr/>
          </a:p>
          <a:p>
            <a:pPr marL="0" marR="0" lvl="0" indent="0" algn="ctr" rtl="0">
              <a:spcBef>
                <a:spcPts val="0"/>
              </a:spcBef>
              <a:spcAft>
                <a:spcPts val="0"/>
              </a:spcAft>
              <a:buNone/>
            </a:pPr>
            <a:r>
              <a:rPr lang="en-US" sz="1800">
                <a:solidFill>
                  <a:schemeClr val="lt1"/>
                </a:solidFill>
                <a:latin typeface="Quattrocento Sans"/>
                <a:ea typeface="Quattrocento Sans"/>
                <a:cs typeface="Quattrocento Sans"/>
                <a:sym typeface="Quattrocento Sans"/>
              </a:rPr>
              <a:t>(a folder in a pen drive)</a:t>
            </a:r>
            <a:endParaRPr/>
          </a:p>
        </p:txBody>
      </p:sp>
      <p:cxnSp>
        <p:nvCxnSpPr>
          <p:cNvPr id="2283" name="Google Shape;2283;p130"/>
          <p:cNvCxnSpPr/>
          <p:nvPr/>
        </p:nvCxnSpPr>
        <p:spPr>
          <a:xfrm>
            <a:off x="6382444" y="2348880"/>
            <a:ext cx="2376264" cy="0"/>
          </a:xfrm>
          <a:prstGeom prst="straightConnector1">
            <a:avLst/>
          </a:prstGeom>
          <a:noFill/>
          <a:ln w="9525" cap="flat" cmpd="sng">
            <a:solidFill>
              <a:srgbClr val="FE421C"/>
            </a:solidFill>
            <a:prstDash val="solid"/>
            <a:round/>
            <a:headEnd type="none" w="sm" len="sm"/>
            <a:tailEnd type="triangle" w="med" len="med"/>
          </a:ln>
        </p:spPr>
      </p:cxnSp>
      <p:sp>
        <p:nvSpPr>
          <p:cNvPr id="2284" name="Google Shape;2284;p130"/>
          <p:cNvSpPr txBox="1"/>
          <p:nvPr/>
        </p:nvSpPr>
        <p:spPr>
          <a:xfrm>
            <a:off x="6454452" y="2020198"/>
            <a:ext cx="1800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Quattrocento Sans"/>
                <a:ea typeface="Quattrocento Sans"/>
                <a:cs typeface="Quattrocento Sans"/>
                <a:sym typeface="Quattrocento Sans"/>
              </a:rPr>
              <a:t>git init</a:t>
            </a:r>
            <a:endParaRPr sz="1800" b="1">
              <a:solidFill>
                <a:schemeClr val="dk1"/>
              </a:solidFill>
              <a:latin typeface="Quattrocento Sans"/>
              <a:ea typeface="Quattrocento Sans"/>
              <a:cs typeface="Quattrocento Sans"/>
              <a:sym typeface="Quattrocento Sans"/>
            </a:endParaRPr>
          </a:p>
        </p:txBody>
      </p:sp>
      <p:sp>
        <p:nvSpPr>
          <p:cNvPr id="2285" name="Google Shape;2285;p130"/>
          <p:cNvSpPr txBox="1"/>
          <p:nvPr/>
        </p:nvSpPr>
        <p:spPr>
          <a:xfrm>
            <a:off x="4294212" y="1882081"/>
            <a:ext cx="18002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.gitignore</a:t>
            </a:r>
            <a:endParaRPr sz="1600" b="1">
              <a:solidFill>
                <a:schemeClr val="dk1"/>
              </a:solidFill>
              <a:latin typeface="Quattrocento Sans"/>
              <a:ea typeface="Quattrocento Sans"/>
              <a:cs typeface="Quattrocento Sans"/>
              <a:sym typeface="Quattrocento Sans"/>
            </a:endParaRPr>
          </a:p>
        </p:txBody>
      </p:sp>
      <p:cxnSp>
        <p:nvCxnSpPr>
          <p:cNvPr id="2286" name="Google Shape;2286;p130"/>
          <p:cNvCxnSpPr/>
          <p:nvPr/>
        </p:nvCxnSpPr>
        <p:spPr>
          <a:xfrm>
            <a:off x="6238428" y="2564904"/>
            <a:ext cx="576064" cy="792088"/>
          </a:xfrm>
          <a:prstGeom prst="straightConnector1">
            <a:avLst/>
          </a:prstGeom>
          <a:noFill/>
          <a:ln w="9525" cap="flat" cmpd="sng">
            <a:solidFill>
              <a:srgbClr val="FE421C"/>
            </a:solidFill>
            <a:prstDash val="solid"/>
            <a:round/>
            <a:headEnd type="none" w="sm" len="sm"/>
            <a:tailEnd type="triangle" w="med" len="med"/>
          </a:ln>
        </p:spPr>
      </p:cxnSp>
      <p:sp>
        <p:nvSpPr>
          <p:cNvPr id="2287" name="Google Shape;2287;p130"/>
          <p:cNvSpPr/>
          <p:nvPr/>
        </p:nvSpPr>
        <p:spPr>
          <a:xfrm>
            <a:off x="6807174" y="2924944"/>
            <a:ext cx="1584176" cy="1020611"/>
          </a:xfrm>
          <a:prstGeom prst="rightArrowCallout">
            <a:avLst>
              <a:gd name="adj1" fmla="val 25000"/>
              <a:gd name="adj2" fmla="val 25000"/>
              <a:gd name="adj3" fmla="val 25000"/>
              <a:gd name="adj4" fmla="val 6497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Quattrocento Sans"/>
                <a:ea typeface="Quattrocento Sans"/>
                <a:cs typeface="Quattrocento Sans"/>
                <a:sym typeface="Quattrocento Sans"/>
              </a:rPr>
              <a:t>staging</a:t>
            </a:r>
            <a:endParaRPr/>
          </a:p>
        </p:txBody>
      </p:sp>
      <p:sp>
        <p:nvSpPr>
          <p:cNvPr id="2288" name="Google Shape;2288;p130"/>
          <p:cNvSpPr txBox="1"/>
          <p:nvPr/>
        </p:nvSpPr>
        <p:spPr>
          <a:xfrm>
            <a:off x="5724249" y="3275692"/>
            <a:ext cx="1800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Quattrocento Sans"/>
                <a:ea typeface="Quattrocento Sans"/>
                <a:cs typeface="Quattrocento Sans"/>
                <a:sym typeface="Quattrocento Sans"/>
              </a:rPr>
              <a:t>git add .</a:t>
            </a:r>
            <a:endParaRPr/>
          </a:p>
        </p:txBody>
      </p:sp>
      <p:cxnSp>
        <p:nvCxnSpPr>
          <p:cNvPr id="2289" name="Google Shape;2289;p130"/>
          <p:cNvCxnSpPr/>
          <p:nvPr/>
        </p:nvCxnSpPr>
        <p:spPr>
          <a:xfrm rot="10800000" flipH="1">
            <a:off x="7820420" y="2780928"/>
            <a:ext cx="1082304" cy="372539"/>
          </a:xfrm>
          <a:prstGeom prst="straightConnector1">
            <a:avLst/>
          </a:prstGeom>
          <a:noFill/>
          <a:ln w="9525" cap="flat" cmpd="sng">
            <a:solidFill>
              <a:srgbClr val="FE421C"/>
            </a:solidFill>
            <a:prstDash val="solid"/>
            <a:round/>
            <a:headEnd type="none" w="sm" len="sm"/>
            <a:tailEnd type="triangle" w="med" len="med"/>
          </a:ln>
        </p:spPr>
      </p:cxnSp>
      <p:sp>
        <p:nvSpPr>
          <p:cNvPr id="2290" name="Google Shape;2290;p130"/>
          <p:cNvSpPr txBox="1"/>
          <p:nvPr/>
        </p:nvSpPr>
        <p:spPr>
          <a:xfrm>
            <a:off x="8361572" y="3514754"/>
            <a:ext cx="3637496"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Quattrocento Sans"/>
                <a:ea typeface="Quattrocento Sans"/>
                <a:cs typeface="Quattrocento Sans"/>
                <a:sym typeface="Quattrocento Sans"/>
              </a:rPr>
              <a:t>git commit -m “write..”</a:t>
            </a:r>
            <a:endParaRPr/>
          </a:p>
          <a:p>
            <a:pPr marL="0" marR="0" lvl="0" indent="0" algn="l" rtl="0">
              <a:spcBef>
                <a:spcPts val="0"/>
              </a:spcBef>
              <a:spcAft>
                <a:spcPts val="0"/>
              </a:spcAft>
              <a:buNone/>
            </a:pPr>
            <a:r>
              <a:rPr lang="en-US" sz="1800" b="1">
                <a:solidFill>
                  <a:schemeClr val="dk1"/>
                </a:solidFill>
                <a:latin typeface="Quattrocento Sans"/>
                <a:ea typeface="Quattrocento Sans"/>
                <a:cs typeface="Quattrocento Sans"/>
                <a:sym typeface="Quattrocento Sans"/>
              </a:rPr>
              <a:t>git reset --hard</a:t>
            </a:r>
            <a:endParaRPr/>
          </a:p>
          <a:p>
            <a:pPr marL="0" marR="0" lvl="0" indent="0" algn="l" rtl="0">
              <a:spcBef>
                <a:spcPts val="0"/>
              </a:spcBef>
              <a:spcAft>
                <a:spcPts val="0"/>
              </a:spcAft>
              <a:buNone/>
            </a:pPr>
            <a:r>
              <a:rPr lang="en-US" sz="1800" b="1">
                <a:solidFill>
                  <a:schemeClr val="dk1"/>
                </a:solidFill>
                <a:latin typeface="Quattrocento Sans"/>
                <a:ea typeface="Quattrocento Sans"/>
                <a:cs typeface="Quattrocento Sans"/>
                <a:sym typeface="Quattrocento Sans"/>
              </a:rPr>
              <a:t>git reset CID</a:t>
            </a:r>
            <a:endParaRPr/>
          </a:p>
        </p:txBody>
      </p:sp>
      <p:sp>
        <p:nvSpPr>
          <p:cNvPr id="2291" name="Google Shape;2291;p130"/>
          <p:cNvSpPr/>
          <p:nvPr/>
        </p:nvSpPr>
        <p:spPr>
          <a:xfrm>
            <a:off x="10702924" y="3945555"/>
            <a:ext cx="432048" cy="369332"/>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292" name="Google Shape;2292;p130"/>
          <p:cNvSpPr/>
          <p:nvPr/>
        </p:nvSpPr>
        <p:spPr>
          <a:xfrm>
            <a:off x="10702924" y="4581128"/>
            <a:ext cx="432048" cy="369332"/>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293" name="Google Shape;2293;p130"/>
          <p:cNvSpPr/>
          <p:nvPr/>
        </p:nvSpPr>
        <p:spPr>
          <a:xfrm>
            <a:off x="10702924" y="5216701"/>
            <a:ext cx="432048" cy="369332"/>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294" name="Google Shape;2294;p130"/>
          <p:cNvSpPr/>
          <p:nvPr/>
        </p:nvSpPr>
        <p:spPr>
          <a:xfrm>
            <a:off x="10702924" y="5819234"/>
            <a:ext cx="432048" cy="369332"/>
          </a:xfrm>
          <a:prstGeom prst="ellipse">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2295" name="Google Shape;2295;p130"/>
          <p:cNvCxnSpPr>
            <a:stCxn id="2291" idx="4"/>
          </p:cNvCxnSpPr>
          <p:nvPr/>
        </p:nvCxnSpPr>
        <p:spPr>
          <a:xfrm>
            <a:off x="10918948" y="4314887"/>
            <a:ext cx="0" cy="1994400"/>
          </a:xfrm>
          <a:prstGeom prst="straightConnector1">
            <a:avLst/>
          </a:prstGeom>
          <a:noFill/>
          <a:ln w="9525" cap="flat" cmpd="sng">
            <a:solidFill>
              <a:srgbClr val="FE421C"/>
            </a:solidFill>
            <a:prstDash val="solid"/>
            <a:round/>
            <a:headEnd type="none" w="sm" len="sm"/>
            <a:tailEnd type="triangle" w="med" len="med"/>
          </a:ln>
        </p:spPr>
      </p:cxnSp>
      <p:sp>
        <p:nvSpPr>
          <p:cNvPr id="2296" name="Google Shape;2296;p130"/>
          <p:cNvSpPr txBox="1"/>
          <p:nvPr/>
        </p:nvSpPr>
        <p:spPr>
          <a:xfrm>
            <a:off x="10702924" y="6237312"/>
            <a:ext cx="148590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Quattrocento Sans"/>
                <a:ea typeface="Quattrocento Sans"/>
                <a:cs typeface="Quattrocento Sans"/>
                <a:sym typeface="Quattrocento Sans"/>
              </a:rPr>
              <a:t>Main/master</a:t>
            </a:r>
            <a:endParaRPr/>
          </a:p>
        </p:txBody>
      </p:sp>
      <p:sp>
        <p:nvSpPr>
          <p:cNvPr id="2297" name="Google Shape;2297;p130"/>
          <p:cNvSpPr txBox="1"/>
          <p:nvPr/>
        </p:nvSpPr>
        <p:spPr>
          <a:xfrm>
            <a:off x="11206980" y="3789040"/>
            <a:ext cx="108012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Quattrocento Sans"/>
                <a:ea typeface="Quattrocento Sans"/>
                <a:cs typeface="Quattrocento Sans"/>
                <a:sym typeface="Quattrocento Sans"/>
              </a:rPr>
              <a:t>C1</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2400">
                <a:solidFill>
                  <a:schemeClr val="dk1"/>
                </a:solidFill>
                <a:latin typeface="Quattrocento Sans"/>
                <a:ea typeface="Quattrocento Sans"/>
                <a:cs typeface="Quattrocento Sans"/>
                <a:sym typeface="Quattrocento Sans"/>
              </a:rPr>
              <a:t>C2</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2400">
                <a:solidFill>
                  <a:schemeClr val="dk1"/>
                </a:solidFill>
                <a:latin typeface="Quattrocento Sans"/>
                <a:ea typeface="Quattrocento Sans"/>
                <a:cs typeface="Quattrocento Sans"/>
                <a:sym typeface="Quattrocento Sans"/>
              </a:rPr>
              <a:t>C3</a:t>
            </a:r>
            <a:endParaRPr/>
          </a:p>
          <a:p>
            <a:pPr marL="0" marR="0" lvl="0" indent="0" algn="l" rtl="0">
              <a:spcBef>
                <a:spcPts val="0"/>
              </a:spcBef>
              <a:spcAft>
                <a:spcPts val="0"/>
              </a:spcAft>
              <a:buNone/>
            </a:pPr>
            <a:r>
              <a:rPr lang="en-US" sz="2400">
                <a:solidFill>
                  <a:schemeClr val="dk1"/>
                </a:solidFill>
                <a:latin typeface="Quattrocento Sans"/>
                <a:ea typeface="Quattrocento Sans"/>
                <a:cs typeface="Quattrocento Sans"/>
                <a:sym typeface="Quattrocento Sans"/>
              </a:rPr>
              <a:t>..</a:t>
            </a:r>
            <a:endParaRPr/>
          </a:p>
        </p:txBody>
      </p:sp>
      <p:sp>
        <p:nvSpPr>
          <p:cNvPr id="2298" name="Google Shape;2298;p130"/>
          <p:cNvSpPr txBox="1"/>
          <p:nvPr/>
        </p:nvSpPr>
        <p:spPr>
          <a:xfrm>
            <a:off x="1773932" y="4581128"/>
            <a:ext cx="4896544"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highlight>
                  <a:srgbClr val="FFFF00"/>
                </a:highlight>
                <a:latin typeface="Quattrocento Sans"/>
                <a:ea typeface="Quattrocento Sans"/>
                <a:cs typeface="Quattrocento Sans"/>
                <a:sym typeface="Quattrocento Sans"/>
              </a:rPr>
              <a:t>21</a:t>
            </a:r>
            <a:r>
              <a:rPr lang="en-US" sz="4000" b="1" baseline="30000">
                <a:solidFill>
                  <a:schemeClr val="dk1"/>
                </a:solidFill>
                <a:highlight>
                  <a:srgbClr val="FFFF00"/>
                </a:highlight>
                <a:latin typeface="Quattrocento Sans"/>
                <a:ea typeface="Quattrocento Sans"/>
                <a:cs typeface="Quattrocento Sans"/>
                <a:sym typeface="Quattrocento Sans"/>
              </a:rPr>
              <a:t>st</a:t>
            </a:r>
            <a:r>
              <a:rPr lang="en-US" sz="4000" b="1">
                <a:solidFill>
                  <a:schemeClr val="dk1"/>
                </a:solidFill>
                <a:highlight>
                  <a:srgbClr val="FFFF00"/>
                </a:highlight>
                <a:latin typeface="Quattrocento Sans"/>
                <a:ea typeface="Quattrocento Sans"/>
                <a:cs typeface="Quattrocento Sans"/>
                <a:sym typeface="Quattrocento Sans"/>
              </a:rPr>
              <a:t> march is next session</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303"/>
        <p:cNvGrpSpPr/>
        <p:nvPr/>
      </p:nvGrpSpPr>
      <p:grpSpPr>
        <a:xfrm>
          <a:off x="0" y="0"/>
          <a:ext cx="0" cy="0"/>
          <a:chOff x="0" y="0"/>
          <a:chExt cx="0" cy="0"/>
        </a:xfrm>
      </p:grpSpPr>
      <p:sp>
        <p:nvSpPr>
          <p:cNvPr id="2304" name="Google Shape;2304;p13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Fixing past issue</a:t>
            </a:r>
            <a:endParaRPr/>
          </a:p>
        </p:txBody>
      </p:sp>
      <p:pic>
        <p:nvPicPr>
          <p:cNvPr id="2305" name="Google Shape;2305;p131"/>
          <p:cNvPicPr preferRelativeResize="0"/>
          <p:nvPr/>
        </p:nvPicPr>
        <p:blipFill rotWithShape="1">
          <a:blip r:embed="rId3">
            <a:alphaModFix/>
          </a:blip>
          <a:srcRect/>
          <a:stretch/>
        </p:blipFill>
        <p:spPr>
          <a:xfrm>
            <a:off x="2532876" y="711081"/>
            <a:ext cx="7209018" cy="2357879"/>
          </a:xfrm>
          <a:prstGeom prst="rect">
            <a:avLst/>
          </a:prstGeom>
          <a:noFill/>
          <a:ln>
            <a:noFill/>
          </a:ln>
        </p:spPr>
      </p:pic>
      <p:pic>
        <p:nvPicPr>
          <p:cNvPr id="2306" name="Google Shape;2306;p131"/>
          <p:cNvPicPr preferRelativeResize="0"/>
          <p:nvPr/>
        </p:nvPicPr>
        <p:blipFill rotWithShape="1">
          <a:blip r:embed="rId4">
            <a:alphaModFix/>
          </a:blip>
          <a:srcRect/>
          <a:stretch/>
        </p:blipFill>
        <p:spPr>
          <a:xfrm>
            <a:off x="67953" y="3284983"/>
            <a:ext cx="5738427" cy="3024337"/>
          </a:xfrm>
          <a:prstGeom prst="rect">
            <a:avLst/>
          </a:prstGeom>
          <a:noFill/>
          <a:ln>
            <a:noFill/>
          </a:ln>
        </p:spPr>
      </p:pic>
      <p:pic>
        <p:nvPicPr>
          <p:cNvPr id="2307" name="Google Shape;2307;p131"/>
          <p:cNvPicPr preferRelativeResize="0"/>
          <p:nvPr/>
        </p:nvPicPr>
        <p:blipFill rotWithShape="1">
          <a:blip r:embed="rId5">
            <a:alphaModFix/>
          </a:blip>
          <a:srcRect/>
          <a:stretch/>
        </p:blipFill>
        <p:spPr>
          <a:xfrm>
            <a:off x="6169014" y="3288977"/>
            <a:ext cx="5830054" cy="3024337"/>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312"/>
        <p:cNvGrpSpPr/>
        <p:nvPr/>
      </p:nvGrpSpPr>
      <p:grpSpPr>
        <a:xfrm>
          <a:off x="0" y="0"/>
          <a:ext cx="0" cy="0"/>
          <a:chOff x="0" y="0"/>
          <a:chExt cx="0" cy="0"/>
        </a:xfrm>
      </p:grpSpPr>
      <p:sp>
        <p:nvSpPr>
          <p:cNvPr id="2313" name="Google Shape;2313;p13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Git and GIT HUB</a:t>
            </a:r>
            <a:endParaRPr/>
          </a:p>
        </p:txBody>
      </p:sp>
      <p:sp>
        <p:nvSpPr>
          <p:cNvPr id="2314" name="Google Shape;2314;p132"/>
          <p:cNvSpPr txBox="1">
            <a:spLocks noGrp="1"/>
          </p:cNvSpPr>
          <p:nvPr>
            <p:ph type="body" idx="1"/>
          </p:nvPr>
        </p:nvSpPr>
        <p:spPr>
          <a:xfrm>
            <a:off x="357430" y="620688"/>
            <a:ext cx="11486290" cy="1008112"/>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Git – it is a </a:t>
            </a:r>
            <a:r>
              <a:rPr lang="en-US" sz="1800" b="1"/>
              <a:t>distributed</a:t>
            </a:r>
            <a:r>
              <a:rPr lang="en-US" sz="1800"/>
              <a:t> source code repository management system for developers to manage any kind of code, CAPM, ABAP, MDK, Fiori etc. with version management capabilities.</a:t>
            </a:r>
            <a:endParaRPr/>
          </a:p>
          <a:p>
            <a:pPr marL="0" lvl="0" indent="0" algn="l" rtl="0">
              <a:spcBef>
                <a:spcPts val="360"/>
              </a:spcBef>
              <a:spcAft>
                <a:spcPts val="0"/>
              </a:spcAft>
              <a:buClr>
                <a:schemeClr val="dk1"/>
              </a:buClr>
              <a:buSzPts val="1800"/>
              <a:buNone/>
            </a:pPr>
            <a:r>
              <a:rPr lang="en-US" sz="1800"/>
              <a:t>Git HUB – it’s a google drive for developers. It is a central (remote) repository management system for projects.</a:t>
            </a:r>
            <a:endParaRPr/>
          </a:p>
        </p:txBody>
      </p:sp>
      <p:pic>
        <p:nvPicPr>
          <p:cNvPr id="2315" name="Google Shape;2315;p132" descr="Avatar Programmer 3D Icons - Free Download in PNG, glTF"/>
          <p:cNvPicPr preferRelativeResize="0"/>
          <p:nvPr/>
        </p:nvPicPr>
        <p:blipFill rotWithShape="1">
          <a:blip r:embed="rId3">
            <a:alphaModFix/>
          </a:blip>
          <a:srcRect/>
          <a:stretch/>
        </p:blipFill>
        <p:spPr>
          <a:xfrm>
            <a:off x="357430" y="1628800"/>
            <a:ext cx="1855093" cy="1855093"/>
          </a:xfrm>
          <a:prstGeom prst="rect">
            <a:avLst/>
          </a:prstGeom>
          <a:noFill/>
          <a:ln>
            <a:noFill/>
          </a:ln>
        </p:spPr>
      </p:pic>
      <p:sp>
        <p:nvSpPr>
          <p:cNvPr id="2316" name="Google Shape;2316;p132"/>
          <p:cNvSpPr txBox="1"/>
          <p:nvPr/>
        </p:nvSpPr>
        <p:spPr>
          <a:xfrm>
            <a:off x="357430" y="3483893"/>
            <a:ext cx="206457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Anubhav</a:t>
            </a:r>
            <a:endParaRPr/>
          </a:p>
        </p:txBody>
      </p:sp>
      <p:sp>
        <p:nvSpPr>
          <p:cNvPr id="2317" name="Google Shape;2317;p132"/>
          <p:cNvSpPr/>
          <p:nvPr/>
        </p:nvSpPr>
        <p:spPr>
          <a:xfrm>
            <a:off x="4078188" y="2852936"/>
            <a:ext cx="2016224" cy="43204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BAS tool</a:t>
            </a:r>
            <a:endParaRPr/>
          </a:p>
        </p:txBody>
      </p:sp>
      <p:sp>
        <p:nvSpPr>
          <p:cNvPr id="2318" name="Google Shape;2318;p132"/>
          <p:cNvSpPr/>
          <p:nvPr/>
        </p:nvSpPr>
        <p:spPr>
          <a:xfrm>
            <a:off x="3934172" y="2204864"/>
            <a:ext cx="2448272" cy="576064"/>
          </a:xfrm>
          <a:prstGeom prst="plaque">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mycapapp</a:t>
            </a:r>
            <a:endParaRPr sz="2400">
              <a:solidFill>
                <a:schemeClr val="lt1"/>
              </a:solidFill>
              <a:latin typeface="Quattrocento Sans"/>
              <a:ea typeface="Quattrocento Sans"/>
              <a:cs typeface="Quattrocento Sans"/>
              <a:sym typeface="Quattrocento Sans"/>
            </a:endParaRPr>
          </a:p>
        </p:txBody>
      </p:sp>
      <p:cxnSp>
        <p:nvCxnSpPr>
          <p:cNvPr id="2319" name="Google Shape;2319;p132"/>
          <p:cNvCxnSpPr>
            <a:endCxn id="2318" idx="1"/>
          </p:cNvCxnSpPr>
          <p:nvPr/>
        </p:nvCxnSpPr>
        <p:spPr>
          <a:xfrm>
            <a:off x="2349872" y="2492896"/>
            <a:ext cx="1584300" cy="0"/>
          </a:xfrm>
          <a:prstGeom prst="straightConnector1">
            <a:avLst/>
          </a:prstGeom>
          <a:noFill/>
          <a:ln w="9525" cap="flat" cmpd="sng">
            <a:solidFill>
              <a:srgbClr val="FE421C"/>
            </a:solidFill>
            <a:prstDash val="solid"/>
            <a:round/>
            <a:headEnd type="none" w="sm" len="sm"/>
            <a:tailEnd type="triangle" w="med" len="med"/>
          </a:ln>
        </p:spPr>
      </p:cxnSp>
      <p:sp>
        <p:nvSpPr>
          <p:cNvPr id="2320" name="Google Shape;2320;p132"/>
          <p:cNvSpPr/>
          <p:nvPr/>
        </p:nvSpPr>
        <p:spPr>
          <a:xfrm>
            <a:off x="8830716" y="1882081"/>
            <a:ext cx="3312368" cy="1584176"/>
          </a:xfrm>
          <a:prstGeom prst="roundRect">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Local Repository</a:t>
            </a:r>
            <a:endParaRPr/>
          </a:p>
          <a:p>
            <a:pPr marL="0" marR="0" lvl="0" indent="0" algn="ctr" rtl="0">
              <a:spcBef>
                <a:spcPts val="0"/>
              </a:spcBef>
              <a:spcAft>
                <a:spcPts val="0"/>
              </a:spcAft>
              <a:buNone/>
            </a:pPr>
            <a:r>
              <a:rPr lang="en-US" sz="1800">
                <a:solidFill>
                  <a:schemeClr val="lt1"/>
                </a:solidFill>
                <a:latin typeface="Quattrocento Sans"/>
                <a:ea typeface="Quattrocento Sans"/>
                <a:cs typeface="Quattrocento Sans"/>
                <a:sym typeface="Quattrocento Sans"/>
              </a:rPr>
              <a:t>(a folder in a pen drive)</a:t>
            </a:r>
            <a:endParaRPr/>
          </a:p>
        </p:txBody>
      </p:sp>
      <p:cxnSp>
        <p:nvCxnSpPr>
          <p:cNvPr id="2321" name="Google Shape;2321;p132"/>
          <p:cNvCxnSpPr/>
          <p:nvPr/>
        </p:nvCxnSpPr>
        <p:spPr>
          <a:xfrm>
            <a:off x="6382444" y="2348880"/>
            <a:ext cx="2376264" cy="0"/>
          </a:xfrm>
          <a:prstGeom prst="straightConnector1">
            <a:avLst/>
          </a:prstGeom>
          <a:noFill/>
          <a:ln w="9525" cap="flat" cmpd="sng">
            <a:solidFill>
              <a:srgbClr val="FE421C"/>
            </a:solidFill>
            <a:prstDash val="solid"/>
            <a:round/>
            <a:headEnd type="none" w="sm" len="sm"/>
            <a:tailEnd type="triangle" w="med" len="med"/>
          </a:ln>
        </p:spPr>
      </p:cxnSp>
      <p:sp>
        <p:nvSpPr>
          <p:cNvPr id="2322" name="Google Shape;2322;p132"/>
          <p:cNvSpPr txBox="1"/>
          <p:nvPr/>
        </p:nvSpPr>
        <p:spPr>
          <a:xfrm>
            <a:off x="4294212" y="1882081"/>
            <a:ext cx="18002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.gitignore</a:t>
            </a:r>
            <a:endParaRPr sz="1600" b="1">
              <a:solidFill>
                <a:schemeClr val="dk1"/>
              </a:solidFill>
              <a:latin typeface="Quattrocento Sans"/>
              <a:ea typeface="Quattrocento Sans"/>
              <a:cs typeface="Quattrocento Sans"/>
              <a:sym typeface="Quattrocento Sans"/>
            </a:endParaRPr>
          </a:p>
        </p:txBody>
      </p:sp>
      <p:sp>
        <p:nvSpPr>
          <p:cNvPr id="2323" name="Google Shape;2323;p132"/>
          <p:cNvSpPr txBox="1"/>
          <p:nvPr/>
        </p:nvSpPr>
        <p:spPr>
          <a:xfrm>
            <a:off x="6375901" y="1927482"/>
            <a:ext cx="1800200" cy="6001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chemeClr val="dk1"/>
                </a:solidFill>
                <a:latin typeface="Quattrocento Sans"/>
                <a:ea typeface="Quattrocento Sans"/>
                <a:cs typeface="Quattrocento Sans"/>
                <a:sym typeface="Quattrocento Sans"/>
              </a:rPr>
              <a:t>git add .</a:t>
            </a:r>
            <a:endParaRPr/>
          </a:p>
          <a:p>
            <a:pPr marL="0" marR="0" lvl="0" indent="0" algn="l" rtl="0">
              <a:spcBef>
                <a:spcPts val="0"/>
              </a:spcBef>
              <a:spcAft>
                <a:spcPts val="0"/>
              </a:spcAft>
              <a:buNone/>
            </a:pPr>
            <a:r>
              <a:rPr lang="en-US" sz="1100" b="1">
                <a:solidFill>
                  <a:schemeClr val="dk1"/>
                </a:solidFill>
                <a:latin typeface="Quattrocento Sans"/>
                <a:ea typeface="Quattrocento Sans"/>
                <a:cs typeface="Quattrocento Sans"/>
                <a:sym typeface="Quattrocento Sans"/>
              </a:rPr>
              <a:t>git commit -m “write..”</a:t>
            </a:r>
            <a:endParaRPr/>
          </a:p>
          <a:p>
            <a:pPr marL="0" marR="0" lvl="0" indent="0" algn="l" rtl="0">
              <a:spcBef>
                <a:spcPts val="0"/>
              </a:spcBef>
              <a:spcAft>
                <a:spcPts val="0"/>
              </a:spcAft>
              <a:buNone/>
            </a:pPr>
            <a:endParaRPr sz="1100" b="1">
              <a:solidFill>
                <a:schemeClr val="dk1"/>
              </a:solidFill>
              <a:latin typeface="Quattrocento Sans"/>
              <a:ea typeface="Quattrocento Sans"/>
              <a:cs typeface="Quattrocento Sans"/>
              <a:sym typeface="Quattrocento Sans"/>
            </a:endParaRPr>
          </a:p>
        </p:txBody>
      </p:sp>
      <p:sp>
        <p:nvSpPr>
          <p:cNvPr id="2324" name="Google Shape;2324;p132"/>
          <p:cNvSpPr/>
          <p:nvPr/>
        </p:nvSpPr>
        <p:spPr>
          <a:xfrm>
            <a:off x="8993178" y="4523438"/>
            <a:ext cx="3312368" cy="1584176"/>
          </a:xfrm>
          <a:prstGeom prst="roundRect">
            <a:avLst>
              <a:gd name="adj" fmla="val 16667"/>
            </a:avLst>
          </a:prstGeom>
          <a:solidFill>
            <a:srgbClr val="00B0F0"/>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Remote Repository</a:t>
            </a:r>
            <a:endParaRPr/>
          </a:p>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Git HUB</a:t>
            </a:r>
            <a:endParaRPr/>
          </a:p>
          <a:p>
            <a:pPr marL="0" marR="0" lvl="0" indent="0" algn="ctr" rtl="0">
              <a:spcBef>
                <a:spcPts val="0"/>
              </a:spcBef>
              <a:spcAft>
                <a:spcPts val="0"/>
              </a:spcAft>
              <a:buNone/>
            </a:pPr>
            <a:r>
              <a:rPr lang="en-US" sz="1800">
                <a:solidFill>
                  <a:schemeClr val="lt1"/>
                </a:solidFill>
                <a:latin typeface="Quattrocento Sans"/>
                <a:ea typeface="Quattrocento Sans"/>
                <a:cs typeface="Quattrocento Sans"/>
                <a:sym typeface="Quattrocento Sans"/>
              </a:rPr>
              <a:t>(a folder in google drive)</a:t>
            </a:r>
            <a:endParaRPr/>
          </a:p>
        </p:txBody>
      </p:sp>
      <p:cxnSp>
        <p:nvCxnSpPr>
          <p:cNvPr id="2325" name="Google Shape;2325;p132"/>
          <p:cNvCxnSpPr/>
          <p:nvPr/>
        </p:nvCxnSpPr>
        <p:spPr>
          <a:xfrm>
            <a:off x="9334772" y="3483893"/>
            <a:ext cx="0" cy="1025227"/>
          </a:xfrm>
          <a:prstGeom prst="straightConnector1">
            <a:avLst/>
          </a:prstGeom>
          <a:noFill/>
          <a:ln w="9525" cap="flat" cmpd="sng">
            <a:solidFill>
              <a:srgbClr val="FE421C"/>
            </a:solidFill>
            <a:prstDash val="solid"/>
            <a:round/>
            <a:headEnd type="none" w="sm" len="sm"/>
            <a:tailEnd type="triangle" w="med" len="med"/>
          </a:ln>
        </p:spPr>
      </p:cxnSp>
      <p:cxnSp>
        <p:nvCxnSpPr>
          <p:cNvPr id="2326" name="Google Shape;2326;p132"/>
          <p:cNvCxnSpPr/>
          <p:nvPr/>
        </p:nvCxnSpPr>
        <p:spPr>
          <a:xfrm>
            <a:off x="10486900" y="3483893"/>
            <a:ext cx="0" cy="1025227"/>
          </a:xfrm>
          <a:prstGeom prst="straightConnector1">
            <a:avLst/>
          </a:prstGeom>
          <a:noFill/>
          <a:ln w="9525" cap="flat" cmpd="sng">
            <a:solidFill>
              <a:srgbClr val="FE421C"/>
            </a:solidFill>
            <a:prstDash val="solid"/>
            <a:round/>
            <a:headEnd type="none" w="sm" len="sm"/>
            <a:tailEnd type="triangle" w="med" len="med"/>
          </a:ln>
        </p:spPr>
      </p:cxnSp>
      <p:cxnSp>
        <p:nvCxnSpPr>
          <p:cNvPr id="2327" name="Google Shape;2327;p132"/>
          <p:cNvCxnSpPr/>
          <p:nvPr/>
        </p:nvCxnSpPr>
        <p:spPr>
          <a:xfrm>
            <a:off x="11639028" y="3466257"/>
            <a:ext cx="0" cy="1025227"/>
          </a:xfrm>
          <a:prstGeom prst="straightConnector1">
            <a:avLst/>
          </a:prstGeom>
          <a:noFill/>
          <a:ln w="9525" cap="flat" cmpd="sng">
            <a:solidFill>
              <a:srgbClr val="FE421C"/>
            </a:solidFill>
            <a:prstDash val="solid"/>
            <a:round/>
            <a:headEnd type="none" w="sm" len="sm"/>
            <a:tailEnd type="triangle" w="med" len="med"/>
          </a:ln>
        </p:spPr>
      </p:cxnSp>
      <p:sp>
        <p:nvSpPr>
          <p:cNvPr id="2328" name="Google Shape;2328;p132"/>
          <p:cNvSpPr txBox="1"/>
          <p:nvPr/>
        </p:nvSpPr>
        <p:spPr>
          <a:xfrm>
            <a:off x="9357406" y="3498211"/>
            <a:ext cx="2831419" cy="93871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FF0000"/>
              </a:buClr>
              <a:buSzPts val="1100"/>
              <a:buFont typeface="Arial"/>
              <a:buChar char="•"/>
            </a:pPr>
            <a:r>
              <a:rPr lang="en-US" sz="1100" b="0" i="0">
                <a:solidFill>
                  <a:srgbClr val="FF0000"/>
                </a:solidFill>
                <a:latin typeface="Arial"/>
                <a:ea typeface="Arial"/>
                <a:cs typeface="Arial"/>
                <a:sym typeface="Arial"/>
              </a:rPr>
              <a:t>git branch -M master</a:t>
            </a:r>
            <a:endParaRPr/>
          </a:p>
          <a:p>
            <a:pPr marL="285750" marR="0" lvl="0" indent="-285750" algn="l" rtl="0">
              <a:spcBef>
                <a:spcPts val="0"/>
              </a:spcBef>
              <a:spcAft>
                <a:spcPts val="0"/>
              </a:spcAft>
              <a:buClr>
                <a:srgbClr val="FF0000"/>
              </a:buClr>
              <a:buSzPts val="1100"/>
              <a:buFont typeface="Arial"/>
              <a:buChar char="•"/>
            </a:pPr>
            <a:r>
              <a:rPr lang="en-US" sz="1100" b="0" i="0">
                <a:solidFill>
                  <a:srgbClr val="FF0000"/>
                </a:solidFill>
                <a:latin typeface="Arial"/>
                <a:ea typeface="Arial"/>
                <a:cs typeface="Arial"/>
                <a:sym typeface="Arial"/>
              </a:rPr>
              <a:t>git remote add origin https://github.com/soyuztechnologies/test_btp_capm_batch2026.git</a:t>
            </a:r>
            <a:endParaRPr/>
          </a:p>
          <a:p>
            <a:pPr marL="285750" marR="0" lvl="0" indent="-285750" algn="l" rtl="0">
              <a:spcBef>
                <a:spcPts val="0"/>
              </a:spcBef>
              <a:spcAft>
                <a:spcPts val="0"/>
              </a:spcAft>
              <a:buClr>
                <a:schemeClr val="dk1"/>
              </a:buClr>
              <a:buSzPts val="1100"/>
              <a:buFont typeface="Arial"/>
              <a:buChar char="•"/>
            </a:pPr>
            <a:r>
              <a:rPr lang="en-US" sz="1100" b="1" i="0">
                <a:solidFill>
                  <a:schemeClr val="dk1"/>
                </a:solidFill>
                <a:latin typeface="Arial"/>
                <a:ea typeface="Arial"/>
                <a:cs typeface="Arial"/>
                <a:sym typeface="Arial"/>
              </a:rPr>
              <a:t>git push -u origin master</a:t>
            </a:r>
            <a:endParaRPr/>
          </a:p>
        </p:txBody>
      </p:sp>
      <p:pic>
        <p:nvPicPr>
          <p:cNvPr id="2329" name="Google Shape;2329;p132" descr="jargcode"/>
          <p:cNvPicPr preferRelativeResize="0"/>
          <p:nvPr/>
        </p:nvPicPr>
        <p:blipFill rotWithShape="1">
          <a:blip r:embed="rId4">
            <a:alphaModFix/>
          </a:blip>
          <a:srcRect/>
          <a:stretch/>
        </p:blipFill>
        <p:spPr>
          <a:xfrm>
            <a:off x="275643" y="4329653"/>
            <a:ext cx="2018666" cy="2018666"/>
          </a:xfrm>
          <a:prstGeom prst="rect">
            <a:avLst/>
          </a:prstGeom>
          <a:noFill/>
          <a:ln>
            <a:noFill/>
          </a:ln>
        </p:spPr>
      </p:pic>
      <p:sp>
        <p:nvSpPr>
          <p:cNvPr id="2330" name="Google Shape;2330;p132"/>
          <p:cNvSpPr txBox="1"/>
          <p:nvPr/>
        </p:nvSpPr>
        <p:spPr>
          <a:xfrm>
            <a:off x="382826" y="6309320"/>
            <a:ext cx="206457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Ananya</a:t>
            </a:r>
            <a:endParaRPr/>
          </a:p>
        </p:txBody>
      </p:sp>
      <p:cxnSp>
        <p:nvCxnSpPr>
          <p:cNvPr id="2331" name="Google Shape;2331;p132"/>
          <p:cNvCxnSpPr/>
          <p:nvPr/>
        </p:nvCxnSpPr>
        <p:spPr>
          <a:xfrm>
            <a:off x="1125860" y="3945558"/>
            <a:ext cx="0" cy="779586"/>
          </a:xfrm>
          <a:prstGeom prst="straightConnector1">
            <a:avLst/>
          </a:prstGeom>
          <a:noFill/>
          <a:ln w="9525" cap="flat" cmpd="sng">
            <a:solidFill>
              <a:srgbClr val="FE421C"/>
            </a:solidFill>
            <a:prstDash val="solid"/>
            <a:round/>
            <a:headEnd type="none" w="sm" len="sm"/>
            <a:tailEnd type="triangle" w="med" len="med"/>
          </a:ln>
        </p:spPr>
      </p:cxnSp>
      <p:sp>
        <p:nvSpPr>
          <p:cNvPr id="2332" name="Google Shape;2332;p132"/>
          <p:cNvSpPr txBox="1"/>
          <p:nvPr/>
        </p:nvSpPr>
        <p:spPr>
          <a:xfrm>
            <a:off x="568612" y="4092772"/>
            <a:ext cx="120149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 b="0" i="0">
                <a:solidFill>
                  <a:srgbClr val="FF0000"/>
                </a:solidFill>
                <a:latin typeface="Arial"/>
                <a:ea typeface="Arial"/>
                <a:cs typeface="Arial"/>
                <a:sym typeface="Arial"/>
              </a:rPr>
              <a:t>https://github.com/soyuztechnologies/test_btp_capm_batch2026.git</a:t>
            </a:r>
            <a:endParaRPr/>
          </a:p>
        </p:txBody>
      </p:sp>
      <p:sp>
        <p:nvSpPr>
          <p:cNvPr id="2333" name="Google Shape;2333;p132"/>
          <p:cNvSpPr/>
          <p:nvPr/>
        </p:nvSpPr>
        <p:spPr>
          <a:xfrm>
            <a:off x="2998068" y="5916271"/>
            <a:ext cx="2016224" cy="432048"/>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VS Code</a:t>
            </a:r>
            <a:endParaRPr/>
          </a:p>
        </p:txBody>
      </p:sp>
      <p:sp>
        <p:nvSpPr>
          <p:cNvPr id="2334" name="Google Shape;2334;p132"/>
          <p:cNvSpPr/>
          <p:nvPr/>
        </p:nvSpPr>
        <p:spPr>
          <a:xfrm>
            <a:off x="2782044" y="5301208"/>
            <a:ext cx="2448272" cy="576064"/>
          </a:xfrm>
          <a:prstGeom prst="plaque">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mycapapp</a:t>
            </a:r>
            <a:endParaRPr sz="2400">
              <a:solidFill>
                <a:schemeClr val="lt1"/>
              </a:solidFill>
              <a:latin typeface="Quattrocento Sans"/>
              <a:ea typeface="Quattrocento Sans"/>
              <a:cs typeface="Quattrocento Sans"/>
              <a:sym typeface="Quattrocento Sans"/>
            </a:endParaRPr>
          </a:p>
        </p:txBody>
      </p:sp>
      <p:cxnSp>
        <p:nvCxnSpPr>
          <p:cNvPr id="2335" name="Google Shape;2335;p132"/>
          <p:cNvCxnSpPr>
            <a:stCxn id="2324" idx="1"/>
            <a:endCxn id="2334" idx="3"/>
          </p:cNvCxnSpPr>
          <p:nvPr/>
        </p:nvCxnSpPr>
        <p:spPr>
          <a:xfrm flipH="1">
            <a:off x="5230278" y="5315526"/>
            <a:ext cx="3762900" cy="273600"/>
          </a:xfrm>
          <a:prstGeom prst="bentConnector3">
            <a:avLst>
              <a:gd name="adj1" fmla="val 50000"/>
            </a:avLst>
          </a:prstGeom>
          <a:noFill/>
          <a:ln w="9525" cap="flat" cmpd="sng">
            <a:solidFill>
              <a:srgbClr val="FE421C"/>
            </a:solidFill>
            <a:prstDash val="solid"/>
            <a:round/>
            <a:headEnd type="none" w="sm" len="sm"/>
            <a:tailEnd type="triangle" w="med" len="med"/>
          </a:ln>
        </p:spPr>
      </p:cxnSp>
      <p:sp>
        <p:nvSpPr>
          <p:cNvPr id="2336" name="Google Shape;2336;p132"/>
          <p:cNvSpPr/>
          <p:nvPr/>
        </p:nvSpPr>
        <p:spPr>
          <a:xfrm>
            <a:off x="2481299" y="4225003"/>
            <a:ext cx="2959776" cy="928273"/>
          </a:xfrm>
          <a:prstGeom prst="roundRect">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Local Repository</a:t>
            </a:r>
            <a:endParaRPr/>
          </a:p>
          <a:p>
            <a:pPr marL="0" marR="0" lvl="0" indent="0" algn="ctr" rtl="0">
              <a:spcBef>
                <a:spcPts val="0"/>
              </a:spcBef>
              <a:spcAft>
                <a:spcPts val="0"/>
              </a:spcAft>
              <a:buNone/>
            </a:pPr>
            <a:r>
              <a:rPr lang="en-US" sz="1800">
                <a:solidFill>
                  <a:schemeClr val="lt1"/>
                </a:solidFill>
                <a:latin typeface="Quattrocento Sans"/>
                <a:ea typeface="Quattrocento Sans"/>
                <a:cs typeface="Quattrocento Sans"/>
                <a:sym typeface="Quattrocento Sans"/>
              </a:rPr>
              <a:t>(a folder in a pen drive)</a:t>
            </a:r>
            <a:endParaRPr/>
          </a:p>
        </p:txBody>
      </p:sp>
      <p:sp>
        <p:nvSpPr>
          <p:cNvPr id="2337" name="Google Shape;2337;p132"/>
          <p:cNvSpPr txBox="1"/>
          <p:nvPr/>
        </p:nvSpPr>
        <p:spPr>
          <a:xfrm>
            <a:off x="5878388" y="5245566"/>
            <a:ext cx="180020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chemeClr val="dk1"/>
                </a:solidFill>
                <a:latin typeface="Quattrocento Sans"/>
                <a:ea typeface="Quattrocento Sans"/>
                <a:cs typeface="Quattrocento Sans"/>
                <a:sym typeface="Quattrocento Sans"/>
              </a:rPr>
              <a:t>git clone URL NAME</a:t>
            </a:r>
            <a:endParaRPr/>
          </a:p>
          <a:p>
            <a:pPr marL="0" marR="0" lvl="0" indent="0" algn="l" rtl="0">
              <a:spcBef>
                <a:spcPts val="0"/>
              </a:spcBef>
              <a:spcAft>
                <a:spcPts val="0"/>
              </a:spcAft>
              <a:buNone/>
            </a:pPr>
            <a:r>
              <a:rPr lang="en-US" sz="1100" b="1">
                <a:solidFill>
                  <a:schemeClr val="dk1"/>
                </a:solidFill>
                <a:latin typeface="Quattrocento Sans"/>
                <a:ea typeface="Quattrocento Sans"/>
                <a:cs typeface="Quattrocento Sans"/>
                <a:sym typeface="Quattrocento Sans"/>
              </a:rPr>
              <a:t>cd mycapapp</a:t>
            </a:r>
            <a:endParaRPr sz="11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100" b="1">
                <a:solidFill>
                  <a:schemeClr val="dk1"/>
                </a:solidFill>
                <a:latin typeface="Quattrocento Sans"/>
                <a:ea typeface="Quattrocento Sans"/>
                <a:cs typeface="Quattrocento Sans"/>
                <a:sym typeface="Quattrocento Sans"/>
              </a:rPr>
              <a:t>npm install</a:t>
            </a:r>
            <a:endParaRPr/>
          </a:p>
          <a:p>
            <a:pPr marL="0" marR="0" lvl="0" indent="0" algn="l" rtl="0">
              <a:spcBef>
                <a:spcPts val="0"/>
              </a:spcBef>
              <a:spcAft>
                <a:spcPts val="0"/>
              </a:spcAft>
              <a:buNone/>
            </a:pPr>
            <a:r>
              <a:rPr lang="en-US" sz="1100" b="1">
                <a:solidFill>
                  <a:schemeClr val="dk1"/>
                </a:solidFill>
                <a:latin typeface="Quattrocento Sans"/>
                <a:ea typeface="Quattrocento Sans"/>
                <a:cs typeface="Quattrocento Sans"/>
                <a:sym typeface="Quattrocento Sans"/>
              </a:rPr>
              <a:t>cds watch</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342"/>
        <p:cNvGrpSpPr/>
        <p:nvPr/>
      </p:nvGrpSpPr>
      <p:grpSpPr>
        <a:xfrm>
          <a:off x="0" y="0"/>
          <a:ext cx="0" cy="0"/>
          <a:chOff x="0" y="0"/>
          <a:chExt cx="0" cy="0"/>
        </a:xfrm>
      </p:grpSpPr>
      <p:sp>
        <p:nvSpPr>
          <p:cNvPr id="2343" name="Google Shape;2343;p13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Steps</a:t>
            </a:r>
            <a:endParaRPr/>
          </a:p>
        </p:txBody>
      </p:sp>
      <p:sp>
        <p:nvSpPr>
          <p:cNvPr id="2344" name="Google Shape;2344;p133"/>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600"/>
              <a:buFont typeface="Arial"/>
              <a:buChar char="•"/>
            </a:pPr>
            <a:r>
              <a:rPr lang="en-US" sz="1600"/>
              <a:t>Create a/c on </a:t>
            </a:r>
            <a:r>
              <a:rPr lang="en-US" sz="1600" u="sng">
                <a:solidFill>
                  <a:schemeClr val="hlink"/>
                </a:solidFill>
                <a:hlinkClick r:id="rId3"/>
              </a:rPr>
              <a:t>https://github.com/signup?ref_cta=Sign+up&amp;ref_loc=header+logged+out&amp;ref_page=%2F&amp;source=header-home</a:t>
            </a:r>
            <a:endParaRPr sz="1600"/>
          </a:p>
          <a:p>
            <a:pPr marL="285750" lvl="0" indent="-285750" algn="l" rtl="0">
              <a:spcBef>
                <a:spcPts val="360"/>
              </a:spcBef>
              <a:spcAft>
                <a:spcPts val="0"/>
              </a:spcAft>
              <a:buClr>
                <a:schemeClr val="dk1"/>
              </a:buClr>
              <a:buSzPts val="1800"/>
              <a:buFont typeface="Arial"/>
              <a:buChar char="•"/>
            </a:pPr>
            <a:r>
              <a:rPr lang="en-US" sz="1800"/>
              <a:t>PAT – Personal Access Token, it works like a password for your git a/c so from dev tools like BAS you can access your repository to upload and download code securely. We now go to settings&gt;Developer Settings&gt;Create Classic PAT token - </a:t>
            </a:r>
            <a:r>
              <a:rPr lang="en-US" sz="1800" u="sng">
                <a:solidFill>
                  <a:schemeClr val="hlink"/>
                </a:solidFill>
                <a:hlinkClick r:id="rId4"/>
              </a:rPr>
              <a:t>https://github.com/settings/tokens</a:t>
            </a:r>
            <a:endParaRPr sz="1800"/>
          </a:p>
          <a:p>
            <a:pPr marL="285750" lvl="0" indent="-285750" algn="l" rtl="0">
              <a:spcBef>
                <a:spcPts val="360"/>
              </a:spcBef>
              <a:spcAft>
                <a:spcPts val="0"/>
              </a:spcAft>
              <a:buClr>
                <a:schemeClr val="dk1"/>
              </a:buClr>
              <a:buSzPts val="1800"/>
              <a:buFont typeface="Arial"/>
              <a:buChar char="•"/>
            </a:pPr>
            <a:r>
              <a:rPr lang="en-US" sz="1800"/>
              <a:t>Now we create a remote repository (google drive folder)</a:t>
            </a:r>
            <a:endParaRPr/>
          </a:p>
          <a:p>
            <a:pPr marL="285750" lvl="0" indent="-285750" algn="l" rtl="0">
              <a:spcBef>
                <a:spcPts val="360"/>
              </a:spcBef>
              <a:spcAft>
                <a:spcPts val="0"/>
              </a:spcAft>
              <a:buClr>
                <a:schemeClr val="dk1"/>
              </a:buClr>
              <a:buSzPts val="1800"/>
              <a:buFont typeface="Arial"/>
              <a:buChar char="•"/>
            </a:pPr>
            <a:r>
              <a:rPr lang="en-US" sz="1800"/>
              <a:t>Now upload the code from local repository to remote repository (git push)</a:t>
            </a:r>
            <a:endParaRPr/>
          </a:p>
          <a:p>
            <a:pPr marL="285750" lvl="0" indent="-285750" algn="l" rtl="0">
              <a:spcBef>
                <a:spcPts val="360"/>
              </a:spcBef>
              <a:spcAft>
                <a:spcPts val="0"/>
              </a:spcAft>
              <a:buClr>
                <a:schemeClr val="dk1"/>
              </a:buClr>
              <a:buSzPts val="1800"/>
              <a:buFont typeface="Arial"/>
              <a:buChar char="•"/>
            </a:pPr>
            <a:r>
              <a:rPr lang="en-US" sz="1800"/>
              <a:t>Another developer, e.g using VS code, perform git clone to get the project first time in their dev tool</a:t>
            </a:r>
            <a:endParaRPr/>
          </a:p>
          <a:p>
            <a:pPr marL="285750" lvl="0" indent="-285750" algn="l" rtl="0">
              <a:spcBef>
                <a:spcPts val="360"/>
              </a:spcBef>
              <a:spcAft>
                <a:spcPts val="0"/>
              </a:spcAft>
              <a:buClr>
                <a:schemeClr val="dk1"/>
              </a:buClr>
              <a:buSzPts val="1800"/>
              <a:buFont typeface="Arial"/>
              <a:buChar char="•"/>
            </a:pPr>
            <a:r>
              <a:rPr lang="en-US" sz="1800"/>
              <a:t>Make changes, perform commit and push</a:t>
            </a:r>
            <a:endParaRPr/>
          </a:p>
          <a:p>
            <a:pPr marL="285750" lvl="0" indent="-285750" algn="l" rtl="0">
              <a:spcBef>
                <a:spcPts val="360"/>
              </a:spcBef>
              <a:spcAft>
                <a:spcPts val="0"/>
              </a:spcAft>
              <a:buClr>
                <a:schemeClr val="dk1"/>
              </a:buClr>
              <a:buSzPts val="1800"/>
              <a:buFont typeface="Arial"/>
              <a:buChar char="•"/>
            </a:pPr>
            <a:r>
              <a:rPr lang="en-US" sz="1800"/>
              <a:t>Others will come in morning, perform git pull</a:t>
            </a:r>
            <a:endParaRPr/>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349"/>
        <p:cNvGrpSpPr/>
        <p:nvPr/>
      </p:nvGrpSpPr>
      <p:grpSpPr>
        <a:xfrm>
          <a:off x="0" y="0"/>
          <a:ext cx="0" cy="0"/>
          <a:chOff x="0" y="0"/>
          <a:chExt cx="0" cy="0"/>
        </a:xfrm>
      </p:grpSpPr>
      <p:sp>
        <p:nvSpPr>
          <p:cNvPr id="2350" name="Google Shape;2350;p13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CI/CD</a:t>
            </a:r>
            <a:endParaRPr/>
          </a:p>
        </p:txBody>
      </p:sp>
      <p:sp>
        <p:nvSpPr>
          <p:cNvPr id="2351" name="Google Shape;2351;p13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2000"/>
              <a:buNone/>
            </a:pPr>
            <a:r>
              <a:rPr lang="en-US"/>
              <a:t>Continuous Integration (innovation) and Continuous Delivery</a:t>
            </a:r>
            <a:endParaRPr/>
          </a:p>
          <a:p>
            <a:pPr marL="0" lvl="0" indent="0" algn="l" rtl="0">
              <a:spcBef>
                <a:spcPts val="400"/>
              </a:spcBef>
              <a:spcAft>
                <a:spcPts val="0"/>
              </a:spcAft>
              <a:buClr>
                <a:schemeClr val="dk1"/>
              </a:buClr>
              <a:buSzPts val="2000"/>
              <a:buNone/>
            </a:pPr>
            <a:endParaRPr/>
          </a:p>
          <a:p>
            <a:pPr marL="0" lvl="0" indent="0" algn="l" rtl="0">
              <a:spcBef>
                <a:spcPts val="400"/>
              </a:spcBef>
              <a:spcAft>
                <a:spcPts val="0"/>
              </a:spcAft>
              <a:buClr>
                <a:schemeClr val="dk1"/>
              </a:buClr>
              <a:buSzPts val="2000"/>
              <a:buNone/>
            </a:pPr>
            <a:r>
              <a:rPr lang="en-US"/>
              <a:t>A development team spend significant time to build, deploy, test, upload code change to dev system – integration</a:t>
            </a:r>
            <a:endParaRPr/>
          </a:p>
          <a:p>
            <a:pPr marL="0" lvl="0" indent="0" algn="l" rtl="0">
              <a:spcBef>
                <a:spcPts val="400"/>
              </a:spcBef>
              <a:spcAft>
                <a:spcPts val="0"/>
              </a:spcAft>
              <a:buClr>
                <a:schemeClr val="dk1"/>
              </a:buClr>
              <a:buSzPts val="2000"/>
              <a:buNone/>
            </a:pPr>
            <a:r>
              <a:rPr lang="en-US"/>
              <a:t>Moving the code to Q and P systems – delivery</a:t>
            </a:r>
            <a:endParaRPr/>
          </a:p>
          <a:p>
            <a:pPr marL="0" lvl="0" indent="0" algn="l" rtl="0">
              <a:spcBef>
                <a:spcPts val="400"/>
              </a:spcBef>
              <a:spcAft>
                <a:spcPts val="0"/>
              </a:spcAft>
              <a:buClr>
                <a:schemeClr val="dk1"/>
              </a:buClr>
              <a:buSzPts val="2000"/>
              <a:buNone/>
            </a:pPr>
            <a:endParaRPr/>
          </a:p>
          <a:p>
            <a:pPr marL="0" lvl="0" indent="0" algn="l" rtl="0">
              <a:spcBef>
                <a:spcPts val="400"/>
              </a:spcBef>
              <a:spcAft>
                <a:spcPts val="0"/>
              </a:spcAft>
              <a:buClr>
                <a:schemeClr val="dk1"/>
              </a:buClr>
              <a:buSzPts val="2000"/>
              <a:buNone/>
            </a:pPr>
            <a:r>
              <a:rPr lang="en-US"/>
              <a:t>To save the time and automate this process is called CI/CD. It reduces manual effort and also reduces changes of bugs at later stage in SDLC. In past sap used to rely on a tool called Jenkins to automate the CI/CD process. Now, SAP directly offer specialized services in BTP for CI/CD.</a:t>
            </a:r>
            <a:endParaRPr/>
          </a:p>
        </p:txBody>
      </p:sp>
      <p:pic>
        <p:nvPicPr>
          <p:cNvPr id="2352" name="Google Shape;2352;p134" descr="What Is CI/CD and How Does It Work? | Black Duck"/>
          <p:cNvPicPr preferRelativeResize="0"/>
          <p:nvPr/>
        </p:nvPicPr>
        <p:blipFill rotWithShape="1">
          <a:blip r:embed="rId3">
            <a:alphaModFix/>
          </a:blip>
          <a:srcRect/>
          <a:stretch/>
        </p:blipFill>
        <p:spPr>
          <a:xfrm>
            <a:off x="3286100" y="4189385"/>
            <a:ext cx="5328592" cy="266429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357"/>
        <p:cNvGrpSpPr/>
        <p:nvPr/>
      </p:nvGrpSpPr>
      <p:grpSpPr>
        <a:xfrm>
          <a:off x="0" y="0"/>
          <a:ext cx="0" cy="0"/>
          <a:chOff x="0" y="0"/>
          <a:chExt cx="0" cy="0"/>
        </a:xfrm>
      </p:grpSpPr>
      <p:sp>
        <p:nvSpPr>
          <p:cNvPr id="2358" name="Google Shape;2358;p135"/>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Process</a:t>
            </a:r>
            <a:endParaRPr/>
          </a:p>
        </p:txBody>
      </p:sp>
      <p:pic>
        <p:nvPicPr>
          <p:cNvPr id="2359" name="Google Shape;2359;p135" descr="There are 47 Million Developers in the World - ShiftMag"/>
          <p:cNvPicPr preferRelativeResize="0"/>
          <p:nvPr/>
        </p:nvPicPr>
        <p:blipFill rotWithShape="1">
          <a:blip r:embed="rId3">
            <a:alphaModFix/>
          </a:blip>
          <a:srcRect/>
          <a:stretch/>
        </p:blipFill>
        <p:spPr>
          <a:xfrm>
            <a:off x="549796" y="1124744"/>
            <a:ext cx="2952750" cy="1552575"/>
          </a:xfrm>
          <a:prstGeom prst="rect">
            <a:avLst/>
          </a:prstGeom>
          <a:noFill/>
          <a:ln>
            <a:noFill/>
          </a:ln>
        </p:spPr>
      </p:pic>
      <p:pic>
        <p:nvPicPr>
          <p:cNvPr id="2360" name="Google Shape;2360;p135" descr="What is GitHub? - Pythia Foundations"/>
          <p:cNvPicPr preferRelativeResize="0"/>
          <p:nvPr/>
        </p:nvPicPr>
        <p:blipFill rotWithShape="1">
          <a:blip r:embed="rId4">
            <a:alphaModFix/>
          </a:blip>
          <a:srcRect/>
          <a:stretch/>
        </p:blipFill>
        <p:spPr>
          <a:xfrm>
            <a:off x="8781529" y="980728"/>
            <a:ext cx="2857500" cy="1600200"/>
          </a:xfrm>
          <a:prstGeom prst="rect">
            <a:avLst/>
          </a:prstGeom>
          <a:noFill/>
          <a:ln>
            <a:noFill/>
          </a:ln>
        </p:spPr>
      </p:pic>
      <p:cxnSp>
        <p:nvCxnSpPr>
          <p:cNvPr id="2361" name="Google Shape;2361;p135"/>
          <p:cNvCxnSpPr/>
          <p:nvPr/>
        </p:nvCxnSpPr>
        <p:spPr>
          <a:xfrm>
            <a:off x="3646140" y="1340768"/>
            <a:ext cx="5544616" cy="0"/>
          </a:xfrm>
          <a:prstGeom prst="straightConnector1">
            <a:avLst/>
          </a:prstGeom>
          <a:noFill/>
          <a:ln w="9525" cap="flat" cmpd="sng">
            <a:solidFill>
              <a:srgbClr val="FE421C"/>
            </a:solidFill>
            <a:prstDash val="solid"/>
            <a:round/>
            <a:headEnd type="none" w="sm" len="sm"/>
            <a:tailEnd type="triangle" w="med" len="med"/>
          </a:ln>
        </p:spPr>
      </p:cxnSp>
      <p:cxnSp>
        <p:nvCxnSpPr>
          <p:cNvPr id="2362" name="Google Shape;2362;p135"/>
          <p:cNvCxnSpPr/>
          <p:nvPr/>
        </p:nvCxnSpPr>
        <p:spPr>
          <a:xfrm>
            <a:off x="3646140" y="1556792"/>
            <a:ext cx="5544616" cy="0"/>
          </a:xfrm>
          <a:prstGeom prst="straightConnector1">
            <a:avLst/>
          </a:prstGeom>
          <a:noFill/>
          <a:ln w="9525" cap="flat" cmpd="sng">
            <a:solidFill>
              <a:srgbClr val="FE421C"/>
            </a:solidFill>
            <a:prstDash val="solid"/>
            <a:round/>
            <a:headEnd type="none" w="sm" len="sm"/>
            <a:tailEnd type="triangle" w="med" len="med"/>
          </a:ln>
        </p:spPr>
      </p:cxnSp>
      <p:cxnSp>
        <p:nvCxnSpPr>
          <p:cNvPr id="2363" name="Google Shape;2363;p135"/>
          <p:cNvCxnSpPr/>
          <p:nvPr/>
        </p:nvCxnSpPr>
        <p:spPr>
          <a:xfrm>
            <a:off x="3646140" y="1761202"/>
            <a:ext cx="5544616" cy="0"/>
          </a:xfrm>
          <a:prstGeom prst="straightConnector1">
            <a:avLst/>
          </a:prstGeom>
          <a:noFill/>
          <a:ln w="9525" cap="flat" cmpd="sng">
            <a:solidFill>
              <a:srgbClr val="FE421C"/>
            </a:solidFill>
            <a:prstDash val="solid"/>
            <a:round/>
            <a:headEnd type="none" w="sm" len="sm"/>
            <a:tailEnd type="triangle" w="med" len="med"/>
          </a:ln>
        </p:spPr>
      </p:cxnSp>
      <p:cxnSp>
        <p:nvCxnSpPr>
          <p:cNvPr id="2364" name="Google Shape;2364;p135"/>
          <p:cNvCxnSpPr/>
          <p:nvPr/>
        </p:nvCxnSpPr>
        <p:spPr>
          <a:xfrm>
            <a:off x="3646140" y="1988840"/>
            <a:ext cx="5544616" cy="0"/>
          </a:xfrm>
          <a:prstGeom prst="straightConnector1">
            <a:avLst/>
          </a:prstGeom>
          <a:noFill/>
          <a:ln w="9525" cap="flat" cmpd="sng">
            <a:solidFill>
              <a:srgbClr val="FE421C"/>
            </a:solidFill>
            <a:prstDash val="solid"/>
            <a:round/>
            <a:headEnd type="none" w="sm" len="sm"/>
            <a:tailEnd type="triangle" w="med" len="med"/>
          </a:ln>
        </p:spPr>
      </p:cxnSp>
      <p:cxnSp>
        <p:nvCxnSpPr>
          <p:cNvPr id="2365" name="Google Shape;2365;p135"/>
          <p:cNvCxnSpPr/>
          <p:nvPr/>
        </p:nvCxnSpPr>
        <p:spPr>
          <a:xfrm>
            <a:off x="3646140" y="2204864"/>
            <a:ext cx="5544616" cy="0"/>
          </a:xfrm>
          <a:prstGeom prst="straightConnector1">
            <a:avLst/>
          </a:prstGeom>
          <a:noFill/>
          <a:ln w="9525" cap="flat" cmpd="sng">
            <a:solidFill>
              <a:srgbClr val="FE421C"/>
            </a:solidFill>
            <a:prstDash val="solid"/>
            <a:round/>
            <a:headEnd type="none" w="sm" len="sm"/>
            <a:tailEnd type="triangle" w="med" len="med"/>
          </a:ln>
        </p:spPr>
      </p:cxnSp>
      <p:cxnSp>
        <p:nvCxnSpPr>
          <p:cNvPr id="2366" name="Google Shape;2366;p135"/>
          <p:cNvCxnSpPr/>
          <p:nvPr/>
        </p:nvCxnSpPr>
        <p:spPr>
          <a:xfrm>
            <a:off x="3646140" y="2420888"/>
            <a:ext cx="5544616" cy="0"/>
          </a:xfrm>
          <a:prstGeom prst="straightConnector1">
            <a:avLst/>
          </a:prstGeom>
          <a:noFill/>
          <a:ln w="9525" cap="flat" cmpd="sng">
            <a:solidFill>
              <a:srgbClr val="FE421C"/>
            </a:solidFill>
            <a:prstDash val="solid"/>
            <a:round/>
            <a:headEnd type="none" w="sm" len="sm"/>
            <a:tailEnd type="triangle" w="med" len="med"/>
          </a:ln>
        </p:spPr>
      </p:cxnSp>
      <p:sp>
        <p:nvSpPr>
          <p:cNvPr id="2367" name="Google Shape;2367;p135"/>
          <p:cNvSpPr/>
          <p:nvPr/>
        </p:nvSpPr>
        <p:spPr>
          <a:xfrm>
            <a:off x="9334772" y="2996952"/>
            <a:ext cx="2232248" cy="3096344"/>
          </a:xfrm>
          <a:prstGeom prst="roundRect">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Job (pipeline)</a:t>
            </a:r>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368" name="Google Shape;2368;p135"/>
          <p:cNvSpPr/>
          <p:nvPr/>
        </p:nvSpPr>
        <p:spPr>
          <a:xfrm>
            <a:off x="10208473" y="3666937"/>
            <a:ext cx="432048" cy="360040"/>
          </a:xfrm>
          <a:prstGeom prst="ellipse">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369" name="Google Shape;2369;p135"/>
          <p:cNvSpPr/>
          <p:nvPr/>
        </p:nvSpPr>
        <p:spPr>
          <a:xfrm>
            <a:off x="10208473" y="4149080"/>
            <a:ext cx="432048" cy="360040"/>
          </a:xfrm>
          <a:prstGeom prst="ellipse">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370" name="Google Shape;2370;p135"/>
          <p:cNvSpPr/>
          <p:nvPr/>
        </p:nvSpPr>
        <p:spPr>
          <a:xfrm>
            <a:off x="10208473" y="4653136"/>
            <a:ext cx="432048" cy="360040"/>
          </a:xfrm>
          <a:prstGeom prst="ellipse">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371" name="Google Shape;2371;p135"/>
          <p:cNvSpPr/>
          <p:nvPr/>
        </p:nvSpPr>
        <p:spPr>
          <a:xfrm>
            <a:off x="10208473" y="5157192"/>
            <a:ext cx="432048" cy="360040"/>
          </a:xfrm>
          <a:prstGeom prst="ellipse">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2372" name="Google Shape;2372;p135"/>
          <p:cNvCxnSpPr>
            <a:stCxn id="2368" idx="4"/>
          </p:cNvCxnSpPr>
          <p:nvPr/>
        </p:nvCxnSpPr>
        <p:spPr>
          <a:xfrm>
            <a:off x="10424497" y="4026977"/>
            <a:ext cx="0" cy="1850400"/>
          </a:xfrm>
          <a:prstGeom prst="straightConnector1">
            <a:avLst/>
          </a:prstGeom>
          <a:noFill/>
          <a:ln w="38100" cap="flat" cmpd="sng">
            <a:solidFill>
              <a:schemeClr val="dk1"/>
            </a:solidFill>
            <a:prstDash val="solid"/>
            <a:round/>
            <a:headEnd type="none" w="sm" len="sm"/>
            <a:tailEnd type="triangle" w="med" len="med"/>
          </a:ln>
          <a:effectLst>
            <a:outerShdw blurRad="40000" dist="23000" dir="5400000" rotWithShape="0">
              <a:srgbClr val="000000">
                <a:alpha val="34901"/>
              </a:srgbClr>
            </a:outerShdw>
          </a:effectLst>
        </p:spPr>
      </p:cxn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377"/>
        <p:cNvGrpSpPr/>
        <p:nvPr/>
      </p:nvGrpSpPr>
      <p:grpSpPr>
        <a:xfrm>
          <a:off x="0" y="0"/>
          <a:ext cx="0" cy="0"/>
          <a:chOff x="0" y="0"/>
          <a:chExt cx="0" cy="0"/>
        </a:xfrm>
      </p:grpSpPr>
      <p:sp>
        <p:nvSpPr>
          <p:cNvPr id="2378" name="Google Shape;2378;p136"/>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200"/>
              <a:buFont typeface="Corben"/>
              <a:buNone/>
            </a:pPr>
            <a:r>
              <a:rPr lang="en-US" sz="3200"/>
              <a:t>CTMS – Cloud Transport Management Service</a:t>
            </a:r>
            <a:endParaRPr/>
          </a:p>
        </p:txBody>
      </p:sp>
      <p:sp>
        <p:nvSpPr>
          <p:cNvPr id="2379" name="Google Shape;2379;p136"/>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Manages the transport of software changes across multiple BTP spaces/subaccounts/landscape (D🡪Q🡪P)</a:t>
            </a:r>
            <a:endParaRPr/>
          </a:p>
          <a:p>
            <a:pPr marL="285750" lvl="0" indent="-285750" algn="l" rtl="0">
              <a:spcBef>
                <a:spcPts val="360"/>
              </a:spcBef>
              <a:spcAft>
                <a:spcPts val="0"/>
              </a:spcAft>
              <a:buClr>
                <a:schemeClr val="dk1"/>
              </a:buClr>
              <a:buSzPts val="1800"/>
              <a:buFont typeface="Arial"/>
              <a:buChar char="•"/>
            </a:pPr>
            <a:r>
              <a:rPr lang="en-US" sz="1800"/>
              <a:t>Provides governance/traceability of application versions and configurations</a:t>
            </a:r>
            <a:endParaRPr/>
          </a:p>
          <a:p>
            <a:pPr marL="285750" lvl="0" indent="-285750" algn="l" rtl="0">
              <a:spcBef>
                <a:spcPts val="360"/>
              </a:spcBef>
              <a:spcAft>
                <a:spcPts val="0"/>
              </a:spcAft>
              <a:buClr>
                <a:schemeClr val="dk1"/>
              </a:buClr>
              <a:buSzPts val="1800"/>
              <a:buFont typeface="Arial"/>
              <a:buChar char="•"/>
            </a:pPr>
            <a:r>
              <a:rPr lang="en-US" sz="1800"/>
              <a:t>Can be linked with our CI/CD service to connect with a Job that can fully automate code to move to Q and P</a:t>
            </a:r>
            <a:endParaRPr/>
          </a:p>
          <a:p>
            <a:pPr marL="285750" lvl="0" indent="-285750" algn="l" rtl="0">
              <a:spcBef>
                <a:spcPts val="360"/>
              </a:spcBef>
              <a:spcAft>
                <a:spcPts val="0"/>
              </a:spcAft>
              <a:buClr>
                <a:schemeClr val="dk1"/>
              </a:buClr>
              <a:buSzPts val="1800"/>
              <a:buFont typeface="Arial"/>
              <a:buChar char="•"/>
            </a:pPr>
            <a:r>
              <a:rPr lang="en-US" sz="1800"/>
              <a:t>We can configure Approval workflows, System landscapes, rollback mechanisms, transport control</a:t>
            </a:r>
            <a:endParaRPr/>
          </a:p>
          <a:p>
            <a:pPr marL="285750" lvl="0" indent="-285750" algn="l" rtl="0">
              <a:spcBef>
                <a:spcPts val="360"/>
              </a:spcBef>
              <a:spcAft>
                <a:spcPts val="0"/>
              </a:spcAft>
              <a:buClr>
                <a:schemeClr val="dk1"/>
              </a:buClr>
              <a:buSzPts val="1800"/>
              <a:buFont typeface="Arial"/>
              <a:buChar char="•"/>
            </a:pPr>
            <a:r>
              <a:rPr lang="en-US" sz="1800"/>
              <a:t>Increase consistency, compliance and control for multi-environment deployments</a:t>
            </a:r>
            <a:endParaRPr/>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a:p>
            <a:pPr marL="285750" lvl="0" indent="-285750" algn="l" rtl="0">
              <a:spcBef>
                <a:spcPts val="360"/>
              </a:spcBef>
              <a:spcAft>
                <a:spcPts val="0"/>
              </a:spcAft>
              <a:buClr>
                <a:schemeClr val="dk1"/>
              </a:buClr>
              <a:buSzPts val="1800"/>
              <a:buFont typeface="Arial"/>
              <a:buChar char="•"/>
            </a:pPr>
            <a:r>
              <a:rPr lang="en-US" sz="1800"/>
              <a:t>Automate build, test, and deployment of our MTAR apps to BTP</a:t>
            </a:r>
            <a:endParaRPr/>
          </a:p>
          <a:p>
            <a:pPr marL="285750" lvl="0" indent="-285750" algn="l" rtl="0">
              <a:spcBef>
                <a:spcPts val="360"/>
              </a:spcBef>
              <a:spcAft>
                <a:spcPts val="0"/>
              </a:spcAft>
              <a:buClr>
                <a:schemeClr val="dk1"/>
              </a:buClr>
              <a:buSzPts val="1800"/>
              <a:buFont typeface="Arial"/>
              <a:buChar char="•"/>
            </a:pPr>
            <a:r>
              <a:rPr lang="en-US" sz="1800"/>
              <a:t>Enables the CI and CD to streamline software updates and reduce manual effort</a:t>
            </a:r>
            <a:endParaRPr/>
          </a:p>
          <a:p>
            <a:pPr marL="285750" lvl="0" indent="-285750" algn="l" rtl="0">
              <a:spcBef>
                <a:spcPts val="360"/>
              </a:spcBef>
              <a:spcAft>
                <a:spcPts val="0"/>
              </a:spcAft>
              <a:buClr>
                <a:schemeClr val="dk1"/>
              </a:buClr>
              <a:buSzPts val="1800"/>
              <a:buFont typeface="Arial"/>
              <a:buChar char="•"/>
            </a:pPr>
            <a:r>
              <a:rPr lang="en-US" sz="1800"/>
              <a:t>Works well with git repositories in full automation mode to get latest code changes done by developers</a:t>
            </a:r>
            <a:endParaRPr/>
          </a:p>
          <a:p>
            <a:pPr marL="285750" lvl="0" indent="-285750" algn="l" rtl="0">
              <a:spcBef>
                <a:spcPts val="360"/>
              </a:spcBef>
              <a:spcAft>
                <a:spcPts val="0"/>
              </a:spcAft>
              <a:buClr>
                <a:schemeClr val="dk1"/>
              </a:buClr>
              <a:buSzPts val="1800"/>
              <a:buFont typeface="Arial"/>
              <a:buChar char="•"/>
            </a:pPr>
            <a:r>
              <a:rPr lang="en-US" sz="1800"/>
              <a:t>Offers ready to use pipelines for SAP technologies like CAP, RAP, Build..</a:t>
            </a:r>
            <a:endParaRPr/>
          </a:p>
          <a:p>
            <a:pPr marL="285750" lvl="0" indent="-285750" algn="l" rtl="0">
              <a:spcBef>
                <a:spcPts val="360"/>
              </a:spcBef>
              <a:spcAft>
                <a:spcPts val="0"/>
              </a:spcAft>
              <a:buClr>
                <a:schemeClr val="dk1"/>
              </a:buClr>
              <a:buSzPts val="1800"/>
              <a:buFont typeface="Arial"/>
              <a:buChar char="•"/>
            </a:pPr>
            <a:r>
              <a:rPr lang="en-US" sz="1800"/>
              <a:t>Reduces manual effort, increase code quality and hence accelerates dev cycle </a:t>
            </a:r>
            <a:endParaRPr/>
          </a:p>
          <a:p>
            <a:pPr marL="0" lvl="0" indent="0" algn="l" rtl="0">
              <a:spcBef>
                <a:spcPts val="360"/>
              </a:spcBef>
              <a:spcAft>
                <a:spcPts val="0"/>
              </a:spcAft>
              <a:buClr>
                <a:schemeClr val="dk1"/>
              </a:buClr>
              <a:buSzPts val="1800"/>
              <a:buNone/>
            </a:pPr>
            <a:endParaRPr sz="1800"/>
          </a:p>
          <a:p>
            <a:pPr marL="285750" lvl="0" indent="-171450" algn="l" rtl="0">
              <a:spcBef>
                <a:spcPts val="360"/>
              </a:spcBef>
              <a:spcAft>
                <a:spcPts val="0"/>
              </a:spcAft>
              <a:buClr>
                <a:schemeClr val="dk1"/>
              </a:buClr>
              <a:buSzPts val="1800"/>
              <a:buFont typeface="Arial"/>
              <a:buNone/>
            </a:pPr>
            <a:endParaRPr sz="1800"/>
          </a:p>
        </p:txBody>
      </p:sp>
      <p:sp>
        <p:nvSpPr>
          <p:cNvPr id="2380" name="Google Shape;2380;p136"/>
          <p:cNvSpPr txBox="1"/>
          <p:nvPr/>
        </p:nvSpPr>
        <p:spPr>
          <a:xfrm>
            <a:off x="373117" y="2492896"/>
            <a:ext cx="9733444" cy="711081"/>
          </a:xfrm>
          <a:prstGeom prst="rect">
            <a:avLst/>
          </a:prstGeom>
          <a:noFill/>
          <a:ln>
            <a:noFill/>
          </a:ln>
        </p:spPr>
        <p:txBody>
          <a:bodyPr spcFirstLastPara="1" wrap="square" lIns="0" tIns="60925" rIns="0" bIns="60925" anchor="ctr" anchorCtr="0">
            <a:noAutofit/>
          </a:bodyPr>
          <a:lstStyle/>
          <a:p>
            <a:pPr marL="0" marR="0" lvl="0" indent="0" algn="l" rtl="0">
              <a:spcBef>
                <a:spcPts val="0"/>
              </a:spcBef>
              <a:spcAft>
                <a:spcPts val="0"/>
              </a:spcAft>
              <a:buClr>
                <a:schemeClr val="accent6"/>
              </a:buClr>
              <a:buSzPts val="3200"/>
              <a:buFont typeface="Corben"/>
              <a:buNone/>
            </a:pPr>
            <a:r>
              <a:rPr lang="en-US" sz="3200" b="0">
                <a:solidFill>
                  <a:schemeClr val="accent6"/>
                </a:solidFill>
                <a:latin typeface="Corben"/>
                <a:ea typeface="Corben"/>
                <a:cs typeface="Corben"/>
                <a:sym typeface="Corben"/>
              </a:rPr>
              <a:t>CICD Service</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385"/>
        <p:cNvGrpSpPr/>
        <p:nvPr/>
      </p:nvGrpSpPr>
      <p:grpSpPr>
        <a:xfrm>
          <a:off x="0" y="0"/>
          <a:ext cx="0" cy="0"/>
          <a:chOff x="0" y="0"/>
          <a:chExt cx="0" cy="0"/>
        </a:xfrm>
      </p:grpSpPr>
      <p:sp>
        <p:nvSpPr>
          <p:cNvPr id="2386" name="Google Shape;2386;p13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Steps</a:t>
            </a:r>
            <a:endParaRPr/>
          </a:p>
        </p:txBody>
      </p:sp>
      <p:sp>
        <p:nvSpPr>
          <p:cNvPr id="2387" name="Google Shape;2387;p137"/>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Subscribe to SAP BTP CICD Service</a:t>
            </a:r>
            <a:endParaRPr/>
          </a:p>
          <a:p>
            <a:pPr marL="285750" lvl="0" indent="-285750" algn="l" rtl="0">
              <a:spcBef>
                <a:spcPts val="360"/>
              </a:spcBef>
              <a:spcAft>
                <a:spcPts val="0"/>
              </a:spcAft>
              <a:buClr>
                <a:schemeClr val="dk1"/>
              </a:buClr>
              <a:buSzPts val="1800"/>
              <a:buFont typeface="Arial"/>
              <a:buChar char="•"/>
            </a:pPr>
            <a:r>
              <a:rPr lang="en-US" sz="1800"/>
              <a:t>Subscribe to SAP BTP CTMS service</a:t>
            </a:r>
            <a:endParaRPr/>
          </a:p>
          <a:p>
            <a:pPr marL="285750" lvl="0" indent="-285750" algn="l" rtl="0">
              <a:spcBef>
                <a:spcPts val="360"/>
              </a:spcBef>
              <a:spcAft>
                <a:spcPts val="0"/>
              </a:spcAft>
              <a:buClr>
                <a:schemeClr val="dk1"/>
              </a:buClr>
              <a:buSzPts val="1800"/>
              <a:buFont typeface="Arial"/>
              <a:buChar char="•"/>
            </a:pPr>
            <a:r>
              <a:rPr lang="en-US" sz="1800"/>
              <a:t>We need to grant the role to ourself to use these subscriptions so we can configure pipelines</a:t>
            </a:r>
            <a:endParaRPr/>
          </a:p>
          <a:p>
            <a:pPr marL="285750" lvl="0" indent="-285750" algn="l" rtl="0">
              <a:spcBef>
                <a:spcPts val="360"/>
              </a:spcBef>
              <a:spcAft>
                <a:spcPts val="0"/>
              </a:spcAft>
              <a:buClr>
                <a:schemeClr val="dk1"/>
              </a:buClr>
              <a:buSzPts val="1800"/>
              <a:buFont typeface="Arial"/>
              <a:buChar char="•"/>
            </a:pPr>
            <a:r>
              <a:rPr lang="en-US" sz="1800"/>
              <a:t>Create a role collection which will be granted to decision maker in my company to decide whether a transport created by dev team allowed to be imported to Q and P</a:t>
            </a:r>
            <a:endParaRPr/>
          </a:p>
          <a:p>
            <a:pPr marL="285750" lvl="0" indent="-285750" algn="l" rtl="0">
              <a:spcBef>
                <a:spcPts val="360"/>
              </a:spcBef>
              <a:spcAft>
                <a:spcPts val="0"/>
              </a:spcAft>
              <a:buClr>
                <a:schemeClr val="dk1"/>
              </a:buClr>
              <a:buSzPts val="1800"/>
              <a:buFont typeface="Arial"/>
              <a:buChar char="•"/>
            </a:pPr>
            <a:r>
              <a:rPr lang="en-US" sz="1800"/>
              <a:t>Create Spaces in BTP a/c, These spaces can exist in different subaccount also or in same subaccount.</a:t>
            </a:r>
            <a:endParaRPr/>
          </a:p>
          <a:p>
            <a:pPr marL="285750" lvl="0" indent="-285750" algn="l" rtl="0">
              <a:spcBef>
                <a:spcPts val="360"/>
              </a:spcBef>
              <a:spcAft>
                <a:spcPts val="0"/>
              </a:spcAft>
              <a:buClr>
                <a:schemeClr val="dk1"/>
              </a:buClr>
              <a:buSzPts val="1800"/>
              <a:buFont typeface="Arial"/>
              <a:buChar char="•"/>
            </a:pPr>
            <a:r>
              <a:rPr lang="en-US" sz="1800"/>
              <a:t>Note down the unique space IDs – </a:t>
            </a:r>
            <a:endParaRPr/>
          </a:p>
          <a:p>
            <a:pPr marL="1447627" lvl="1" indent="-457200" algn="l" rtl="0">
              <a:spcBef>
                <a:spcPts val="360"/>
              </a:spcBef>
              <a:spcAft>
                <a:spcPts val="0"/>
              </a:spcAft>
              <a:buClr>
                <a:schemeClr val="dk1"/>
              </a:buClr>
              <a:buSzPts val="1800"/>
              <a:buFont typeface="Noto Sans Symbols"/>
              <a:buChar char="▪"/>
            </a:pPr>
            <a:r>
              <a:rPr lang="en-US" sz="1800">
                <a:latin typeface="Arial"/>
                <a:ea typeface="Arial"/>
                <a:cs typeface="Arial"/>
                <a:sym typeface="Arial"/>
              </a:rPr>
              <a:t>We need to inform HANA DB to be allowed used by these spaces</a:t>
            </a:r>
            <a:endParaRPr/>
          </a:p>
          <a:p>
            <a:pPr marL="1447627" lvl="1" indent="-457200" algn="l" rtl="0">
              <a:spcBef>
                <a:spcPts val="360"/>
              </a:spcBef>
              <a:spcAft>
                <a:spcPts val="0"/>
              </a:spcAft>
              <a:buClr>
                <a:schemeClr val="dk1"/>
              </a:buClr>
              <a:buSzPts val="1800"/>
              <a:buFont typeface="Noto Sans Symbols"/>
              <a:buChar char="▪"/>
            </a:pPr>
            <a:r>
              <a:rPr lang="en-US" sz="1800">
                <a:latin typeface="Arial"/>
                <a:ea typeface="Arial"/>
                <a:cs typeface="Arial"/>
                <a:sym typeface="Arial"/>
              </a:rPr>
              <a:t>Create special destination (connection) so CTMS can upload the code to these spaces </a:t>
            </a:r>
            <a:r>
              <a:rPr lang="en-US" sz="1800" u="sng">
                <a:solidFill>
                  <a:schemeClr val="hlink"/>
                </a:solidFill>
                <a:latin typeface="Arial"/>
                <a:ea typeface="Arial"/>
                <a:cs typeface="Arial"/>
                <a:sym typeface="Arial"/>
                <a:hlinkClick r:id="rId3"/>
              </a:rPr>
              <a:t>docu</a:t>
            </a:r>
            <a:endParaRPr sz="1800">
              <a:latin typeface="Arial"/>
              <a:ea typeface="Arial"/>
              <a:cs typeface="Arial"/>
              <a:sym typeface="Arial"/>
            </a:endParaRPr>
          </a:p>
          <a:p>
            <a:pPr marL="0" lvl="0" indent="0" algn="l" rtl="0">
              <a:spcBef>
                <a:spcPts val="360"/>
              </a:spcBef>
              <a:spcAft>
                <a:spcPts val="0"/>
              </a:spcAft>
              <a:buClr>
                <a:schemeClr val="dk1"/>
              </a:buClr>
              <a:buSzPts val="1800"/>
              <a:buNone/>
            </a:pPr>
            <a:r>
              <a:rPr lang="en-US" sz="1800"/>
              <a:t>qlt -  112f4a91-bc3b-4e7d-8d9b-79431095a306</a:t>
            </a:r>
            <a:endParaRPr/>
          </a:p>
          <a:p>
            <a:pPr marL="0" lvl="0" indent="0" algn="l" rtl="0">
              <a:spcBef>
                <a:spcPts val="360"/>
              </a:spcBef>
              <a:spcAft>
                <a:spcPts val="0"/>
              </a:spcAft>
              <a:buClr>
                <a:schemeClr val="dk1"/>
              </a:buClr>
              <a:buSzPts val="1800"/>
              <a:buNone/>
            </a:pPr>
            <a:r>
              <a:rPr lang="en-US" sz="1800"/>
              <a:t>prod - 179155c7-6dfd-4891-8ff0-437a897e6446 </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392"/>
        <p:cNvGrpSpPr/>
        <p:nvPr/>
      </p:nvGrpSpPr>
      <p:grpSpPr>
        <a:xfrm>
          <a:off x="0" y="0"/>
          <a:ext cx="0" cy="0"/>
          <a:chOff x="0" y="0"/>
          <a:chExt cx="0" cy="0"/>
        </a:xfrm>
      </p:grpSpPr>
      <p:sp>
        <p:nvSpPr>
          <p:cNvPr id="2393" name="Google Shape;2393;p13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2394" name="Google Shape;2394;p138"/>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fontScale="92500" lnSpcReduction="10000"/>
          </a:bodyPr>
          <a:lstStyle/>
          <a:p>
            <a:pPr marL="0" lvl="0" indent="0" algn="l" rtl="0">
              <a:spcBef>
                <a:spcPts val="0"/>
              </a:spcBef>
              <a:spcAft>
                <a:spcPts val="0"/>
              </a:spcAft>
              <a:buClr>
                <a:schemeClr val="dk1"/>
              </a:buClr>
              <a:buSzPct val="100000"/>
              <a:buNone/>
            </a:pPr>
            <a:r>
              <a:rPr lang="en-US" sz="1800"/>
              <a:t>https://cockpit.hanatrial.ondemand.com/trial/#/globalaccount/46a34875-3b04-4a13-bc2c-011b3b49216f/subaccount/2402a546-4750-4a83-bccb-e5665b1d7dd0/org/115b6ee0-a7b2-43ab-b9b6-2391e45fd698/space/112f4a91-bc3b-4e7d-8d9b-79431095a306</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https://cockpit.hanatrial.ondemand.com/trial/#/globalaccount/46a34875-3b04-4a13-bc2c-011b3b49216f/subaccount/2402a546-4750-4a83-bccb-e5665b1d7dd0/org/115b6ee0-a7b2-43ab-b9b6-2391e45fd698/space/179155c7-6dfd-4891-8ff0-437a897e6446/applications</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qlt -  112f4a91-bc3b-4e7d-8d9b-79431095a306</a:t>
            </a:r>
            <a:endParaRPr/>
          </a:p>
          <a:p>
            <a:pPr marL="0" lvl="0" indent="0" algn="l" rtl="0">
              <a:spcBef>
                <a:spcPts val="333"/>
              </a:spcBef>
              <a:spcAft>
                <a:spcPts val="0"/>
              </a:spcAft>
              <a:buClr>
                <a:schemeClr val="dk1"/>
              </a:buClr>
              <a:buSzPct val="100000"/>
              <a:buNone/>
            </a:pPr>
            <a:r>
              <a:rPr lang="en-US" sz="1800"/>
              <a:t>prod - 179155c7-6dfd-4891-8ff0-437a897e6446</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b="1"/>
              <a:t>https://deploy-service.cf.&lt;domain&gt;/slprot/&lt;my-space-guid&gt;/slp</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https://deploy-service.cf.us10-001.hana.ondemand.com/slprot/&lt;my-space-guid&gt;/slp</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QLT</a:t>
            </a:r>
            <a:endParaRPr/>
          </a:p>
          <a:p>
            <a:pPr marL="0" lvl="0" indent="0" algn="l" rtl="0">
              <a:spcBef>
                <a:spcPts val="333"/>
              </a:spcBef>
              <a:spcAft>
                <a:spcPts val="0"/>
              </a:spcAft>
              <a:buClr>
                <a:schemeClr val="dk1"/>
              </a:buClr>
              <a:buSzPct val="100000"/>
              <a:buNone/>
            </a:pPr>
            <a:r>
              <a:rPr lang="en-US" sz="1800"/>
              <a:t>https://deploy-service.cf.us10-001.hana.ondemand.com/slprot/112f4a91-bc3b-4e7d-8d9b-79431095a306/slp</a:t>
            </a:r>
            <a:endParaRPr/>
          </a:p>
          <a:p>
            <a:pPr marL="0" lvl="0" indent="0" algn="l" rtl="0">
              <a:spcBef>
                <a:spcPts val="333"/>
              </a:spcBef>
              <a:spcAft>
                <a:spcPts val="0"/>
              </a:spcAft>
              <a:buClr>
                <a:schemeClr val="dk1"/>
              </a:buClr>
              <a:buSzPct val="100000"/>
              <a:buNone/>
            </a:pPr>
            <a:r>
              <a:rPr lang="en-US" sz="1800"/>
              <a:t>PROD</a:t>
            </a:r>
            <a:endParaRPr/>
          </a:p>
          <a:p>
            <a:pPr marL="0" lvl="0" indent="0" algn="l" rtl="0">
              <a:spcBef>
                <a:spcPts val="333"/>
              </a:spcBef>
              <a:spcAft>
                <a:spcPts val="0"/>
              </a:spcAft>
              <a:buClr>
                <a:schemeClr val="dk1"/>
              </a:buClr>
              <a:buSzPct val="100000"/>
              <a:buNone/>
            </a:pPr>
            <a:r>
              <a:rPr lang="en-US" sz="1800"/>
              <a:t>https://deploy-service.cf.us10-001.hana.ondemand.com/slprot/179155c7-6dfd-4891-8ff0-437a897e6446/slp</a:t>
            </a:r>
            <a:endParaRPr sz="180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399"/>
        <p:cNvGrpSpPr/>
        <p:nvPr/>
      </p:nvGrpSpPr>
      <p:grpSpPr>
        <a:xfrm>
          <a:off x="0" y="0"/>
          <a:ext cx="0" cy="0"/>
          <a:chOff x="0" y="0"/>
          <a:chExt cx="0" cy="0"/>
        </a:xfrm>
      </p:grpSpPr>
      <p:sp>
        <p:nvSpPr>
          <p:cNvPr id="2400" name="Google Shape;2400;p13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Steps Continued… CTMS</a:t>
            </a:r>
            <a:endParaRPr/>
          </a:p>
        </p:txBody>
      </p:sp>
      <p:sp>
        <p:nvSpPr>
          <p:cNvPr id="2401" name="Google Shape;2401;p139"/>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Configure the system landscape for Q and P systems with name (is important) and using our destinations</a:t>
            </a:r>
            <a:endParaRPr/>
          </a:p>
          <a:p>
            <a:pPr marL="285750" lvl="0" indent="-285750" algn="l" rtl="0">
              <a:spcBef>
                <a:spcPts val="360"/>
              </a:spcBef>
              <a:spcAft>
                <a:spcPts val="0"/>
              </a:spcAft>
              <a:buClr>
                <a:schemeClr val="dk1"/>
              </a:buClr>
              <a:buSzPts val="1800"/>
              <a:buFont typeface="Arial"/>
              <a:buChar char="•"/>
            </a:pPr>
            <a:r>
              <a:rPr lang="en-US" sz="1800"/>
              <a:t>Create CTMS instance-based service and service key and note down service key in a notepad</a:t>
            </a:r>
            <a:endParaRPr/>
          </a:p>
          <a:p>
            <a:pPr marL="285750" lvl="0" indent="-285750" algn="l" rtl="0">
              <a:spcBef>
                <a:spcPts val="360"/>
              </a:spcBef>
              <a:spcAft>
                <a:spcPts val="0"/>
              </a:spcAft>
              <a:buClr>
                <a:schemeClr val="dk1"/>
              </a:buClr>
              <a:buSzPts val="1800"/>
              <a:buFont typeface="Arial"/>
              <a:buChar char="•"/>
            </a:pPr>
            <a:r>
              <a:rPr lang="en-US" sz="1800"/>
              <a:t>Launch the CI/CD Subscription</a:t>
            </a:r>
            <a:endParaRPr/>
          </a:p>
          <a:p>
            <a:pPr marL="285750" lvl="0" indent="-285750" algn="l" rtl="0">
              <a:spcBef>
                <a:spcPts val="360"/>
              </a:spcBef>
              <a:spcAft>
                <a:spcPts val="0"/>
              </a:spcAft>
              <a:buClr>
                <a:schemeClr val="dk1"/>
              </a:buClr>
              <a:buSzPts val="1800"/>
              <a:buFont typeface="Arial"/>
              <a:buChar char="•"/>
            </a:pPr>
            <a:r>
              <a:rPr lang="en-US" sz="1800"/>
              <a:t>Maintain the credentials to our BTP a/c so once the code build (mta build), CI/CD service can send code to dev space (earlier we were doing it manually)</a:t>
            </a:r>
            <a:endParaRPr/>
          </a:p>
          <a:p>
            <a:pPr marL="285750" lvl="0" indent="-285750" algn="l" rtl="0">
              <a:spcBef>
                <a:spcPts val="360"/>
              </a:spcBef>
              <a:spcAft>
                <a:spcPts val="0"/>
              </a:spcAft>
              <a:buClr>
                <a:schemeClr val="dk1"/>
              </a:buClr>
              <a:buSzPts val="1800"/>
              <a:buFont typeface="Arial"/>
              <a:buChar char="•"/>
            </a:pPr>
            <a:r>
              <a:rPr lang="en-US" sz="1800"/>
              <a:t>Maintain the credentials as service key of CTMS service so the CI/CD service can contact the CTMS service to initialize a cloud transport for Q and P</a:t>
            </a:r>
            <a:endParaRPr/>
          </a:p>
          <a:p>
            <a:pPr marL="285750" lvl="0" indent="-285750" algn="l" rtl="0">
              <a:spcBef>
                <a:spcPts val="360"/>
              </a:spcBef>
              <a:spcAft>
                <a:spcPts val="0"/>
              </a:spcAft>
              <a:buClr>
                <a:schemeClr val="dk1"/>
              </a:buClr>
              <a:buSzPts val="1800"/>
              <a:buFont typeface="Arial"/>
              <a:buChar char="•"/>
            </a:pPr>
            <a:r>
              <a:rPr lang="en-US" sz="1800"/>
              <a:t>Maintain our Git Repository from where the code needs to be downloaded</a:t>
            </a:r>
            <a:endParaRPr/>
          </a:p>
          <a:p>
            <a:pPr marL="285750" lvl="0" indent="-285750" algn="l" rtl="0">
              <a:spcBef>
                <a:spcPts val="360"/>
              </a:spcBef>
              <a:spcAft>
                <a:spcPts val="0"/>
              </a:spcAft>
              <a:buClr>
                <a:schemeClr val="dk1"/>
              </a:buClr>
              <a:buSzPts val="1800"/>
              <a:buFont typeface="Arial"/>
              <a:buChar char="•"/>
            </a:pPr>
            <a:r>
              <a:rPr lang="en-US" sz="1800"/>
              <a:t>Whenever a developer Push the code to git repo, it has to create a signal to our CI/CD engine to download latest code and do a automated build of mtar. To achieve this connection, we use webhook. Create webhook in CI/CD and register the same with our repository in git hub.</a:t>
            </a:r>
            <a:endParaRPr/>
          </a:p>
          <a:p>
            <a:pPr marL="285750" lvl="0" indent="-285750" algn="l" rtl="0">
              <a:spcBef>
                <a:spcPts val="360"/>
              </a:spcBef>
              <a:spcAft>
                <a:spcPts val="0"/>
              </a:spcAft>
              <a:buClr>
                <a:schemeClr val="dk1"/>
              </a:buClr>
              <a:buSzPts val="1800"/>
              <a:buFont typeface="Arial"/>
              <a:buChar char="•"/>
            </a:pPr>
            <a:r>
              <a:rPr lang="en-US" sz="1800"/>
              <a:t>Create a job, define the repo, provide credentials of our a/c and link with ctms service for uploading tr</a:t>
            </a:r>
            <a:endParaRPr/>
          </a:p>
          <a:p>
            <a:pPr marL="285750" lvl="0" indent="-285750" algn="l" rtl="0">
              <a:spcBef>
                <a:spcPts val="360"/>
              </a:spcBef>
              <a:spcAft>
                <a:spcPts val="0"/>
              </a:spcAft>
              <a:buClr>
                <a:schemeClr val="dk1"/>
              </a:buClr>
              <a:buSzPts val="1800"/>
              <a:buFont typeface="Arial"/>
              <a:buChar char="•"/>
            </a:pPr>
            <a:r>
              <a:rPr lang="en-US" sz="1800"/>
              <a:t>Perform a push to repo and build was triggered</a:t>
            </a:r>
            <a:endParaRPr/>
          </a:p>
          <a:p>
            <a:pPr marL="285750" lvl="0" indent="-285750" algn="l" rtl="0">
              <a:spcBef>
                <a:spcPts val="360"/>
              </a:spcBef>
              <a:spcAft>
                <a:spcPts val="0"/>
              </a:spcAft>
              <a:buClr>
                <a:schemeClr val="dk1"/>
              </a:buClr>
              <a:buSzPts val="1800"/>
              <a:buFont typeface="Arial"/>
              <a:buChar char="•"/>
            </a:pPr>
            <a:r>
              <a:rPr lang="en-US" sz="1800"/>
              <a:t>A transport was created and we imported the TR to Q system</a:t>
            </a:r>
            <a:endParaRPr/>
          </a:p>
          <a:p>
            <a:pPr marL="285750" lvl="0" indent="-285750" algn="l" rtl="0">
              <a:spcBef>
                <a:spcPts val="360"/>
              </a:spcBef>
              <a:spcAft>
                <a:spcPts val="0"/>
              </a:spcAft>
              <a:buClr>
                <a:schemeClr val="dk1"/>
              </a:buClr>
              <a:buSzPts val="1800"/>
              <a:buFont typeface="Arial"/>
              <a:buChar char="•"/>
            </a:pPr>
            <a:r>
              <a:rPr lang="en-US" sz="1800"/>
              <a:t>If success, a TR will be created for P system</a:t>
            </a:r>
            <a:endParaRPr/>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406"/>
        <p:cNvGrpSpPr/>
        <p:nvPr/>
      </p:nvGrpSpPr>
      <p:grpSpPr>
        <a:xfrm>
          <a:off x="0" y="0"/>
          <a:ext cx="0" cy="0"/>
          <a:chOff x="0" y="0"/>
          <a:chExt cx="0" cy="0"/>
        </a:xfrm>
      </p:grpSpPr>
      <p:sp>
        <p:nvSpPr>
          <p:cNvPr id="2407" name="Google Shape;2407;p140"/>
          <p:cNvSpPr/>
          <p:nvPr/>
        </p:nvSpPr>
        <p:spPr>
          <a:xfrm>
            <a:off x="8781529" y="2655223"/>
            <a:ext cx="3351585" cy="3652973"/>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408" name="Google Shape;2408;p14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Process</a:t>
            </a:r>
            <a:endParaRPr/>
          </a:p>
        </p:txBody>
      </p:sp>
      <p:pic>
        <p:nvPicPr>
          <p:cNvPr id="2409" name="Google Shape;2409;p140" descr="There are 47 Million Developers in the World - ShiftMag"/>
          <p:cNvPicPr preferRelativeResize="0"/>
          <p:nvPr/>
        </p:nvPicPr>
        <p:blipFill rotWithShape="1">
          <a:blip r:embed="rId3">
            <a:alphaModFix/>
          </a:blip>
          <a:srcRect/>
          <a:stretch/>
        </p:blipFill>
        <p:spPr>
          <a:xfrm>
            <a:off x="534344" y="836642"/>
            <a:ext cx="2952750" cy="1552575"/>
          </a:xfrm>
          <a:prstGeom prst="rect">
            <a:avLst/>
          </a:prstGeom>
          <a:noFill/>
          <a:ln>
            <a:noFill/>
          </a:ln>
        </p:spPr>
      </p:pic>
      <p:pic>
        <p:nvPicPr>
          <p:cNvPr id="2410" name="Google Shape;2410;p140" descr="What is GitHub? - Pythia Foundations"/>
          <p:cNvPicPr preferRelativeResize="0"/>
          <p:nvPr/>
        </p:nvPicPr>
        <p:blipFill rotWithShape="1">
          <a:blip r:embed="rId4">
            <a:alphaModFix/>
          </a:blip>
          <a:srcRect/>
          <a:stretch/>
        </p:blipFill>
        <p:spPr>
          <a:xfrm>
            <a:off x="8683121" y="573004"/>
            <a:ext cx="2857500" cy="1600200"/>
          </a:xfrm>
          <a:prstGeom prst="rect">
            <a:avLst/>
          </a:prstGeom>
          <a:noFill/>
          <a:ln>
            <a:noFill/>
          </a:ln>
        </p:spPr>
      </p:pic>
      <p:cxnSp>
        <p:nvCxnSpPr>
          <p:cNvPr id="2411" name="Google Shape;2411;p140"/>
          <p:cNvCxnSpPr/>
          <p:nvPr/>
        </p:nvCxnSpPr>
        <p:spPr>
          <a:xfrm>
            <a:off x="3691792" y="908720"/>
            <a:ext cx="5544616" cy="0"/>
          </a:xfrm>
          <a:prstGeom prst="straightConnector1">
            <a:avLst/>
          </a:prstGeom>
          <a:noFill/>
          <a:ln w="9525" cap="flat" cmpd="sng">
            <a:solidFill>
              <a:srgbClr val="FE421C"/>
            </a:solidFill>
            <a:prstDash val="solid"/>
            <a:round/>
            <a:headEnd type="none" w="sm" len="sm"/>
            <a:tailEnd type="triangle" w="med" len="med"/>
          </a:ln>
        </p:spPr>
      </p:cxnSp>
      <p:cxnSp>
        <p:nvCxnSpPr>
          <p:cNvPr id="2412" name="Google Shape;2412;p140"/>
          <p:cNvCxnSpPr/>
          <p:nvPr/>
        </p:nvCxnSpPr>
        <p:spPr>
          <a:xfrm>
            <a:off x="3691792" y="1124744"/>
            <a:ext cx="5544616" cy="0"/>
          </a:xfrm>
          <a:prstGeom prst="straightConnector1">
            <a:avLst/>
          </a:prstGeom>
          <a:noFill/>
          <a:ln w="9525" cap="flat" cmpd="sng">
            <a:solidFill>
              <a:srgbClr val="FE421C"/>
            </a:solidFill>
            <a:prstDash val="solid"/>
            <a:round/>
            <a:headEnd type="none" w="sm" len="sm"/>
            <a:tailEnd type="triangle" w="med" len="med"/>
          </a:ln>
        </p:spPr>
      </p:cxnSp>
      <p:cxnSp>
        <p:nvCxnSpPr>
          <p:cNvPr id="2413" name="Google Shape;2413;p140"/>
          <p:cNvCxnSpPr/>
          <p:nvPr/>
        </p:nvCxnSpPr>
        <p:spPr>
          <a:xfrm>
            <a:off x="3691792" y="1329154"/>
            <a:ext cx="5544616" cy="0"/>
          </a:xfrm>
          <a:prstGeom prst="straightConnector1">
            <a:avLst/>
          </a:prstGeom>
          <a:noFill/>
          <a:ln w="9525" cap="flat" cmpd="sng">
            <a:solidFill>
              <a:srgbClr val="FE421C"/>
            </a:solidFill>
            <a:prstDash val="solid"/>
            <a:round/>
            <a:headEnd type="none" w="sm" len="sm"/>
            <a:tailEnd type="triangle" w="med" len="med"/>
          </a:ln>
        </p:spPr>
      </p:cxnSp>
      <p:cxnSp>
        <p:nvCxnSpPr>
          <p:cNvPr id="2414" name="Google Shape;2414;p140"/>
          <p:cNvCxnSpPr/>
          <p:nvPr/>
        </p:nvCxnSpPr>
        <p:spPr>
          <a:xfrm>
            <a:off x="3691792" y="1556792"/>
            <a:ext cx="5544616" cy="0"/>
          </a:xfrm>
          <a:prstGeom prst="straightConnector1">
            <a:avLst/>
          </a:prstGeom>
          <a:noFill/>
          <a:ln w="9525" cap="flat" cmpd="sng">
            <a:solidFill>
              <a:srgbClr val="FE421C"/>
            </a:solidFill>
            <a:prstDash val="solid"/>
            <a:round/>
            <a:headEnd type="none" w="sm" len="sm"/>
            <a:tailEnd type="triangle" w="med" len="med"/>
          </a:ln>
        </p:spPr>
      </p:cxnSp>
      <p:cxnSp>
        <p:nvCxnSpPr>
          <p:cNvPr id="2415" name="Google Shape;2415;p140"/>
          <p:cNvCxnSpPr/>
          <p:nvPr/>
        </p:nvCxnSpPr>
        <p:spPr>
          <a:xfrm>
            <a:off x="3691792" y="1772816"/>
            <a:ext cx="5544616" cy="0"/>
          </a:xfrm>
          <a:prstGeom prst="straightConnector1">
            <a:avLst/>
          </a:prstGeom>
          <a:noFill/>
          <a:ln w="9525" cap="flat" cmpd="sng">
            <a:solidFill>
              <a:srgbClr val="FE421C"/>
            </a:solidFill>
            <a:prstDash val="solid"/>
            <a:round/>
            <a:headEnd type="none" w="sm" len="sm"/>
            <a:tailEnd type="triangle" w="med" len="med"/>
          </a:ln>
        </p:spPr>
      </p:cxnSp>
      <p:cxnSp>
        <p:nvCxnSpPr>
          <p:cNvPr id="2416" name="Google Shape;2416;p140"/>
          <p:cNvCxnSpPr/>
          <p:nvPr/>
        </p:nvCxnSpPr>
        <p:spPr>
          <a:xfrm>
            <a:off x="3691792" y="1988840"/>
            <a:ext cx="5544616" cy="0"/>
          </a:xfrm>
          <a:prstGeom prst="straightConnector1">
            <a:avLst/>
          </a:prstGeom>
          <a:noFill/>
          <a:ln w="9525" cap="flat" cmpd="sng">
            <a:solidFill>
              <a:srgbClr val="FE421C"/>
            </a:solidFill>
            <a:prstDash val="solid"/>
            <a:round/>
            <a:headEnd type="none" w="sm" len="sm"/>
            <a:tailEnd type="triangle" w="med" len="med"/>
          </a:ln>
        </p:spPr>
      </p:cxnSp>
      <p:sp>
        <p:nvSpPr>
          <p:cNvPr id="2417" name="Google Shape;2417;p140"/>
          <p:cNvSpPr/>
          <p:nvPr/>
        </p:nvSpPr>
        <p:spPr>
          <a:xfrm>
            <a:off x="9308373" y="3001355"/>
            <a:ext cx="2232248" cy="3096344"/>
          </a:xfrm>
          <a:prstGeom prst="roundRect">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Job (pipeline)</a:t>
            </a:r>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418" name="Google Shape;2418;p140"/>
          <p:cNvSpPr/>
          <p:nvPr/>
        </p:nvSpPr>
        <p:spPr>
          <a:xfrm>
            <a:off x="10208473" y="3666937"/>
            <a:ext cx="432048" cy="360040"/>
          </a:xfrm>
          <a:prstGeom prst="ellipse">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419" name="Google Shape;2419;p140"/>
          <p:cNvSpPr/>
          <p:nvPr/>
        </p:nvSpPr>
        <p:spPr>
          <a:xfrm>
            <a:off x="10208473" y="4149080"/>
            <a:ext cx="432048" cy="360040"/>
          </a:xfrm>
          <a:prstGeom prst="ellipse">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420" name="Google Shape;2420;p140"/>
          <p:cNvSpPr/>
          <p:nvPr/>
        </p:nvSpPr>
        <p:spPr>
          <a:xfrm>
            <a:off x="10208473" y="4653136"/>
            <a:ext cx="432048" cy="360040"/>
          </a:xfrm>
          <a:prstGeom prst="ellipse">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421" name="Google Shape;2421;p140"/>
          <p:cNvSpPr/>
          <p:nvPr/>
        </p:nvSpPr>
        <p:spPr>
          <a:xfrm>
            <a:off x="10208473" y="5157192"/>
            <a:ext cx="432048" cy="360040"/>
          </a:xfrm>
          <a:prstGeom prst="ellipse">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cxnSp>
        <p:nvCxnSpPr>
          <p:cNvPr id="2422" name="Google Shape;2422;p140"/>
          <p:cNvCxnSpPr>
            <a:stCxn id="2418" idx="4"/>
          </p:cNvCxnSpPr>
          <p:nvPr/>
        </p:nvCxnSpPr>
        <p:spPr>
          <a:xfrm>
            <a:off x="10424497" y="4026977"/>
            <a:ext cx="0" cy="1850400"/>
          </a:xfrm>
          <a:prstGeom prst="straightConnector1">
            <a:avLst/>
          </a:prstGeom>
          <a:noFill/>
          <a:ln w="38100" cap="flat" cmpd="sng">
            <a:solidFill>
              <a:schemeClr val="dk1"/>
            </a:solidFill>
            <a:prstDash val="solid"/>
            <a:round/>
            <a:headEnd type="none" w="sm" len="sm"/>
            <a:tailEnd type="triangle" w="med" len="med"/>
          </a:ln>
          <a:effectLst>
            <a:outerShdw blurRad="40000" dist="23000" dir="5400000" rotWithShape="0">
              <a:srgbClr val="000000">
                <a:alpha val="34901"/>
              </a:srgbClr>
            </a:outerShdw>
          </a:effectLst>
        </p:spPr>
      </p:cxnSp>
      <p:sp>
        <p:nvSpPr>
          <p:cNvPr id="2423" name="Google Shape;2423;p140"/>
          <p:cNvSpPr/>
          <p:nvPr/>
        </p:nvSpPr>
        <p:spPr>
          <a:xfrm>
            <a:off x="225971" y="4966951"/>
            <a:ext cx="3600400" cy="1552575"/>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CTMS</a:t>
            </a:r>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424" name="Google Shape;2424;p140"/>
          <p:cNvSpPr/>
          <p:nvPr/>
        </p:nvSpPr>
        <p:spPr>
          <a:xfrm>
            <a:off x="6283683" y="5847211"/>
            <a:ext cx="1728192" cy="648070"/>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Prod</a:t>
            </a:r>
            <a:endParaRPr/>
          </a:p>
        </p:txBody>
      </p:sp>
      <p:sp>
        <p:nvSpPr>
          <p:cNvPr id="2425" name="Google Shape;2425;p140"/>
          <p:cNvSpPr/>
          <p:nvPr/>
        </p:nvSpPr>
        <p:spPr>
          <a:xfrm>
            <a:off x="6283683" y="5091128"/>
            <a:ext cx="1728192" cy="648070"/>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Qlt</a:t>
            </a:r>
            <a:endParaRPr sz="2400">
              <a:solidFill>
                <a:schemeClr val="lt1"/>
              </a:solidFill>
              <a:latin typeface="Quattrocento Sans"/>
              <a:ea typeface="Quattrocento Sans"/>
              <a:cs typeface="Quattrocento Sans"/>
              <a:sym typeface="Quattrocento Sans"/>
            </a:endParaRPr>
          </a:p>
        </p:txBody>
      </p:sp>
      <p:cxnSp>
        <p:nvCxnSpPr>
          <p:cNvPr id="2426" name="Google Shape;2426;p140"/>
          <p:cNvCxnSpPr>
            <a:stCxn id="2423" idx="3"/>
          </p:cNvCxnSpPr>
          <p:nvPr/>
        </p:nvCxnSpPr>
        <p:spPr>
          <a:xfrm>
            <a:off x="3826371" y="5743239"/>
            <a:ext cx="323700" cy="0"/>
          </a:xfrm>
          <a:prstGeom prst="straightConnector1">
            <a:avLst/>
          </a:prstGeom>
          <a:noFill/>
          <a:ln w="9525" cap="flat" cmpd="sng">
            <a:solidFill>
              <a:srgbClr val="FE421C"/>
            </a:solidFill>
            <a:prstDash val="solid"/>
            <a:round/>
            <a:headEnd type="none" w="sm" len="sm"/>
            <a:tailEnd type="triangle" w="med" len="med"/>
          </a:ln>
        </p:spPr>
      </p:cxnSp>
      <p:sp>
        <p:nvSpPr>
          <p:cNvPr id="2427" name="Google Shape;2427;p140"/>
          <p:cNvSpPr/>
          <p:nvPr/>
        </p:nvSpPr>
        <p:spPr>
          <a:xfrm>
            <a:off x="4222204" y="5517232"/>
            <a:ext cx="1296144" cy="432043"/>
          </a:xfrm>
          <a:prstGeom prst="roundRect">
            <a:avLst>
              <a:gd name="adj" fmla="val 16667"/>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Quattrocento Sans"/>
                <a:ea typeface="Quattrocento Sans"/>
                <a:cs typeface="Quattrocento Sans"/>
                <a:sym typeface="Quattrocento Sans"/>
              </a:rPr>
              <a:t>destinations</a:t>
            </a:r>
            <a:endParaRPr/>
          </a:p>
        </p:txBody>
      </p:sp>
      <p:cxnSp>
        <p:nvCxnSpPr>
          <p:cNvPr id="2428" name="Google Shape;2428;p140"/>
          <p:cNvCxnSpPr>
            <a:stCxn id="2427" idx="3"/>
            <a:endCxn id="2425" idx="1"/>
          </p:cNvCxnSpPr>
          <p:nvPr/>
        </p:nvCxnSpPr>
        <p:spPr>
          <a:xfrm rot="10800000" flipH="1">
            <a:off x="5518348" y="5415254"/>
            <a:ext cx="765300" cy="318000"/>
          </a:xfrm>
          <a:prstGeom prst="straightConnector1">
            <a:avLst/>
          </a:prstGeom>
          <a:noFill/>
          <a:ln w="9525" cap="flat" cmpd="sng">
            <a:solidFill>
              <a:srgbClr val="FE421C"/>
            </a:solidFill>
            <a:prstDash val="solid"/>
            <a:round/>
            <a:headEnd type="none" w="sm" len="sm"/>
            <a:tailEnd type="triangle" w="med" len="med"/>
          </a:ln>
        </p:spPr>
      </p:cxnSp>
      <p:cxnSp>
        <p:nvCxnSpPr>
          <p:cNvPr id="2429" name="Google Shape;2429;p140"/>
          <p:cNvCxnSpPr>
            <a:stCxn id="2427" idx="3"/>
            <a:endCxn id="2424" idx="1"/>
          </p:cNvCxnSpPr>
          <p:nvPr/>
        </p:nvCxnSpPr>
        <p:spPr>
          <a:xfrm>
            <a:off x="5518348" y="5733254"/>
            <a:ext cx="765300" cy="438000"/>
          </a:xfrm>
          <a:prstGeom prst="straightConnector1">
            <a:avLst/>
          </a:prstGeom>
          <a:noFill/>
          <a:ln w="9525" cap="flat" cmpd="sng">
            <a:solidFill>
              <a:srgbClr val="FE421C"/>
            </a:solidFill>
            <a:prstDash val="solid"/>
            <a:round/>
            <a:headEnd type="none" w="sm" len="sm"/>
            <a:tailEnd type="triangle" w="med" len="med"/>
          </a:ln>
        </p:spPr>
      </p:cxnSp>
      <p:sp>
        <p:nvSpPr>
          <p:cNvPr id="2430" name="Google Shape;2430;p140"/>
          <p:cNvSpPr/>
          <p:nvPr/>
        </p:nvSpPr>
        <p:spPr>
          <a:xfrm>
            <a:off x="451471" y="5399593"/>
            <a:ext cx="1109297" cy="888338"/>
          </a:xfrm>
          <a:prstGeom prst="roundRect">
            <a:avLst>
              <a:gd name="adj" fmla="val 16667"/>
            </a:avLst>
          </a:prstGeom>
          <a:solidFill>
            <a:schemeClr val="accent2"/>
          </a:solidFill>
          <a:ln w="25400" cap="flat" cmpd="sng">
            <a:solidFill>
              <a:srgbClr val="152D6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qlt</a:t>
            </a:r>
            <a:endParaRPr sz="2400">
              <a:solidFill>
                <a:schemeClr val="lt1"/>
              </a:solidFill>
              <a:latin typeface="Quattrocento Sans"/>
              <a:ea typeface="Quattrocento Sans"/>
              <a:cs typeface="Quattrocento Sans"/>
              <a:sym typeface="Quattrocento Sans"/>
            </a:endParaRPr>
          </a:p>
        </p:txBody>
      </p:sp>
      <p:sp>
        <p:nvSpPr>
          <p:cNvPr id="2431" name="Google Shape;2431;p140"/>
          <p:cNvSpPr/>
          <p:nvPr/>
        </p:nvSpPr>
        <p:spPr>
          <a:xfrm>
            <a:off x="2059788" y="5399593"/>
            <a:ext cx="1109297" cy="888338"/>
          </a:xfrm>
          <a:prstGeom prst="roundRect">
            <a:avLst>
              <a:gd name="adj" fmla="val 16667"/>
            </a:avLst>
          </a:prstGeom>
          <a:solidFill>
            <a:schemeClr val="accent2"/>
          </a:solidFill>
          <a:ln w="25400" cap="flat" cmpd="sng">
            <a:solidFill>
              <a:srgbClr val="152D6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prod</a:t>
            </a:r>
            <a:endParaRPr/>
          </a:p>
        </p:txBody>
      </p:sp>
      <p:sp>
        <p:nvSpPr>
          <p:cNvPr id="2432" name="Google Shape;2432;p140"/>
          <p:cNvSpPr/>
          <p:nvPr/>
        </p:nvSpPr>
        <p:spPr>
          <a:xfrm>
            <a:off x="1548304" y="5661248"/>
            <a:ext cx="549875" cy="288027"/>
          </a:xfrm>
          <a:prstGeom prst="rightArrow">
            <a:avLst>
              <a:gd name="adj1" fmla="val 50000"/>
              <a:gd name="adj2" fmla="val 50000"/>
            </a:avLst>
          </a:prstGeom>
          <a:solidFill>
            <a:schemeClr val="accent2"/>
          </a:solidFill>
          <a:ln w="25400" cap="flat" cmpd="sng">
            <a:solidFill>
              <a:srgbClr val="152D6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2433" name="Google Shape;2433;p140"/>
          <p:cNvPicPr preferRelativeResize="0"/>
          <p:nvPr/>
        </p:nvPicPr>
        <p:blipFill rotWithShape="1">
          <a:blip r:embed="rId5">
            <a:alphaModFix/>
          </a:blip>
          <a:srcRect/>
          <a:stretch/>
        </p:blipFill>
        <p:spPr>
          <a:xfrm>
            <a:off x="6361789" y="5260930"/>
            <a:ext cx="318092" cy="318092"/>
          </a:xfrm>
          <a:prstGeom prst="rect">
            <a:avLst/>
          </a:prstGeom>
          <a:noFill/>
          <a:ln>
            <a:noFill/>
          </a:ln>
        </p:spPr>
      </p:pic>
      <p:pic>
        <p:nvPicPr>
          <p:cNvPr id="2434" name="Google Shape;2434;p140"/>
          <p:cNvPicPr preferRelativeResize="0"/>
          <p:nvPr/>
        </p:nvPicPr>
        <p:blipFill rotWithShape="1">
          <a:blip r:embed="rId5">
            <a:alphaModFix/>
          </a:blip>
          <a:srcRect/>
          <a:stretch/>
        </p:blipFill>
        <p:spPr>
          <a:xfrm>
            <a:off x="6332140" y="6012200"/>
            <a:ext cx="318092" cy="318092"/>
          </a:xfrm>
          <a:prstGeom prst="rect">
            <a:avLst/>
          </a:prstGeom>
          <a:noFill/>
          <a:ln>
            <a:noFill/>
          </a:ln>
        </p:spPr>
      </p:pic>
      <p:pic>
        <p:nvPicPr>
          <p:cNvPr id="2435" name="Google Shape;2435;p140"/>
          <p:cNvPicPr preferRelativeResize="0"/>
          <p:nvPr/>
        </p:nvPicPr>
        <p:blipFill rotWithShape="1">
          <a:blip r:embed="rId5">
            <a:alphaModFix/>
          </a:blip>
          <a:srcRect/>
          <a:stretch/>
        </p:blipFill>
        <p:spPr>
          <a:xfrm>
            <a:off x="4184671" y="5574208"/>
            <a:ext cx="318092" cy="318092"/>
          </a:xfrm>
          <a:prstGeom prst="rect">
            <a:avLst/>
          </a:prstGeom>
          <a:noFill/>
          <a:ln>
            <a:noFill/>
          </a:ln>
        </p:spPr>
      </p:pic>
      <p:pic>
        <p:nvPicPr>
          <p:cNvPr id="2436" name="Google Shape;2436;p140"/>
          <p:cNvPicPr preferRelativeResize="0"/>
          <p:nvPr/>
        </p:nvPicPr>
        <p:blipFill rotWithShape="1">
          <a:blip r:embed="rId5">
            <a:alphaModFix/>
          </a:blip>
          <a:srcRect/>
          <a:stretch/>
        </p:blipFill>
        <p:spPr>
          <a:xfrm>
            <a:off x="3487094" y="5023929"/>
            <a:ext cx="318092" cy="318092"/>
          </a:xfrm>
          <a:prstGeom prst="rect">
            <a:avLst/>
          </a:prstGeom>
          <a:noFill/>
          <a:ln>
            <a:noFill/>
          </a:ln>
        </p:spPr>
      </p:pic>
      <p:pic>
        <p:nvPicPr>
          <p:cNvPr id="2437" name="Google Shape;2437;p140"/>
          <p:cNvPicPr preferRelativeResize="0"/>
          <p:nvPr/>
        </p:nvPicPr>
        <p:blipFill rotWithShape="1">
          <a:blip r:embed="rId5">
            <a:alphaModFix/>
          </a:blip>
          <a:srcRect/>
          <a:stretch/>
        </p:blipFill>
        <p:spPr>
          <a:xfrm>
            <a:off x="10702924" y="1055023"/>
            <a:ext cx="318092" cy="318092"/>
          </a:xfrm>
          <a:prstGeom prst="rect">
            <a:avLst/>
          </a:prstGeom>
          <a:noFill/>
          <a:ln>
            <a:noFill/>
          </a:ln>
        </p:spPr>
      </p:pic>
      <p:sp>
        <p:nvSpPr>
          <p:cNvPr id="2438" name="Google Shape;2438;p140"/>
          <p:cNvSpPr/>
          <p:nvPr/>
        </p:nvSpPr>
        <p:spPr>
          <a:xfrm>
            <a:off x="187580" y="3939541"/>
            <a:ext cx="1872208" cy="680262"/>
          </a:xfrm>
          <a:prstGeom prst="hexagon">
            <a:avLst>
              <a:gd name="adj" fmla="val 25000"/>
              <a:gd name="vf" fmla="val 11547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ctms</a:t>
            </a:r>
            <a:endParaRPr sz="2400">
              <a:solidFill>
                <a:schemeClr val="lt1"/>
              </a:solidFill>
              <a:latin typeface="Quattrocento Sans"/>
              <a:ea typeface="Quattrocento Sans"/>
              <a:cs typeface="Quattrocento Sans"/>
              <a:sym typeface="Quattrocento Sans"/>
            </a:endParaRPr>
          </a:p>
        </p:txBody>
      </p:sp>
      <p:cxnSp>
        <p:nvCxnSpPr>
          <p:cNvPr id="2439" name="Google Shape;2439;p140"/>
          <p:cNvCxnSpPr>
            <a:endCxn id="2423" idx="0"/>
          </p:cNvCxnSpPr>
          <p:nvPr/>
        </p:nvCxnSpPr>
        <p:spPr>
          <a:xfrm>
            <a:off x="1053871" y="4615651"/>
            <a:ext cx="972300" cy="351300"/>
          </a:xfrm>
          <a:prstGeom prst="straightConnector1">
            <a:avLst/>
          </a:prstGeom>
          <a:noFill/>
          <a:ln w="19050" cap="flat" cmpd="sng">
            <a:solidFill>
              <a:schemeClr val="accent2"/>
            </a:solidFill>
            <a:prstDash val="solid"/>
            <a:round/>
            <a:headEnd type="none" w="sm" len="sm"/>
            <a:tailEnd type="stealth" w="med" len="med"/>
          </a:ln>
        </p:spPr>
      </p:cxnSp>
      <p:sp>
        <p:nvSpPr>
          <p:cNvPr id="2440" name="Google Shape;2440;p140"/>
          <p:cNvSpPr txBox="1"/>
          <p:nvPr/>
        </p:nvSpPr>
        <p:spPr>
          <a:xfrm>
            <a:off x="11582242" y="2856404"/>
            <a:ext cx="239199"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C I C D Subs</a:t>
            </a:r>
            <a:endParaRPr/>
          </a:p>
        </p:txBody>
      </p:sp>
      <p:sp>
        <p:nvSpPr>
          <p:cNvPr id="2441" name="Google Shape;2441;p140"/>
          <p:cNvSpPr/>
          <p:nvPr/>
        </p:nvSpPr>
        <p:spPr>
          <a:xfrm>
            <a:off x="6276269" y="4379898"/>
            <a:ext cx="1754945" cy="657223"/>
          </a:xfrm>
          <a:prstGeom prst="rect">
            <a:avLst/>
          </a:prstGeom>
          <a:solidFill>
            <a:schemeClr val="accent4"/>
          </a:solidFill>
          <a:ln w="25400" cap="flat" cmpd="sng">
            <a:solidFill>
              <a:srgbClr val="5749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Dev</a:t>
            </a:r>
            <a:endParaRPr/>
          </a:p>
        </p:txBody>
      </p:sp>
      <p:sp>
        <p:nvSpPr>
          <p:cNvPr id="2442" name="Google Shape;2442;p140"/>
          <p:cNvSpPr/>
          <p:nvPr/>
        </p:nvSpPr>
        <p:spPr>
          <a:xfrm>
            <a:off x="5878388" y="3666937"/>
            <a:ext cx="2569680" cy="3191062"/>
          </a:xfrm>
          <a:prstGeom prst="frame">
            <a:avLst>
              <a:gd name="adj1" fmla="val 12500"/>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Quattrocento Sans"/>
                <a:ea typeface="Quattrocento Sans"/>
                <a:cs typeface="Quattrocento Sans"/>
                <a:sym typeface="Quattrocento Sans"/>
              </a:rPr>
              <a:t>BTP Account</a:t>
            </a:r>
            <a:endParaRPr/>
          </a:p>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pic>
        <p:nvPicPr>
          <p:cNvPr id="2443" name="Google Shape;2443;p140"/>
          <p:cNvPicPr preferRelativeResize="0"/>
          <p:nvPr/>
        </p:nvPicPr>
        <p:blipFill rotWithShape="1">
          <a:blip r:embed="rId5">
            <a:alphaModFix/>
          </a:blip>
          <a:srcRect/>
          <a:stretch/>
        </p:blipFill>
        <p:spPr>
          <a:xfrm>
            <a:off x="6330929" y="4410318"/>
            <a:ext cx="318092" cy="318092"/>
          </a:xfrm>
          <a:prstGeom prst="rect">
            <a:avLst/>
          </a:prstGeom>
          <a:noFill/>
          <a:ln>
            <a:noFill/>
          </a:ln>
        </p:spPr>
      </p:pic>
      <p:sp>
        <p:nvSpPr>
          <p:cNvPr id="2444" name="Google Shape;2444;p140"/>
          <p:cNvSpPr/>
          <p:nvPr/>
        </p:nvSpPr>
        <p:spPr>
          <a:xfrm>
            <a:off x="7623785" y="2616931"/>
            <a:ext cx="1629785" cy="360039"/>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Btp-cred</a:t>
            </a:r>
            <a:endParaRPr/>
          </a:p>
        </p:txBody>
      </p:sp>
      <p:pic>
        <p:nvPicPr>
          <p:cNvPr id="2445" name="Google Shape;2445;p140"/>
          <p:cNvPicPr preferRelativeResize="0"/>
          <p:nvPr/>
        </p:nvPicPr>
        <p:blipFill rotWithShape="1">
          <a:blip r:embed="rId5">
            <a:alphaModFix/>
          </a:blip>
          <a:srcRect/>
          <a:stretch/>
        </p:blipFill>
        <p:spPr>
          <a:xfrm>
            <a:off x="7503463" y="2638522"/>
            <a:ext cx="318092" cy="318092"/>
          </a:xfrm>
          <a:prstGeom prst="rect">
            <a:avLst/>
          </a:prstGeom>
          <a:noFill/>
          <a:ln>
            <a:noFill/>
          </a:ln>
        </p:spPr>
      </p:pic>
      <p:cxnSp>
        <p:nvCxnSpPr>
          <p:cNvPr id="2446" name="Google Shape;2446;p140"/>
          <p:cNvCxnSpPr>
            <a:stCxn id="2444" idx="2"/>
          </p:cNvCxnSpPr>
          <p:nvPr/>
        </p:nvCxnSpPr>
        <p:spPr>
          <a:xfrm flipH="1">
            <a:off x="7900778" y="2976970"/>
            <a:ext cx="537900" cy="1269300"/>
          </a:xfrm>
          <a:prstGeom prst="straightConnector1">
            <a:avLst/>
          </a:prstGeom>
          <a:noFill/>
          <a:ln w="38100" cap="flat" cmpd="sng">
            <a:solidFill>
              <a:schemeClr val="accent5"/>
            </a:solidFill>
            <a:prstDash val="solid"/>
            <a:round/>
            <a:headEnd type="none" w="sm" len="sm"/>
            <a:tailEnd type="triangle" w="med" len="med"/>
          </a:ln>
          <a:effectLst>
            <a:outerShdw blurRad="40000" dist="23000" dir="5400000" rotWithShape="0">
              <a:srgbClr val="000000">
                <a:alpha val="34901"/>
              </a:srgbClr>
            </a:outerShdw>
          </a:effectLst>
        </p:spPr>
      </p:cxnSp>
      <p:sp>
        <p:nvSpPr>
          <p:cNvPr id="2447" name="Google Shape;2447;p140"/>
          <p:cNvSpPr/>
          <p:nvPr/>
        </p:nvSpPr>
        <p:spPr>
          <a:xfrm>
            <a:off x="7606623" y="3051265"/>
            <a:ext cx="1629785" cy="360039"/>
          </a:xfrm>
          <a:prstGeom prst="rect">
            <a:avLst/>
          </a:prstGeom>
          <a:solidFill>
            <a:schemeClr val="accent1"/>
          </a:solidFill>
          <a:ln w="25400" cap="flat" cmpd="sng">
            <a:solidFill>
              <a:srgbClr val="6B1E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Quattrocento Sans"/>
                <a:ea typeface="Quattrocento Sans"/>
                <a:cs typeface="Quattrocento Sans"/>
                <a:sym typeface="Quattrocento Sans"/>
              </a:rPr>
              <a:t>Ctms-cred</a:t>
            </a:r>
            <a:endParaRPr/>
          </a:p>
        </p:txBody>
      </p:sp>
      <p:pic>
        <p:nvPicPr>
          <p:cNvPr id="2448" name="Google Shape;2448;p140"/>
          <p:cNvPicPr preferRelativeResize="0"/>
          <p:nvPr/>
        </p:nvPicPr>
        <p:blipFill rotWithShape="1">
          <a:blip r:embed="rId5">
            <a:alphaModFix/>
          </a:blip>
          <a:srcRect/>
          <a:stretch/>
        </p:blipFill>
        <p:spPr>
          <a:xfrm>
            <a:off x="7444136" y="3099294"/>
            <a:ext cx="318092" cy="318092"/>
          </a:xfrm>
          <a:prstGeom prst="rect">
            <a:avLst/>
          </a:prstGeom>
          <a:noFill/>
          <a:ln>
            <a:noFill/>
          </a:ln>
        </p:spPr>
      </p:pic>
      <p:cxnSp>
        <p:nvCxnSpPr>
          <p:cNvPr id="2449" name="Google Shape;2449;p140"/>
          <p:cNvCxnSpPr/>
          <p:nvPr/>
        </p:nvCxnSpPr>
        <p:spPr>
          <a:xfrm flipH="1">
            <a:off x="1197868" y="3279842"/>
            <a:ext cx="6278218" cy="659699"/>
          </a:xfrm>
          <a:prstGeom prst="straightConnector1">
            <a:avLst/>
          </a:prstGeom>
          <a:noFill/>
          <a:ln w="38100" cap="flat" cmpd="sng">
            <a:solidFill>
              <a:schemeClr val="accent5"/>
            </a:solidFill>
            <a:prstDash val="solid"/>
            <a:round/>
            <a:headEnd type="none" w="sm" len="sm"/>
            <a:tailEnd type="triangle" w="med" len="med"/>
          </a:ln>
          <a:effectLst>
            <a:outerShdw blurRad="40000" dist="23000" dir="5400000" rotWithShape="0">
              <a:srgbClr val="000000">
                <a:alpha val="34901"/>
              </a:srgbClr>
            </a:outerShdw>
          </a:effectLst>
        </p:spPr>
      </p:cxnSp>
      <p:sp>
        <p:nvSpPr>
          <p:cNvPr id="2450" name="Google Shape;2450;p140"/>
          <p:cNvSpPr txBox="1"/>
          <p:nvPr/>
        </p:nvSpPr>
        <p:spPr>
          <a:xfrm>
            <a:off x="5302324" y="692696"/>
            <a:ext cx="16561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Quattrocento Sans"/>
                <a:ea typeface="Quattrocento Sans"/>
                <a:cs typeface="Quattrocento Sans"/>
                <a:sym typeface="Quattrocento Sans"/>
              </a:rPr>
              <a:t>push</a:t>
            </a:r>
            <a:endParaRPr/>
          </a:p>
        </p:txBody>
      </p:sp>
      <p:pic>
        <p:nvPicPr>
          <p:cNvPr id="2451" name="Google Shape;2451;p140" descr="Wifi Icon PNG Transparent Background, Free Download #3779 - FreeIconsPNG"/>
          <p:cNvPicPr preferRelativeResize="0"/>
          <p:nvPr/>
        </p:nvPicPr>
        <p:blipFill rotWithShape="1">
          <a:blip r:embed="rId6">
            <a:alphaModFix/>
          </a:blip>
          <a:srcRect/>
          <a:stretch/>
        </p:blipFill>
        <p:spPr>
          <a:xfrm rot="7960333">
            <a:off x="10857389" y="1180340"/>
            <a:ext cx="989658" cy="989658"/>
          </a:xfrm>
          <a:prstGeom prst="rect">
            <a:avLst/>
          </a:prstGeom>
          <a:noFill/>
          <a:ln>
            <a:noFill/>
          </a:ln>
        </p:spPr>
      </p:pic>
      <p:pic>
        <p:nvPicPr>
          <p:cNvPr id="2452" name="Google Shape;2452;p140" descr="Antenna - Free technology icons"/>
          <p:cNvPicPr preferRelativeResize="0"/>
          <p:nvPr/>
        </p:nvPicPr>
        <p:blipFill rotWithShape="1">
          <a:blip r:embed="rId7">
            <a:alphaModFix/>
          </a:blip>
          <a:srcRect/>
          <a:stretch/>
        </p:blipFill>
        <p:spPr>
          <a:xfrm>
            <a:off x="10925872" y="2448415"/>
            <a:ext cx="770585" cy="770585"/>
          </a:xfrm>
          <a:prstGeom prst="rect">
            <a:avLst/>
          </a:prstGeom>
          <a:noFill/>
          <a:ln>
            <a:noFill/>
          </a:ln>
        </p:spPr>
      </p:pic>
      <p:pic>
        <p:nvPicPr>
          <p:cNvPr id="2453" name="Google Shape;2453;p140"/>
          <p:cNvPicPr preferRelativeResize="0"/>
          <p:nvPr/>
        </p:nvPicPr>
        <p:blipFill rotWithShape="1">
          <a:blip r:embed="rId5">
            <a:alphaModFix/>
          </a:blip>
          <a:srcRect/>
          <a:stretch/>
        </p:blipFill>
        <p:spPr>
          <a:xfrm>
            <a:off x="11272452" y="1176047"/>
            <a:ext cx="318092" cy="318092"/>
          </a:xfrm>
          <a:prstGeom prst="rect">
            <a:avLst/>
          </a:prstGeom>
          <a:noFill/>
          <a:ln>
            <a:noFill/>
          </a:ln>
        </p:spPr>
      </p:pic>
      <p:pic>
        <p:nvPicPr>
          <p:cNvPr id="2454" name="Google Shape;2454;p140"/>
          <p:cNvPicPr preferRelativeResize="0"/>
          <p:nvPr/>
        </p:nvPicPr>
        <p:blipFill rotWithShape="1">
          <a:blip r:embed="rId5">
            <a:alphaModFix/>
          </a:blip>
          <a:srcRect/>
          <a:stretch/>
        </p:blipFill>
        <p:spPr>
          <a:xfrm>
            <a:off x="11125975" y="2677471"/>
            <a:ext cx="318092" cy="318092"/>
          </a:xfrm>
          <a:prstGeom prst="rect">
            <a:avLst/>
          </a:prstGeom>
          <a:noFill/>
          <a:ln>
            <a:noFill/>
          </a:ln>
        </p:spPr>
      </p:pic>
      <p:pic>
        <p:nvPicPr>
          <p:cNvPr id="2455" name="Google Shape;2455;p140"/>
          <p:cNvPicPr preferRelativeResize="0"/>
          <p:nvPr/>
        </p:nvPicPr>
        <p:blipFill rotWithShape="1">
          <a:blip r:embed="rId5">
            <a:alphaModFix/>
          </a:blip>
          <a:srcRect/>
          <a:stretch/>
        </p:blipFill>
        <p:spPr>
          <a:xfrm>
            <a:off x="10231151" y="2995563"/>
            <a:ext cx="318092" cy="318092"/>
          </a:xfrm>
          <a:prstGeom prst="rect">
            <a:avLst/>
          </a:prstGeom>
          <a:noFill/>
          <a:ln>
            <a:noFill/>
          </a:ln>
        </p:spPr>
      </p:pic>
      <p:pic>
        <p:nvPicPr>
          <p:cNvPr id="2456" name="Google Shape;2456;p140"/>
          <p:cNvPicPr preferRelativeResize="0"/>
          <p:nvPr/>
        </p:nvPicPr>
        <p:blipFill rotWithShape="1">
          <a:blip r:embed="rId5">
            <a:alphaModFix/>
          </a:blip>
          <a:srcRect/>
          <a:stretch/>
        </p:blipFill>
        <p:spPr>
          <a:xfrm>
            <a:off x="10855324" y="1207423"/>
            <a:ext cx="318092" cy="318092"/>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461"/>
        <p:cNvGrpSpPr/>
        <p:nvPr/>
      </p:nvGrpSpPr>
      <p:grpSpPr>
        <a:xfrm>
          <a:off x="0" y="0"/>
          <a:ext cx="0" cy="0"/>
          <a:chOff x="0" y="0"/>
          <a:chExt cx="0" cy="0"/>
        </a:xfrm>
      </p:grpSpPr>
      <p:sp>
        <p:nvSpPr>
          <p:cNvPr id="2462" name="Google Shape;2462;p14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Question</a:t>
            </a:r>
            <a:endParaRPr/>
          </a:p>
        </p:txBody>
      </p:sp>
      <p:sp>
        <p:nvSpPr>
          <p:cNvPr id="2463" name="Google Shape;2463;p141"/>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342900" lvl="0" indent="-342900" algn="l" rtl="0">
              <a:spcBef>
                <a:spcPts val="0"/>
              </a:spcBef>
              <a:spcAft>
                <a:spcPts val="0"/>
              </a:spcAft>
              <a:buClr>
                <a:schemeClr val="dk1"/>
              </a:buClr>
              <a:buSzPts val="1800"/>
              <a:buAutoNum type="arabicPeriod"/>
            </a:pPr>
            <a:r>
              <a:rPr lang="en-US" sz="1800"/>
              <a:t>In my company we have a team which is responsible for managing the CAP application which includes Database tables, CDS views, Services. But we have a separate team that manages the UI (Fiori team), what do you recommend, shall we give access to our CAP project to that time so they can add their UI in our app folder?</a:t>
            </a:r>
            <a:endParaRPr/>
          </a:p>
          <a:p>
            <a:pPr marL="342900" lvl="0" indent="-342900" algn="l" rtl="0">
              <a:spcBef>
                <a:spcPts val="360"/>
              </a:spcBef>
              <a:spcAft>
                <a:spcPts val="0"/>
              </a:spcAft>
              <a:buClr>
                <a:schemeClr val="dk1"/>
              </a:buClr>
              <a:buSzPts val="1800"/>
              <a:buAutoNum type="arabicPeriod"/>
            </a:pPr>
            <a:r>
              <a:rPr lang="en-US" sz="1800"/>
              <a:t>As a company we write business logic and DB layer in CAP project, Over the time, the business logic and DB is finalized and does not attract many changes. However the UI keeps on changing, The problem is if we keep the ui module in CAP project, we have to rebuild everything, everytime. We want to decouple UI and components of our applications. Is it possible?</a:t>
            </a:r>
            <a:endParaRPr/>
          </a:p>
          <a:p>
            <a:pPr marL="342900" lvl="0" indent="-342900" algn="l" rtl="0">
              <a:spcBef>
                <a:spcPts val="360"/>
              </a:spcBef>
              <a:spcAft>
                <a:spcPts val="0"/>
              </a:spcAft>
              <a:buClr>
                <a:schemeClr val="dk1"/>
              </a:buClr>
              <a:buSzPts val="1800"/>
              <a:buAutoNum type="arabicPeriod"/>
            </a:pPr>
            <a:r>
              <a:rPr lang="en-US" sz="1800"/>
              <a:t>There are several teams in my company wants to build UI on top of my CAP service, what is the best practice.</a:t>
            </a:r>
            <a:endParaRPr/>
          </a:p>
          <a:p>
            <a:pPr marL="342900" lvl="0" indent="-342900" algn="l" rtl="0">
              <a:spcBef>
                <a:spcPts val="360"/>
              </a:spcBef>
              <a:spcAft>
                <a:spcPts val="0"/>
              </a:spcAft>
              <a:buClr>
                <a:schemeClr val="dk1"/>
              </a:buClr>
              <a:buSzPts val="1800"/>
              <a:buAutoNum type="arabicPeriod"/>
            </a:pPr>
            <a:r>
              <a:rPr lang="en-US" sz="1800"/>
              <a:t>I don’t want many many UI projects inside my cap app because it will make my project very bulky, how can we handle a decoupling of UI and CAP service?</a:t>
            </a:r>
            <a:endParaRPr/>
          </a:p>
        </p:txBody>
      </p:sp>
      <p:pic>
        <p:nvPicPr>
          <p:cNvPr id="2464" name="Google Shape;2464;p141"/>
          <p:cNvPicPr preferRelativeResize="0"/>
          <p:nvPr/>
        </p:nvPicPr>
        <p:blipFill rotWithShape="1">
          <a:blip r:embed="rId3">
            <a:alphaModFix/>
          </a:blip>
          <a:srcRect/>
          <a:stretch/>
        </p:blipFill>
        <p:spPr>
          <a:xfrm>
            <a:off x="4798268" y="4797152"/>
            <a:ext cx="318092" cy="318092"/>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469"/>
        <p:cNvGrpSpPr/>
        <p:nvPr/>
      </p:nvGrpSpPr>
      <p:grpSpPr>
        <a:xfrm>
          <a:off x="0" y="0"/>
          <a:ext cx="0" cy="0"/>
          <a:chOff x="0" y="0"/>
          <a:chExt cx="0" cy="0"/>
        </a:xfrm>
      </p:grpSpPr>
      <p:sp>
        <p:nvSpPr>
          <p:cNvPr id="2470" name="Google Shape;2470;p14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2471" name="Google Shape;2471;p142"/>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Text</a:t>
            </a:r>
            <a:endParaRPr/>
          </a:p>
        </p:txBody>
      </p:sp>
      <p:pic>
        <p:nvPicPr>
          <p:cNvPr id="2472" name="Google Shape;2472;p142" descr="SAP Application Router - SAP Community"/>
          <p:cNvPicPr preferRelativeResize="0"/>
          <p:nvPr/>
        </p:nvPicPr>
        <p:blipFill rotWithShape="1">
          <a:blip r:embed="rId3">
            <a:alphaModFix/>
          </a:blip>
          <a:srcRect/>
          <a:stretch/>
        </p:blipFill>
        <p:spPr>
          <a:xfrm>
            <a:off x="0" y="103188"/>
            <a:ext cx="12188825" cy="6651625"/>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477"/>
        <p:cNvGrpSpPr/>
        <p:nvPr/>
      </p:nvGrpSpPr>
      <p:grpSpPr>
        <a:xfrm>
          <a:off x="0" y="0"/>
          <a:ext cx="0" cy="0"/>
          <a:chOff x="0" y="0"/>
          <a:chExt cx="0" cy="0"/>
        </a:xfrm>
      </p:grpSpPr>
      <p:sp>
        <p:nvSpPr>
          <p:cNvPr id="2478" name="Google Shape;2478;p14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Fixing Authorization issue</a:t>
            </a:r>
            <a:endParaRPr/>
          </a:p>
        </p:txBody>
      </p:sp>
      <p:sp>
        <p:nvSpPr>
          <p:cNvPr id="2479" name="Google Shape;2479;p143"/>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Text</a:t>
            </a:r>
            <a:endParaRPr/>
          </a:p>
        </p:txBody>
      </p:sp>
      <p:pic>
        <p:nvPicPr>
          <p:cNvPr id="2480" name="Google Shape;2480;p143"/>
          <p:cNvPicPr preferRelativeResize="0"/>
          <p:nvPr/>
        </p:nvPicPr>
        <p:blipFill rotWithShape="1">
          <a:blip r:embed="rId3">
            <a:alphaModFix/>
          </a:blip>
          <a:srcRect/>
          <a:stretch/>
        </p:blipFill>
        <p:spPr>
          <a:xfrm>
            <a:off x="189756" y="711081"/>
            <a:ext cx="8208912" cy="58601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485"/>
        <p:cNvGrpSpPr/>
        <p:nvPr/>
      </p:nvGrpSpPr>
      <p:grpSpPr>
        <a:xfrm>
          <a:off x="0" y="0"/>
          <a:ext cx="0" cy="0"/>
          <a:chOff x="0" y="0"/>
          <a:chExt cx="0" cy="0"/>
        </a:xfrm>
      </p:grpSpPr>
      <p:sp>
        <p:nvSpPr>
          <p:cNvPr id="2486" name="Google Shape;2486;p14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2487" name="Google Shape;2487;p14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400"/>
              <a:buNone/>
            </a:pPr>
            <a:r>
              <a:rPr lang="en-US" sz="1400"/>
              <a:t>Hi Anubhav, when we have multiple FIoRI apps in the same capm service, </a:t>
            </a:r>
            <a:endParaRPr/>
          </a:p>
          <a:p>
            <a:pPr marL="0" lvl="0" indent="0" algn="l" rtl="0">
              <a:spcBef>
                <a:spcPts val="280"/>
              </a:spcBef>
              <a:spcAft>
                <a:spcPts val="0"/>
              </a:spcAft>
              <a:buClr>
                <a:schemeClr val="dk1"/>
              </a:buClr>
              <a:buSzPts val="1400"/>
              <a:buNone/>
            </a:pPr>
            <a:r>
              <a:rPr lang="en-US" sz="1400"/>
              <a:t>we have to create roles for all the FIoRI apps in the same xs-security.json and have to assign it to relevant app users right ? </a:t>
            </a:r>
            <a:endParaRPr/>
          </a:p>
          <a:p>
            <a:pPr marL="0" lvl="0" indent="0" algn="l" rtl="0">
              <a:spcBef>
                <a:spcPts val="280"/>
              </a:spcBef>
              <a:spcAft>
                <a:spcPts val="0"/>
              </a:spcAft>
              <a:buClr>
                <a:schemeClr val="dk1"/>
              </a:buClr>
              <a:buSzPts val="1400"/>
              <a:buNone/>
            </a:pPr>
            <a:r>
              <a:rPr lang="en-US" sz="1400" b="1"/>
              <a:t>Since these are independent apps, the security also needs to manage independently. Each app has its own xs-security file.</a:t>
            </a:r>
            <a:endParaRPr/>
          </a:p>
          <a:p>
            <a:pPr marL="0" lvl="0" indent="0" algn="l" rtl="0">
              <a:spcBef>
                <a:spcPts val="280"/>
              </a:spcBef>
              <a:spcAft>
                <a:spcPts val="0"/>
              </a:spcAft>
              <a:buClr>
                <a:schemeClr val="dk1"/>
              </a:buClr>
              <a:buSzPts val="1400"/>
              <a:buNone/>
            </a:pPr>
            <a:r>
              <a:rPr lang="en-US" sz="1400"/>
              <a:t>Also when we build multiple fiori apps, we will have multiple ui micro services for the same cap app right ?</a:t>
            </a:r>
            <a:endParaRPr/>
          </a:p>
          <a:p>
            <a:pPr marL="0" lvl="0" indent="0" algn="l" rtl="0">
              <a:spcBef>
                <a:spcPts val="280"/>
              </a:spcBef>
              <a:spcAft>
                <a:spcPts val="0"/>
              </a:spcAft>
              <a:buClr>
                <a:schemeClr val="dk1"/>
              </a:buClr>
              <a:buSzPts val="1400"/>
              <a:buNone/>
            </a:pPr>
            <a:r>
              <a:rPr lang="en-US" sz="1400" b="1"/>
              <a:t>No, CAP app has its own microservice. You have these loosely coupled Fiori apps which are indepent apps.</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cds outbox messages pls show us how we can have different message displayed to the user.I checked in the google,but couldn't find example on it</a:t>
            </a:r>
            <a:endParaRPr/>
          </a:p>
          <a:p>
            <a:pPr marL="0" lvl="0" indent="0" algn="l" rtl="0">
              <a:spcBef>
                <a:spcPts val="360"/>
              </a:spcBef>
              <a:spcAft>
                <a:spcPts val="0"/>
              </a:spcAft>
              <a:buClr>
                <a:schemeClr val="dk1"/>
              </a:buClr>
              <a:buSzPts val="1800"/>
              <a:buNone/>
            </a:pPr>
            <a:r>
              <a:rPr lang="en-US" sz="1800" b="1"/>
              <a:t>Let me explore and come back ☺</a:t>
            </a:r>
            <a:endParaRPr sz="1800" b="1"/>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b="1"/>
              <a:t>one doubt regarding HDI microservice.with CICD and CTMS we are anyway deploying in Dev again and then release to QA. Can we avoid manual deployment first ( Mickey service ) .</a:t>
            </a:r>
            <a:endParaRPr/>
          </a:p>
          <a:p>
            <a:pPr marL="0" lvl="0" indent="0" algn="l" rtl="0">
              <a:spcBef>
                <a:spcPts val="360"/>
              </a:spcBef>
              <a:spcAft>
                <a:spcPts val="0"/>
              </a:spcAft>
              <a:buClr>
                <a:schemeClr val="dk1"/>
              </a:buClr>
              <a:buSzPts val="1800"/>
              <a:buNone/>
            </a:pPr>
            <a:r>
              <a:rPr lang="en-US" sz="1800"/>
              <a:t>Yes, you can but if you don’t do mickey, how you test whether your app after deployment will work with HANA or not?</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Use CTMS to deploy in dev as well , test and then release to QA. is there any disadvantage if we do this way.</a:t>
            </a:r>
            <a:endParaRPr/>
          </a:p>
          <a:p>
            <a:pPr marL="0" lvl="0" indent="0" algn="l" rtl="0">
              <a:spcBef>
                <a:spcPts val="360"/>
              </a:spcBef>
              <a:spcAft>
                <a:spcPts val="0"/>
              </a:spcAft>
              <a:buClr>
                <a:schemeClr val="dk1"/>
              </a:buClr>
              <a:buSzPts val="1800"/>
              <a:buNone/>
            </a:pPr>
            <a:r>
              <a:rPr lang="en-US" sz="1800" b="1"/>
              <a:t>No</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519"/>
        <p:cNvGrpSpPr/>
        <p:nvPr/>
      </p:nvGrpSpPr>
      <p:grpSpPr>
        <a:xfrm>
          <a:off x="0" y="0"/>
          <a:ext cx="0" cy="0"/>
          <a:chOff x="0" y="0"/>
          <a:chExt cx="0" cy="0"/>
        </a:xfrm>
      </p:grpSpPr>
      <p:sp>
        <p:nvSpPr>
          <p:cNvPr id="2520" name="Google Shape;2520;p14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Fiori on Cloud Recipe ingredients </a:t>
            </a:r>
            <a:r>
              <a:rPr lang="en-US">
                <a:solidFill>
                  <a:srgbClr val="FF0000"/>
                </a:solidFill>
              </a:rPr>
              <a:t>3X3</a:t>
            </a:r>
            <a:endParaRPr/>
          </a:p>
        </p:txBody>
      </p:sp>
      <p:sp>
        <p:nvSpPr>
          <p:cNvPr id="2521" name="Google Shape;2521;p149"/>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b="1"/>
              <a:t>Modules</a:t>
            </a:r>
            <a:endParaRPr/>
          </a:p>
          <a:p>
            <a:pPr marL="285750" lvl="0" indent="-285750" algn="l" rtl="0">
              <a:spcBef>
                <a:spcPts val="360"/>
              </a:spcBef>
              <a:spcAft>
                <a:spcPts val="0"/>
              </a:spcAft>
              <a:buClr>
                <a:schemeClr val="dk1"/>
              </a:buClr>
              <a:buSzPts val="1800"/>
              <a:buFont typeface="Arial"/>
              <a:buChar char="-"/>
            </a:pPr>
            <a:r>
              <a:rPr lang="en-US" sz="1800"/>
              <a:t>Our application (html5 module) – it is our actual Fiori app, when we build the mta_archieve, this will also package all the Fiori app content in a zip file.</a:t>
            </a:r>
            <a:endParaRPr/>
          </a:p>
          <a:p>
            <a:pPr marL="285750" lvl="0" indent="-285750" algn="l" rtl="0">
              <a:spcBef>
                <a:spcPts val="360"/>
              </a:spcBef>
              <a:spcAft>
                <a:spcPts val="0"/>
              </a:spcAft>
              <a:buClr>
                <a:schemeClr val="dk1"/>
              </a:buClr>
              <a:buSzPts val="1800"/>
              <a:buFont typeface="Arial"/>
              <a:buChar char="-"/>
            </a:pPr>
            <a:r>
              <a:rPr lang="en-US" sz="1800"/>
              <a:t>HTML5 Content Deployer (app content)– this module will be used to take the zip file of our Fiori app and usage the html5-repo-host service and store our app in BTP HTML5 Repository.</a:t>
            </a:r>
            <a:endParaRPr/>
          </a:p>
          <a:p>
            <a:pPr marL="285750" lvl="0" indent="-285750" algn="l" rtl="0">
              <a:spcBef>
                <a:spcPts val="360"/>
              </a:spcBef>
              <a:spcAft>
                <a:spcPts val="0"/>
              </a:spcAft>
              <a:buClr>
                <a:schemeClr val="dk1"/>
              </a:buClr>
              <a:buSzPts val="1800"/>
              <a:buFont typeface="Arial"/>
              <a:buChar char="-"/>
            </a:pPr>
            <a:r>
              <a:rPr lang="en-US" sz="1800"/>
              <a:t>Destination Content – The module will use the destination service and creates the destination for html5-repo-host service and auth (xsuaa) service which later will be used by managed app  router hence by build workzone and our app.</a:t>
            </a:r>
            <a:endParaRPr/>
          </a:p>
          <a:p>
            <a:pPr marL="0" lvl="0" indent="0" algn="l" rtl="0">
              <a:spcBef>
                <a:spcPts val="360"/>
              </a:spcBef>
              <a:spcAft>
                <a:spcPts val="0"/>
              </a:spcAft>
              <a:buClr>
                <a:schemeClr val="dk1"/>
              </a:buClr>
              <a:buSzPts val="1800"/>
              <a:buNone/>
            </a:pPr>
            <a:r>
              <a:rPr lang="en-US" sz="1800" b="1"/>
              <a:t>Resources</a:t>
            </a:r>
            <a:endParaRPr/>
          </a:p>
          <a:p>
            <a:pPr marL="285750" lvl="0" indent="-285750" algn="l" rtl="0">
              <a:spcBef>
                <a:spcPts val="360"/>
              </a:spcBef>
              <a:spcAft>
                <a:spcPts val="0"/>
              </a:spcAft>
              <a:buClr>
                <a:schemeClr val="dk1"/>
              </a:buClr>
              <a:buSzPts val="1800"/>
              <a:buFont typeface="Arial"/>
              <a:buChar char="-"/>
            </a:pPr>
            <a:r>
              <a:rPr lang="en-US" sz="1800"/>
              <a:t>html5-repo-host service – this will be used by Build workzone and managed app router to </a:t>
            </a:r>
            <a:r>
              <a:rPr lang="en-US" sz="1800" b="1"/>
              <a:t>load</a:t>
            </a:r>
            <a:r>
              <a:rPr lang="en-US" sz="1800"/>
              <a:t> our Fiori app deployed in html5 repository @ Runtime when user tries to load our app.</a:t>
            </a:r>
            <a:endParaRPr/>
          </a:p>
          <a:p>
            <a:pPr marL="285750" lvl="0" indent="-285750" algn="l" rtl="0">
              <a:spcBef>
                <a:spcPts val="360"/>
              </a:spcBef>
              <a:spcAft>
                <a:spcPts val="0"/>
              </a:spcAft>
              <a:buClr>
                <a:schemeClr val="dk1"/>
              </a:buClr>
              <a:buSzPts val="1800"/>
              <a:buFont typeface="Arial"/>
              <a:buChar char="-"/>
            </a:pPr>
            <a:r>
              <a:rPr lang="en-US" sz="1800"/>
              <a:t>Destination-service – this service will contain all the destinations inside and help app and managed app router to locate other services @ Runtime</a:t>
            </a:r>
            <a:endParaRPr/>
          </a:p>
          <a:p>
            <a:pPr marL="285750" lvl="0" indent="-285750" algn="l" rtl="0">
              <a:spcBef>
                <a:spcPts val="360"/>
              </a:spcBef>
              <a:spcAft>
                <a:spcPts val="0"/>
              </a:spcAft>
              <a:buClr>
                <a:schemeClr val="dk1"/>
              </a:buClr>
              <a:buSzPts val="1800"/>
              <a:buFont typeface="Arial"/>
              <a:buChar char="-"/>
            </a:pPr>
            <a:r>
              <a:rPr lang="en-US" sz="1800"/>
              <a:t>Auth service (xsuaa) – so our app can call the XSUAA for JWT token for authentication.</a:t>
            </a:r>
            <a:endParaRPr/>
          </a:p>
          <a:p>
            <a:pPr marL="285750" lvl="0" indent="-171450" algn="l" rtl="0">
              <a:spcBef>
                <a:spcPts val="360"/>
              </a:spcBef>
              <a:spcAft>
                <a:spcPts val="0"/>
              </a:spcAft>
              <a:buClr>
                <a:schemeClr val="dk1"/>
              </a:buClr>
              <a:buSzPts val="1800"/>
              <a:buFont typeface="Arial"/>
              <a:buNone/>
            </a:pPr>
            <a:endParaRPr sz="1800"/>
          </a:p>
          <a:p>
            <a:pPr marL="0" lvl="0" indent="0" algn="l" rtl="0">
              <a:spcBef>
                <a:spcPts val="360"/>
              </a:spcBef>
              <a:spcAft>
                <a:spcPts val="0"/>
              </a:spcAft>
              <a:buClr>
                <a:schemeClr val="dk1"/>
              </a:buClr>
              <a:buSzPts val="1800"/>
              <a:buNone/>
            </a:pPr>
            <a:r>
              <a:rPr lang="en-US" sz="1800" b="1"/>
              <a:t>Managed App Router (built-in in BTP)</a:t>
            </a:r>
            <a:r>
              <a:rPr lang="en-US" sz="1800"/>
              <a:t> – it is a built-in, FREE, app router provided by SAP in BTP. Which is responsible to communicate between all microservices of our Fiori UIs. It is used by build work zone (Fiori Launchpad). There is also a successor of managed app router called as Application frontend service.</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526"/>
        <p:cNvGrpSpPr/>
        <p:nvPr/>
      </p:nvGrpSpPr>
      <p:grpSpPr>
        <a:xfrm>
          <a:off x="0" y="0"/>
          <a:ext cx="0" cy="0"/>
          <a:chOff x="0" y="0"/>
          <a:chExt cx="0" cy="0"/>
        </a:xfrm>
      </p:grpSpPr>
      <p:sp>
        <p:nvSpPr>
          <p:cNvPr id="2527" name="Google Shape;2527;p15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What is more…</a:t>
            </a:r>
            <a:endParaRPr/>
          </a:p>
        </p:txBody>
      </p:sp>
      <p:sp>
        <p:nvSpPr>
          <p:cNvPr id="2528" name="Google Shape;2528;p150"/>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In order to see the deployed Fiori apps in BTP under HTML5 Applications, it is mandatory to have SAP Build work zone subscription.</a:t>
            </a:r>
            <a:endParaRPr/>
          </a:p>
          <a:p>
            <a:pPr marL="0" lvl="0" indent="0" algn="l" rtl="0">
              <a:spcBef>
                <a:spcPts val="360"/>
              </a:spcBef>
              <a:spcAft>
                <a:spcPts val="0"/>
              </a:spcAft>
              <a:buClr>
                <a:schemeClr val="dk1"/>
              </a:buClr>
              <a:buSzPts val="1800"/>
              <a:buNone/>
            </a:pPr>
            <a:r>
              <a:rPr lang="en-US" sz="1800"/>
              <a:t>In order to have a successful Build workzone subscription, you need SAP Cloud Identity service subscription.</a:t>
            </a:r>
            <a:endParaRPr/>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533"/>
        <p:cNvGrpSpPr/>
        <p:nvPr/>
      </p:nvGrpSpPr>
      <p:grpSpPr>
        <a:xfrm>
          <a:off x="0" y="0"/>
          <a:ext cx="0" cy="0"/>
          <a:chOff x="0" y="0"/>
          <a:chExt cx="0" cy="0"/>
        </a:xfrm>
      </p:grpSpPr>
      <p:sp>
        <p:nvSpPr>
          <p:cNvPr id="2534" name="Google Shape;2534;p15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SAP Cloud Identity Service</a:t>
            </a:r>
            <a:endParaRPr/>
          </a:p>
        </p:txBody>
      </p:sp>
      <p:sp>
        <p:nvSpPr>
          <p:cNvPr id="2535" name="Google Shape;2535;p151"/>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SAP BTP CIS are the group of service, which enable us to integrate identity and access management between systems and for the BTP account. The goal is to provide a seamless single sign-on experience across multiple systems and apps. While ensuring that systems and data access is secure.</a:t>
            </a:r>
            <a:endParaRPr/>
          </a:p>
          <a:p>
            <a:pPr marL="0" lvl="0" indent="0" algn="l" rtl="0">
              <a:spcBef>
                <a:spcPts val="360"/>
              </a:spcBef>
              <a:spcAft>
                <a:spcPts val="0"/>
              </a:spcAft>
              <a:buClr>
                <a:schemeClr val="dk1"/>
              </a:buClr>
              <a:buSzPts val="1800"/>
              <a:buNone/>
            </a:pPr>
            <a:r>
              <a:rPr lang="en-US" sz="1800"/>
              <a:t>Also work like a user store for your business users in the company.</a:t>
            </a:r>
            <a:endParaRPr/>
          </a:p>
          <a:p>
            <a:pPr marL="0" lvl="0" indent="0" algn="l" rtl="0">
              <a:spcBef>
                <a:spcPts val="360"/>
              </a:spcBef>
              <a:spcAft>
                <a:spcPts val="0"/>
              </a:spcAft>
              <a:buClr>
                <a:schemeClr val="dk1"/>
              </a:buClr>
              <a:buSzPts val="1800"/>
              <a:buNone/>
            </a:pPr>
            <a:r>
              <a:rPr lang="en-US" sz="1800"/>
              <a:t>Cloud identity service includes</a:t>
            </a:r>
            <a:endParaRPr/>
          </a:p>
          <a:p>
            <a:pPr marL="342900" lvl="0" indent="-342900" algn="l" rtl="0">
              <a:spcBef>
                <a:spcPts val="360"/>
              </a:spcBef>
              <a:spcAft>
                <a:spcPts val="0"/>
              </a:spcAft>
              <a:buClr>
                <a:schemeClr val="dk1"/>
              </a:buClr>
              <a:buSzPts val="1800"/>
              <a:buAutoNum type="arabicPeriod"/>
            </a:pPr>
            <a:r>
              <a:rPr lang="en-US" sz="1800"/>
              <a:t>Identity Authentication</a:t>
            </a:r>
            <a:endParaRPr/>
          </a:p>
          <a:p>
            <a:pPr marL="342900" lvl="0" indent="-342900" algn="l" rtl="0">
              <a:spcBef>
                <a:spcPts val="360"/>
              </a:spcBef>
              <a:spcAft>
                <a:spcPts val="0"/>
              </a:spcAft>
              <a:buClr>
                <a:schemeClr val="dk1"/>
              </a:buClr>
              <a:buSzPts val="1800"/>
              <a:buAutoNum type="arabicPeriod"/>
            </a:pPr>
            <a:r>
              <a:rPr lang="en-US" sz="1800"/>
              <a:t>Identity provisioning</a:t>
            </a:r>
            <a:endParaRPr/>
          </a:p>
          <a:p>
            <a:pPr marL="342900" lvl="0" indent="-342900" algn="l" rtl="0">
              <a:spcBef>
                <a:spcPts val="360"/>
              </a:spcBef>
              <a:spcAft>
                <a:spcPts val="0"/>
              </a:spcAft>
              <a:buClr>
                <a:schemeClr val="dk1"/>
              </a:buClr>
              <a:buSzPts val="1800"/>
              <a:buAutoNum type="arabicPeriod"/>
            </a:pPr>
            <a:r>
              <a:rPr lang="en-US" sz="1800"/>
              <a:t>Identity Directory</a:t>
            </a:r>
            <a:endParaRPr/>
          </a:p>
          <a:p>
            <a:pPr marL="342900" lvl="0" indent="-342900" algn="l" rtl="0">
              <a:spcBef>
                <a:spcPts val="360"/>
              </a:spcBef>
              <a:spcAft>
                <a:spcPts val="0"/>
              </a:spcAft>
              <a:buClr>
                <a:schemeClr val="dk1"/>
              </a:buClr>
              <a:buSzPts val="1800"/>
              <a:buAutoNum type="arabicPeriod"/>
            </a:pPr>
            <a:r>
              <a:rPr lang="en-US" sz="1800"/>
              <a:t>Authorization management for business users</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540"/>
        <p:cNvGrpSpPr/>
        <p:nvPr/>
      </p:nvGrpSpPr>
      <p:grpSpPr>
        <a:xfrm>
          <a:off x="0" y="0"/>
          <a:ext cx="0" cy="0"/>
          <a:chOff x="0" y="0"/>
          <a:chExt cx="0" cy="0"/>
        </a:xfrm>
      </p:grpSpPr>
      <p:sp>
        <p:nvSpPr>
          <p:cNvPr id="2541" name="Google Shape;2541;p15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Persona</a:t>
            </a:r>
            <a:endParaRPr/>
          </a:p>
        </p:txBody>
      </p:sp>
      <p:pic>
        <p:nvPicPr>
          <p:cNvPr id="2542" name="Google Shape;2542;p152" descr="Software engineer avatar Images - Free Download on Freepik"/>
          <p:cNvPicPr preferRelativeResize="0"/>
          <p:nvPr/>
        </p:nvPicPr>
        <p:blipFill rotWithShape="1">
          <a:blip r:embed="rId3">
            <a:alphaModFix/>
          </a:blip>
          <a:srcRect/>
          <a:stretch/>
        </p:blipFill>
        <p:spPr>
          <a:xfrm>
            <a:off x="549796" y="701363"/>
            <a:ext cx="1700809" cy="1700809"/>
          </a:xfrm>
          <a:prstGeom prst="rect">
            <a:avLst/>
          </a:prstGeom>
          <a:noFill/>
          <a:ln>
            <a:noFill/>
          </a:ln>
        </p:spPr>
      </p:pic>
      <p:pic>
        <p:nvPicPr>
          <p:cNvPr id="2543" name="Google Shape;2543;p152" descr="Software developer avatar Vectors - Download Free High-Quality Vectors from  Freepik | Freepik"/>
          <p:cNvPicPr preferRelativeResize="0"/>
          <p:nvPr/>
        </p:nvPicPr>
        <p:blipFill rotWithShape="1">
          <a:blip r:embed="rId4">
            <a:alphaModFix/>
          </a:blip>
          <a:srcRect/>
          <a:stretch/>
        </p:blipFill>
        <p:spPr>
          <a:xfrm>
            <a:off x="3070076" y="836712"/>
            <a:ext cx="2088232" cy="1394036"/>
          </a:xfrm>
          <a:prstGeom prst="rect">
            <a:avLst/>
          </a:prstGeom>
          <a:noFill/>
          <a:ln>
            <a:noFill/>
          </a:ln>
        </p:spPr>
      </p:pic>
      <p:sp>
        <p:nvSpPr>
          <p:cNvPr id="2544" name="Google Shape;2544;p152"/>
          <p:cNvSpPr txBox="1"/>
          <p:nvPr/>
        </p:nvSpPr>
        <p:spPr>
          <a:xfrm>
            <a:off x="345105" y="2276872"/>
            <a:ext cx="272497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BTP Admin (Anubhav)</a:t>
            </a:r>
            <a:endParaRPr/>
          </a:p>
        </p:txBody>
      </p:sp>
      <p:sp>
        <p:nvSpPr>
          <p:cNvPr id="2545" name="Google Shape;2545;p152"/>
          <p:cNvSpPr txBox="1"/>
          <p:nvPr/>
        </p:nvSpPr>
        <p:spPr>
          <a:xfrm>
            <a:off x="3142084" y="2247365"/>
            <a:ext cx="272497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BTP Developer (Anubhav)</a:t>
            </a:r>
            <a:endParaRPr/>
          </a:p>
        </p:txBody>
      </p:sp>
      <p:sp>
        <p:nvSpPr>
          <p:cNvPr id="2546" name="Google Shape;2546;p152"/>
          <p:cNvSpPr txBox="1"/>
          <p:nvPr/>
        </p:nvSpPr>
        <p:spPr>
          <a:xfrm>
            <a:off x="-23619" y="2550351"/>
            <a:ext cx="2952328" cy="353943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Subscribe to different services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Configure entitlements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Subscriptions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Roles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Manage Users in company</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Manages environment, spaces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destinations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Configure Landscape in CTMS</a:t>
            </a:r>
            <a:endParaRPr/>
          </a:p>
          <a:p>
            <a:pPr marL="342900" marR="0" lvl="0" indent="-342900" algn="l" rtl="0">
              <a:spcBef>
                <a:spcPts val="0"/>
              </a:spcBef>
              <a:spcAft>
                <a:spcPts val="0"/>
              </a:spcAft>
              <a:buClr>
                <a:schemeClr val="dk1"/>
              </a:buClr>
              <a:buSzPts val="1400"/>
              <a:buFont typeface="Quattrocento Sans"/>
              <a:buAutoNum type="arabicPeriod"/>
            </a:pPr>
            <a:r>
              <a:rPr lang="en-US" sz="1400" b="1">
                <a:solidFill>
                  <a:schemeClr val="dk1"/>
                </a:solidFill>
                <a:latin typeface="Quattrocento Sans"/>
                <a:ea typeface="Quattrocento Sans"/>
                <a:cs typeface="Quattrocento Sans"/>
                <a:sym typeface="Quattrocento Sans"/>
              </a:rPr>
              <a:t>Configure SAP BTP Cloud Identity service and Appoints Subu as Application Admin</a:t>
            </a:r>
            <a:endParaRPr/>
          </a:p>
          <a:p>
            <a:pPr marL="342900" marR="0" lvl="0" indent="-342900" algn="l" rtl="0">
              <a:spcBef>
                <a:spcPts val="0"/>
              </a:spcBef>
              <a:spcAft>
                <a:spcPts val="0"/>
              </a:spcAft>
              <a:buClr>
                <a:schemeClr val="dk1"/>
              </a:buClr>
              <a:buSzPts val="1400"/>
              <a:buFont typeface="Quattrocento Sans"/>
              <a:buAutoNum type="arabicPeriod"/>
            </a:pPr>
            <a:r>
              <a:rPr lang="en-US" sz="1400" b="1">
                <a:solidFill>
                  <a:schemeClr val="dk1"/>
                </a:solidFill>
                <a:latin typeface="Quattrocento Sans"/>
                <a:ea typeface="Quattrocento Sans"/>
                <a:cs typeface="Quattrocento Sans"/>
                <a:sym typeface="Quattrocento Sans"/>
              </a:rPr>
              <a:t>Create Trust Relation between Cloud Identity Service and BTP Sub Account </a:t>
            </a:r>
            <a:endParaRPr/>
          </a:p>
        </p:txBody>
      </p:sp>
      <p:sp>
        <p:nvSpPr>
          <p:cNvPr id="2547" name="Google Shape;2547;p152"/>
          <p:cNvSpPr txBox="1"/>
          <p:nvPr/>
        </p:nvSpPr>
        <p:spPr>
          <a:xfrm>
            <a:off x="3070076" y="2550351"/>
            <a:ext cx="2952328" cy="224676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Use BAS tool </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Fiori on Cloud App</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CAPM app</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Deploy App</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Push code to git</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Configure Backing service</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Testing and deployment</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Manage Applications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Configure tiles for Build Workzone</a:t>
            </a:r>
            <a:endParaRPr sz="1400">
              <a:solidFill>
                <a:schemeClr val="dk1"/>
              </a:solidFill>
              <a:latin typeface="Quattrocento Sans"/>
              <a:ea typeface="Quattrocento Sans"/>
              <a:cs typeface="Quattrocento Sans"/>
              <a:sym typeface="Quattrocento Sans"/>
            </a:endParaRPr>
          </a:p>
        </p:txBody>
      </p:sp>
      <p:sp>
        <p:nvSpPr>
          <p:cNvPr id="2548" name="Google Shape;2548;p152"/>
          <p:cNvSpPr txBox="1"/>
          <p:nvPr/>
        </p:nvSpPr>
        <p:spPr>
          <a:xfrm>
            <a:off x="6235779" y="2276210"/>
            <a:ext cx="309899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Application Admin (Subbu)</a:t>
            </a:r>
            <a:endParaRPr/>
          </a:p>
        </p:txBody>
      </p:sp>
      <p:sp>
        <p:nvSpPr>
          <p:cNvPr id="2549" name="Google Shape;2549;p152"/>
          <p:cNvSpPr txBox="1"/>
          <p:nvPr/>
        </p:nvSpPr>
        <p:spPr>
          <a:xfrm>
            <a:off x="6163771" y="2579196"/>
            <a:ext cx="2952328" cy="28931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Admin for Business users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Application role</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Role Collections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Register business users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Reset their passwords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Configure Company SSO with BTP</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Grant Role Collections to business users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Give access to Build workzone app to business users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Grant Fiori App Access to business users</a:t>
            </a:r>
            <a:endParaRPr/>
          </a:p>
        </p:txBody>
      </p:sp>
      <p:pic>
        <p:nvPicPr>
          <p:cNvPr id="2550" name="Google Shape;2550;p152" descr="Old Man Avatar Vector Art, Icons, and Graphics for Free Download"/>
          <p:cNvPicPr preferRelativeResize="0"/>
          <p:nvPr/>
        </p:nvPicPr>
        <p:blipFill rotWithShape="1">
          <a:blip r:embed="rId5">
            <a:alphaModFix/>
          </a:blip>
          <a:srcRect/>
          <a:stretch/>
        </p:blipFill>
        <p:spPr>
          <a:xfrm>
            <a:off x="6758534" y="675304"/>
            <a:ext cx="1656184" cy="1656184"/>
          </a:xfrm>
          <a:prstGeom prst="rect">
            <a:avLst/>
          </a:prstGeom>
          <a:noFill/>
          <a:ln>
            <a:noFill/>
          </a:ln>
        </p:spPr>
      </p:pic>
      <p:pic>
        <p:nvPicPr>
          <p:cNvPr id="2551" name="Google Shape;2551;p152" descr="Multi Ethnic Avatar Collection: Over 552 Royalty-Free Licensable Stock  Illustrations &amp; Drawings | Shutterstock"/>
          <p:cNvPicPr preferRelativeResize="0"/>
          <p:nvPr/>
        </p:nvPicPr>
        <p:blipFill rotWithShape="1">
          <a:blip r:embed="rId6">
            <a:alphaModFix/>
          </a:blip>
          <a:srcRect b="10177"/>
          <a:stretch/>
        </p:blipFill>
        <p:spPr>
          <a:xfrm>
            <a:off x="9334772" y="816296"/>
            <a:ext cx="2724325" cy="1483069"/>
          </a:xfrm>
          <a:prstGeom prst="rect">
            <a:avLst/>
          </a:prstGeom>
          <a:noFill/>
          <a:ln>
            <a:noFill/>
          </a:ln>
        </p:spPr>
      </p:pic>
      <p:sp>
        <p:nvSpPr>
          <p:cNvPr id="2552" name="Google Shape;2552;p152"/>
          <p:cNvSpPr txBox="1"/>
          <p:nvPr/>
        </p:nvSpPr>
        <p:spPr>
          <a:xfrm>
            <a:off x="9260115" y="2276210"/>
            <a:ext cx="309899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Business users (Raj, Sonia, Rob, Sajeev, Bhagya)</a:t>
            </a:r>
            <a:endParaRPr/>
          </a:p>
        </p:txBody>
      </p:sp>
      <p:sp>
        <p:nvSpPr>
          <p:cNvPr id="2553" name="Google Shape;2553;p152"/>
          <p:cNvSpPr txBox="1"/>
          <p:nvPr/>
        </p:nvSpPr>
        <p:spPr>
          <a:xfrm>
            <a:off x="9188107" y="2979564"/>
            <a:ext cx="2952328" cy="138499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They are using actual apps in their respective departments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Sales order</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purchase order</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Manage Service contract</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558"/>
        <p:cNvGrpSpPr/>
        <p:nvPr/>
      </p:nvGrpSpPr>
      <p:grpSpPr>
        <a:xfrm>
          <a:off x="0" y="0"/>
          <a:ext cx="0" cy="0"/>
          <a:chOff x="0" y="0"/>
          <a:chExt cx="0" cy="0"/>
        </a:xfrm>
      </p:grpSpPr>
      <p:sp>
        <p:nvSpPr>
          <p:cNvPr id="2559" name="Google Shape;2559;p15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Persona</a:t>
            </a:r>
            <a:endParaRPr/>
          </a:p>
        </p:txBody>
      </p:sp>
      <p:pic>
        <p:nvPicPr>
          <p:cNvPr id="2560" name="Google Shape;2560;p153" descr="Software engineer avatar Images - Free Download on Freepik"/>
          <p:cNvPicPr preferRelativeResize="0"/>
          <p:nvPr/>
        </p:nvPicPr>
        <p:blipFill rotWithShape="1">
          <a:blip r:embed="rId3">
            <a:alphaModFix/>
          </a:blip>
          <a:srcRect/>
          <a:stretch/>
        </p:blipFill>
        <p:spPr>
          <a:xfrm>
            <a:off x="549796" y="701363"/>
            <a:ext cx="1700809" cy="1700809"/>
          </a:xfrm>
          <a:prstGeom prst="rect">
            <a:avLst/>
          </a:prstGeom>
          <a:noFill/>
          <a:ln>
            <a:noFill/>
          </a:ln>
        </p:spPr>
      </p:pic>
      <p:pic>
        <p:nvPicPr>
          <p:cNvPr id="2561" name="Google Shape;2561;p153" descr="Software developer avatar Vectors - Download Free High-Quality Vectors from  Freepik | Freepik"/>
          <p:cNvPicPr preferRelativeResize="0"/>
          <p:nvPr/>
        </p:nvPicPr>
        <p:blipFill rotWithShape="1">
          <a:blip r:embed="rId4">
            <a:alphaModFix/>
          </a:blip>
          <a:srcRect/>
          <a:stretch/>
        </p:blipFill>
        <p:spPr>
          <a:xfrm>
            <a:off x="3070076" y="836712"/>
            <a:ext cx="2088232" cy="1394036"/>
          </a:xfrm>
          <a:prstGeom prst="rect">
            <a:avLst/>
          </a:prstGeom>
          <a:noFill/>
          <a:ln>
            <a:noFill/>
          </a:ln>
        </p:spPr>
      </p:pic>
      <p:sp>
        <p:nvSpPr>
          <p:cNvPr id="2562" name="Google Shape;2562;p153"/>
          <p:cNvSpPr txBox="1"/>
          <p:nvPr/>
        </p:nvSpPr>
        <p:spPr>
          <a:xfrm>
            <a:off x="345105" y="2276872"/>
            <a:ext cx="272497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BTP Admin (Anubhav)</a:t>
            </a:r>
            <a:endParaRPr/>
          </a:p>
        </p:txBody>
      </p:sp>
      <p:sp>
        <p:nvSpPr>
          <p:cNvPr id="2563" name="Google Shape;2563;p153"/>
          <p:cNvSpPr txBox="1"/>
          <p:nvPr/>
        </p:nvSpPr>
        <p:spPr>
          <a:xfrm>
            <a:off x="3142084" y="2247365"/>
            <a:ext cx="272497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BTP Developer (Anubhav)</a:t>
            </a:r>
            <a:endParaRPr/>
          </a:p>
        </p:txBody>
      </p:sp>
      <p:sp>
        <p:nvSpPr>
          <p:cNvPr id="2564" name="Google Shape;2564;p153"/>
          <p:cNvSpPr txBox="1"/>
          <p:nvPr/>
        </p:nvSpPr>
        <p:spPr>
          <a:xfrm>
            <a:off x="-23619" y="2550351"/>
            <a:ext cx="2952328" cy="3600986"/>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Subscribe to different services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Configure entitlements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Create Subscriptions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Create Roles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Manage Users in company</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Manages environment, spaces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Create destinations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Configure Landscape in CTMS</a:t>
            </a:r>
            <a:endParaRPr/>
          </a:p>
          <a:p>
            <a:pPr marL="342900" marR="0" lvl="0" indent="-342900" algn="l" rtl="0">
              <a:spcBef>
                <a:spcPts val="0"/>
              </a:spcBef>
              <a:spcAft>
                <a:spcPts val="0"/>
              </a:spcAft>
              <a:buClr>
                <a:schemeClr val="dk1"/>
              </a:buClr>
              <a:buSzPts val="1200"/>
              <a:buFont typeface="Quattrocento Sans"/>
              <a:buAutoNum type="arabicPeriod"/>
            </a:pPr>
            <a:r>
              <a:rPr lang="en-US" sz="1200" b="1">
                <a:solidFill>
                  <a:schemeClr val="dk1"/>
                </a:solidFill>
                <a:latin typeface="Quattrocento Sans"/>
                <a:ea typeface="Quattrocento Sans"/>
                <a:cs typeface="Quattrocento Sans"/>
                <a:sym typeface="Quattrocento Sans"/>
              </a:rPr>
              <a:t>Configure SAP BTP Cloud Identity service and Appoints Subu as Application Admin</a:t>
            </a:r>
            <a:endParaRPr/>
          </a:p>
          <a:p>
            <a:pPr marL="342900" marR="0" lvl="0" indent="-342900" algn="l" rtl="0">
              <a:spcBef>
                <a:spcPts val="0"/>
              </a:spcBef>
              <a:spcAft>
                <a:spcPts val="0"/>
              </a:spcAft>
              <a:buClr>
                <a:schemeClr val="dk1"/>
              </a:buClr>
              <a:buSzPts val="1200"/>
              <a:buFont typeface="Quattrocento Sans"/>
              <a:buAutoNum type="arabicPeriod"/>
            </a:pPr>
            <a:r>
              <a:rPr lang="en-US" sz="1200" b="1">
                <a:solidFill>
                  <a:schemeClr val="dk1"/>
                </a:solidFill>
                <a:latin typeface="Quattrocento Sans"/>
                <a:ea typeface="Quattrocento Sans"/>
                <a:cs typeface="Quattrocento Sans"/>
                <a:sym typeface="Quattrocento Sans"/>
              </a:rPr>
              <a:t>Create Trust Relation between Cloud Identity Service and BTP Sub Account </a:t>
            </a:r>
            <a:endParaRPr/>
          </a:p>
          <a:p>
            <a:pPr marL="342900" marR="0" lvl="0" indent="-342900" algn="l" rtl="0">
              <a:spcBef>
                <a:spcPts val="0"/>
              </a:spcBef>
              <a:spcAft>
                <a:spcPts val="0"/>
              </a:spcAft>
              <a:buClr>
                <a:schemeClr val="dk1"/>
              </a:buClr>
              <a:buSzPts val="1200"/>
              <a:buFont typeface="Quattrocento Sans"/>
              <a:buAutoNum type="arabicPeriod"/>
            </a:pPr>
            <a:r>
              <a:rPr lang="en-US" sz="1200" b="1">
                <a:solidFill>
                  <a:schemeClr val="dk1"/>
                </a:solidFill>
                <a:latin typeface="Quattrocento Sans"/>
                <a:ea typeface="Quattrocento Sans"/>
                <a:cs typeface="Quattrocento Sans"/>
                <a:sym typeface="Quattrocento Sans"/>
              </a:rPr>
              <a:t>Subscribe to SAP Build Workzone and give access to developer and also to App Admin</a:t>
            </a:r>
            <a:endParaRPr/>
          </a:p>
          <a:p>
            <a:pPr marL="342900" marR="0" lvl="0" indent="-342900" algn="l" rtl="0">
              <a:spcBef>
                <a:spcPts val="0"/>
              </a:spcBef>
              <a:spcAft>
                <a:spcPts val="0"/>
              </a:spcAft>
              <a:buClr>
                <a:schemeClr val="dk1"/>
              </a:buClr>
              <a:buSzPts val="1200"/>
              <a:buFont typeface="Quattrocento Sans"/>
              <a:buAutoNum type="arabicPeriod"/>
            </a:pPr>
            <a:r>
              <a:rPr lang="en-US" sz="1200" b="1">
                <a:solidFill>
                  <a:schemeClr val="dk1"/>
                </a:solidFill>
                <a:latin typeface="Quattrocento Sans"/>
                <a:ea typeface="Quattrocento Sans"/>
                <a:cs typeface="Quattrocento Sans"/>
                <a:sym typeface="Quattrocento Sans"/>
              </a:rPr>
              <a:t>Send email to Subu for build workzone</a:t>
            </a:r>
            <a:endParaRPr sz="1200" b="1">
              <a:solidFill>
                <a:schemeClr val="dk1"/>
              </a:solidFill>
              <a:latin typeface="Quattrocento Sans"/>
              <a:ea typeface="Quattrocento Sans"/>
              <a:cs typeface="Quattrocento Sans"/>
              <a:sym typeface="Quattrocento Sans"/>
            </a:endParaRPr>
          </a:p>
        </p:txBody>
      </p:sp>
      <p:sp>
        <p:nvSpPr>
          <p:cNvPr id="2565" name="Google Shape;2565;p153"/>
          <p:cNvSpPr txBox="1"/>
          <p:nvPr/>
        </p:nvSpPr>
        <p:spPr>
          <a:xfrm>
            <a:off x="3070076" y="2550351"/>
            <a:ext cx="2952328" cy="310854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Use BAS tool </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Fiori on Cloud App</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CAPM app</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Deploy App</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Push code to git</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Configure Backing service</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Testing and deployment</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Manage Applications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Configure tiles for Build Workzone</a:t>
            </a:r>
            <a:endParaRPr sz="1400">
              <a:solidFill>
                <a:schemeClr val="dk1"/>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400"/>
              <a:buFont typeface="Arial"/>
              <a:buChar char="•"/>
            </a:pPr>
            <a:r>
              <a:rPr lang="en-US" sz="1400" b="1">
                <a:solidFill>
                  <a:schemeClr val="dk1"/>
                </a:solidFill>
                <a:latin typeface="Quattrocento Sans"/>
                <a:ea typeface="Quattrocento Sans"/>
                <a:cs typeface="Quattrocento Sans"/>
                <a:sym typeface="Quattrocento Sans"/>
              </a:rPr>
              <a:t>Already created a Fiori on Cloud Application, Will deploy this app to BTP in HTML5 Repository</a:t>
            </a:r>
            <a:endParaRPr/>
          </a:p>
        </p:txBody>
      </p:sp>
      <p:sp>
        <p:nvSpPr>
          <p:cNvPr id="2566" name="Google Shape;2566;p153"/>
          <p:cNvSpPr txBox="1"/>
          <p:nvPr/>
        </p:nvSpPr>
        <p:spPr>
          <a:xfrm>
            <a:off x="6235779" y="2276210"/>
            <a:ext cx="309899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Application Admin (Subbu)</a:t>
            </a:r>
            <a:endParaRPr/>
          </a:p>
        </p:txBody>
      </p:sp>
      <p:sp>
        <p:nvSpPr>
          <p:cNvPr id="2567" name="Google Shape;2567;p153"/>
          <p:cNvSpPr txBox="1"/>
          <p:nvPr/>
        </p:nvSpPr>
        <p:spPr>
          <a:xfrm>
            <a:off x="6163771" y="2579196"/>
            <a:ext cx="3096344" cy="341632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Admin for Business users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Create Application role</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Create Role Collections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Register business users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Reset their passwords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Configure Company SSO with BTP</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Grant Role Collections to business users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Give access to Build workzone app to business users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Grant Fiori App Access to business users</a:t>
            </a:r>
            <a:endParaRPr/>
          </a:p>
          <a:p>
            <a:pPr marL="285750" marR="0" lvl="0" indent="-285750" algn="l" rtl="0">
              <a:spcBef>
                <a:spcPts val="0"/>
              </a:spcBef>
              <a:spcAft>
                <a:spcPts val="0"/>
              </a:spcAft>
              <a:buClr>
                <a:schemeClr val="dk1"/>
              </a:buClr>
              <a:buSzPts val="1200"/>
              <a:buFont typeface="Arial"/>
              <a:buChar char="•"/>
            </a:pPr>
            <a:r>
              <a:rPr lang="en-US" sz="1200" b="1">
                <a:solidFill>
                  <a:schemeClr val="dk1"/>
                </a:solidFill>
                <a:latin typeface="Quattrocento Sans"/>
                <a:ea typeface="Quattrocento Sans"/>
                <a:cs typeface="Quattrocento Sans"/>
                <a:sym typeface="Quattrocento Sans"/>
              </a:rPr>
              <a:t>Receives email and access SAP Build Work zone</a:t>
            </a:r>
            <a:endParaRPr/>
          </a:p>
          <a:p>
            <a:pPr marL="285750" marR="0" lvl="0" indent="-285750" algn="l" rtl="0">
              <a:spcBef>
                <a:spcPts val="0"/>
              </a:spcBef>
              <a:spcAft>
                <a:spcPts val="0"/>
              </a:spcAft>
              <a:buClr>
                <a:schemeClr val="dk1"/>
              </a:buClr>
              <a:buSzPts val="1200"/>
              <a:buFont typeface="Arial"/>
              <a:buChar char="•"/>
            </a:pPr>
            <a:r>
              <a:rPr lang="en-US" sz="1200" b="1">
                <a:solidFill>
                  <a:schemeClr val="dk1"/>
                </a:solidFill>
                <a:latin typeface="Quattrocento Sans"/>
                <a:ea typeface="Quattrocento Sans"/>
                <a:cs typeface="Quattrocento Sans"/>
                <a:sym typeface="Quattrocento Sans"/>
              </a:rPr>
              <a:t>Login to BWZ and configure a site</a:t>
            </a:r>
            <a:endParaRPr/>
          </a:p>
          <a:p>
            <a:pPr marL="285750" marR="0" lvl="0" indent="-285750" algn="l" rtl="0">
              <a:spcBef>
                <a:spcPts val="0"/>
              </a:spcBef>
              <a:spcAft>
                <a:spcPts val="0"/>
              </a:spcAft>
              <a:buClr>
                <a:schemeClr val="dk1"/>
              </a:buClr>
              <a:buSzPts val="1200"/>
              <a:buFont typeface="Arial"/>
              <a:buChar char="•"/>
            </a:pPr>
            <a:r>
              <a:rPr lang="en-US" sz="1200" b="1">
                <a:solidFill>
                  <a:schemeClr val="dk1"/>
                </a:solidFill>
                <a:latin typeface="Quattrocento Sans"/>
                <a:ea typeface="Quattrocento Sans"/>
                <a:cs typeface="Quattrocento Sans"/>
                <a:sym typeface="Quattrocento Sans"/>
              </a:rPr>
              <a:t>Fetch the apps deployed by deb to html5-repo</a:t>
            </a:r>
            <a:endParaRPr/>
          </a:p>
          <a:p>
            <a:pPr marL="285750" marR="0" lvl="0" indent="-285750" algn="l" rtl="0">
              <a:spcBef>
                <a:spcPts val="0"/>
              </a:spcBef>
              <a:spcAft>
                <a:spcPts val="0"/>
              </a:spcAft>
              <a:buClr>
                <a:schemeClr val="dk1"/>
              </a:buClr>
              <a:buSzPts val="1200"/>
              <a:buFont typeface="Arial"/>
              <a:buChar char="•"/>
            </a:pPr>
            <a:r>
              <a:rPr lang="en-US" sz="1200" b="1" u="sng">
                <a:solidFill>
                  <a:schemeClr val="dk1"/>
                </a:solidFill>
                <a:latin typeface="Quattrocento Sans"/>
                <a:ea typeface="Quattrocento Sans"/>
                <a:cs typeface="Quattrocento Sans"/>
                <a:sym typeface="Quattrocento Sans"/>
                <a:hlinkClick r:id="rId5" action="ppaction://hlinksldjump">
                  <a:extLst>
                    <a:ext uri="{A12FA001-AC4F-418D-AE19-62706E023703}">
                      <ahyp:hlinkClr xmlns:ahyp="http://schemas.microsoft.com/office/drawing/2018/hyperlinkcolor" val="tx"/>
                    </a:ext>
                  </a:extLst>
                </a:hlinkClick>
              </a:rPr>
              <a:t>Check slide</a:t>
            </a:r>
            <a:endParaRPr sz="1200" b="1">
              <a:solidFill>
                <a:schemeClr val="dk1"/>
              </a:solidFill>
              <a:latin typeface="Quattrocento Sans"/>
              <a:ea typeface="Quattrocento Sans"/>
              <a:cs typeface="Quattrocento Sans"/>
              <a:sym typeface="Quattrocento Sans"/>
            </a:endParaRPr>
          </a:p>
        </p:txBody>
      </p:sp>
      <p:pic>
        <p:nvPicPr>
          <p:cNvPr id="2568" name="Google Shape;2568;p153" descr="Old Man Avatar Vector Art, Icons, and Graphics for Free Download"/>
          <p:cNvPicPr preferRelativeResize="0"/>
          <p:nvPr/>
        </p:nvPicPr>
        <p:blipFill rotWithShape="1">
          <a:blip r:embed="rId6">
            <a:alphaModFix/>
          </a:blip>
          <a:srcRect/>
          <a:stretch/>
        </p:blipFill>
        <p:spPr>
          <a:xfrm>
            <a:off x="6758534" y="675304"/>
            <a:ext cx="1656184" cy="1656184"/>
          </a:xfrm>
          <a:prstGeom prst="rect">
            <a:avLst/>
          </a:prstGeom>
          <a:noFill/>
          <a:ln>
            <a:noFill/>
          </a:ln>
        </p:spPr>
      </p:pic>
      <p:pic>
        <p:nvPicPr>
          <p:cNvPr id="2569" name="Google Shape;2569;p153" descr="Multi Ethnic Avatar Collection: Over 552 Royalty-Free Licensable Stock  Illustrations &amp; Drawings | Shutterstock"/>
          <p:cNvPicPr preferRelativeResize="0"/>
          <p:nvPr/>
        </p:nvPicPr>
        <p:blipFill rotWithShape="1">
          <a:blip r:embed="rId7">
            <a:alphaModFix/>
          </a:blip>
          <a:srcRect b="10177"/>
          <a:stretch/>
        </p:blipFill>
        <p:spPr>
          <a:xfrm>
            <a:off x="9334772" y="816296"/>
            <a:ext cx="2724325" cy="1483069"/>
          </a:xfrm>
          <a:prstGeom prst="rect">
            <a:avLst/>
          </a:prstGeom>
          <a:noFill/>
          <a:ln>
            <a:noFill/>
          </a:ln>
        </p:spPr>
      </p:pic>
      <p:sp>
        <p:nvSpPr>
          <p:cNvPr id="2570" name="Google Shape;2570;p153"/>
          <p:cNvSpPr txBox="1"/>
          <p:nvPr/>
        </p:nvSpPr>
        <p:spPr>
          <a:xfrm>
            <a:off x="9260115" y="2276210"/>
            <a:ext cx="309899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Business users (Raj, Sonia, Rob, Sajeev, Bhagya)</a:t>
            </a:r>
            <a:endParaRPr/>
          </a:p>
        </p:txBody>
      </p:sp>
      <p:sp>
        <p:nvSpPr>
          <p:cNvPr id="2571" name="Google Shape;2571;p153"/>
          <p:cNvSpPr txBox="1"/>
          <p:nvPr/>
        </p:nvSpPr>
        <p:spPr>
          <a:xfrm>
            <a:off x="9188107" y="2979564"/>
            <a:ext cx="2952328" cy="138499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They are using actual apps in their respective departments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Sales order</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Create purchase order</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Manage Service contract</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583"/>
        <p:cNvGrpSpPr/>
        <p:nvPr/>
      </p:nvGrpSpPr>
      <p:grpSpPr>
        <a:xfrm>
          <a:off x="0" y="0"/>
          <a:ext cx="0" cy="0"/>
          <a:chOff x="0" y="0"/>
          <a:chExt cx="0" cy="0"/>
        </a:xfrm>
      </p:grpSpPr>
      <p:sp>
        <p:nvSpPr>
          <p:cNvPr id="2584" name="Google Shape;2584;p155"/>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How to configure Build Workzone</a:t>
            </a:r>
            <a:endParaRPr/>
          </a:p>
        </p:txBody>
      </p:sp>
      <p:sp>
        <p:nvSpPr>
          <p:cNvPr id="2585" name="Google Shape;2585;p155"/>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fontScale="92500" lnSpcReduction="10000"/>
          </a:bodyPr>
          <a:lstStyle/>
          <a:p>
            <a:pPr marL="285750" lvl="0" indent="-285750" algn="l" rtl="0">
              <a:spcBef>
                <a:spcPts val="0"/>
              </a:spcBef>
              <a:spcAft>
                <a:spcPts val="0"/>
              </a:spcAft>
              <a:buClr>
                <a:schemeClr val="dk1"/>
              </a:buClr>
              <a:buSzPct val="100000"/>
              <a:buFont typeface="Arial"/>
              <a:buChar char="•"/>
            </a:pPr>
            <a:r>
              <a:rPr lang="en-US" sz="1800"/>
              <a:t>Receives email and access SAP Build Work zone</a:t>
            </a:r>
            <a:endParaRPr/>
          </a:p>
          <a:p>
            <a:pPr marL="285750" lvl="0" indent="-285750" algn="l" rtl="0">
              <a:spcBef>
                <a:spcPts val="333"/>
              </a:spcBef>
              <a:spcAft>
                <a:spcPts val="0"/>
              </a:spcAft>
              <a:buClr>
                <a:schemeClr val="dk1"/>
              </a:buClr>
              <a:buSzPct val="100000"/>
              <a:buFont typeface="Arial"/>
              <a:buChar char="•"/>
            </a:pPr>
            <a:r>
              <a:rPr lang="en-US" sz="1800"/>
              <a:t>Login to BWZ and configure a site</a:t>
            </a:r>
            <a:endParaRPr/>
          </a:p>
          <a:p>
            <a:pPr marL="285750" lvl="0" indent="-285750" algn="l" rtl="0">
              <a:spcBef>
                <a:spcPts val="333"/>
              </a:spcBef>
              <a:spcAft>
                <a:spcPts val="0"/>
              </a:spcAft>
              <a:buClr>
                <a:schemeClr val="dk1"/>
              </a:buClr>
              <a:buSzPct val="100000"/>
              <a:buFont typeface="Arial"/>
              <a:buChar char="•"/>
            </a:pPr>
            <a:r>
              <a:rPr lang="en-US" sz="1800"/>
              <a:t>Fetch the apps deployed by developer to html5-repo from the channel manager</a:t>
            </a:r>
            <a:endParaRPr/>
          </a:p>
          <a:p>
            <a:pPr marL="285750" lvl="0" indent="-285750" algn="l" rtl="0">
              <a:spcBef>
                <a:spcPts val="333"/>
              </a:spcBef>
              <a:spcAft>
                <a:spcPts val="0"/>
              </a:spcAft>
              <a:buClr>
                <a:schemeClr val="dk1"/>
              </a:buClr>
              <a:buSzPct val="100000"/>
              <a:buFont typeface="Arial"/>
              <a:buChar char="•"/>
            </a:pPr>
            <a:r>
              <a:rPr lang="en-US" sz="1800"/>
              <a:t>Go to content explorer&gt;HTML5 Explorer&gt; Import the app for the user in the Content Manager</a:t>
            </a:r>
            <a:endParaRPr/>
          </a:p>
          <a:p>
            <a:pPr marL="285750" lvl="0" indent="-285750" algn="l" rtl="0">
              <a:spcBef>
                <a:spcPts val="333"/>
              </a:spcBef>
              <a:spcAft>
                <a:spcPts val="0"/>
              </a:spcAft>
              <a:buClr>
                <a:schemeClr val="dk1"/>
              </a:buClr>
              <a:buSzPct val="100000"/>
              <a:buFont typeface="Arial"/>
              <a:buChar char="•"/>
            </a:pPr>
            <a:r>
              <a:rPr lang="en-US" sz="1800"/>
              <a:t>Import the app to the Content Explorer and the app is now available [ToDo: Next session Anubhav has to show our deployed html5 app instead the mock app]</a:t>
            </a:r>
            <a:endParaRPr/>
          </a:p>
          <a:p>
            <a:pPr marL="285750" lvl="0" indent="-285750" algn="l" rtl="0">
              <a:spcBef>
                <a:spcPts val="333"/>
              </a:spcBef>
              <a:spcAft>
                <a:spcPts val="0"/>
              </a:spcAft>
              <a:buClr>
                <a:schemeClr val="dk1"/>
              </a:buClr>
              <a:buSzPct val="100000"/>
              <a:buFont typeface="Arial"/>
              <a:buChar char="•"/>
            </a:pPr>
            <a:r>
              <a:rPr lang="en-US" sz="1800"/>
              <a:t>Create a catalog – Collection of tiles, Add all apps to the catalog and save</a:t>
            </a:r>
            <a:endParaRPr/>
          </a:p>
          <a:p>
            <a:pPr marL="285750" lvl="0" indent="-285750" algn="l" rtl="0">
              <a:spcBef>
                <a:spcPts val="333"/>
              </a:spcBef>
              <a:spcAft>
                <a:spcPts val="0"/>
              </a:spcAft>
              <a:buClr>
                <a:schemeClr val="dk1"/>
              </a:buClr>
              <a:buSzPct val="100000"/>
              <a:buFont typeface="Arial"/>
              <a:buChar char="•"/>
            </a:pPr>
            <a:r>
              <a:rPr lang="en-US" sz="1800"/>
              <a:t>Create a group – Providing meaningful grouping of apps for easy navigation e.g. Employee, Manager etc.</a:t>
            </a:r>
            <a:endParaRPr/>
          </a:p>
          <a:p>
            <a:pPr marL="285750" lvl="0" indent="-285750" algn="l" rtl="0">
              <a:spcBef>
                <a:spcPts val="333"/>
              </a:spcBef>
              <a:spcAft>
                <a:spcPts val="0"/>
              </a:spcAft>
              <a:buClr>
                <a:schemeClr val="dk1"/>
              </a:buClr>
              <a:buSzPct val="100000"/>
              <a:buFont typeface="Arial"/>
              <a:buChar char="•"/>
            </a:pPr>
            <a:r>
              <a:rPr lang="en-US" sz="1800"/>
              <a:t>Create a role – once granted to our business users they can access the app</a:t>
            </a:r>
            <a:endParaRPr/>
          </a:p>
          <a:p>
            <a:pPr marL="285750" lvl="0" indent="-285750" algn="l" rtl="0">
              <a:spcBef>
                <a:spcPts val="333"/>
              </a:spcBef>
              <a:spcAft>
                <a:spcPts val="0"/>
              </a:spcAft>
              <a:buClr>
                <a:schemeClr val="dk1"/>
              </a:buClr>
              <a:buSzPct val="100000"/>
              <a:buFont typeface="Arial"/>
              <a:buChar char="•"/>
            </a:pPr>
            <a:r>
              <a:rPr lang="en-US" sz="1800"/>
              <a:t>Open the site settings, and perform role assignment to the site</a:t>
            </a:r>
            <a:endParaRPr/>
          </a:p>
          <a:p>
            <a:pPr marL="0" lvl="0" indent="0" algn="l" rtl="0">
              <a:spcBef>
                <a:spcPts val="333"/>
              </a:spcBef>
              <a:spcAft>
                <a:spcPts val="0"/>
              </a:spcAft>
              <a:buClr>
                <a:schemeClr val="dk1"/>
              </a:buClr>
              <a:buSzPct val="100000"/>
              <a:buNone/>
            </a:pPr>
            <a:r>
              <a:rPr lang="en-US" sz="1800"/>
              <a:t>----</a:t>
            </a:r>
            <a:endParaRPr/>
          </a:p>
          <a:p>
            <a:pPr marL="285750" lvl="0" indent="-285750" algn="l" rtl="0">
              <a:spcBef>
                <a:spcPts val="333"/>
              </a:spcBef>
              <a:spcAft>
                <a:spcPts val="0"/>
              </a:spcAft>
              <a:buClr>
                <a:schemeClr val="dk1"/>
              </a:buClr>
              <a:buSzPct val="100000"/>
              <a:buFont typeface="Arial"/>
              <a:buChar char="•"/>
            </a:pPr>
            <a:r>
              <a:rPr lang="en-US" sz="1800"/>
              <a:t>Registers the business user</a:t>
            </a:r>
            <a:endParaRPr/>
          </a:p>
          <a:p>
            <a:pPr marL="285750" lvl="0" indent="-285750" algn="l" rtl="0">
              <a:spcBef>
                <a:spcPts val="333"/>
              </a:spcBef>
              <a:spcAft>
                <a:spcPts val="0"/>
              </a:spcAft>
              <a:buClr>
                <a:schemeClr val="dk1"/>
              </a:buClr>
              <a:buSzPct val="100000"/>
              <a:buFont typeface="Arial"/>
              <a:buChar char="•"/>
            </a:pPr>
            <a:r>
              <a:rPr lang="en-US" sz="1800"/>
              <a:t>[BU] Receives and email and activates his/her SAP account with SAP Custom Idp (Cloud Identity Service)</a:t>
            </a:r>
            <a:endParaRPr/>
          </a:p>
          <a:p>
            <a:pPr marL="285750" lvl="0" indent="-285750" algn="l" rtl="0">
              <a:spcBef>
                <a:spcPts val="333"/>
              </a:spcBef>
              <a:spcAft>
                <a:spcPts val="0"/>
              </a:spcAft>
              <a:buClr>
                <a:schemeClr val="dk1"/>
              </a:buClr>
              <a:buSzPct val="100000"/>
              <a:buFont typeface="Arial"/>
              <a:buChar char="•"/>
            </a:pPr>
            <a:r>
              <a:rPr lang="en-US" sz="1800"/>
              <a:t>Grant the business user access to our Role and Launchpad external user role so they can access our apps</a:t>
            </a:r>
            <a:endParaRPr/>
          </a:p>
          <a:p>
            <a:pPr marL="285750" lvl="0" indent="-285750" algn="l" rtl="0">
              <a:spcBef>
                <a:spcPts val="333"/>
              </a:spcBef>
              <a:spcAft>
                <a:spcPts val="0"/>
              </a:spcAft>
              <a:buClr>
                <a:schemeClr val="dk1"/>
              </a:buClr>
              <a:buSzPct val="100000"/>
              <a:buFont typeface="Arial"/>
              <a:buChar char="•"/>
            </a:pPr>
            <a:r>
              <a:rPr lang="en-US" sz="1800"/>
              <a:t>Share the link of the business site with the user which when they open, they can consume applications.</a:t>
            </a:r>
            <a:endParaRPr/>
          </a:p>
          <a:p>
            <a:pPr marL="285750" lvl="0" indent="-285750" algn="l" rtl="0">
              <a:spcBef>
                <a:spcPts val="333"/>
              </a:spcBef>
              <a:spcAft>
                <a:spcPts val="0"/>
              </a:spcAft>
              <a:buClr>
                <a:schemeClr val="dk1"/>
              </a:buClr>
              <a:buSzPct val="100000"/>
              <a:buFont typeface="Arial"/>
              <a:buChar char="•"/>
            </a:pPr>
            <a:r>
              <a:rPr lang="en-US" sz="1800"/>
              <a:t>[BU] Goes and access the launchpad (site)</a:t>
            </a:r>
            <a:endParaRPr/>
          </a:p>
          <a:p>
            <a:pPr marL="0" lvl="0" indent="0" algn="l" rtl="0">
              <a:spcBef>
                <a:spcPts val="333"/>
              </a:spcBef>
              <a:spcAft>
                <a:spcPts val="0"/>
              </a:spcAft>
              <a:buClr>
                <a:schemeClr val="dk1"/>
              </a:buClr>
              <a:buSzPct val="100000"/>
              <a:buNone/>
            </a:pPr>
            <a:r>
              <a:rPr lang="en-US" sz="1800" u="sng">
                <a:solidFill>
                  <a:schemeClr val="hlink"/>
                </a:solidFill>
                <a:hlinkClick r:id="rId3"/>
              </a:rPr>
              <a:t>https://help.sap.com/docs/cloud-identity-services/cloud-identity-services/configure-idp-initiated-sso</a:t>
            </a:r>
            <a:endParaRPr sz="1800"/>
          </a:p>
          <a:p>
            <a:pPr marL="0" lvl="0" indent="0" algn="l" rtl="0">
              <a:spcBef>
                <a:spcPts val="333"/>
              </a:spcBef>
              <a:spcAft>
                <a:spcPts val="0"/>
              </a:spcAft>
              <a:buClr>
                <a:schemeClr val="dk1"/>
              </a:buClr>
              <a:buSzPct val="100000"/>
              <a:buNone/>
            </a:pPr>
            <a:r>
              <a:rPr lang="en-US" sz="1800" u="sng">
                <a:solidFill>
                  <a:schemeClr val="hlink"/>
                </a:solidFill>
                <a:hlinkClick r:id="rId4"/>
              </a:rPr>
              <a:t>https://help.sap.com/docs/btp/sap-business-technology-platform/developing-with-sap-cloud-application-programming-model</a:t>
            </a:r>
            <a:endParaRPr sz="1800"/>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endParaRPr sz="180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597"/>
        <p:cNvGrpSpPr/>
        <p:nvPr/>
      </p:nvGrpSpPr>
      <p:grpSpPr>
        <a:xfrm>
          <a:off x="0" y="0"/>
          <a:ext cx="0" cy="0"/>
          <a:chOff x="0" y="0"/>
          <a:chExt cx="0" cy="0"/>
        </a:xfrm>
      </p:grpSpPr>
      <p:sp>
        <p:nvSpPr>
          <p:cNvPr id="2598" name="Google Shape;2598;p15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MBT Tool for local system</a:t>
            </a:r>
            <a:endParaRPr/>
          </a:p>
        </p:txBody>
      </p:sp>
      <p:sp>
        <p:nvSpPr>
          <p:cNvPr id="2599" name="Google Shape;2599;p157"/>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u="sng">
                <a:solidFill>
                  <a:schemeClr val="hlink"/>
                </a:solidFill>
                <a:hlinkClick r:id="rId3"/>
              </a:rPr>
              <a:t>https://github.com/SAP/cloud-mta-build-tool?tab=readme-ov-file</a:t>
            </a:r>
            <a:endParaRPr sz="1800"/>
          </a:p>
          <a:p>
            <a:pPr marL="0" lvl="0" indent="0" algn="l" rtl="0">
              <a:spcBef>
                <a:spcPts val="360"/>
              </a:spcBef>
              <a:spcAft>
                <a:spcPts val="0"/>
              </a:spcAft>
              <a:buClr>
                <a:schemeClr val="dk1"/>
              </a:buClr>
              <a:buSzPts val="1800"/>
              <a:buNone/>
            </a:pPr>
            <a:r>
              <a:rPr lang="en-US" sz="1800" u="sng">
                <a:solidFill>
                  <a:schemeClr val="hlink"/>
                </a:solidFill>
                <a:hlinkClick r:id="rId4"/>
              </a:rPr>
              <a:t>https://sap.github.io/cloud-mta-build-tool/</a:t>
            </a: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2604"/>
        <p:cNvGrpSpPr/>
        <p:nvPr/>
      </p:nvGrpSpPr>
      <p:grpSpPr>
        <a:xfrm>
          <a:off x="0" y="0"/>
          <a:ext cx="0" cy="0"/>
          <a:chOff x="0" y="0"/>
          <a:chExt cx="0" cy="0"/>
        </a:xfrm>
      </p:grpSpPr>
      <p:sp>
        <p:nvSpPr>
          <p:cNvPr id="2605" name="Google Shape;2605;p15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Support for attachments</a:t>
            </a:r>
            <a:endParaRPr/>
          </a:p>
        </p:txBody>
      </p:sp>
      <p:sp>
        <p:nvSpPr>
          <p:cNvPr id="2606" name="Google Shape;2606;p158"/>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Often we want to enable upload of documents and store in cloud with our CAP application. SAP already offer a attachment plugin which can be used.</a:t>
            </a:r>
            <a:endParaRPr/>
          </a:p>
          <a:p>
            <a:pPr marL="285750" lvl="0" indent="-285750" algn="l" rtl="0">
              <a:spcBef>
                <a:spcPts val="360"/>
              </a:spcBef>
              <a:spcAft>
                <a:spcPts val="0"/>
              </a:spcAft>
              <a:buClr>
                <a:schemeClr val="dk1"/>
              </a:buClr>
              <a:buSzPts val="1800"/>
              <a:buFont typeface="Arial"/>
              <a:buChar char="•"/>
            </a:pPr>
            <a:r>
              <a:rPr lang="en-US" sz="1800"/>
              <a:t>It creates a database table called Attachment for you to store all attachments</a:t>
            </a:r>
            <a:endParaRPr/>
          </a:p>
          <a:p>
            <a:pPr marL="285750" lvl="0" indent="-285750" algn="l" rtl="0">
              <a:spcBef>
                <a:spcPts val="360"/>
              </a:spcBef>
              <a:spcAft>
                <a:spcPts val="0"/>
              </a:spcAft>
              <a:buClr>
                <a:schemeClr val="dk1"/>
              </a:buClr>
              <a:buSzPts val="1800"/>
              <a:buFont typeface="Arial"/>
              <a:buChar char="•"/>
            </a:pPr>
            <a:r>
              <a:rPr lang="en-US" sz="1800"/>
              <a:t>When user uploads attachment, the plugin also does virus scan</a:t>
            </a:r>
            <a:endParaRPr/>
          </a:p>
          <a:p>
            <a:pPr marL="285750" lvl="0" indent="-285750" algn="l" rtl="0">
              <a:spcBef>
                <a:spcPts val="360"/>
              </a:spcBef>
              <a:spcAft>
                <a:spcPts val="0"/>
              </a:spcAft>
              <a:buClr>
                <a:schemeClr val="dk1"/>
              </a:buClr>
              <a:buSzPts val="1800"/>
              <a:buFont typeface="Arial"/>
              <a:buChar char="•"/>
            </a:pPr>
            <a:r>
              <a:rPr lang="en-US" sz="1800"/>
              <a:t>Supports all kinds of attachments like pdf, images, word, ppt, etc.</a:t>
            </a:r>
            <a:endParaRPr/>
          </a:p>
          <a:p>
            <a:pPr marL="285750" lvl="0" indent="-285750" algn="l" rtl="0">
              <a:spcBef>
                <a:spcPts val="360"/>
              </a:spcBef>
              <a:spcAft>
                <a:spcPts val="0"/>
              </a:spcAft>
              <a:buClr>
                <a:schemeClr val="dk1"/>
              </a:buClr>
              <a:buSzPts val="1800"/>
              <a:buFont typeface="Arial"/>
              <a:buChar char="•"/>
            </a:pPr>
            <a:r>
              <a:rPr lang="en-US" sz="1800"/>
              <a:t>Little development effort</a:t>
            </a:r>
            <a:endParaRPr/>
          </a:p>
          <a:p>
            <a:pPr marL="285750" lvl="0" indent="-171450" algn="l" rtl="0">
              <a:spcBef>
                <a:spcPts val="360"/>
              </a:spcBef>
              <a:spcAft>
                <a:spcPts val="0"/>
              </a:spcAft>
              <a:buClr>
                <a:schemeClr val="dk1"/>
              </a:buClr>
              <a:buSzPts val="1800"/>
              <a:buFont typeface="Arial"/>
              <a:buNone/>
            </a:pPr>
            <a:endParaRPr sz="1800"/>
          </a:p>
          <a:p>
            <a:pPr marL="0" lvl="0" indent="0" algn="l" rtl="0">
              <a:spcBef>
                <a:spcPts val="360"/>
              </a:spcBef>
              <a:spcAft>
                <a:spcPts val="0"/>
              </a:spcAft>
              <a:buClr>
                <a:schemeClr val="dk1"/>
              </a:buClr>
              <a:buSzPts val="1800"/>
              <a:buNone/>
            </a:pPr>
            <a:r>
              <a:rPr lang="en-US" sz="1800" u="sng">
                <a:solidFill>
                  <a:schemeClr val="hlink"/>
                </a:solidFill>
                <a:hlinkClick r:id="rId3"/>
              </a:rPr>
              <a:t>https://cap.cloud.sap/docs/plugins/#attachments</a:t>
            </a:r>
            <a:endParaRPr sz="1800"/>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Requirement:</a:t>
            </a:r>
            <a:endParaRPr/>
          </a:p>
          <a:p>
            <a:pPr marL="0" lvl="0" indent="0" algn="l" rtl="0">
              <a:spcBef>
                <a:spcPts val="360"/>
              </a:spcBef>
              <a:spcAft>
                <a:spcPts val="0"/>
              </a:spcAft>
              <a:buClr>
                <a:schemeClr val="dk1"/>
              </a:buClr>
              <a:buSzPts val="1800"/>
              <a:buNone/>
            </a:pPr>
            <a:r>
              <a:rPr lang="en-US" sz="1800"/>
              <a:t>Along with PO, we want to enable user to upload multiple attachments. Like user can upload the reference quotation of vendor, additional documents, required approval screenshots of PO etc.</a:t>
            </a:r>
            <a:endParaRPr/>
          </a:p>
          <a:p>
            <a:pPr marL="0" lvl="0" indent="0" algn="l" rtl="0">
              <a:spcBef>
                <a:spcPts val="360"/>
              </a:spcBef>
              <a:spcAft>
                <a:spcPts val="0"/>
              </a:spcAft>
              <a:buClr>
                <a:schemeClr val="dk1"/>
              </a:buClr>
              <a:buSzPts val="1800"/>
              <a:buNone/>
            </a:pPr>
            <a:r>
              <a:rPr lang="en-US" sz="1800" u="sng">
                <a:solidFill>
                  <a:schemeClr val="hlink"/>
                </a:solidFill>
                <a:hlinkClick r:id="rId4"/>
              </a:rPr>
              <a:t>https://www.npmjs.com/package/@cap-js/attachments</a:t>
            </a:r>
            <a:endParaRPr sz="1800"/>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11"/>
        <p:cNvGrpSpPr/>
        <p:nvPr/>
      </p:nvGrpSpPr>
      <p:grpSpPr>
        <a:xfrm>
          <a:off x="0" y="0"/>
          <a:ext cx="0" cy="0"/>
          <a:chOff x="0" y="0"/>
          <a:chExt cx="0" cy="0"/>
        </a:xfrm>
      </p:grpSpPr>
      <p:sp>
        <p:nvSpPr>
          <p:cNvPr id="2612" name="Google Shape;2612;p15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Why Multi-tenant App?</a:t>
            </a:r>
            <a:endParaRPr/>
          </a:p>
        </p:txBody>
      </p:sp>
      <p:pic>
        <p:nvPicPr>
          <p:cNvPr id="2613" name="Google Shape;2613;p159"/>
          <p:cNvPicPr preferRelativeResize="0"/>
          <p:nvPr/>
        </p:nvPicPr>
        <p:blipFill rotWithShape="1">
          <a:blip r:embed="rId3">
            <a:alphaModFix/>
          </a:blip>
          <a:srcRect/>
          <a:stretch/>
        </p:blipFill>
        <p:spPr>
          <a:xfrm>
            <a:off x="74612" y="1028700"/>
            <a:ext cx="12039600" cy="48006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18"/>
        <p:cNvGrpSpPr/>
        <p:nvPr/>
      </p:nvGrpSpPr>
      <p:grpSpPr>
        <a:xfrm>
          <a:off x="0" y="0"/>
          <a:ext cx="0" cy="0"/>
          <a:chOff x="0" y="0"/>
          <a:chExt cx="0" cy="0"/>
        </a:xfrm>
      </p:grpSpPr>
      <p:sp>
        <p:nvSpPr>
          <p:cNvPr id="2619" name="Google Shape;2619;p16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Common Challenges</a:t>
            </a:r>
            <a:endParaRPr/>
          </a:p>
        </p:txBody>
      </p:sp>
      <p:pic>
        <p:nvPicPr>
          <p:cNvPr id="2620" name="Google Shape;2620;p160"/>
          <p:cNvPicPr preferRelativeResize="0"/>
          <p:nvPr/>
        </p:nvPicPr>
        <p:blipFill rotWithShape="1">
          <a:blip r:embed="rId3">
            <a:alphaModFix/>
          </a:blip>
          <a:srcRect/>
          <a:stretch/>
        </p:blipFill>
        <p:spPr>
          <a:xfrm>
            <a:off x="1125860" y="1484784"/>
            <a:ext cx="10369152" cy="4251018"/>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25"/>
        <p:cNvGrpSpPr/>
        <p:nvPr/>
      </p:nvGrpSpPr>
      <p:grpSpPr>
        <a:xfrm>
          <a:off x="0" y="0"/>
          <a:ext cx="0" cy="0"/>
          <a:chOff x="0" y="0"/>
          <a:chExt cx="0" cy="0"/>
        </a:xfrm>
      </p:grpSpPr>
      <p:sp>
        <p:nvSpPr>
          <p:cNvPr id="2626" name="Google Shape;2626;p16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What is Multitenant - SaaS</a:t>
            </a:r>
            <a:endParaRPr/>
          </a:p>
        </p:txBody>
      </p:sp>
      <p:pic>
        <p:nvPicPr>
          <p:cNvPr id="2627" name="Google Shape;2627;p161"/>
          <p:cNvPicPr preferRelativeResize="0"/>
          <p:nvPr/>
        </p:nvPicPr>
        <p:blipFill rotWithShape="1">
          <a:blip r:embed="rId3">
            <a:alphaModFix/>
          </a:blip>
          <a:srcRect/>
          <a:stretch/>
        </p:blipFill>
        <p:spPr>
          <a:xfrm>
            <a:off x="657808" y="1196752"/>
            <a:ext cx="10873208" cy="4826729"/>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32"/>
        <p:cNvGrpSpPr/>
        <p:nvPr/>
      </p:nvGrpSpPr>
      <p:grpSpPr>
        <a:xfrm>
          <a:off x="0" y="0"/>
          <a:ext cx="0" cy="0"/>
          <a:chOff x="0" y="0"/>
          <a:chExt cx="0" cy="0"/>
        </a:xfrm>
      </p:grpSpPr>
      <p:sp>
        <p:nvSpPr>
          <p:cNvPr id="2633" name="Google Shape;2633;p16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Benefits of Multi tenant App</a:t>
            </a:r>
            <a:endParaRPr/>
          </a:p>
        </p:txBody>
      </p:sp>
      <p:pic>
        <p:nvPicPr>
          <p:cNvPr id="2634" name="Google Shape;2634;p162"/>
          <p:cNvPicPr preferRelativeResize="0"/>
          <p:nvPr/>
        </p:nvPicPr>
        <p:blipFill rotWithShape="1">
          <a:blip r:embed="rId3">
            <a:alphaModFix/>
          </a:blip>
          <a:srcRect/>
          <a:stretch/>
        </p:blipFill>
        <p:spPr>
          <a:xfrm>
            <a:off x="2061964" y="1052736"/>
            <a:ext cx="7776864" cy="524571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39"/>
        <p:cNvGrpSpPr/>
        <p:nvPr/>
      </p:nvGrpSpPr>
      <p:grpSpPr>
        <a:xfrm>
          <a:off x="0" y="0"/>
          <a:ext cx="0" cy="0"/>
          <a:chOff x="0" y="0"/>
          <a:chExt cx="0" cy="0"/>
        </a:xfrm>
      </p:grpSpPr>
      <p:sp>
        <p:nvSpPr>
          <p:cNvPr id="2640" name="Google Shape;2640;p16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Challenges</a:t>
            </a:r>
            <a:endParaRPr/>
          </a:p>
        </p:txBody>
      </p:sp>
      <p:pic>
        <p:nvPicPr>
          <p:cNvPr id="2641" name="Google Shape;2641;p163"/>
          <p:cNvPicPr preferRelativeResize="0"/>
          <p:nvPr/>
        </p:nvPicPr>
        <p:blipFill rotWithShape="1">
          <a:blip r:embed="rId3">
            <a:alphaModFix/>
          </a:blip>
          <a:srcRect/>
          <a:stretch/>
        </p:blipFill>
        <p:spPr>
          <a:xfrm>
            <a:off x="1485900" y="836711"/>
            <a:ext cx="9001000" cy="5368067"/>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50"/>
        <p:cNvGrpSpPr/>
        <p:nvPr/>
      </p:nvGrpSpPr>
      <p:grpSpPr>
        <a:xfrm>
          <a:off x="0" y="0"/>
          <a:ext cx="0" cy="0"/>
          <a:chOff x="0" y="0"/>
          <a:chExt cx="0" cy="0"/>
        </a:xfrm>
      </p:grpSpPr>
      <p:sp>
        <p:nvSpPr>
          <p:cNvPr id="2651" name="Google Shape;2651;p165"/>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How it works in BTP?</a:t>
            </a:r>
            <a:endParaRPr/>
          </a:p>
        </p:txBody>
      </p:sp>
      <p:pic>
        <p:nvPicPr>
          <p:cNvPr id="2652" name="Google Shape;2652;p165"/>
          <p:cNvPicPr preferRelativeResize="0"/>
          <p:nvPr/>
        </p:nvPicPr>
        <p:blipFill rotWithShape="1">
          <a:blip r:embed="rId3">
            <a:alphaModFix/>
          </a:blip>
          <a:srcRect/>
          <a:stretch/>
        </p:blipFill>
        <p:spPr>
          <a:xfrm>
            <a:off x="693812" y="1412776"/>
            <a:ext cx="11072014" cy="4752528"/>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57"/>
        <p:cNvGrpSpPr/>
        <p:nvPr/>
      </p:nvGrpSpPr>
      <p:grpSpPr>
        <a:xfrm>
          <a:off x="0" y="0"/>
          <a:ext cx="0" cy="0"/>
          <a:chOff x="0" y="0"/>
          <a:chExt cx="0" cy="0"/>
        </a:xfrm>
      </p:grpSpPr>
      <p:sp>
        <p:nvSpPr>
          <p:cNvPr id="2658" name="Google Shape;2658;p166"/>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SAP Customer Perspective</a:t>
            </a:r>
            <a:endParaRPr/>
          </a:p>
        </p:txBody>
      </p:sp>
      <p:pic>
        <p:nvPicPr>
          <p:cNvPr id="2659" name="Google Shape;2659;p166"/>
          <p:cNvPicPr preferRelativeResize="0"/>
          <p:nvPr/>
        </p:nvPicPr>
        <p:blipFill rotWithShape="1">
          <a:blip r:embed="rId3">
            <a:alphaModFix/>
          </a:blip>
          <a:srcRect/>
          <a:stretch/>
        </p:blipFill>
        <p:spPr>
          <a:xfrm>
            <a:off x="837828" y="1268760"/>
            <a:ext cx="10864272" cy="468052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64"/>
        <p:cNvGrpSpPr/>
        <p:nvPr/>
      </p:nvGrpSpPr>
      <p:grpSpPr>
        <a:xfrm>
          <a:off x="0" y="0"/>
          <a:ext cx="0" cy="0"/>
          <a:chOff x="0" y="0"/>
          <a:chExt cx="0" cy="0"/>
        </a:xfrm>
      </p:grpSpPr>
      <p:sp>
        <p:nvSpPr>
          <p:cNvPr id="2665" name="Google Shape;2665;p16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Multi-tenant App on BTP</a:t>
            </a:r>
            <a:endParaRPr/>
          </a:p>
        </p:txBody>
      </p:sp>
      <p:pic>
        <p:nvPicPr>
          <p:cNvPr id="2666" name="Google Shape;2666;p167"/>
          <p:cNvPicPr preferRelativeResize="0"/>
          <p:nvPr/>
        </p:nvPicPr>
        <p:blipFill rotWithShape="1">
          <a:blip r:embed="rId3">
            <a:alphaModFix/>
          </a:blip>
          <a:srcRect/>
          <a:stretch/>
        </p:blipFill>
        <p:spPr>
          <a:xfrm>
            <a:off x="909836" y="1052735"/>
            <a:ext cx="10513168" cy="5162869"/>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71"/>
        <p:cNvGrpSpPr/>
        <p:nvPr/>
      </p:nvGrpSpPr>
      <p:grpSpPr>
        <a:xfrm>
          <a:off x="0" y="0"/>
          <a:ext cx="0" cy="0"/>
          <a:chOff x="0" y="0"/>
          <a:chExt cx="0" cy="0"/>
        </a:xfrm>
      </p:grpSpPr>
      <p:sp>
        <p:nvSpPr>
          <p:cNvPr id="2672" name="Google Shape;2672;p16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Partner Solutions</a:t>
            </a:r>
            <a:endParaRPr/>
          </a:p>
        </p:txBody>
      </p:sp>
      <p:pic>
        <p:nvPicPr>
          <p:cNvPr id="2673" name="Google Shape;2673;p168"/>
          <p:cNvPicPr preferRelativeResize="0"/>
          <p:nvPr/>
        </p:nvPicPr>
        <p:blipFill rotWithShape="1">
          <a:blip r:embed="rId3">
            <a:alphaModFix/>
          </a:blip>
          <a:srcRect/>
          <a:stretch/>
        </p:blipFill>
        <p:spPr>
          <a:xfrm>
            <a:off x="621804" y="1052736"/>
            <a:ext cx="10872436" cy="4824536"/>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78"/>
        <p:cNvGrpSpPr/>
        <p:nvPr/>
      </p:nvGrpSpPr>
      <p:grpSpPr>
        <a:xfrm>
          <a:off x="0" y="0"/>
          <a:ext cx="0" cy="0"/>
          <a:chOff x="0" y="0"/>
          <a:chExt cx="0" cy="0"/>
        </a:xfrm>
      </p:grpSpPr>
      <p:sp>
        <p:nvSpPr>
          <p:cNvPr id="2679" name="Google Shape;2679;p16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Data Separation for Multi tenant Apps</a:t>
            </a:r>
            <a:endParaRPr/>
          </a:p>
        </p:txBody>
      </p:sp>
      <p:pic>
        <p:nvPicPr>
          <p:cNvPr id="2680" name="Google Shape;2680;p169"/>
          <p:cNvPicPr preferRelativeResize="0"/>
          <p:nvPr/>
        </p:nvPicPr>
        <p:blipFill rotWithShape="1">
          <a:blip r:embed="rId3">
            <a:alphaModFix/>
          </a:blip>
          <a:srcRect/>
          <a:stretch/>
        </p:blipFill>
        <p:spPr>
          <a:xfrm>
            <a:off x="1053852" y="1907833"/>
            <a:ext cx="10241139" cy="3168352"/>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85"/>
        <p:cNvGrpSpPr/>
        <p:nvPr/>
      </p:nvGrpSpPr>
      <p:grpSpPr>
        <a:xfrm>
          <a:off x="0" y="0"/>
          <a:ext cx="0" cy="0"/>
          <a:chOff x="0" y="0"/>
          <a:chExt cx="0" cy="0"/>
        </a:xfrm>
      </p:grpSpPr>
      <p:sp>
        <p:nvSpPr>
          <p:cNvPr id="2686" name="Google Shape;2686;p17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SAP BTP Offerings</a:t>
            </a:r>
            <a:endParaRPr/>
          </a:p>
        </p:txBody>
      </p:sp>
      <p:pic>
        <p:nvPicPr>
          <p:cNvPr id="2687" name="Google Shape;2687;p170"/>
          <p:cNvPicPr preferRelativeResize="0"/>
          <p:nvPr/>
        </p:nvPicPr>
        <p:blipFill rotWithShape="1">
          <a:blip r:embed="rId3">
            <a:alphaModFix/>
          </a:blip>
          <a:srcRect/>
          <a:stretch/>
        </p:blipFill>
        <p:spPr>
          <a:xfrm>
            <a:off x="1269876" y="1124744"/>
            <a:ext cx="10053424" cy="4752528"/>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Shape 2692"/>
        <p:cNvGrpSpPr/>
        <p:nvPr/>
      </p:nvGrpSpPr>
      <p:grpSpPr>
        <a:xfrm>
          <a:off x="0" y="0"/>
          <a:ext cx="0" cy="0"/>
          <a:chOff x="0" y="0"/>
          <a:chExt cx="0" cy="0"/>
        </a:xfrm>
      </p:grpSpPr>
      <p:sp>
        <p:nvSpPr>
          <p:cNvPr id="2693" name="Google Shape;2693;p171"/>
          <p:cNvSpPr txBox="1">
            <a:spLocks noGrp="1"/>
          </p:cNvSpPr>
          <p:nvPr>
            <p:ph type="title"/>
          </p:nvPr>
        </p:nvSpPr>
        <p:spPr>
          <a:xfrm>
            <a:off x="345104" y="0"/>
            <a:ext cx="11005891"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Multi Tenant App – Architecture with CAP</a:t>
            </a:r>
            <a:endParaRPr/>
          </a:p>
        </p:txBody>
      </p:sp>
      <p:pic>
        <p:nvPicPr>
          <p:cNvPr id="2694" name="Google Shape;2694;p171"/>
          <p:cNvPicPr preferRelativeResize="0"/>
          <p:nvPr/>
        </p:nvPicPr>
        <p:blipFill rotWithShape="1">
          <a:blip r:embed="rId3">
            <a:alphaModFix/>
          </a:blip>
          <a:srcRect/>
          <a:stretch/>
        </p:blipFill>
        <p:spPr>
          <a:xfrm>
            <a:off x="1197868" y="980728"/>
            <a:ext cx="10081120" cy="5008556"/>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2699"/>
        <p:cNvGrpSpPr/>
        <p:nvPr/>
      </p:nvGrpSpPr>
      <p:grpSpPr>
        <a:xfrm>
          <a:off x="0" y="0"/>
          <a:ext cx="0" cy="0"/>
          <a:chOff x="0" y="0"/>
          <a:chExt cx="0" cy="0"/>
        </a:xfrm>
      </p:grpSpPr>
      <p:sp>
        <p:nvSpPr>
          <p:cNvPr id="2700" name="Google Shape;2700;p17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Simple Analogy</a:t>
            </a:r>
            <a:endParaRPr/>
          </a:p>
        </p:txBody>
      </p:sp>
      <p:sp>
        <p:nvSpPr>
          <p:cNvPr id="2701" name="Google Shape;2701;p172"/>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fontScale="92500" lnSpcReduction="20000"/>
          </a:bodyPr>
          <a:lstStyle/>
          <a:p>
            <a:pPr marL="0" lvl="0" indent="0" algn="l" rtl="0">
              <a:spcBef>
                <a:spcPts val="0"/>
              </a:spcBef>
              <a:spcAft>
                <a:spcPts val="0"/>
              </a:spcAft>
              <a:buClr>
                <a:schemeClr val="dk1"/>
              </a:buClr>
              <a:buSzPct val="100000"/>
              <a:buNone/>
            </a:pPr>
            <a:r>
              <a:rPr lang="en-US" sz="1800" b="1"/>
              <a:t>Think of a restaurant:</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 Main Restaurant = Your main CAP application (serves customers/tenants)</a:t>
            </a:r>
            <a:endParaRPr/>
          </a:p>
          <a:p>
            <a:pPr marL="0" lvl="0" indent="0" algn="l" rtl="0">
              <a:spcBef>
                <a:spcPts val="333"/>
              </a:spcBef>
              <a:spcAft>
                <a:spcPts val="0"/>
              </a:spcAft>
              <a:buClr>
                <a:schemeClr val="dk1"/>
              </a:buClr>
              <a:buSzPct val="100000"/>
              <a:buNone/>
            </a:pPr>
            <a:r>
              <a:rPr lang="en-US" sz="1800"/>
              <a:t>- Back Office/Manager's Office = MTX Sidecar (handles tenant registration, upgrades, configuration)</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The restaurant needs the back office, but they are separate rooms doing different jobs.</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b="1"/>
              <a:t>In SAP CAP Context</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When you build a multitenant SaaS application, you have:</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 1. Main Application (Your Business Logic)</a:t>
            </a:r>
            <a:endParaRPr/>
          </a:p>
          <a:p>
            <a:pPr marL="0" lvl="0" indent="0" algn="l" rtl="0">
              <a:spcBef>
                <a:spcPts val="333"/>
              </a:spcBef>
              <a:spcAft>
                <a:spcPts val="0"/>
              </a:spcAft>
              <a:buClr>
                <a:schemeClr val="dk1"/>
              </a:buClr>
              <a:buSzPct val="100000"/>
              <a:buNone/>
            </a:pPr>
            <a:r>
              <a:rPr lang="en-US" sz="1800"/>
              <a:t>- Serves actual business requests</a:t>
            </a:r>
            <a:endParaRPr/>
          </a:p>
          <a:p>
            <a:pPr marL="0" lvl="0" indent="0" algn="l" rtl="0">
              <a:spcBef>
                <a:spcPts val="333"/>
              </a:spcBef>
              <a:spcAft>
                <a:spcPts val="0"/>
              </a:spcAft>
              <a:buClr>
                <a:schemeClr val="dk1"/>
              </a:buClr>
              <a:buSzPct val="100000"/>
              <a:buNone/>
            </a:pPr>
            <a:r>
              <a:rPr lang="en-US" sz="1800"/>
              <a:t>- Handles data from different tenants</a:t>
            </a:r>
            <a:endParaRPr/>
          </a:p>
          <a:p>
            <a:pPr marL="0" lvl="0" indent="0" algn="l" rtl="0">
              <a:spcBef>
                <a:spcPts val="333"/>
              </a:spcBef>
              <a:spcAft>
                <a:spcPts val="0"/>
              </a:spcAft>
              <a:buClr>
                <a:schemeClr val="dk1"/>
              </a:buClr>
              <a:buSzPct val="100000"/>
              <a:buNone/>
            </a:pPr>
            <a:r>
              <a:rPr lang="en-US" sz="1800"/>
              <a:t>- Example: An invoice management app</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 2. MTX Sidecar (Tenant Management Service)</a:t>
            </a:r>
            <a:endParaRPr/>
          </a:p>
          <a:p>
            <a:pPr marL="0" lvl="0" indent="0" algn="l" rtl="0">
              <a:spcBef>
                <a:spcPts val="333"/>
              </a:spcBef>
              <a:spcAft>
                <a:spcPts val="0"/>
              </a:spcAft>
              <a:buClr>
                <a:schemeClr val="dk1"/>
              </a:buClr>
              <a:buSzPct val="100000"/>
              <a:buNone/>
            </a:pPr>
            <a:r>
              <a:rPr lang="en-US" sz="1800"/>
              <a:t>- Handles tenant onboarding</a:t>
            </a:r>
            <a:endParaRPr/>
          </a:p>
          <a:p>
            <a:pPr marL="0" lvl="0" indent="0" algn="l" rtl="0">
              <a:spcBef>
                <a:spcPts val="333"/>
              </a:spcBef>
              <a:spcAft>
                <a:spcPts val="0"/>
              </a:spcAft>
              <a:buClr>
                <a:schemeClr val="dk1"/>
              </a:buClr>
              <a:buSzPct val="100000"/>
              <a:buNone/>
            </a:pPr>
            <a:r>
              <a:rPr lang="en-US" sz="1800"/>
              <a:t>- Manages database schema upgrades</a:t>
            </a:r>
            <a:endParaRPr/>
          </a:p>
          <a:p>
            <a:pPr marL="0" lvl="0" indent="0" algn="l" rtl="0">
              <a:spcBef>
                <a:spcPts val="333"/>
              </a:spcBef>
              <a:spcAft>
                <a:spcPts val="0"/>
              </a:spcAft>
              <a:buClr>
                <a:schemeClr val="dk1"/>
              </a:buClr>
              <a:buSzPct val="100000"/>
              <a:buNone/>
            </a:pPr>
            <a:r>
              <a:rPr lang="en-US" sz="1800"/>
              <a:t>- Handles extensions</a:t>
            </a:r>
            <a:endParaRPr/>
          </a:p>
          <a:p>
            <a:pPr marL="0" lvl="0" indent="0" algn="l" rtl="0">
              <a:spcBef>
                <a:spcPts val="333"/>
              </a:spcBef>
              <a:spcAft>
                <a:spcPts val="0"/>
              </a:spcAft>
              <a:buClr>
                <a:schemeClr val="dk1"/>
              </a:buClr>
              <a:buSzPct val="100000"/>
              <a:buNone/>
            </a:pPr>
            <a:r>
              <a:rPr lang="en-US" sz="1800"/>
              <a:t>- Example: When a new customer subscribes, this service sets them up</a:t>
            </a:r>
            <a:endParaRPr/>
          </a:p>
          <a:p>
            <a:pPr marL="0" lvl="0" indent="0" algn="l" rtl="0">
              <a:spcBef>
                <a:spcPts val="333"/>
              </a:spcBef>
              <a:spcAft>
                <a:spcPts val="0"/>
              </a:spcAft>
              <a:buClr>
                <a:schemeClr val="dk1"/>
              </a:buClr>
              <a:buSzPct val="100000"/>
              <a:buNone/>
            </a:pPr>
            <a:endParaRPr sz="180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2706"/>
        <p:cNvGrpSpPr/>
        <p:nvPr/>
      </p:nvGrpSpPr>
      <p:grpSpPr>
        <a:xfrm>
          <a:off x="0" y="0"/>
          <a:ext cx="0" cy="0"/>
          <a:chOff x="0" y="0"/>
          <a:chExt cx="0" cy="0"/>
        </a:xfrm>
      </p:grpSpPr>
      <p:sp>
        <p:nvSpPr>
          <p:cNvPr id="2707" name="Google Shape;2707;p173"/>
          <p:cNvSpPr txBox="1">
            <a:spLocks noGrp="1"/>
          </p:cNvSpPr>
          <p:nvPr>
            <p:ph type="title"/>
          </p:nvPr>
        </p:nvSpPr>
        <p:spPr>
          <a:xfrm>
            <a:off x="345104" y="0"/>
            <a:ext cx="10645851"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What Happens in Real Life – Customer Side</a:t>
            </a:r>
            <a:endParaRPr/>
          </a:p>
        </p:txBody>
      </p:sp>
      <p:sp>
        <p:nvSpPr>
          <p:cNvPr id="2708" name="Google Shape;2708;p173"/>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 Scenario: New Customer "Acme Corp" Subscribes</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1. Acme Corp clicks "Subscribe" in BTP</a:t>
            </a:r>
            <a:endParaRPr/>
          </a:p>
          <a:p>
            <a:pPr marL="0" lvl="0" indent="0" algn="l" rtl="0">
              <a:spcBef>
                <a:spcPts val="360"/>
              </a:spcBef>
              <a:spcAft>
                <a:spcPts val="0"/>
              </a:spcAft>
              <a:buClr>
                <a:schemeClr val="dk1"/>
              </a:buClr>
              <a:buSzPts val="1800"/>
              <a:buNone/>
            </a:pPr>
            <a:r>
              <a:rPr lang="en-US" sz="1800"/>
              <a:t>2. MTX Sidecar (`mtx-sidecar` profile) receives the request:</a:t>
            </a:r>
            <a:endParaRPr/>
          </a:p>
          <a:p>
            <a:pPr marL="0" lvl="0" indent="0" algn="l" rtl="0">
              <a:spcBef>
                <a:spcPts val="360"/>
              </a:spcBef>
              <a:spcAft>
                <a:spcPts val="0"/>
              </a:spcAft>
              <a:buClr>
                <a:schemeClr val="dk1"/>
              </a:buClr>
              <a:buSzPts val="1800"/>
              <a:buNone/>
            </a:pPr>
            <a:r>
              <a:rPr lang="en-US" sz="1800"/>
              <a:t>   - Creates database schema for Acme Corp</a:t>
            </a:r>
            <a:endParaRPr/>
          </a:p>
          <a:p>
            <a:pPr marL="0" lvl="0" indent="0" algn="l" rtl="0">
              <a:spcBef>
                <a:spcPts val="360"/>
              </a:spcBef>
              <a:spcAft>
                <a:spcPts val="0"/>
              </a:spcAft>
              <a:buClr>
                <a:schemeClr val="dk1"/>
              </a:buClr>
              <a:buSzPts val="1800"/>
              <a:buNone/>
            </a:pPr>
            <a:r>
              <a:rPr lang="en-US" sz="1800"/>
              <a:t>   - Sets up tenant configuration</a:t>
            </a:r>
            <a:endParaRPr/>
          </a:p>
          <a:p>
            <a:pPr marL="0" lvl="0" indent="0" algn="l" rtl="0">
              <a:spcBef>
                <a:spcPts val="360"/>
              </a:spcBef>
              <a:spcAft>
                <a:spcPts val="0"/>
              </a:spcAft>
              <a:buClr>
                <a:schemeClr val="dk1"/>
              </a:buClr>
              <a:buSzPts val="1800"/>
              <a:buNone/>
            </a:pPr>
            <a:r>
              <a:rPr lang="en-US" sz="1800"/>
              <a:t>   - Deploys data model</a:t>
            </a:r>
            <a:endParaRPr/>
          </a:p>
          <a:p>
            <a:pPr marL="0" lvl="0" indent="0" algn="l" rtl="0">
              <a:spcBef>
                <a:spcPts val="360"/>
              </a:spcBef>
              <a:spcAft>
                <a:spcPts val="0"/>
              </a:spcAft>
              <a:buClr>
                <a:schemeClr val="dk1"/>
              </a:buClr>
              <a:buSzPts val="1800"/>
              <a:buNone/>
            </a:pPr>
            <a:r>
              <a:rPr lang="en-US" sz="1800"/>
              <a:t>   </a:t>
            </a:r>
            <a:endParaRPr/>
          </a:p>
          <a:p>
            <a:pPr marL="0" lvl="0" indent="0" algn="l" rtl="0">
              <a:spcBef>
                <a:spcPts val="360"/>
              </a:spcBef>
              <a:spcAft>
                <a:spcPts val="0"/>
              </a:spcAft>
              <a:buClr>
                <a:schemeClr val="dk1"/>
              </a:buClr>
              <a:buSzPts val="1800"/>
              <a:buNone/>
            </a:pPr>
            <a:r>
              <a:rPr lang="en-US" sz="1800"/>
              <a:t>3. Main App (`with-mtx-sidecar` profile) just serves requests:</a:t>
            </a:r>
            <a:endParaRPr/>
          </a:p>
          <a:p>
            <a:pPr marL="0" lvl="0" indent="0" algn="l" rtl="0">
              <a:spcBef>
                <a:spcPts val="360"/>
              </a:spcBef>
              <a:spcAft>
                <a:spcPts val="0"/>
              </a:spcAft>
              <a:buClr>
                <a:schemeClr val="dk1"/>
              </a:buClr>
              <a:buSzPts val="1800"/>
              <a:buNone/>
            </a:pPr>
            <a:r>
              <a:rPr lang="en-US" sz="1800"/>
              <a:t>   - When Acme users log in, it serves their invoices</a:t>
            </a:r>
            <a:endParaRPr/>
          </a:p>
          <a:p>
            <a:pPr marL="0" lvl="0" indent="0" algn="l" rtl="0">
              <a:spcBef>
                <a:spcPts val="360"/>
              </a:spcBef>
              <a:spcAft>
                <a:spcPts val="0"/>
              </a:spcAft>
              <a:buClr>
                <a:schemeClr val="dk1"/>
              </a:buClr>
              <a:buSzPts val="1800"/>
              <a:buNone/>
            </a:pPr>
            <a:r>
              <a:rPr lang="en-US" sz="1800"/>
              <a:t>   - It doesn't worry about tenant setup - the sidecar already did that</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 Simple Rule:</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 `mtx-sidecar` → Use this for the SERVICE that DOES the tenant management work</a:t>
            </a:r>
            <a:endParaRPr/>
          </a:p>
          <a:p>
            <a:pPr marL="0" lvl="0" indent="0" algn="l" rtl="0">
              <a:spcBef>
                <a:spcPts val="360"/>
              </a:spcBef>
              <a:spcAft>
                <a:spcPts val="0"/>
              </a:spcAft>
              <a:buClr>
                <a:schemeClr val="dk1"/>
              </a:buClr>
              <a:buSzPts val="1800"/>
              <a:buNone/>
            </a:pPr>
            <a:r>
              <a:rPr lang="en-US" sz="1800"/>
              <a:t>- `with-mtx-sidecar` → Use this for your MAIN APP that USES the tenant management service</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2713"/>
        <p:cNvGrpSpPr/>
        <p:nvPr/>
      </p:nvGrpSpPr>
      <p:grpSpPr>
        <a:xfrm>
          <a:off x="0" y="0"/>
          <a:ext cx="0" cy="0"/>
          <a:chOff x="0" y="0"/>
          <a:chExt cx="0" cy="0"/>
        </a:xfrm>
      </p:grpSpPr>
      <p:sp>
        <p:nvSpPr>
          <p:cNvPr id="2714" name="Google Shape;2714;p17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Profiles</a:t>
            </a:r>
            <a:endParaRPr/>
          </a:p>
        </p:txBody>
      </p:sp>
      <p:sp>
        <p:nvSpPr>
          <p:cNvPr id="2715" name="Google Shape;2715;p17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fontScale="92500" lnSpcReduction="20000"/>
          </a:bodyPr>
          <a:lstStyle/>
          <a:p>
            <a:pPr marL="0" lvl="0" indent="0" algn="l" rtl="0">
              <a:spcBef>
                <a:spcPts val="0"/>
              </a:spcBef>
              <a:spcAft>
                <a:spcPts val="0"/>
              </a:spcAft>
              <a:buClr>
                <a:schemeClr val="dk1"/>
              </a:buClr>
              <a:buSzPct val="100000"/>
              <a:buNone/>
            </a:pPr>
            <a:r>
              <a:rPr lang="en-US" sz="1800"/>
              <a:t>In BTP CAP (Cloud Application Programming Model), the difference between `with-mtx-sidecar` and `mtx-sidecar` profiles relates to how the MTX (Multitenancy and Extensibility) services are deployed:</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 `mtx-sidecar` Profile</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This profile is used for the MTX sidecar application itself. It:</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 Defines the configuration for the separate microservice that handles multitenancy operations</a:t>
            </a:r>
            <a:endParaRPr/>
          </a:p>
          <a:p>
            <a:pPr marL="0" lvl="0" indent="0" algn="l" rtl="0">
              <a:spcBef>
                <a:spcPts val="333"/>
              </a:spcBef>
              <a:spcAft>
                <a:spcPts val="0"/>
              </a:spcAft>
              <a:buClr>
                <a:schemeClr val="dk1"/>
              </a:buClr>
              <a:buSzPct val="100000"/>
              <a:buNone/>
            </a:pPr>
            <a:r>
              <a:rPr lang="en-US" sz="1800"/>
              <a:t>- Contains the MTX server implementation that manages tenant subscriptions, upgrades, and extensions</a:t>
            </a:r>
            <a:endParaRPr/>
          </a:p>
          <a:p>
            <a:pPr marL="0" lvl="0" indent="0" algn="l" rtl="0">
              <a:spcBef>
                <a:spcPts val="333"/>
              </a:spcBef>
              <a:spcAft>
                <a:spcPts val="0"/>
              </a:spcAft>
              <a:buClr>
                <a:schemeClr val="dk1"/>
              </a:buClr>
              <a:buSzPct val="100000"/>
              <a:buNone/>
            </a:pPr>
            <a:r>
              <a:rPr lang="en-US" sz="1800"/>
              <a:t>- Is applied to the dedicated MTX sidecar service/module in your deployment</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Usage: Applied to the MTX sidecar service definition in your `mta.yaml` or deployment configuration.</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 `with-mtx-sidecar` Profile</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This profile is used for the main application service when it's deployed alongside an MTX sidecar. It:</a:t>
            </a:r>
            <a:endParaRPr/>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 Configures the main CAP application to work with an external MTX sidecar</a:t>
            </a:r>
            <a:endParaRPr/>
          </a:p>
          <a:p>
            <a:pPr marL="0" lvl="0" indent="0" algn="l" rtl="0">
              <a:spcBef>
                <a:spcPts val="333"/>
              </a:spcBef>
              <a:spcAft>
                <a:spcPts val="0"/>
              </a:spcAft>
              <a:buClr>
                <a:schemeClr val="dk1"/>
              </a:buClr>
              <a:buSzPct val="100000"/>
              <a:buNone/>
            </a:pPr>
            <a:r>
              <a:rPr lang="en-US" sz="1800"/>
              <a:t>- Delegates multitenancy operations to the sidecar instead of handling them internally</a:t>
            </a:r>
            <a:endParaRPr/>
          </a:p>
          <a:p>
            <a:pPr marL="0" lvl="0" indent="0" algn="l" rtl="0">
              <a:spcBef>
                <a:spcPts val="333"/>
              </a:spcBef>
              <a:spcAft>
                <a:spcPts val="0"/>
              </a:spcAft>
              <a:buClr>
                <a:schemeClr val="dk1"/>
              </a:buClr>
              <a:buSzPct val="100000"/>
              <a:buNone/>
            </a:pPr>
            <a:r>
              <a:rPr lang="en-US" sz="1800"/>
              <a:t>- Sets up the proper service bindings and configurations to communicate with the MTX sidecar</a:t>
            </a:r>
            <a:endParaRPr/>
          </a:p>
          <a:p>
            <a:pPr marL="0" lvl="0" indent="0" algn="l" rtl="0">
              <a:spcBef>
                <a:spcPts val="333"/>
              </a:spcBef>
              <a:spcAft>
                <a:spcPts val="0"/>
              </a:spcAft>
              <a:buClr>
                <a:schemeClr val="dk1"/>
              </a:buClr>
              <a:buSzPct val="100000"/>
              <a:buNone/>
            </a:pPr>
            <a:r>
              <a:rPr lang="en-US" sz="1800"/>
              <a:t>- Disables built-in MTX capabilities in the main app since they're handled by the sidecar</a:t>
            </a:r>
            <a:endParaRPr/>
          </a:p>
          <a:p>
            <a:pPr marL="0" lvl="0" indent="0" algn="l" rtl="0">
              <a:spcBef>
                <a:spcPts val="333"/>
              </a:spcBef>
              <a:spcAft>
                <a:spcPts val="0"/>
              </a:spcAft>
              <a:buClr>
                <a:schemeClr val="dk1"/>
              </a:buClr>
              <a:buSzPct val="100000"/>
              <a:buNone/>
            </a:pPr>
            <a:endParaRPr sz="180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2720"/>
        <p:cNvGrpSpPr/>
        <p:nvPr/>
      </p:nvGrpSpPr>
      <p:grpSpPr>
        <a:xfrm>
          <a:off x="0" y="0"/>
          <a:ext cx="0" cy="0"/>
          <a:chOff x="0" y="0"/>
          <a:chExt cx="0" cy="0"/>
        </a:xfrm>
      </p:grpSpPr>
      <p:sp>
        <p:nvSpPr>
          <p:cNvPr id="2721" name="Google Shape;2721;p175"/>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Example MTA.yaml</a:t>
            </a:r>
            <a:endParaRPr/>
          </a:p>
        </p:txBody>
      </p:sp>
      <p:sp>
        <p:nvSpPr>
          <p:cNvPr id="2722" name="Google Shape;2722;p175"/>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fontScale="92500" lnSpcReduction="10000"/>
          </a:bodyPr>
          <a:lstStyle/>
          <a:p>
            <a:pPr marL="0" lvl="0" indent="0" algn="l" rtl="0">
              <a:spcBef>
                <a:spcPts val="0"/>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```yaml</a:t>
            </a:r>
            <a:endParaRPr sz="1800"/>
          </a:p>
          <a:p>
            <a:pPr marL="0" lvl="0" indent="0" algn="l" rtl="0">
              <a:spcBef>
                <a:spcPts val="333"/>
              </a:spcBef>
              <a:spcAft>
                <a:spcPts val="0"/>
              </a:spcAft>
              <a:buClr>
                <a:schemeClr val="dk1"/>
              </a:buClr>
              <a:buSzPct val="100000"/>
              <a:buNone/>
            </a:pPr>
            <a:r>
              <a:rPr lang="en-US" sz="1800"/>
              <a:t>modules:</a:t>
            </a:r>
            <a:endParaRPr/>
          </a:p>
          <a:p>
            <a:pPr marL="0" lvl="0" indent="0" algn="l" rtl="0">
              <a:spcBef>
                <a:spcPts val="333"/>
              </a:spcBef>
              <a:spcAft>
                <a:spcPts val="0"/>
              </a:spcAft>
              <a:buClr>
                <a:schemeClr val="dk1"/>
              </a:buClr>
              <a:buSzPct val="100000"/>
              <a:buNone/>
            </a:pPr>
            <a:r>
              <a:rPr lang="en-US" sz="1800"/>
              <a:t>  - name: myapp-srv</a:t>
            </a:r>
            <a:endParaRPr sz="1800"/>
          </a:p>
          <a:p>
            <a:pPr marL="0" lvl="0" indent="0" algn="l" rtl="0">
              <a:spcBef>
                <a:spcPts val="333"/>
              </a:spcBef>
              <a:spcAft>
                <a:spcPts val="0"/>
              </a:spcAft>
              <a:buClr>
                <a:schemeClr val="dk1"/>
              </a:buClr>
              <a:buSzPct val="100000"/>
              <a:buNone/>
            </a:pPr>
            <a:r>
              <a:rPr lang="en-US" sz="1800"/>
              <a:t>    type: nodejs</a:t>
            </a:r>
            <a:endParaRPr sz="1800"/>
          </a:p>
          <a:p>
            <a:pPr marL="0" lvl="0" indent="0" algn="l" rtl="0">
              <a:spcBef>
                <a:spcPts val="333"/>
              </a:spcBef>
              <a:spcAft>
                <a:spcPts val="0"/>
              </a:spcAft>
              <a:buClr>
                <a:schemeClr val="dk1"/>
              </a:buClr>
              <a:buSzPct val="100000"/>
              <a:buNone/>
            </a:pPr>
            <a:r>
              <a:rPr lang="en-US" sz="1800"/>
              <a:t>    parameters:</a:t>
            </a:r>
            <a:endParaRPr/>
          </a:p>
          <a:p>
            <a:pPr marL="0" lvl="0" indent="0" algn="l" rtl="0">
              <a:spcBef>
                <a:spcPts val="333"/>
              </a:spcBef>
              <a:spcAft>
                <a:spcPts val="0"/>
              </a:spcAft>
              <a:buClr>
                <a:schemeClr val="dk1"/>
              </a:buClr>
              <a:buSzPct val="100000"/>
              <a:buNone/>
            </a:pPr>
            <a:r>
              <a:rPr lang="en-US" sz="1800"/>
              <a:t>      buildpack: nodejs_buildpack</a:t>
            </a:r>
            <a:endParaRPr sz="1800"/>
          </a:p>
          <a:p>
            <a:pPr marL="0" lvl="0" indent="0" algn="l" rtl="0">
              <a:spcBef>
                <a:spcPts val="333"/>
              </a:spcBef>
              <a:spcAft>
                <a:spcPts val="0"/>
              </a:spcAft>
              <a:buClr>
                <a:schemeClr val="dk1"/>
              </a:buClr>
              <a:buSzPct val="100000"/>
              <a:buNone/>
            </a:pPr>
            <a:r>
              <a:rPr lang="en-US" sz="1800"/>
              <a:t>    properties:</a:t>
            </a:r>
            <a:endParaRPr/>
          </a:p>
          <a:p>
            <a:pPr marL="0" lvl="0" indent="0" algn="l" rtl="0">
              <a:spcBef>
                <a:spcPts val="333"/>
              </a:spcBef>
              <a:spcAft>
                <a:spcPts val="0"/>
              </a:spcAft>
              <a:buClr>
                <a:schemeClr val="dk1"/>
              </a:buClr>
              <a:buSzPct val="100000"/>
              <a:buNone/>
            </a:pPr>
            <a:r>
              <a:rPr lang="en-US" sz="1800"/>
              <a:t>      CDS_FEATURES_WITH_MTX_SIDECAR: true   or use with-mtx-sidecar profile</a:t>
            </a:r>
            <a:endParaRPr/>
          </a:p>
          <a:p>
            <a:pPr marL="0" lvl="0" indent="0" algn="l" rtl="0">
              <a:spcBef>
                <a:spcPts val="333"/>
              </a:spcBef>
              <a:spcAft>
                <a:spcPts val="0"/>
              </a:spcAft>
              <a:buClr>
                <a:schemeClr val="dk1"/>
              </a:buClr>
              <a:buSzPct val="100000"/>
              <a:buNone/>
            </a:pPr>
            <a:r>
              <a:rPr lang="en-US" sz="1800"/>
              <a:t>    requires:</a:t>
            </a:r>
            <a:endParaRPr/>
          </a:p>
          <a:p>
            <a:pPr marL="0" lvl="0" indent="0" algn="l" rtl="0">
              <a:spcBef>
                <a:spcPts val="333"/>
              </a:spcBef>
              <a:spcAft>
                <a:spcPts val="0"/>
              </a:spcAft>
              <a:buClr>
                <a:schemeClr val="dk1"/>
              </a:buClr>
              <a:buSzPct val="100000"/>
              <a:buNone/>
            </a:pPr>
            <a:r>
              <a:rPr lang="en-US" sz="1800"/>
              <a:t>      - name: myapp-mtx</a:t>
            </a:r>
            <a:endParaRPr sz="1800"/>
          </a:p>
          <a:p>
            <a:pPr marL="0" lvl="0" indent="0" algn="l" rtl="0">
              <a:spcBef>
                <a:spcPts val="333"/>
              </a:spcBef>
              <a:spcAft>
                <a:spcPts val="0"/>
              </a:spcAft>
              <a:buClr>
                <a:schemeClr val="dk1"/>
              </a:buClr>
              <a:buSzPct val="100000"/>
              <a:buNone/>
            </a:pPr>
            <a:endParaRPr sz="1800"/>
          </a:p>
          <a:p>
            <a:pPr marL="0" lvl="0" indent="0" algn="l" rtl="0">
              <a:spcBef>
                <a:spcPts val="333"/>
              </a:spcBef>
              <a:spcAft>
                <a:spcPts val="0"/>
              </a:spcAft>
              <a:buClr>
                <a:schemeClr val="dk1"/>
              </a:buClr>
              <a:buSzPct val="100000"/>
              <a:buNone/>
            </a:pPr>
            <a:r>
              <a:rPr lang="en-US" sz="1800"/>
              <a:t>  - name: myapp-mtx</a:t>
            </a:r>
            <a:endParaRPr sz="1800"/>
          </a:p>
          <a:p>
            <a:pPr marL="0" lvl="0" indent="0" algn="l" rtl="0">
              <a:spcBef>
                <a:spcPts val="333"/>
              </a:spcBef>
              <a:spcAft>
                <a:spcPts val="0"/>
              </a:spcAft>
              <a:buClr>
                <a:schemeClr val="dk1"/>
              </a:buClr>
              <a:buSzPct val="100000"/>
              <a:buNone/>
            </a:pPr>
            <a:r>
              <a:rPr lang="en-US" sz="1800"/>
              <a:t>    type: nodejs</a:t>
            </a:r>
            <a:endParaRPr sz="1800"/>
          </a:p>
          <a:p>
            <a:pPr marL="0" lvl="0" indent="0" algn="l" rtl="0">
              <a:spcBef>
                <a:spcPts val="333"/>
              </a:spcBef>
              <a:spcAft>
                <a:spcPts val="0"/>
              </a:spcAft>
              <a:buClr>
                <a:schemeClr val="dk1"/>
              </a:buClr>
              <a:buSzPct val="100000"/>
              <a:buNone/>
            </a:pPr>
            <a:r>
              <a:rPr lang="en-US" sz="1800"/>
              <a:t>    parameters:</a:t>
            </a:r>
            <a:endParaRPr/>
          </a:p>
          <a:p>
            <a:pPr marL="0" lvl="0" indent="0" algn="l" rtl="0">
              <a:spcBef>
                <a:spcPts val="333"/>
              </a:spcBef>
              <a:spcAft>
                <a:spcPts val="0"/>
              </a:spcAft>
              <a:buClr>
                <a:schemeClr val="dk1"/>
              </a:buClr>
              <a:buSzPct val="100000"/>
              <a:buNone/>
            </a:pPr>
            <a:r>
              <a:rPr lang="en-US" sz="1800"/>
              <a:t>      buildpack: nodejs_buildpack</a:t>
            </a:r>
            <a:endParaRPr sz="1800"/>
          </a:p>
          <a:p>
            <a:pPr marL="0" lvl="0" indent="0" algn="l" rtl="0">
              <a:spcBef>
                <a:spcPts val="333"/>
              </a:spcBef>
              <a:spcAft>
                <a:spcPts val="0"/>
              </a:spcAft>
              <a:buClr>
                <a:schemeClr val="dk1"/>
              </a:buClr>
              <a:buSzPct val="100000"/>
              <a:buNone/>
            </a:pPr>
            <a:r>
              <a:rPr lang="en-US" sz="1800"/>
              <a:t>    properties:</a:t>
            </a:r>
            <a:endParaRPr/>
          </a:p>
          <a:p>
            <a:pPr marL="0" lvl="0" indent="0" algn="l" rtl="0">
              <a:spcBef>
                <a:spcPts val="333"/>
              </a:spcBef>
              <a:spcAft>
                <a:spcPts val="0"/>
              </a:spcAft>
              <a:buClr>
                <a:schemeClr val="dk1"/>
              </a:buClr>
              <a:buSzPct val="100000"/>
              <a:buNone/>
            </a:pPr>
            <a:r>
              <a:rPr lang="en-US" sz="1800"/>
              <a:t>      CDS_FEATURES_MTX_SIDECAR: true   or use mtx-sidecar profile</a:t>
            </a:r>
            <a:endParaRPr/>
          </a:p>
          <a:p>
            <a:pPr marL="0" lvl="0" indent="0" algn="l" rtl="0">
              <a:spcBef>
                <a:spcPts val="333"/>
              </a:spcBef>
              <a:spcAft>
                <a:spcPts val="0"/>
              </a:spcAft>
              <a:buClr>
                <a:schemeClr val="dk1"/>
              </a:buClr>
              <a:buSzPct val="100000"/>
              <a:buNone/>
            </a:pPr>
            <a:r>
              <a:rPr lang="en-US" sz="1800"/>
              <a:t>```</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2734"/>
        <p:cNvGrpSpPr/>
        <p:nvPr/>
      </p:nvGrpSpPr>
      <p:grpSpPr>
        <a:xfrm>
          <a:off x="0" y="0"/>
          <a:ext cx="0" cy="0"/>
          <a:chOff x="0" y="0"/>
          <a:chExt cx="0" cy="0"/>
        </a:xfrm>
      </p:grpSpPr>
      <p:sp>
        <p:nvSpPr>
          <p:cNvPr id="2735" name="Google Shape;2735;p17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Step by Step – Multi tenancy</a:t>
            </a:r>
            <a:endParaRPr/>
          </a:p>
        </p:txBody>
      </p:sp>
      <p:sp>
        <p:nvSpPr>
          <p:cNvPr id="2736" name="Google Shape;2736;p177"/>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lnSpcReduction="10000"/>
          </a:bodyPr>
          <a:lstStyle/>
          <a:p>
            <a:pPr marL="285750" lvl="0" indent="-285750" algn="l" rtl="0">
              <a:spcBef>
                <a:spcPts val="0"/>
              </a:spcBef>
              <a:spcAft>
                <a:spcPts val="0"/>
              </a:spcAft>
              <a:buClr>
                <a:schemeClr val="dk1"/>
              </a:buClr>
              <a:buSzPts val="1800"/>
              <a:buFont typeface="Arial"/>
              <a:buChar char="•"/>
            </a:pPr>
            <a:r>
              <a:rPr lang="en-US" sz="1800"/>
              <a:t>CAP has built-in support for multitenancy with @sap/cds-mtxs package. Essentially, multitenancy is the ability to serve multiple tenants through single clusters of microservice instance (srv,db,approuter,fioriapp), while strictly isolating the tenant specific data. E.g. you working for tata group and you created one cap app for all group of companies like tata motors, tata tea, tata consultancy service. Tenants are clients using SaaS Solution and subscribing it using BTP consumer account. The application is deployed in provider account.</a:t>
            </a:r>
            <a:endParaRPr/>
          </a:p>
          <a:p>
            <a:pPr marL="285750" lvl="0" indent="-285750" algn="l" rtl="0">
              <a:spcBef>
                <a:spcPts val="360"/>
              </a:spcBef>
              <a:spcAft>
                <a:spcPts val="0"/>
              </a:spcAft>
              <a:buClr>
                <a:schemeClr val="dk1"/>
              </a:buClr>
              <a:buSzPts val="1800"/>
              <a:buFont typeface="Arial"/>
              <a:buChar char="•"/>
            </a:pPr>
            <a:r>
              <a:rPr lang="en-US" sz="1800"/>
              <a:t>In contrast to single-tenant mode, applications wait for tenants to subscribe it before they start using it. Simply we can enable multi tenancy in cap applications using </a:t>
            </a:r>
            <a:r>
              <a:rPr lang="en-US" sz="1800" b="1"/>
              <a:t>cds add multitenancy </a:t>
            </a:r>
            <a:r>
              <a:rPr lang="en-US" sz="1800"/>
              <a:t>command. Next we download the module which is added </a:t>
            </a:r>
            <a:r>
              <a:rPr lang="en-US" sz="1800" b="1"/>
              <a:t>npm install</a:t>
            </a:r>
            <a:endParaRPr/>
          </a:p>
          <a:p>
            <a:pPr marL="285750" lvl="0" indent="-285750" algn="l" rtl="0">
              <a:spcBef>
                <a:spcPts val="360"/>
              </a:spcBef>
              <a:spcAft>
                <a:spcPts val="0"/>
              </a:spcAft>
              <a:buClr>
                <a:schemeClr val="dk1"/>
              </a:buClr>
              <a:buSzPts val="1800"/>
              <a:buFont typeface="Arial"/>
              <a:buChar char="•"/>
            </a:pPr>
            <a:r>
              <a:rPr lang="en-US" sz="1800"/>
              <a:t>We check the mta.yaml, system has automatically added a app router for us, however we already have app router with our ui module so we cut the necessary properties like TENANT_HOST_PATTERN, mtx-api, and provides sections and added to our app router, and we removed the auto generated app router. System removes DB deployer, because now the sidecar-mtx application will manage your tenant database (hdi container).</a:t>
            </a:r>
            <a:endParaRPr/>
          </a:p>
          <a:p>
            <a:pPr marL="285750" lvl="0" indent="-285750" algn="l" rtl="0">
              <a:spcBef>
                <a:spcPts val="360"/>
              </a:spcBef>
              <a:spcAft>
                <a:spcPts val="0"/>
              </a:spcAft>
              <a:buClr>
                <a:schemeClr val="dk1"/>
              </a:buClr>
              <a:buSzPts val="1800"/>
              <a:buFont typeface="Arial"/>
              <a:buChar char="•"/>
            </a:pPr>
            <a:r>
              <a:rPr lang="en-US" sz="1800"/>
              <a:t>Before deploying to cloud, lets do a test drive common SaaS operations with app locally, including start for MTX app (Mall management to open the mall, clean, allow customers to security scan), start the app (actual Nike shop), we will onboard the tenants (e.g. t1, t2). We enhance mock user strategy with tenant name.</a:t>
            </a:r>
            <a:endParaRPr/>
          </a:p>
          <a:p>
            <a:pPr marL="285750" lvl="0" indent="-285750" algn="l" rtl="0">
              <a:spcBef>
                <a:spcPts val="360"/>
              </a:spcBef>
              <a:spcAft>
                <a:spcPts val="0"/>
              </a:spcAft>
              <a:buClr>
                <a:schemeClr val="dk1"/>
              </a:buClr>
              <a:buSzPts val="1800"/>
              <a:buFont typeface="Arial"/>
              <a:buChar char="•"/>
            </a:pPr>
            <a:r>
              <a:rPr lang="en-US" sz="1800"/>
              <a:t>In terminal 1, We will now start the on-boarding side car app </a:t>
            </a:r>
            <a:r>
              <a:rPr lang="en-US" sz="1800" b="1"/>
              <a:t>cds watch mtx/sidecar   🡪 4005</a:t>
            </a:r>
            <a:endParaRPr sz="1800" b="1"/>
          </a:p>
          <a:p>
            <a:pPr marL="285750" lvl="0" indent="-285750" algn="l" rtl="0">
              <a:spcBef>
                <a:spcPts val="360"/>
              </a:spcBef>
              <a:spcAft>
                <a:spcPts val="0"/>
              </a:spcAft>
              <a:buClr>
                <a:schemeClr val="dk1"/>
              </a:buClr>
              <a:buSzPts val="1800"/>
              <a:buFont typeface="Arial"/>
              <a:buChar char="•"/>
            </a:pPr>
            <a:r>
              <a:rPr lang="en-US" sz="1800"/>
              <a:t>In terminal 2, We will start the actual multi-tenant app </a:t>
            </a:r>
            <a:r>
              <a:rPr lang="en-US" sz="1800" b="1"/>
              <a:t>cds watch --with-mtx                 🡪 4004</a:t>
            </a:r>
            <a:endParaRPr sz="1800" b="1"/>
          </a:p>
          <a:p>
            <a:pPr marL="285750" lvl="0" indent="-285750" algn="l" rtl="0">
              <a:spcBef>
                <a:spcPts val="360"/>
              </a:spcBef>
              <a:spcAft>
                <a:spcPts val="0"/>
              </a:spcAft>
              <a:buClr>
                <a:schemeClr val="dk1"/>
              </a:buClr>
              <a:buSzPts val="1800"/>
              <a:buFont typeface="Arial"/>
              <a:buChar char="•"/>
            </a:pPr>
            <a:r>
              <a:rPr lang="en-US" sz="1800"/>
              <a:t>In the third terminal 3, we subscribe app to tenants – </a:t>
            </a:r>
            <a:r>
              <a:rPr lang="en-US" sz="1800" b="1"/>
              <a:t>cds subscribe t1 --to http://localhost:4005</a:t>
            </a:r>
            <a:endParaRPr sz="1800"/>
          </a:p>
          <a:p>
            <a:pPr marL="285750" lvl="0" indent="-285750" algn="l" rtl="0">
              <a:spcBef>
                <a:spcPts val="640"/>
              </a:spcBef>
              <a:spcAft>
                <a:spcPts val="0"/>
              </a:spcAft>
              <a:buClr>
                <a:schemeClr val="dk1"/>
              </a:buClr>
              <a:buSzPts val="1800"/>
              <a:buFont typeface="Arial"/>
              <a:buChar char="•"/>
            </a:pPr>
            <a:r>
              <a:rPr lang="en-US" sz="1800"/>
              <a:t>Subscribe same app for tenant 2  - </a:t>
            </a:r>
            <a:r>
              <a:rPr lang="en-US" sz="3200"/>
              <a:t> </a:t>
            </a:r>
            <a:r>
              <a:rPr lang="en-US" sz="1800" b="1"/>
              <a:t>cds subscribe t2 --to http://localhost:4005</a:t>
            </a:r>
            <a:endParaRPr sz="1800"/>
          </a:p>
          <a:p>
            <a:pPr marL="5180693" lvl="8" indent="0" algn="l" rtl="0">
              <a:spcBef>
                <a:spcPts val="500"/>
              </a:spcBef>
              <a:spcAft>
                <a:spcPts val="0"/>
              </a:spcAft>
              <a:buClr>
                <a:schemeClr val="dk1"/>
              </a:buClr>
              <a:buSzPts val="2500"/>
              <a:buNone/>
            </a:pPr>
            <a:endParaRPr sz="2500"/>
          </a:p>
          <a:p>
            <a:pPr marL="0" lvl="0" indent="0" algn="l" rtl="0">
              <a:spcBef>
                <a:spcPts val="400"/>
              </a:spcBef>
              <a:spcAft>
                <a:spcPts val="0"/>
              </a:spcAft>
              <a:buClr>
                <a:schemeClr val="dk1"/>
              </a:buClr>
              <a:buSzPts val="2000"/>
              <a:buNone/>
            </a:pPr>
            <a:endParaRPr/>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2741"/>
        <p:cNvGrpSpPr/>
        <p:nvPr/>
      </p:nvGrpSpPr>
      <p:grpSpPr>
        <a:xfrm>
          <a:off x="0" y="0"/>
          <a:ext cx="0" cy="0"/>
          <a:chOff x="0" y="0"/>
          <a:chExt cx="0" cy="0"/>
        </a:xfrm>
      </p:grpSpPr>
      <p:sp>
        <p:nvSpPr>
          <p:cNvPr id="2742" name="Google Shape;2742;p17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Continue</a:t>
            </a:r>
            <a:endParaRPr/>
          </a:p>
        </p:txBody>
      </p:sp>
      <p:sp>
        <p:nvSpPr>
          <p:cNvPr id="2743" name="Google Shape;2743;p178"/>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After local test was success, we build the project using </a:t>
            </a:r>
            <a:r>
              <a:rPr lang="en-US" sz="1800" b="1"/>
              <a:t>mbt build</a:t>
            </a:r>
            <a:endParaRPr sz="1800"/>
          </a:p>
          <a:p>
            <a:pPr marL="285750" lvl="0" indent="-285750" algn="l" rtl="0">
              <a:spcBef>
                <a:spcPts val="360"/>
              </a:spcBef>
              <a:spcAft>
                <a:spcPts val="0"/>
              </a:spcAft>
              <a:buClr>
                <a:schemeClr val="dk1"/>
              </a:buClr>
              <a:buSzPts val="1800"/>
              <a:buFont typeface="Arial"/>
              <a:buChar char="•"/>
            </a:pPr>
            <a:r>
              <a:rPr lang="en-US" sz="1800"/>
              <a:t>Go inside the mta_archieves folder and </a:t>
            </a:r>
            <a:r>
              <a:rPr lang="en-US" sz="1800" b="1"/>
              <a:t>cf deploy MTAR_address</a:t>
            </a:r>
            <a:endParaRPr sz="1800" b="1"/>
          </a:p>
          <a:p>
            <a:pPr marL="285750" lvl="0" indent="-285750" algn="l" rtl="0">
              <a:spcBef>
                <a:spcPts val="360"/>
              </a:spcBef>
              <a:spcAft>
                <a:spcPts val="0"/>
              </a:spcAft>
              <a:buClr>
                <a:schemeClr val="dk1"/>
              </a:buClr>
              <a:buSzPts val="1800"/>
              <a:buFont typeface="Arial"/>
              <a:buChar char="•"/>
            </a:pPr>
            <a:r>
              <a:rPr lang="en-US" sz="1800"/>
              <a:t>We create another subaccount (consumer1) in same data center/provider. Consumer will search our multi tenant app (like sap standard apps sac, s4hana, ds, bdc, sf, bas) and subscribe. Behind the scene a container gets created immediately</a:t>
            </a:r>
            <a:endParaRPr/>
          </a:p>
          <a:p>
            <a:pPr marL="285750" lvl="0" indent="-285750" algn="l" rtl="0">
              <a:spcBef>
                <a:spcPts val="360"/>
              </a:spcBef>
              <a:spcAft>
                <a:spcPts val="0"/>
              </a:spcAft>
              <a:buClr>
                <a:schemeClr val="dk1"/>
              </a:buClr>
              <a:buSzPts val="1800"/>
              <a:buFont typeface="Arial"/>
              <a:buChar char="•"/>
            </a:pPr>
            <a:r>
              <a:rPr lang="en-US" sz="1800"/>
              <a:t>The Provider has to add a route of your subdomain in their space.</a:t>
            </a:r>
            <a:endParaRPr/>
          </a:p>
          <a:p>
            <a:pPr marL="285750" lvl="0" indent="-285750" algn="l" rtl="0">
              <a:spcBef>
                <a:spcPts val="360"/>
              </a:spcBef>
              <a:spcAft>
                <a:spcPts val="0"/>
              </a:spcAft>
              <a:buClr>
                <a:schemeClr val="dk1"/>
              </a:buClr>
              <a:buSzPts val="1800"/>
              <a:buFont typeface="Arial"/>
              <a:buChar char="•"/>
            </a:pPr>
            <a:r>
              <a:rPr lang="en-US" sz="1800"/>
              <a:t>The consume Admin has to create Role collection and grant permission of multi teant app to their Employees.</a:t>
            </a:r>
            <a:endParaRPr/>
          </a:p>
          <a:p>
            <a:pPr marL="285750" lvl="0" indent="-285750" algn="l" rtl="0">
              <a:spcBef>
                <a:spcPts val="360"/>
              </a:spcBef>
              <a:spcAft>
                <a:spcPts val="0"/>
              </a:spcAft>
              <a:buClr>
                <a:schemeClr val="dk1"/>
              </a:buClr>
              <a:buSzPts val="1800"/>
              <a:buFont typeface="Arial"/>
              <a:buChar char="•"/>
            </a:pPr>
            <a:r>
              <a:rPr lang="en-US" sz="1800"/>
              <a:t>Employees gets a link with which they access our app.</a:t>
            </a:r>
            <a:endParaRPr/>
          </a:p>
          <a:p>
            <a:pPr marL="285750" lvl="0" indent="-171450" algn="l" rtl="0">
              <a:spcBef>
                <a:spcPts val="360"/>
              </a:spcBef>
              <a:spcAft>
                <a:spcPts val="0"/>
              </a:spcAft>
              <a:buClr>
                <a:schemeClr val="dk1"/>
              </a:buClr>
              <a:buSzPts val="1800"/>
              <a:buFont typeface="Arial"/>
              <a:buNone/>
            </a:pPr>
            <a:endParaRPr sz="180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2748"/>
        <p:cNvGrpSpPr/>
        <p:nvPr/>
      </p:nvGrpSpPr>
      <p:grpSpPr>
        <a:xfrm>
          <a:off x="0" y="0"/>
          <a:ext cx="0" cy="0"/>
          <a:chOff x="0" y="0"/>
          <a:chExt cx="0" cy="0"/>
        </a:xfrm>
      </p:grpSpPr>
      <p:sp>
        <p:nvSpPr>
          <p:cNvPr id="2749" name="Google Shape;2749;p17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Analytics list page</a:t>
            </a:r>
            <a:endParaRPr/>
          </a:p>
        </p:txBody>
      </p:sp>
      <p:sp>
        <p:nvSpPr>
          <p:cNvPr id="2750" name="Google Shape;2750;p179"/>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Text</a:t>
            </a:r>
            <a:endParaRPr/>
          </a:p>
        </p:txBody>
      </p:sp>
      <p:pic>
        <p:nvPicPr>
          <p:cNvPr id="2751" name="Google Shape;2751;p179"/>
          <p:cNvPicPr preferRelativeResize="0"/>
          <p:nvPr/>
        </p:nvPicPr>
        <p:blipFill rotWithShape="1">
          <a:blip r:embed="rId3">
            <a:alphaModFix/>
          </a:blip>
          <a:srcRect/>
          <a:stretch/>
        </p:blipFill>
        <p:spPr>
          <a:xfrm>
            <a:off x="117748" y="743374"/>
            <a:ext cx="12188825" cy="5940425"/>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2763"/>
        <p:cNvGrpSpPr/>
        <p:nvPr/>
      </p:nvGrpSpPr>
      <p:grpSpPr>
        <a:xfrm>
          <a:off x="0" y="0"/>
          <a:ext cx="0" cy="0"/>
          <a:chOff x="0" y="0"/>
          <a:chExt cx="0" cy="0"/>
        </a:xfrm>
      </p:grpSpPr>
      <p:sp>
        <p:nvSpPr>
          <p:cNvPr id="2764" name="Google Shape;2764;p18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Analytics list page</a:t>
            </a:r>
            <a:endParaRPr/>
          </a:p>
        </p:txBody>
      </p:sp>
      <p:sp>
        <p:nvSpPr>
          <p:cNvPr id="2765" name="Google Shape;2765;p181"/>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Text</a:t>
            </a:r>
            <a:endParaRPr/>
          </a:p>
        </p:txBody>
      </p:sp>
      <p:pic>
        <p:nvPicPr>
          <p:cNvPr id="2766" name="Google Shape;2766;p181"/>
          <p:cNvPicPr preferRelativeResize="0"/>
          <p:nvPr/>
        </p:nvPicPr>
        <p:blipFill rotWithShape="1">
          <a:blip r:embed="rId3">
            <a:alphaModFix/>
          </a:blip>
          <a:srcRect/>
          <a:stretch/>
        </p:blipFill>
        <p:spPr>
          <a:xfrm>
            <a:off x="117748" y="743374"/>
            <a:ext cx="12188825" cy="5940425"/>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2771"/>
        <p:cNvGrpSpPr/>
        <p:nvPr/>
      </p:nvGrpSpPr>
      <p:grpSpPr>
        <a:xfrm>
          <a:off x="0" y="0"/>
          <a:ext cx="0" cy="0"/>
          <a:chOff x="0" y="0"/>
          <a:chExt cx="0" cy="0"/>
        </a:xfrm>
      </p:grpSpPr>
      <p:sp>
        <p:nvSpPr>
          <p:cNvPr id="2772" name="Google Shape;2772;p182"/>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Use Case- Analytics</a:t>
            </a:r>
            <a:endParaRPr/>
          </a:p>
        </p:txBody>
      </p:sp>
      <p:sp>
        <p:nvSpPr>
          <p:cNvPr id="2773" name="Google Shape;2773;p182"/>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Design a Purchase order analytic application.</a:t>
            </a:r>
            <a:endParaRPr/>
          </a:p>
          <a:p>
            <a:pPr marL="342900" lvl="0" indent="-342900" algn="l" rtl="0">
              <a:spcBef>
                <a:spcPts val="360"/>
              </a:spcBef>
              <a:spcAft>
                <a:spcPts val="0"/>
              </a:spcAft>
              <a:buClr>
                <a:schemeClr val="dk1"/>
              </a:buClr>
              <a:buSzPts val="1800"/>
              <a:buAutoNum type="arabicPeriod"/>
            </a:pPr>
            <a:r>
              <a:rPr lang="en-US" sz="1800"/>
              <a:t>Search bar – companyName, country, Purchase order Id, ProductDescription, Currency Code</a:t>
            </a:r>
            <a:endParaRPr/>
          </a:p>
          <a:p>
            <a:pPr marL="342900" lvl="0" indent="-342900" algn="l" rtl="0">
              <a:spcBef>
                <a:spcPts val="360"/>
              </a:spcBef>
              <a:spcAft>
                <a:spcPts val="0"/>
              </a:spcAft>
              <a:buClr>
                <a:schemeClr val="dk1"/>
              </a:buClr>
              <a:buSzPts val="1800"/>
              <a:buAutoNum type="arabicPeriod"/>
            </a:pPr>
            <a:r>
              <a:rPr lang="en-US" sz="1800"/>
              <a:t>Visual Filter – Chart as visual filter for country based total sales</a:t>
            </a:r>
            <a:endParaRPr/>
          </a:p>
          <a:p>
            <a:pPr marL="342900" lvl="0" indent="-342900" algn="l" rtl="0">
              <a:spcBef>
                <a:spcPts val="360"/>
              </a:spcBef>
              <a:spcAft>
                <a:spcPts val="0"/>
              </a:spcAft>
              <a:buClr>
                <a:schemeClr val="dk1"/>
              </a:buClr>
              <a:buSzPts val="1800"/>
              <a:buAutoNum type="arabicPeriod"/>
            </a:pPr>
            <a:r>
              <a:rPr lang="en-US" sz="1800"/>
              <a:t>Main Chart – Company Wise total sales in a Bar chart (Multiple axis to create a stack bar chart)</a:t>
            </a:r>
            <a:endParaRPr/>
          </a:p>
          <a:p>
            <a:pPr marL="342900" lvl="0" indent="-342900" algn="l" rtl="0">
              <a:spcBef>
                <a:spcPts val="360"/>
              </a:spcBef>
              <a:spcAft>
                <a:spcPts val="0"/>
              </a:spcAft>
              <a:buClr>
                <a:schemeClr val="dk1"/>
              </a:buClr>
              <a:buSzPts val="1800"/>
              <a:buAutoNum type="arabicPeriod"/>
            </a:pPr>
            <a:r>
              <a:rPr lang="en-US" sz="1800"/>
              <a:t>Table – Shows PO Id, Company Name, Gross Amount, Product, Currency Code, Country</a:t>
            </a:r>
            <a:endParaRPr/>
          </a:p>
          <a:p>
            <a:pPr marL="342900" lvl="0" indent="-228600" algn="l" rtl="0">
              <a:spcBef>
                <a:spcPts val="360"/>
              </a:spcBef>
              <a:spcAft>
                <a:spcPts val="0"/>
              </a:spcAft>
              <a:buClr>
                <a:schemeClr val="dk1"/>
              </a:buClr>
              <a:buSzPts val="1800"/>
              <a:buNone/>
            </a:pPr>
            <a:endParaRPr sz="180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2777"/>
        <p:cNvGrpSpPr/>
        <p:nvPr/>
      </p:nvGrpSpPr>
      <p:grpSpPr>
        <a:xfrm>
          <a:off x="0" y="0"/>
          <a:ext cx="0" cy="0"/>
          <a:chOff x="0" y="0"/>
          <a:chExt cx="0" cy="0"/>
        </a:xfrm>
      </p:grpSpPr>
      <p:sp>
        <p:nvSpPr>
          <p:cNvPr id="2778" name="Google Shape;2778;p183"/>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200">
                <a:solidFill>
                  <a:srgbClr val="002060"/>
                </a:solidFill>
                <a:latin typeface="Corben"/>
                <a:ea typeface="Corben"/>
                <a:cs typeface="Corben"/>
                <a:sym typeface="Corben"/>
              </a:rPr>
              <a:t>www.anubhavtrainings.com</a:t>
            </a:r>
            <a:endParaRPr sz="1200">
              <a:solidFill>
                <a:srgbClr val="002060"/>
              </a:solidFill>
              <a:latin typeface="Corben"/>
              <a:ea typeface="Corben"/>
              <a:cs typeface="Corben"/>
              <a:sym typeface="Corben"/>
            </a:endParaRPr>
          </a:p>
        </p:txBody>
      </p:sp>
      <p:pic>
        <p:nvPicPr>
          <p:cNvPr id="2779" name="Google Shape;2779;p183"/>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2780" name="Google Shape;2780;p183"/>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100">
                <a:solidFill>
                  <a:schemeClr val="dk1"/>
                </a:solidFill>
                <a:latin typeface="Quattrocento Sans"/>
                <a:ea typeface="Quattrocento Sans"/>
                <a:cs typeface="Quattrocento Sans"/>
                <a:sym typeface="Quattrocento Sans"/>
              </a:rPr>
              <a:t>11</a:t>
            </a:r>
            <a:endParaRPr sz="1100">
              <a:solidFill>
                <a:schemeClr val="dk1"/>
              </a:solidFill>
              <a:latin typeface="Quattrocento Sans"/>
              <a:ea typeface="Quattrocento Sans"/>
              <a:cs typeface="Quattrocento Sans"/>
              <a:sym typeface="Quattrocento Sans"/>
            </a:endParaRPr>
          </a:p>
        </p:txBody>
      </p:sp>
      <p:pic>
        <p:nvPicPr>
          <p:cNvPr id="2781" name="Google Shape;2781;p183"/>
          <p:cNvPicPr preferRelativeResize="0"/>
          <p:nvPr/>
        </p:nvPicPr>
        <p:blipFill rotWithShape="1">
          <a:blip r:embed="rId4">
            <a:alphaModFix/>
          </a:blip>
          <a:srcRect/>
          <a:stretch/>
        </p:blipFill>
        <p:spPr>
          <a:xfrm>
            <a:off x="109143" y="1412776"/>
            <a:ext cx="11970537" cy="369079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2785"/>
        <p:cNvGrpSpPr/>
        <p:nvPr/>
      </p:nvGrpSpPr>
      <p:grpSpPr>
        <a:xfrm>
          <a:off x="0" y="0"/>
          <a:ext cx="0" cy="0"/>
          <a:chOff x="0" y="0"/>
          <a:chExt cx="0" cy="0"/>
        </a:xfrm>
      </p:grpSpPr>
      <p:pic>
        <p:nvPicPr>
          <p:cNvPr id="2786" name="Google Shape;2786;p184"/>
          <p:cNvPicPr preferRelativeResize="0"/>
          <p:nvPr/>
        </p:nvPicPr>
        <p:blipFill rotWithShape="1">
          <a:blip r:embed="rId3">
            <a:alphaModFix/>
          </a:blip>
          <a:srcRect/>
          <a:stretch/>
        </p:blipFill>
        <p:spPr>
          <a:xfrm>
            <a:off x="1343" y="1250727"/>
            <a:ext cx="12186138" cy="4356545"/>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2790"/>
        <p:cNvGrpSpPr/>
        <p:nvPr/>
      </p:nvGrpSpPr>
      <p:grpSpPr>
        <a:xfrm>
          <a:off x="0" y="0"/>
          <a:ext cx="0" cy="0"/>
          <a:chOff x="0" y="0"/>
          <a:chExt cx="0" cy="0"/>
        </a:xfrm>
      </p:grpSpPr>
      <p:sp>
        <p:nvSpPr>
          <p:cNvPr id="2791" name="Google Shape;2791;p185"/>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chemeClr val="dk1"/>
              </a:buClr>
              <a:buSzPts val="3200"/>
              <a:buFont typeface="Corben"/>
              <a:buNone/>
            </a:pPr>
            <a:r>
              <a:rPr lang="en-US" sz="3200">
                <a:solidFill>
                  <a:schemeClr val="dk1"/>
                </a:solidFill>
                <a:latin typeface="Corben"/>
                <a:ea typeface="Corben"/>
                <a:cs typeface="Corben"/>
                <a:sym typeface="Corben"/>
              </a:rPr>
              <a:t>Looming threats</a:t>
            </a:r>
            <a:endParaRPr sz="3200">
              <a:solidFill>
                <a:schemeClr val="dk1"/>
              </a:solidFill>
              <a:latin typeface="Corben"/>
              <a:ea typeface="Corben"/>
              <a:cs typeface="Corben"/>
              <a:sym typeface="Corben"/>
            </a:endParaRPr>
          </a:p>
        </p:txBody>
      </p:sp>
      <p:pic>
        <p:nvPicPr>
          <p:cNvPr id="2792" name="Google Shape;2792;p185"/>
          <p:cNvPicPr preferRelativeResize="0"/>
          <p:nvPr/>
        </p:nvPicPr>
        <p:blipFill rotWithShape="1">
          <a:blip r:embed="rId3">
            <a:alphaModFix/>
          </a:blip>
          <a:srcRect/>
          <a:stretch/>
        </p:blipFill>
        <p:spPr>
          <a:xfrm>
            <a:off x="186113" y="1124744"/>
            <a:ext cx="11816597" cy="5112568"/>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2796"/>
        <p:cNvGrpSpPr/>
        <p:nvPr/>
      </p:nvGrpSpPr>
      <p:grpSpPr>
        <a:xfrm>
          <a:off x="0" y="0"/>
          <a:ext cx="0" cy="0"/>
          <a:chOff x="0" y="0"/>
          <a:chExt cx="0" cy="0"/>
        </a:xfrm>
      </p:grpSpPr>
      <p:sp>
        <p:nvSpPr>
          <p:cNvPr id="2797" name="Google Shape;2797;p186"/>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chemeClr val="dk1"/>
              </a:buClr>
              <a:buSzPts val="3200"/>
              <a:buFont typeface="Corben"/>
              <a:buNone/>
            </a:pPr>
            <a:r>
              <a:rPr lang="en-US" sz="3200">
                <a:solidFill>
                  <a:schemeClr val="dk1"/>
                </a:solidFill>
                <a:latin typeface="Corben"/>
                <a:ea typeface="Corben"/>
                <a:cs typeface="Corben"/>
                <a:sym typeface="Corben"/>
              </a:rPr>
              <a:t>How to be Fast</a:t>
            </a:r>
            <a:endParaRPr sz="3200">
              <a:solidFill>
                <a:schemeClr val="dk1"/>
              </a:solidFill>
              <a:latin typeface="Corben"/>
              <a:ea typeface="Corben"/>
              <a:cs typeface="Corben"/>
              <a:sym typeface="Corben"/>
            </a:endParaRPr>
          </a:p>
        </p:txBody>
      </p:sp>
      <p:sp>
        <p:nvSpPr>
          <p:cNvPr id="2798" name="Google Shape;2798;p186"/>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200">
                <a:solidFill>
                  <a:srgbClr val="002060"/>
                </a:solidFill>
                <a:latin typeface="Corben"/>
                <a:ea typeface="Corben"/>
                <a:cs typeface="Corben"/>
                <a:sym typeface="Corben"/>
              </a:rPr>
              <a:t>www.anubhavtrainings.com</a:t>
            </a:r>
            <a:endParaRPr sz="1200">
              <a:solidFill>
                <a:srgbClr val="002060"/>
              </a:solidFill>
              <a:latin typeface="Corben"/>
              <a:ea typeface="Corben"/>
              <a:cs typeface="Corben"/>
              <a:sym typeface="Corben"/>
            </a:endParaRPr>
          </a:p>
        </p:txBody>
      </p:sp>
      <p:pic>
        <p:nvPicPr>
          <p:cNvPr id="2799" name="Google Shape;2799;p186"/>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2800" name="Google Shape;2800;p186"/>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100">
                <a:solidFill>
                  <a:schemeClr val="dk1"/>
                </a:solidFill>
                <a:latin typeface="Quattrocento Sans"/>
                <a:ea typeface="Quattrocento Sans"/>
                <a:cs typeface="Quattrocento Sans"/>
                <a:sym typeface="Quattrocento Sans"/>
              </a:rPr>
              <a:t>11</a:t>
            </a:r>
            <a:endParaRPr sz="1100">
              <a:solidFill>
                <a:schemeClr val="dk1"/>
              </a:solidFill>
              <a:latin typeface="Quattrocento Sans"/>
              <a:ea typeface="Quattrocento Sans"/>
              <a:cs typeface="Quattrocento Sans"/>
              <a:sym typeface="Quattrocento Sans"/>
            </a:endParaRPr>
          </a:p>
        </p:txBody>
      </p:sp>
      <p:pic>
        <p:nvPicPr>
          <p:cNvPr id="2801" name="Google Shape;2801;p186"/>
          <p:cNvPicPr preferRelativeResize="0"/>
          <p:nvPr/>
        </p:nvPicPr>
        <p:blipFill rotWithShape="1">
          <a:blip r:embed="rId4">
            <a:alphaModFix/>
          </a:blip>
          <a:srcRect t="2172"/>
          <a:stretch/>
        </p:blipFill>
        <p:spPr>
          <a:xfrm>
            <a:off x="141079" y="1723164"/>
            <a:ext cx="11847431" cy="3816424"/>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2806"/>
        <p:cNvGrpSpPr/>
        <p:nvPr/>
      </p:nvGrpSpPr>
      <p:grpSpPr>
        <a:xfrm>
          <a:off x="0" y="0"/>
          <a:ext cx="0" cy="0"/>
          <a:chOff x="0" y="0"/>
          <a:chExt cx="0" cy="0"/>
        </a:xfrm>
      </p:grpSpPr>
      <p:sp>
        <p:nvSpPr>
          <p:cNvPr id="2807" name="Google Shape;2807;p18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Clean Core</a:t>
            </a:r>
            <a:endParaRPr/>
          </a:p>
        </p:txBody>
      </p:sp>
      <p:sp>
        <p:nvSpPr>
          <p:cNvPr id="2808" name="Google Shape;2808;p187"/>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Clean means up-to-date, documented, unmodified, consistent, efficient and upgrade ready.</a:t>
            </a:r>
            <a:endParaRPr/>
          </a:p>
          <a:p>
            <a:pPr marL="0" lvl="0" indent="0" algn="l" rtl="0">
              <a:spcBef>
                <a:spcPts val="360"/>
              </a:spcBef>
              <a:spcAft>
                <a:spcPts val="0"/>
              </a:spcAft>
              <a:buClr>
                <a:schemeClr val="dk1"/>
              </a:buClr>
              <a:buSzPts val="1800"/>
              <a:buNone/>
            </a:pPr>
            <a:r>
              <a:rPr lang="en-US" sz="1800"/>
              <a:t>S/4HANA cloud Private Edition (On-premise) 🡺 GUI Access, Full control on your system including SPRO, BADIs and custom development, postpone upgrades, Full access to code and chances of even modify standard SAP code.</a:t>
            </a:r>
            <a:endParaRPr/>
          </a:p>
          <a:p>
            <a:pPr marL="0" lvl="0" indent="0" algn="l" rtl="0">
              <a:spcBef>
                <a:spcPts val="360"/>
              </a:spcBef>
              <a:spcAft>
                <a:spcPts val="0"/>
              </a:spcAft>
              <a:buClr>
                <a:schemeClr val="dk1"/>
              </a:buClr>
              <a:buSzPts val="1800"/>
              <a:buNone/>
            </a:pPr>
            <a:r>
              <a:rPr lang="en-US" sz="1800"/>
              <a:t>85-90%</a:t>
            </a:r>
            <a:endParaRPr sz="1800"/>
          </a:p>
          <a:p>
            <a:pPr marL="0" lvl="0" indent="0" algn="l" rtl="0">
              <a:spcBef>
                <a:spcPts val="360"/>
              </a:spcBef>
              <a:spcAft>
                <a:spcPts val="0"/>
              </a:spcAft>
              <a:buClr>
                <a:schemeClr val="dk1"/>
              </a:buClr>
              <a:buSzPts val="1800"/>
              <a:buNone/>
            </a:pPr>
            <a:r>
              <a:rPr lang="en-US" sz="1800"/>
              <a:t>S/4HANA Cloud Public Edition 🡺 Shared Environment, Standardized ERP solution one for all customers, customers cannot postpone upgrades, they cannot have SAPGUI or full access to system, Fiori only approach for accessing business applications, Force upgrade (always clean) – 10~15%</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Hybrid – both.</a:t>
            </a:r>
            <a:endParaRPr/>
          </a:p>
          <a:p>
            <a:pPr marL="0" lvl="0" indent="0" algn="l" rtl="0">
              <a:spcBef>
                <a:spcPts val="360"/>
              </a:spcBef>
              <a:spcAft>
                <a:spcPts val="0"/>
              </a:spcAft>
              <a:buClr>
                <a:schemeClr val="dk1"/>
              </a:buClr>
              <a:buSzPts val="1800"/>
              <a:buNone/>
            </a:pPr>
            <a:r>
              <a:rPr lang="en-US" sz="1800"/>
              <a:t>Rise with SAP – for large corporations SAP offering a conversion to S/4HANA + BTP + SAC + DS…</a:t>
            </a:r>
            <a:endParaRPr sz="180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2813"/>
        <p:cNvGrpSpPr/>
        <p:nvPr/>
      </p:nvGrpSpPr>
      <p:grpSpPr>
        <a:xfrm>
          <a:off x="0" y="0"/>
          <a:ext cx="0" cy="0"/>
          <a:chOff x="0" y="0"/>
          <a:chExt cx="0" cy="0"/>
        </a:xfrm>
      </p:grpSpPr>
      <p:sp>
        <p:nvSpPr>
          <p:cNvPr id="2814" name="Google Shape;2814;p188"/>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Benefits</a:t>
            </a:r>
            <a:endParaRPr/>
          </a:p>
        </p:txBody>
      </p:sp>
      <p:sp>
        <p:nvSpPr>
          <p:cNvPr id="2815" name="Google Shape;2815;p188"/>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Access to innovation – Since your SAP S/4HANA system is not contaminated with custom code, the moment SAP comes with new Release, they can be applied immediately</a:t>
            </a:r>
            <a:endParaRPr/>
          </a:p>
          <a:p>
            <a:pPr marL="285750" lvl="0" indent="-285750" algn="l" rtl="0">
              <a:spcBef>
                <a:spcPts val="360"/>
              </a:spcBef>
              <a:spcAft>
                <a:spcPts val="0"/>
              </a:spcAft>
              <a:buClr>
                <a:schemeClr val="dk1"/>
              </a:buClr>
              <a:buSzPts val="1800"/>
              <a:buFont typeface="Arial"/>
              <a:buChar char="•"/>
            </a:pPr>
            <a:r>
              <a:rPr lang="en-US" sz="1800"/>
              <a:t>Upgrade Simplicity – We can upgrade stress free.</a:t>
            </a:r>
            <a:endParaRPr/>
          </a:p>
          <a:p>
            <a:pPr marL="285750" lvl="0" indent="-285750" algn="l" rtl="0">
              <a:spcBef>
                <a:spcPts val="360"/>
              </a:spcBef>
              <a:spcAft>
                <a:spcPts val="0"/>
              </a:spcAft>
              <a:buClr>
                <a:schemeClr val="dk1"/>
              </a:buClr>
              <a:buSzPts val="1800"/>
              <a:buFont typeface="Arial"/>
              <a:buChar char="•"/>
            </a:pPr>
            <a:r>
              <a:rPr lang="en-US" sz="1800"/>
              <a:t>Lower TCO – Since we follow clean core, we actually are safe from changes which upgrade brings, so SAP parters can offer an upgrade at fix cost.</a:t>
            </a:r>
            <a:endParaRPr/>
          </a:p>
          <a:p>
            <a:pPr marL="285750" lvl="0" indent="-285750" algn="l" rtl="0">
              <a:spcBef>
                <a:spcPts val="360"/>
              </a:spcBef>
              <a:spcAft>
                <a:spcPts val="0"/>
              </a:spcAft>
              <a:buClr>
                <a:schemeClr val="dk1"/>
              </a:buClr>
              <a:buSzPts val="1800"/>
              <a:buFont typeface="Arial"/>
              <a:buChar char="•"/>
            </a:pPr>
            <a:r>
              <a:rPr lang="en-US" sz="1800"/>
              <a:t>Enhanced Security – you don’t need to on-board every dev in system, because they can use BTP for dev.</a:t>
            </a:r>
            <a:endParaRPr/>
          </a:p>
          <a:p>
            <a:pPr marL="285750" lvl="0" indent="-285750" algn="l" rtl="0">
              <a:spcBef>
                <a:spcPts val="360"/>
              </a:spcBef>
              <a:spcAft>
                <a:spcPts val="0"/>
              </a:spcAft>
              <a:buClr>
                <a:schemeClr val="dk1"/>
              </a:buClr>
              <a:buSzPts val="1800"/>
              <a:buFont typeface="Arial"/>
              <a:buChar char="•"/>
            </a:pPr>
            <a:r>
              <a:rPr lang="en-US" sz="1800"/>
              <a:t>Improved performance – Core is clean, it does not have to interact with lots of custom code, Store your custom code in git with BTP.</a:t>
            </a:r>
            <a:endParaRPr/>
          </a:p>
          <a:p>
            <a:pPr marL="285750" lvl="0" indent="-285750" algn="l" rtl="0">
              <a:spcBef>
                <a:spcPts val="360"/>
              </a:spcBef>
              <a:spcAft>
                <a:spcPts val="0"/>
              </a:spcAft>
              <a:buClr>
                <a:schemeClr val="dk1"/>
              </a:buClr>
              <a:buSzPts val="1800"/>
              <a:buFont typeface="Arial"/>
              <a:buChar char="•"/>
            </a:pPr>
            <a:r>
              <a:rPr lang="en-US" sz="1800"/>
              <a:t>Data Simplification – Which data is private, which is public.</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2819"/>
        <p:cNvGrpSpPr/>
        <p:nvPr/>
      </p:nvGrpSpPr>
      <p:grpSpPr>
        <a:xfrm>
          <a:off x="0" y="0"/>
          <a:ext cx="0" cy="0"/>
          <a:chOff x="0" y="0"/>
          <a:chExt cx="0" cy="0"/>
        </a:xfrm>
      </p:grpSpPr>
      <p:sp>
        <p:nvSpPr>
          <p:cNvPr id="2820" name="Google Shape;2820;p189"/>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chemeClr val="dk1"/>
              </a:buClr>
              <a:buSzPts val="3200"/>
              <a:buFont typeface="Corben"/>
              <a:buNone/>
            </a:pPr>
            <a:r>
              <a:rPr lang="en-US" sz="3200">
                <a:solidFill>
                  <a:schemeClr val="dk1"/>
                </a:solidFill>
                <a:latin typeface="Corben"/>
                <a:ea typeface="Corben"/>
                <a:cs typeface="Corben"/>
                <a:sym typeface="Corben"/>
              </a:rPr>
              <a:t>Elements of Clean Core</a:t>
            </a:r>
            <a:endParaRPr sz="3200">
              <a:solidFill>
                <a:schemeClr val="dk1"/>
              </a:solidFill>
              <a:latin typeface="Corben"/>
              <a:ea typeface="Corben"/>
              <a:cs typeface="Corben"/>
              <a:sym typeface="Corben"/>
            </a:endParaRPr>
          </a:p>
        </p:txBody>
      </p:sp>
      <p:sp>
        <p:nvSpPr>
          <p:cNvPr id="2821" name="Google Shape;2821;p189"/>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200">
                <a:solidFill>
                  <a:srgbClr val="002060"/>
                </a:solidFill>
                <a:latin typeface="Corben"/>
                <a:ea typeface="Corben"/>
                <a:cs typeface="Corben"/>
                <a:sym typeface="Corben"/>
              </a:rPr>
              <a:t>www.anubhavtrainings.com</a:t>
            </a:r>
            <a:endParaRPr sz="1200">
              <a:solidFill>
                <a:srgbClr val="002060"/>
              </a:solidFill>
              <a:latin typeface="Corben"/>
              <a:ea typeface="Corben"/>
              <a:cs typeface="Corben"/>
              <a:sym typeface="Corben"/>
            </a:endParaRPr>
          </a:p>
        </p:txBody>
      </p:sp>
      <p:pic>
        <p:nvPicPr>
          <p:cNvPr id="2822" name="Google Shape;2822;p189"/>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2823" name="Google Shape;2823;p189"/>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100">
                <a:solidFill>
                  <a:schemeClr val="dk1"/>
                </a:solidFill>
                <a:latin typeface="Quattrocento Sans"/>
                <a:ea typeface="Quattrocento Sans"/>
                <a:cs typeface="Quattrocento Sans"/>
                <a:sym typeface="Quattrocento Sans"/>
              </a:rPr>
              <a:t>11</a:t>
            </a:r>
            <a:endParaRPr sz="1100">
              <a:solidFill>
                <a:schemeClr val="dk1"/>
              </a:solidFill>
              <a:latin typeface="Quattrocento Sans"/>
              <a:ea typeface="Quattrocento Sans"/>
              <a:cs typeface="Quattrocento Sans"/>
              <a:sym typeface="Quattrocento Sans"/>
            </a:endParaRPr>
          </a:p>
        </p:txBody>
      </p:sp>
      <p:pic>
        <p:nvPicPr>
          <p:cNvPr id="2824" name="Google Shape;2824;p189"/>
          <p:cNvPicPr preferRelativeResize="0"/>
          <p:nvPr/>
        </p:nvPicPr>
        <p:blipFill rotWithShape="1">
          <a:blip r:embed="rId4">
            <a:alphaModFix/>
          </a:blip>
          <a:srcRect/>
          <a:stretch/>
        </p:blipFill>
        <p:spPr>
          <a:xfrm>
            <a:off x="866804" y="608972"/>
            <a:ext cx="10777869" cy="585357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2828"/>
        <p:cNvGrpSpPr/>
        <p:nvPr/>
      </p:nvGrpSpPr>
      <p:grpSpPr>
        <a:xfrm>
          <a:off x="0" y="0"/>
          <a:ext cx="0" cy="0"/>
          <a:chOff x="0" y="0"/>
          <a:chExt cx="0" cy="0"/>
        </a:xfrm>
      </p:grpSpPr>
      <p:sp>
        <p:nvSpPr>
          <p:cNvPr id="2829" name="Google Shape;2829;p190"/>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chemeClr val="dk1"/>
              </a:buClr>
              <a:buSzPts val="3200"/>
              <a:buFont typeface="Corben"/>
              <a:buNone/>
            </a:pPr>
            <a:r>
              <a:rPr lang="en-US" sz="3200">
                <a:solidFill>
                  <a:schemeClr val="dk1"/>
                </a:solidFill>
                <a:latin typeface="Corben"/>
                <a:ea typeface="Corben"/>
                <a:cs typeface="Corben"/>
                <a:sym typeface="Corben"/>
              </a:rPr>
              <a:t>High Level Guidence</a:t>
            </a:r>
            <a:endParaRPr sz="3200">
              <a:solidFill>
                <a:schemeClr val="dk1"/>
              </a:solidFill>
              <a:latin typeface="Corben"/>
              <a:ea typeface="Corben"/>
              <a:cs typeface="Corben"/>
              <a:sym typeface="Corben"/>
            </a:endParaRPr>
          </a:p>
        </p:txBody>
      </p:sp>
      <p:sp>
        <p:nvSpPr>
          <p:cNvPr id="2830" name="Google Shape;2830;p190"/>
          <p:cNvSpPr txBox="1"/>
          <p:nvPr/>
        </p:nvSpPr>
        <p:spPr>
          <a:xfrm>
            <a:off x="177646" y="654346"/>
            <a:ext cx="11486844" cy="400109"/>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800">
                <a:solidFill>
                  <a:schemeClr val="dk1"/>
                </a:solidFill>
                <a:latin typeface="Quattrocento Sans"/>
                <a:ea typeface="Quattrocento Sans"/>
                <a:cs typeface="Quattrocento Sans"/>
                <a:sym typeface="Quattrocento Sans"/>
              </a:rPr>
              <a:t>&lt;content&gt;</a:t>
            </a:r>
            <a:endParaRPr/>
          </a:p>
        </p:txBody>
      </p:sp>
      <p:sp>
        <p:nvSpPr>
          <p:cNvPr id="2831" name="Google Shape;2831;p190"/>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200">
                <a:solidFill>
                  <a:srgbClr val="002060"/>
                </a:solidFill>
                <a:latin typeface="Corben"/>
                <a:ea typeface="Corben"/>
                <a:cs typeface="Corben"/>
                <a:sym typeface="Corben"/>
              </a:rPr>
              <a:t>www.anubhavtrainings.com</a:t>
            </a:r>
            <a:endParaRPr sz="1200">
              <a:solidFill>
                <a:srgbClr val="002060"/>
              </a:solidFill>
              <a:latin typeface="Corben"/>
              <a:ea typeface="Corben"/>
              <a:cs typeface="Corben"/>
              <a:sym typeface="Corben"/>
            </a:endParaRPr>
          </a:p>
        </p:txBody>
      </p:sp>
      <p:pic>
        <p:nvPicPr>
          <p:cNvPr id="2832" name="Google Shape;2832;p190"/>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2833" name="Google Shape;2833;p190"/>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100">
                <a:solidFill>
                  <a:schemeClr val="dk1"/>
                </a:solidFill>
                <a:latin typeface="Quattrocento Sans"/>
                <a:ea typeface="Quattrocento Sans"/>
                <a:cs typeface="Quattrocento Sans"/>
                <a:sym typeface="Quattrocento Sans"/>
              </a:rPr>
              <a:t>11</a:t>
            </a:r>
            <a:endParaRPr sz="1100">
              <a:solidFill>
                <a:schemeClr val="dk1"/>
              </a:solidFill>
              <a:latin typeface="Quattrocento Sans"/>
              <a:ea typeface="Quattrocento Sans"/>
              <a:cs typeface="Quattrocento Sans"/>
              <a:sym typeface="Quattrocento Sans"/>
            </a:endParaRPr>
          </a:p>
        </p:txBody>
      </p:sp>
      <p:pic>
        <p:nvPicPr>
          <p:cNvPr id="2834" name="Google Shape;2834;p190"/>
          <p:cNvPicPr preferRelativeResize="0"/>
          <p:nvPr/>
        </p:nvPicPr>
        <p:blipFill rotWithShape="1">
          <a:blip r:embed="rId4">
            <a:alphaModFix/>
          </a:blip>
          <a:srcRect/>
          <a:stretch/>
        </p:blipFill>
        <p:spPr>
          <a:xfrm>
            <a:off x="0" y="779463"/>
            <a:ext cx="12188825" cy="5299075"/>
          </a:xfrm>
          <a:prstGeom prst="rect">
            <a:avLst/>
          </a:prstGeom>
          <a:noFill/>
          <a:ln>
            <a:noFill/>
          </a:ln>
        </p:spPr>
      </p:pic>
      <p:sp>
        <p:nvSpPr>
          <p:cNvPr id="2835" name="Google Shape;2835;p190"/>
          <p:cNvSpPr txBox="1"/>
          <p:nvPr/>
        </p:nvSpPr>
        <p:spPr>
          <a:xfrm>
            <a:off x="5537739" y="6021651"/>
            <a:ext cx="6094878"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https://youtu.be/n0oS1eiOWU0</a:t>
            </a: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2839"/>
        <p:cNvGrpSpPr/>
        <p:nvPr/>
      </p:nvGrpSpPr>
      <p:grpSpPr>
        <a:xfrm>
          <a:off x="0" y="0"/>
          <a:ext cx="0" cy="0"/>
          <a:chOff x="0" y="0"/>
          <a:chExt cx="0" cy="0"/>
        </a:xfrm>
      </p:grpSpPr>
      <p:sp>
        <p:nvSpPr>
          <p:cNvPr id="2840" name="Google Shape;2840;p191"/>
          <p:cNvSpPr txBox="1"/>
          <p:nvPr/>
        </p:nvSpPr>
        <p:spPr>
          <a:xfrm>
            <a:off x="141079" y="140515"/>
            <a:ext cx="11137885" cy="513831"/>
          </a:xfrm>
          <a:prstGeom prst="rect">
            <a:avLst/>
          </a:prstGeom>
          <a:noFill/>
          <a:ln>
            <a:noFill/>
          </a:ln>
        </p:spPr>
        <p:txBody>
          <a:bodyPr spcFirstLastPara="1" wrap="square" lIns="121875" tIns="60925" rIns="121875" bIns="60925" anchor="t" anchorCtr="0">
            <a:normAutofit lnSpcReduction="10000"/>
          </a:bodyPr>
          <a:lstStyle/>
          <a:p>
            <a:pPr marL="0" marR="0" lvl="0" indent="0" algn="l" rtl="0">
              <a:lnSpc>
                <a:spcPct val="90000"/>
              </a:lnSpc>
              <a:spcBef>
                <a:spcPts val="0"/>
              </a:spcBef>
              <a:spcAft>
                <a:spcPts val="0"/>
              </a:spcAft>
              <a:buClr>
                <a:schemeClr val="dk1"/>
              </a:buClr>
              <a:buSzPts val="3200"/>
              <a:buFont typeface="Corben"/>
              <a:buNone/>
            </a:pPr>
            <a:r>
              <a:rPr lang="en-US" sz="3200">
                <a:solidFill>
                  <a:schemeClr val="dk1"/>
                </a:solidFill>
                <a:latin typeface="Corben"/>
                <a:ea typeface="Corben"/>
                <a:cs typeface="Corben"/>
                <a:sym typeface="Corben"/>
              </a:rPr>
              <a:t>Detailed Journey</a:t>
            </a:r>
            <a:endParaRPr sz="3200">
              <a:solidFill>
                <a:schemeClr val="dk1"/>
              </a:solidFill>
              <a:latin typeface="Corben"/>
              <a:ea typeface="Corben"/>
              <a:cs typeface="Corben"/>
              <a:sym typeface="Corben"/>
            </a:endParaRPr>
          </a:p>
        </p:txBody>
      </p:sp>
      <p:sp>
        <p:nvSpPr>
          <p:cNvPr id="2841" name="Google Shape;2841;p191"/>
          <p:cNvSpPr txBox="1"/>
          <p:nvPr/>
        </p:nvSpPr>
        <p:spPr>
          <a:xfrm>
            <a:off x="9664615" y="6550224"/>
            <a:ext cx="2524210" cy="307776"/>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200">
                <a:solidFill>
                  <a:srgbClr val="002060"/>
                </a:solidFill>
                <a:latin typeface="Corben"/>
                <a:ea typeface="Corben"/>
                <a:cs typeface="Corben"/>
                <a:sym typeface="Corben"/>
              </a:rPr>
              <a:t>www.anubhavtrainings.com</a:t>
            </a:r>
            <a:endParaRPr sz="1200">
              <a:solidFill>
                <a:srgbClr val="002060"/>
              </a:solidFill>
              <a:latin typeface="Corben"/>
              <a:ea typeface="Corben"/>
              <a:cs typeface="Corben"/>
              <a:sym typeface="Corben"/>
            </a:endParaRPr>
          </a:p>
        </p:txBody>
      </p:sp>
      <p:pic>
        <p:nvPicPr>
          <p:cNvPr id="2842" name="Google Shape;2842;p191"/>
          <p:cNvPicPr preferRelativeResize="0"/>
          <p:nvPr/>
        </p:nvPicPr>
        <p:blipFill rotWithShape="1">
          <a:blip r:embed="rId3">
            <a:alphaModFix/>
          </a:blip>
          <a:srcRect/>
          <a:stretch/>
        </p:blipFill>
        <p:spPr>
          <a:xfrm>
            <a:off x="11691527" y="70369"/>
            <a:ext cx="456414" cy="450920"/>
          </a:xfrm>
          <a:prstGeom prst="rect">
            <a:avLst/>
          </a:prstGeom>
          <a:noFill/>
          <a:ln>
            <a:noFill/>
          </a:ln>
        </p:spPr>
      </p:pic>
      <p:sp>
        <p:nvSpPr>
          <p:cNvPr id="2843" name="Google Shape;2843;p191"/>
          <p:cNvSpPr txBox="1"/>
          <p:nvPr/>
        </p:nvSpPr>
        <p:spPr>
          <a:xfrm>
            <a:off x="116700" y="6560282"/>
            <a:ext cx="505103" cy="292366"/>
          </a:xfrm>
          <a:prstGeom prst="rect">
            <a:avLst/>
          </a:prstGeom>
          <a:noFill/>
          <a:ln>
            <a:noFill/>
          </a:ln>
        </p:spPr>
        <p:txBody>
          <a:bodyPr spcFirstLastPara="1" wrap="square" lIns="121875" tIns="60925" rIns="121875" bIns="60925" anchor="t" anchorCtr="0">
            <a:spAutoFit/>
          </a:bodyPr>
          <a:lstStyle/>
          <a:p>
            <a:pPr marL="0" marR="0" lvl="0" indent="0" algn="l" rtl="0">
              <a:spcBef>
                <a:spcPts val="0"/>
              </a:spcBef>
              <a:spcAft>
                <a:spcPts val="0"/>
              </a:spcAft>
              <a:buNone/>
            </a:pPr>
            <a:r>
              <a:rPr lang="en-US" sz="1100">
                <a:solidFill>
                  <a:schemeClr val="dk1"/>
                </a:solidFill>
                <a:latin typeface="Quattrocento Sans"/>
                <a:ea typeface="Quattrocento Sans"/>
                <a:cs typeface="Quattrocento Sans"/>
                <a:sym typeface="Quattrocento Sans"/>
              </a:rPr>
              <a:t>11</a:t>
            </a:r>
            <a:endParaRPr sz="1100">
              <a:solidFill>
                <a:schemeClr val="dk1"/>
              </a:solidFill>
              <a:latin typeface="Quattrocento Sans"/>
              <a:ea typeface="Quattrocento Sans"/>
              <a:cs typeface="Quattrocento Sans"/>
              <a:sym typeface="Quattrocento Sans"/>
            </a:endParaRPr>
          </a:p>
        </p:txBody>
      </p:sp>
      <p:pic>
        <p:nvPicPr>
          <p:cNvPr id="2844" name="Google Shape;2844;p191"/>
          <p:cNvPicPr preferRelativeResize="0"/>
          <p:nvPr/>
        </p:nvPicPr>
        <p:blipFill rotWithShape="1">
          <a:blip r:embed="rId4">
            <a:alphaModFix/>
          </a:blip>
          <a:srcRect/>
          <a:stretch/>
        </p:blipFill>
        <p:spPr>
          <a:xfrm>
            <a:off x="1011794" y="753195"/>
            <a:ext cx="9916741" cy="5708237"/>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2856"/>
        <p:cNvGrpSpPr/>
        <p:nvPr/>
      </p:nvGrpSpPr>
      <p:grpSpPr>
        <a:xfrm>
          <a:off x="0" y="0"/>
          <a:ext cx="0" cy="0"/>
          <a:chOff x="0" y="0"/>
          <a:chExt cx="0" cy="0"/>
        </a:xfrm>
      </p:grpSpPr>
      <p:sp>
        <p:nvSpPr>
          <p:cNvPr id="2857" name="Google Shape;2857;p193"/>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What is API </a:t>
            </a:r>
            <a:endParaRPr/>
          </a:p>
        </p:txBody>
      </p:sp>
      <p:sp>
        <p:nvSpPr>
          <p:cNvPr id="2858" name="Google Shape;2858;p193"/>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It is a contract between 2 parties. Consumer(caller) and provider. </a:t>
            </a:r>
            <a:endParaRPr/>
          </a:p>
          <a:p>
            <a:pPr marL="0" lvl="0" indent="0" algn="l" rtl="0">
              <a:spcBef>
                <a:spcPts val="360"/>
              </a:spcBef>
              <a:spcAft>
                <a:spcPts val="0"/>
              </a:spcAft>
              <a:buClr>
                <a:schemeClr val="dk1"/>
              </a:buClr>
              <a:buSzPts val="1800"/>
              <a:buNone/>
            </a:pPr>
            <a:r>
              <a:rPr lang="en-US" sz="1800"/>
              <a:t>API provides </a:t>
            </a:r>
            <a:endParaRPr/>
          </a:p>
          <a:p>
            <a:pPr marL="285750" lvl="0" indent="-285750" algn="l" rtl="0">
              <a:spcBef>
                <a:spcPts val="360"/>
              </a:spcBef>
              <a:spcAft>
                <a:spcPts val="0"/>
              </a:spcAft>
              <a:buClr>
                <a:schemeClr val="dk1"/>
              </a:buClr>
              <a:buSzPts val="1800"/>
              <a:buFont typeface="Arial"/>
              <a:buChar char="•"/>
            </a:pPr>
            <a:r>
              <a:rPr lang="en-US" sz="1800"/>
              <a:t>a single point of contact to extract, update data in systems</a:t>
            </a:r>
            <a:endParaRPr/>
          </a:p>
          <a:p>
            <a:pPr marL="285750" lvl="0" indent="-285750" algn="l" rtl="0">
              <a:spcBef>
                <a:spcPts val="360"/>
              </a:spcBef>
              <a:spcAft>
                <a:spcPts val="0"/>
              </a:spcAft>
              <a:buClr>
                <a:schemeClr val="dk1"/>
              </a:buClr>
              <a:buSzPts val="1800"/>
              <a:buFont typeface="Arial"/>
              <a:buChar char="•"/>
            </a:pPr>
            <a:r>
              <a:rPr lang="en-US" sz="1800"/>
              <a:t>Hides all the complexity and technical implementation behind the scenes</a:t>
            </a:r>
            <a:endParaRPr/>
          </a:p>
          <a:p>
            <a:pPr marL="285750" lvl="0" indent="-285750" algn="l" rtl="0">
              <a:spcBef>
                <a:spcPts val="360"/>
              </a:spcBef>
              <a:spcAft>
                <a:spcPts val="0"/>
              </a:spcAft>
              <a:buClr>
                <a:schemeClr val="dk1"/>
              </a:buClr>
              <a:buSzPts val="1800"/>
              <a:buFont typeface="Arial"/>
              <a:buChar char="•"/>
            </a:pPr>
            <a:r>
              <a:rPr lang="en-US" sz="1800"/>
              <a:t>These APIs remains stable release-on-release</a:t>
            </a:r>
            <a:endParaRPr/>
          </a:p>
          <a:p>
            <a:pPr marL="285750" lvl="0" indent="-171450" algn="l" rtl="0">
              <a:spcBef>
                <a:spcPts val="360"/>
              </a:spcBef>
              <a:spcAft>
                <a:spcPts val="0"/>
              </a:spcAft>
              <a:buClr>
                <a:schemeClr val="dk1"/>
              </a:buClr>
              <a:buSzPts val="1800"/>
              <a:buFont typeface="Arial"/>
              <a:buNone/>
            </a:pPr>
            <a:endParaRPr sz="1800"/>
          </a:p>
          <a:p>
            <a:pPr marL="0" lvl="0" indent="0" algn="l" rtl="0">
              <a:spcBef>
                <a:spcPts val="360"/>
              </a:spcBef>
              <a:spcAft>
                <a:spcPts val="0"/>
              </a:spcAft>
              <a:buClr>
                <a:schemeClr val="dk1"/>
              </a:buClr>
              <a:buSzPts val="1800"/>
              <a:buNone/>
            </a:pPr>
            <a:r>
              <a:rPr lang="en-US" sz="1800"/>
              <a:t>SAP Accelerator HUB (earlier API HUB)</a:t>
            </a:r>
            <a:endParaRPr/>
          </a:p>
          <a:p>
            <a:pPr marL="0" lvl="0" indent="0" algn="l" rtl="0">
              <a:spcBef>
                <a:spcPts val="360"/>
              </a:spcBef>
              <a:spcAft>
                <a:spcPts val="0"/>
              </a:spcAft>
              <a:buClr>
                <a:schemeClr val="dk1"/>
              </a:buClr>
              <a:buSzPts val="1800"/>
              <a:buNone/>
            </a:pPr>
            <a:r>
              <a:rPr lang="en-US" sz="1800" u="sng">
                <a:solidFill>
                  <a:schemeClr val="hlink"/>
                </a:solidFill>
                <a:hlinkClick r:id="rId3"/>
              </a:rPr>
              <a:t>https://api.sap.com</a:t>
            </a:r>
            <a:endParaRPr sz="1800"/>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2863"/>
        <p:cNvGrpSpPr/>
        <p:nvPr/>
      </p:nvGrpSpPr>
      <p:grpSpPr>
        <a:xfrm>
          <a:off x="0" y="0"/>
          <a:ext cx="0" cy="0"/>
          <a:chOff x="0" y="0"/>
          <a:chExt cx="0" cy="0"/>
        </a:xfrm>
      </p:grpSpPr>
      <p:sp>
        <p:nvSpPr>
          <p:cNvPr id="2864" name="Google Shape;2864;p19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Use Case</a:t>
            </a:r>
            <a:endParaRPr/>
          </a:p>
        </p:txBody>
      </p:sp>
      <p:sp>
        <p:nvSpPr>
          <p:cNvPr id="2865" name="Google Shape;2865;p19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Design and develop a clean-core solution in BTP to consume VBAK,VBAP (Sales order) data from my company S/4HANA system. The solution usage upgrade stable api for sales order 1.1.1 to read, and create sales order. Using CAPM we will consume this API.</a:t>
            </a:r>
            <a:endParaRPr/>
          </a:p>
          <a:p>
            <a:pPr marL="0" lvl="0" indent="0" algn="l" rtl="0">
              <a:spcBef>
                <a:spcPts val="360"/>
              </a:spcBef>
              <a:spcAft>
                <a:spcPts val="0"/>
              </a:spcAft>
              <a:buClr>
                <a:schemeClr val="dk1"/>
              </a:buClr>
              <a:buSzPts val="1800"/>
              <a:buNone/>
            </a:pPr>
            <a:endParaRPr sz="1800"/>
          </a:p>
          <a:p>
            <a:pPr marL="0" lvl="0" indent="0" algn="l" rtl="0">
              <a:spcBef>
                <a:spcPts val="360"/>
              </a:spcBef>
              <a:spcAft>
                <a:spcPts val="0"/>
              </a:spcAft>
              <a:buClr>
                <a:schemeClr val="dk1"/>
              </a:buClr>
              <a:buSzPts val="1800"/>
              <a:buNone/>
            </a:pPr>
            <a:r>
              <a:rPr lang="en-US" sz="1800"/>
              <a:t>Pre-requisites:</a:t>
            </a:r>
            <a:endParaRPr/>
          </a:p>
          <a:p>
            <a:pPr marL="285750" lvl="0" indent="-285750" algn="l" rtl="0">
              <a:spcBef>
                <a:spcPts val="360"/>
              </a:spcBef>
              <a:spcAft>
                <a:spcPts val="0"/>
              </a:spcAft>
              <a:buClr>
                <a:schemeClr val="dk1"/>
              </a:buClr>
              <a:buSzPts val="1800"/>
              <a:buFont typeface="Arial"/>
              <a:buChar char="•"/>
            </a:pPr>
            <a:r>
              <a:rPr lang="en-US" sz="1800"/>
              <a:t>SAP S/4HANA System – Anubhav training offers an SAP S/4HANA fully activated on-premise system which installed in our own private cloud (AWS). No VPN is required to connect to this SAP system. You can add it to your SAPGUI of office or home laptop (we are also providing free gui). We will share a detailed guide,videos to add server to your local machine. All Anubhav’s courses in single server. No Cloud Connector Required also to connect to BTP system. 3000 INR / 50 USD per month per user.</a:t>
            </a:r>
            <a:endParaRPr/>
          </a:p>
          <a:p>
            <a:pPr marL="0" lvl="0" indent="0" algn="l" rtl="0">
              <a:spcBef>
                <a:spcPts val="360"/>
              </a:spcBef>
              <a:spcAft>
                <a:spcPts val="0"/>
              </a:spcAft>
              <a:buClr>
                <a:schemeClr val="dk1"/>
              </a:buClr>
              <a:buSzPts val="1800"/>
              <a:buNone/>
            </a:pPr>
            <a:r>
              <a:rPr lang="en-US" sz="1800" i="1"/>
              <a:t>Send email to </a:t>
            </a:r>
            <a:r>
              <a:rPr lang="en-US" sz="1800" i="1" u="sng">
                <a:solidFill>
                  <a:schemeClr val="hlink"/>
                </a:solidFill>
                <a:hlinkClick r:id="rId3"/>
              </a:rPr>
              <a:t>server@anubhavtrainings.com</a:t>
            </a:r>
            <a:endParaRPr sz="1800" i="1"/>
          </a:p>
          <a:p>
            <a:pPr marL="0" lvl="0" indent="0" algn="l" rtl="0">
              <a:spcBef>
                <a:spcPts val="360"/>
              </a:spcBef>
              <a:spcAft>
                <a:spcPts val="0"/>
              </a:spcAft>
              <a:buClr>
                <a:schemeClr val="dk1"/>
              </a:buClr>
              <a:buSzPts val="1800"/>
              <a:buNone/>
            </a:pPr>
            <a:r>
              <a:rPr lang="en-US" sz="1800" i="1"/>
              <a:t>Hello Team,</a:t>
            </a:r>
            <a:endParaRPr/>
          </a:p>
          <a:p>
            <a:pPr marL="0" lvl="0" indent="0" algn="l" rtl="0">
              <a:spcBef>
                <a:spcPts val="360"/>
              </a:spcBef>
              <a:spcAft>
                <a:spcPts val="0"/>
              </a:spcAft>
              <a:buClr>
                <a:schemeClr val="dk1"/>
              </a:buClr>
              <a:buSzPts val="1800"/>
              <a:buNone/>
            </a:pPr>
            <a:r>
              <a:rPr lang="en-US" sz="1800" i="1"/>
              <a:t>I want SAP S/4HANA system access, please share the cost in INR currency and details to transfer. Thanks.</a:t>
            </a:r>
            <a:endParaRPr/>
          </a:p>
          <a:p>
            <a:pPr marL="285750" lvl="0" indent="-285750" algn="l" rtl="0">
              <a:spcBef>
                <a:spcPts val="360"/>
              </a:spcBef>
              <a:spcAft>
                <a:spcPts val="0"/>
              </a:spcAft>
              <a:buClr>
                <a:schemeClr val="dk1"/>
              </a:buClr>
              <a:buSzPts val="1800"/>
              <a:buFont typeface="Arial"/>
              <a:buChar char="•"/>
            </a:pPr>
            <a:r>
              <a:rPr lang="en-US" sz="1800"/>
              <a:t>S/4HANA Cloud SDK (JavaScript)  - FREE from SAP.</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2870"/>
        <p:cNvGrpSpPr/>
        <p:nvPr/>
      </p:nvGrpSpPr>
      <p:grpSpPr>
        <a:xfrm>
          <a:off x="0" y="0"/>
          <a:ext cx="0" cy="0"/>
          <a:chOff x="0" y="0"/>
          <a:chExt cx="0" cy="0"/>
        </a:xfrm>
      </p:grpSpPr>
      <p:sp>
        <p:nvSpPr>
          <p:cNvPr id="2871" name="Google Shape;2871;p195"/>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2872" name="Google Shape;2872;p195"/>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a:t>Text</a:t>
            </a:r>
            <a:endParaRPr/>
          </a:p>
        </p:txBody>
      </p:sp>
      <p:pic>
        <p:nvPicPr>
          <p:cNvPr id="2873" name="Google Shape;2873;p195"/>
          <p:cNvPicPr preferRelativeResize="0"/>
          <p:nvPr/>
        </p:nvPicPr>
        <p:blipFill rotWithShape="1">
          <a:blip r:embed="rId3">
            <a:alphaModFix/>
          </a:blip>
          <a:srcRect/>
          <a:stretch/>
        </p:blipFill>
        <p:spPr>
          <a:xfrm>
            <a:off x="5831502" y="4164946"/>
            <a:ext cx="2234520" cy="1299600"/>
          </a:xfrm>
          <a:prstGeom prst="rect">
            <a:avLst/>
          </a:prstGeom>
          <a:noFill/>
          <a:ln>
            <a:noFill/>
          </a:ln>
        </p:spPr>
      </p:pic>
      <p:grpSp>
        <p:nvGrpSpPr>
          <p:cNvPr id="2874" name="Google Shape;2874;p195"/>
          <p:cNvGrpSpPr/>
          <p:nvPr/>
        </p:nvGrpSpPr>
        <p:grpSpPr>
          <a:xfrm>
            <a:off x="2442462" y="2011786"/>
            <a:ext cx="1864800" cy="547560"/>
            <a:chOff x="2442462" y="2011786"/>
            <a:chExt cx="1864800" cy="547560"/>
          </a:xfrm>
        </p:grpSpPr>
        <p:pic>
          <p:nvPicPr>
            <p:cNvPr id="2875" name="Google Shape;2875;p195"/>
            <p:cNvPicPr preferRelativeResize="0"/>
            <p:nvPr/>
          </p:nvPicPr>
          <p:blipFill rotWithShape="1">
            <a:blip r:embed="rId4">
              <a:alphaModFix/>
            </a:blip>
            <a:srcRect/>
            <a:stretch/>
          </p:blipFill>
          <p:spPr>
            <a:xfrm>
              <a:off x="2442462" y="2011786"/>
              <a:ext cx="313200" cy="479520"/>
            </a:xfrm>
            <a:prstGeom prst="rect">
              <a:avLst/>
            </a:prstGeom>
            <a:noFill/>
            <a:ln>
              <a:noFill/>
            </a:ln>
          </p:spPr>
        </p:pic>
        <p:pic>
          <p:nvPicPr>
            <p:cNvPr id="2876" name="Google Shape;2876;p195"/>
            <p:cNvPicPr preferRelativeResize="0"/>
            <p:nvPr/>
          </p:nvPicPr>
          <p:blipFill rotWithShape="1">
            <a:blip r:embed="rId5">
              <a:alphaModFix/>
            </a:blip>
            <a:srcRect/>
            <a:stretch/>
          </p:blipFill>
          <p:spPr>
            <a:xfrm>
              <a:off x="2770782" y="2228146"/>
              <a:ext cx="159840" cy="212040"/>
            </a:xfrm>
            <a:prstGeom prst="rect">
              <a:avLst/>
            </a:prstGeom>
            <a:noFill/>
            <a:ln>
              <a:noFill/>
            </a:ln>
          </p:spPr>
        </p:pic>
        <p:pic>
          <p:nvPicPr>
            <p:cNvPr id="2877" name="Google Shape;2877;p195"/>
            <p:cNvPicPr preferRelativeResize="0"/>
            <p:nvPr/>
          </p:nvPicPr>
          <p:blipFill rotWithShape="1">
            <a:blip r:embed="rId6">
              <a:alphaModFix/>
            </a:blip>
            <a:srcRect/>
            <a:stretch/>
          </p:blipFill>
          <p:spPr>
            <a:xfrm>
              <a:off x="2957622" y="2223106"/>
              <a:ext cx="209880" cy="214200"/>
            </a:xfrm>
            <a:prstGeom prst="rect">
              <a:avLst/>
            </a:prstGeom>
            <a:noFill/>
            <a:ln>
              <a:noFill/>
            </a:ln>
          </p:spPr>
        </p:pic>
        <p:pic>
          <p:nvPicPr>
            <p:cNvPr id="2878" name="Google Shape;2878;p195"/>
            <p:cNvPicPr preferRelativeResize="0"/>
            <p:nvPr/>
          </p:nvPicPr>
          <p:blipFill rotWithShape="1">
            <a:blip r:embed="rId7">
              <a:alphaModFix/>
            </a:blip>
            <a:srcRect/>
            <a:stretch/>
          </p:blipFill>
          <p:spPr>
            <a:xfrm>
              <a:off x="3182262" y="2225626"/>
              <a:ext cx="172080" cy="207360"/>
            </a:xfrm>
            <a:prstGeom prst="rect">
              <a:avLst/>
            </a:prstGeom>
            <a:noFill/>
            <a:ln>
              <a:noFill/>
            </a:ln>
          </p:spPr>
        </p:pic>
        <p:pic>
          <p:nvPicPr>
            <p:cNvPr id="2879" name="Google Shape;2879;p195"/>
            <p:cNvPicPr preferRelativeResize="0"/>
            <p:nvPr/>
          </p:nvPicPr>
          <p:blipFill rotWithShape="1">
            <a:blip r:embed="rId8">
              <a:alphaModFix/>
            </a:blip>
            <a:srcRect/>
            <a:stretch/>
          </p:blipFill>
          <p:spPr>
            <a:xfrm>
              <a:off x="3402222" y="2205826"/>
              <a:ext cx="178560" cy="199080"/>
            </a:xfrm>
            <a:prstGeom prst="rect">
              <a:avLst/>
            </a:prstGeom>
            <a:noFill/>
            <a:ln>
              <a:noFill/>
            </a:ln>
          </p:spPr>
        </p:pic>
        <p:pic>
          <p:nvPicPr>
            <p:cNvPr id="2880" name="Google Shape;2880;p195"/>
            <p:cNvPicPr preferRelativeResize="0"/>
            <p:nvPr/>
          </p:nvPicPr>
          <p:blipFill rotWithShape="1">
            <a:blip r:embed="rId9">
              <a:alphaModFix/>
            </a:blip>
            <a:srcRect/>
            <a:stretch/>
          </p:blipFill>
          <p:spPr>
            <a:xfrm>
              <a:off x="3564582" y="2028346"/>
              <a:ext cx="314280" cy="396000"/>
            </a:xfrm>
            <a:prstGeom prst="rect">
              <a:avLst/>
            </a:prstGeom>
            <a:noFill/>
            <a:ln>
              <a:noFill/>
            </a:ln>
          </p:spPr>
        </p:pic>
        <p:pic>
          <p:nvPicPr>
            <p:cNvPr id="2881" name="Google Shape;2881;p195"/>
            <p:cNvPicPr preferRelativeResize="0"/>
            <p:nvPr/>
          </p:nvPicPr>
          <p:blipFill rotWithShape="1">
            <a:blip r:embed="rId10">
              <a:alphaModFix/>
            </a:blip>
            <a:srcRect/>
            <a:stretch/>
          </p:blipFill>
          <p:spPr>
            <a:xfrm>
              <a:off x="3799662" y="2141746"/>
              <a:ext cx="403200" cy="235440"/>
            </a:xfrm>
            <a:prstGeom prst="rect">
              <a:avLst/>
            </a:prstGeom>
            <a:noFill/>
            <a:ln>
              <a:noFill/>
            </a:ln>
          </p:spPr>
        </p:pic>
        <p:pic>
          <p:nvPicPr>
            <p:cNvPr id="2882" name="Google Shape;2882;p195"/>
            <p:cNvPicPr preferRelativeResize="0"/>
            <p:nvPr/>
          </p:nvPicPr>
          <p:blipFill rotWithShape="1">
            <a:blip r:embed="rId11">
              <a:alphaModFix/>
            </a:blip>
            <a:srcRect/>
            <a:stretch/>
          </p:blipFill>
          <p:spPr>
            <a:xfrm>
              <a:off x="2513382" y="2470786"/>
              <a:ext cx="1793880" cy="88560"/>
            </a:xfrm>
            <a:prstGeom prst="rect">
              <a:avLst/>
            </a:prstGeom>
            <a:noFill/>
            <a:ln>
              <a:noFill/>
            </a:ln>
          </p:spPr>
        </p:pic>
      </p:gr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2887"/>
        <p:cNvGrpSpPr/>
        <p:nvPr/>
      </p:nvGrpSpPr>
      <p:grpSpPr>
        <a:xfrm>
          <a:off x="0" y="0"/>
          <a:ext cx="0" cy="0"/>
          <a:chOff x="0" y="0"/>
          <a:chExt cx="0" cy="0"/>
        </a:xfrm>
      </p:grpSpPr>
      <p:sp>
        <p:nvSpPr>
          <p:cNvPr id="2888" name="Google Shape;2888;p196"/>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Steps</a:t>
            </a:r>
            <a:endParaRPr/>
          </a:p>
        </p:txBody>
      </p:sp>
      <p:sp>
        <p:nvSpPr>
          <p:cNvPr id="2889" name="Google Shape;2889;p196"/>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Always recommended to explore the API first which you plan to consume and make sure its active. If the API is not active, you have to go to /n/IWFND/MAINT_SERVICE tcode in your company SAP system.</a:t>
            </a:r>
            <a:endParaRPr/>
          </a:p>
          <a:p>
            <a:pPr marL="285750" lvl="0" indent="-285750" algn="l" rtl="0">
              <a:spcBef>
                <a:spcPts val="360"/>
              </a:spcBef>
              <a:spcAft>
                <a:spcPts val="0"/>
              </a:spcAft>
              <a:buClr>
                <a:schemeClr val="dk1"/>
              </a:buClr>
              <a:buSzPts val="1800"/>
              <a:buFont typeface="Arial"/>
              <a:buChar char="•"/>
            </a:pPr>
            <a:r>
              <a:rPr lang="en-US" sz="1800"/>
              <a:t>If you plan to insert, update, delete data, create a postman collection to test api and get comfortable with the contract. Test if everything is well understood, before building clean-core app.</a:t>
            </a:r>
            <a:endParaRPr/>
          </a:p>
          <a:p>
            <a:pPr marL="285750" lvl="0" indent="-285750" algn="l" rtl="0">
              <a:spcBef>
                <a:spcPts val="360"/>
              </a:spcBef>
              <a:spcAft>
                <a:spcPts val="0"/>
              </a:spcAft>
              <a:buClr>
                <a:schemeClr val="dk1"/>
              </a:buClr>
              <a:buSzPts val="1800"/>
              <a:buFont typeface="Arial"/>
              <a:buChar char="•"/>
            </a:pPr>
            <a:r>
              <a:rPr lang="en-US" sz="1800"/>
              <a:t>[</a:t>
            </a:r>
            <a:r>
              <a:rPr lang="en-US" sz="1800" b="1" i="1"/>
              <a:t>Not Required for Anubhav Training system</a:t>
            </a:r>
            <a:r>
              <a:rPr lang="en-US" sz="1800"/>
              <a:t>] if you are using your company system, you also need to configure SAP Cloud Connector which is a free software to bypass your company firewall. </a:t>
            </a:r>
            <a:r>
              <a:rPr lang="en-US" sz="1800" u="sng">
                <a:solidFill>
                  <a:schemeClr val="hlink"/>
                </a:solidFill>
                <a:hlinkClick r:id="rId3"/>
              </a:rPr>
              <a:t>https://www.youtube.com/watch?v=6jk9G4vaFjQ</a:t>
            </a:r>
            <a:endParaRPr sz="1800"/>
          </a:p>
          <a:p>
            <a:pPr marL="285750" lvl="0" indent="-285750" algn="l" rtl="0">
              <a:spcBef>
                <a:spcPts val="360"/>
              </a:spcBef>
              <a:spcAft>
                <a:spcPts val="0"/>
              </a:spcAft>
              <a:buClr>
                <a:schemeClr val="dk1"/>
              </a:buClr>
              <a:buSzPts val="1800"/>
              <a:buFont typeface="Arial"/>
              <a:buChar char="•"/>
            </a:pPr>
            <a:r>
              <a:rPr lang="en-US" sz="1800"/>
              <a:t>First check the host name and port no for your sap system in SMICM. </a:t>
            </a:r>
            <a:endParaRPr/>
          </a:p>
          <a:p>
            <a:pPr marL="285750" lvl="0" indent="-285750" algn="l" rtl="0">
              <a:spcBef>
                <a:spcPts val="360"/>
              </a:spcBef>
              <a:spcAft>
                <a:spcPts val="0"/>
              </a:spcAft>
              <a:buClr>
                <a:schemeClr val="dk1"/>
              </a:buClr>
              <a:buSzPts val="1800"/>
              <a:buFont typeface="Arial"/>
              <a:buChar char="•"/>
            </a:pPr>
            <a:r>
              <a:rPr lang="en-US" sz="1800"/>
              <a:t>Create a connection to our Company SAP S/4HANA system by creating a destination in BTP. Now we create a destination in BAS tool.</a:t>
            </a:r>
            <a:endParaRPr/>
          </a:p>
          <a:p>
            <a:pPr marL="285750" lvl="0" indent="-285750" algn="l" rtl="0">
              <a:spcBef>
                <a:spcPts val="360"/>
              </a:spcBef>
              <a:spcAft>
                <a:spcPts val="0"/>
              </a:spcAft>
              <a:buClr>
                <a:schemeClr val="dk1"/>
              </a:buClr>
              <a:buSzPts val="1800"/>
              <a:buFont typeface="Arial"/>
              <a:buChar char="•"/>
            </a:pPr>
            <a:r>
              <a:rPr lang="en-US" sz="1800"/>
              <a:t>Initialize your S4HANA side by side extension app</a:t>
            </a:r>
            <a:endParaRPr/>
          </a:p>
          <a:p>
            <a:pPr marL="0" lvl="0" indent="0" algn="l" rtl="0">
              <a:spcBef>
                <a:spcPts val="360"/>
              </a:spcBef>
              <a:spcAft>
                <a:spcPts val="0"/>
              </a:spcAft>
              <a:buClr>
                <a:schemeClr val="dk1"/>
              </a:buClr>
              <a:buSzPts val="1800"/>
              <a:buNone/>
            </a:pPr>
            <a:r>
              <a:rPr lang="en-US" sz="1800" b="1"/>
              <a:t>mkdir s4hext</a:t>
            </a:r>
            <a:endParaRPr/>
          </a:p>
          <a:p>
            <a:pPr marL="0" lvl="0" indent="0" algn="l" rtl="0">
              <a:spcBef>
                <a:spcPts val="360"/>
              </a:spcBef>
              <a:spcAft>
                <a:spcPts val="0"/>
              </a:spcAft>
              <a:buClr>
                <a:schemeClr val="dk1"/>
              </a:buClr>
              <a:buSzPts val="1800"/>
              <a:buNone/>
            </a:pPr>
            <a:r>
              <a:rPr lang="en-US" sz="1800" b="1"/>
              <a:t>cd s4hext</a:t>
            </a:r>
            <a:endParaRPr/>
          </a:p>
          <a:p>
            <a:pPr marL="0" lvl="0" indent="0" algn="l" rtl="0">
              <a:spcBef>
                <a:spcPts val="360"/>
              </a:spcBef>
              <a:spcAft>
                <a:spcPts val="0"/>
              </a:spcAft>
              <a:buClr>
                <a:schemeClr val="dk1"/>
              </a:buClr>
              <a:buSzPts val="1800"/>
              <a:buNone/>
            </a:pPr>
            <a:r>
              <a:rPr lang="en-US" sz="1800" b="1"/>
              <a:t>cds init</a:t>
            </a:r>
            <a:endParaRPr sz="1800" b="1"/>
          </a:p>
          <a:p>
            <a:pPr marL="0" lvl="0" indent="0" algn="l" rtl="0">
              <a:spcBef>
                <a:spcPts val="360"/>
              </a:spcBef>
              <a:spcAft>
                <a:spcPts val="0"/>
              </a:spcAft>
              <a:buClr>
                <a:schemeClr val="dk1"/>
              </a:buClr>
              <a:buSzPts val="1800"/>
              <a:buNone/>
            </a:pPr>
            <a:r>
              <a:rPr lang="en-US" sz="1800" b="1"/>
              <a:t>npm install</a:t>
            </a:r>
            <a:endParaRPr/>
          </a:p>
          <a:p>
            <a:pPr marL="285750" lvl="0" indent="-285750" algn="l" rtl="0">
              <a:spcBef>
                <a:spcPts val="360"/>
              </a:spcBef>
              <a:spcAft>
                <a:spcPts val="0"/>
              </a:spcAft>
              <a:buClr>
                <a:schemeClr val="dk1"/>
              </a:buClr>
              <a:buSzPts val="1800"/>
              <a:buFont typeface="Arial"/>
              <a:buChar char="•"/>
            </a:pPr>
            <a:r>
              <a:rPr lang="en-US" sz="1800"/>
              <a:t>Now we download the specification of SAP API which we plan to consume in our app. Go to api hub and download edmx file for the api.</a:t>
            </a:r>
            <a:endParaRPr/>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2894"/>
        <p:cNvGrpSpPr/>
        <p:nvPr/>
      </p:nvGrpSpPr>
      <p:grpSpPr>
        <a:xfrm>
          <a:off x="0" y="0"/>
          <a:ext cx="0" cy="0"/>
          <a:chOff x="0" y="0"/>
          <a:chExt cx="0" cy="0"/>
        </a:xfrm>
      </p:grpSpPr>
      <p:sp>
        <p:nvSpPr>
          <p:cNvPr id="2895" name="Google Shape;2895;p197"/>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Cotinue…</a:t>
            </a:r>
            <a:endParaRPr/>
          </a:p>
        </p:txBody>
      </p:sp>
      <p:sp>
        <p:nvSpPr>
          <p:cNvPr id="2896" name="Google Shape;2896;p197"/>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Upload the edmx file into srv&gt;external folder</a:t>
            </a:r>
            <a:endParaRPr/>
          </a:p>
          <a:p>
            <a:pPr marL="285750" lvl="0" indent="-285750" algn="l" rtl="0">
              <a:spcBef>
                <a:spcPts val="360"/>
              </a:spcBef>
              <a:spcAft>
                <a:spcPts val="0"/>
              </a:spcAft>
              <a:buClr>
                <a:schemeClr val="dk1"/>
              </a:buClr>
              <a:buSzPts val="1800"/>
              <a:buFont typeface="Arial"/>
              <a:buChar char="•"/>
            </a:pPr>
            <a:r>
              <a:rPr lang="en-US" sz="1800"/>
              <a:t>Run below command to generate csn (CDS schema notation), the structure which is needed to build our entities using standard entities of this service. </a:t>
            </a:r>
            <a:r>
              <a:rPr lang="en-US" sz="1800" b="1"/>
              <a:t>cds import srv/external/OP_API_SALES_ORDER_SRV_0001.edmx </a:t>
            </a:r>
            <a:endParaRPr/>
          </a:p>
          <a:p>
            <a:pPr marL="285750" lvl="0" indent="-285750" algn="l" rtl="0">
              <a:spcBef>
                <a:spcPts val="360"/>
              </a:spcBef>
              <a:spcAft>
                <a:spcPts val="0"/>
              </a:spcAft>
              <a:buClr>
                <a:schemeClr val="dk1"/>
              </a:buClr>
              <a:buSzPts val="1800"/>
              <a:buFont typeface="Arial"/>
              <a:buChar char="•"/>
            </a:pPr>
            <a:r>
              <a:rPr lang="en-US" sz="1800"/>
              <a:t>Check SDK Documentation - </a:t>
            </a:r>
            <a:r>
              <a:rPr lang="en-US" sz="1800" u="sng">
                <a:solidFill>
                  <a:schemeClr val="hlink"/>
                </a:solidFill>
                <a:hlinkClick r:id="rId3"/>
              </a:rPr>
              <a:t>https://sap.github.io/cloud-sdk/docs/js/features/odata/generate-client</a:t>
            </a:r>
            <a:endParaRPr sz="1800"/>
          </a:p>
          <a:p>
            <a:pPr marL="285750" lvl="0" indent="-285750" algn="l" rtl="0">
              <a:spcBef>
                <a:spcPts val="360"/>
              </a:spcBef>
              <a:spcAft>
                <a:spcPts val="0"/>
              </a:spcAft>
              <a:buClr>
                <a:schemeClr val="dk1"/>
              </a:buClr>
              <a:buSzPts val="1800"/>
              <a:buFont typeface="Arial"/>
              <a:buChar char="•"/>
            </a:pPr>
            <a:r>
              <a:rPr lang="en-US" sz="1800"/>
              <a:t>Install SDK generator module to create boilerplate code - </a:t>
            </a:r>
            <a:r>
              <a:rPr lang="en-US" sz="1800" b="1"/>
              <a:t>npm install -D @sap-cloud-sdk/generator</a:t>
            </a:r>
            <a:endParaRPr/>
          </a:p>
          <a:p>
            <a:pPr marL="285750" lvl="0" indent="-285750" algn="l" rtl="0">
              <a:spcBef>
                <a:spcPts val="360"/>
              </a:spcBef>
              <a:spcAft>
                <a:spcPts val="0"/>
              </a:spcAft>
              <a:buClr>
                <a:schemeClr val="dk1"/>
              </a:buClr>
              <a:buSzPts val="1800"/>
              <a:buFont typeface="Arial"/>
              <a:buChar char="•"/>
            </a:pPr>
            <a:r>
              <a:rPr lang="en-US" sz="1800"/>
              <a:t>Also install the SDK V2 module needed to run odata v2 from SDK - </a:t>
            </a:r>
            <a:r>
              <a:rPr lang="en-US" sz="1800" b="1"/>
              <a:t>npm install @sap-cloud-sdk/odata-v2</a:t>
            </a:r>
            <a:endParaRPr/>
          </a:p>
          <a:p>
            <a:pPr marL="285750" lvl="0" indent="-285750" algn="l" rtl="0">
              <a:spcBef>
                <a:spcPts val="360"/>
              </a:spcBef>
              <a:spcAft>
                <a:spcPts val="0"/>
              </a:spcAft>
              <a:buClr>
                <a:schemeClr val="dk1"/>
              </a:buClr>
              <a:buSzPts val="1800"/>
              <a:buFont typeface="Arial"/>
              <a:buChar char="•"/>
            </a:pPr>
            <a:r>
              <a:rPr lang="en-US" sz="1800"/>
              <a:t>Now we create boiler plate code - </a:t>
            </a:r>
            <a:r>
              <a:rPr lang="en-US" sz="1800" b="1"/>
              <a:t>npx generate-odata-client --transpile --input srv/external --outputDir srv/src/generated</a:t>
            </a:r>
            <a:endParaRPr/>
          </a:p>
          <a:p>
            <a:pPr marL="285750" lvl="0" indent="-285750" algn="l" rtl="0">
              <a:spcBef>
                <a:spcPts val="360"/>
              </a:spcBef>
              <a:spcAft>
                <a:spcPts val="0"/>
              </a:spcAft>
              <a:buClr>
                <a:schemeClr val="dk1"/>
              </a:buClr>
              <a:buSzPts val="1800"/>
              <a:buFont typeface="Arial"/>
              <a:buChar char="•"/>
            </a:pPr>
            <a:r>
              <a:rPr lang="en-US" sz="1800"/>
              <a:t>Explore the generated folder service.js file to look at classes and api functions it created</a:t>
            </a:r>
            <a:endParaRPr/>
          </a:p>
          <a:p>
            <a:pPr marL="285750" lvl="0" indent="-285750" algn="l" rtl="0">
              <a:spcBef>
                <a:spcPts val="360"/>
              </a:spcBef>
              <a:spcAft>
                <a:spcPts val="0"/>
              </a:spcAft>
              <a:buClr>
                <a:schemeClr val="dk1"/>
              </a:buClr>
              <a:buSzPts val="1800"/>
              <a:buFont typeface="Arial"/>
              <a:buChar char="•"/>
            </a:pPr>
            <a:r>
              <a:rPr lang="en-US" sz="1800"/>
              <a:t>Next, we define the CAP API for working with sales order data of S/4HANA – CatalogService.cds</a:t>
            </a:r>
            <a:endParaRPr sz="1800"/>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2908"/>
        <p:cNvGrpSpPr/>
        <p:nvPr/>
      </p:nvGrpSpPr>
      <p:grpSpPr>
        <a:xfrm>
          <a:off x="0" y="0"/>
          <a:ext cx="0" cy="0"/>
          <a:chOff x="0" y="0"/>
          <a:chExt cx="0" cy="0"/>
        </a:xfrm>
      </p:grpSpPr>
      <p:sp>
        <p:nvSpPr>
          <p:cNvPr id="2909" name="Google Shape;2909;p199"/>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Destination for Anubhav Training system</a:t>
            </a:r>
            <a:endParaRPr/>
          </a:p>
        </p:txBody>
      </p:sp>
      <p:sp>
        <p:nvSpPr>
          <p:cNvPr id="2910" name="Google Shape;2910;p199"/>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0" lvl="0" indent="0" algn="l" rtl="0">
              <a:spcBef>
                <a:spcPts val="0"/>
              </a:spcBef>
              <a:spcAft>
                <a:spcPts val="0"/>
              </a:spcAft>
              <a:buClr>
                <a:schemeClr val="dk1"/>
              </a:buClr>
              <a:buSzPts val="1800"/>
              <a:buNone/>
            </a:pPr>
            <a:r>
              <a:rPr lang="en-US" sz="1800" u="sng">
                <a:solidFill>
                  <a:schemeClr val="hlink"/>
                </a:solidFill>
                <a:hlinkClick r:id="rId3"/>
              </a:rPr>
              <a:t>http://S4HANA10.saraswatitechnologies.in:8010</a:t>
            </a:r>
            <a:endParaRPr sz="1800"/>
          </a:p>
          <a:p>
            <a:pPr marL="0" lvl="0" indent="0" algn="l" rtl="0">
              <a:spcBef>
                <a:spcPts val="360"/>
              </a:spcBef>
              <a:spcAft>
                <a:spcPts val="0"/>
              </a:spcAft>
              <a:buClr>
                <a:schemeClr val="dk1"/>
              </a:buClr>
              <a:buSzPts val="1800"/>
              <a:buNone/>
            </a:pPr>
            <a:endParaRPr sz="1800"/>
          </a:p>
        </p:txBody>
      </p:sp>
      <p:pic>
        <p:nvPicPr>
          <p:cNvPr id="2911" name="Google Shape;2911;p199"/>
          <p:cNvPicPr preferRelativeResize="0"/>
          <p:nvPr/>
        </p:nvPicPr>
        <p:blipFill rotWithShape="1">
          <a:blip r:embed="rId4">
            <a:alphaModFix/>
          </a:blip>
          <a:srcRect/>
          <a:stretch/>
        </p:blipFill>
        <p:spPr>
          <a:xfrm>
            <a:off x="5734372" y="856427"/>
            <a:ext cx="4677482" cy="5733256"/>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2916"/>
        <p:cNvGrpSpPr/>
        <p:nvPr/>
      </p:nvGrpSpPr>
      <p:grpSpPr>
        <a:xfrm>
          <a:off x="0" y="0"/>
          <a:ext cx="0" cy="0"/>
          <a:chOff x="0" y="0"/>
          <a:chExt cx="0" cy="0"/>
        </a:xfrm>
      </p:grpSpPr>
      <p:sp>
        <p:nvSpPr>
          <p:cNvPr id="2917" name="Google Shape;2917;p200"/>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Cotinue…</a:t>
            </a:r>
            <a:endParaRPr/>
          </a:p>
        </p:txBody>
      </p:sp>
      <p:sp>
        <p:nvSpPr>
          <p:cNvPr id="2918" name="Google Shape;2918;p200"/>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Upload the edmx file into srv&gt;external folder</a:t>
            </a:r>
            <a:endParaRPr/>
          </a:p>
          <a:p>
            <a:pPr marL="285750" lvl="0" indent="-285750" algn="l" rtl="0">
              <a:spcBef>
                <a:spcPts val="360"/>
              </a:spcBef>
              <a:spcAft>
                <a:spcPts val="0"/>
              </a:spcAft>
              <a:buClr>
                <a:schemeClr val="dk1"/>
              </a:buClr>
              <a:buSzPts val="1800"/>
              <a:buFont typeface="Arial"/>
              <a:buChar char="•"/>
            </a:pPr>
            <a:r>
              <a:rPr lang="en-US" sz="1800"/>
              <a:t>Run below command to generate csn (CDS schema notation), the structure which is needed to build our entities using standard entities of this service. </a:t>
            </a:r>
            <a:r>
              <a:rPr lang="en-US" sz="1800" b="1"/>
              <a:t>cds import srv/external/OP_API_SALES_ORDER_SRV_0001.edmx </a:t>
            </a:r>
            <a:endParaRPr/>
          </a:p>
          <a:p>
            <a:pPr marL="285750" lvl="0" indent="-285750" algn="l" rtl="0">
              <a:spcBef>
                <a:spcPts val="360"/>
              </a:spcBef>
              <a:spcAft>
                <a:spcPts val="0"/>
              </a:spcAft>
              <a:buClr>
                <a:schemeClr val="dk1"/>
              </a:buClr>
              <a:buSzPts val="1800"/>
              <a:buFont typeface="Arial"/>
              <a:buChar char="•"/>
            </a:pPr>
            <a:r>
              <a:rPr lang="en-US" sz="1800"/>
              <a:t>Check SDK Documentation - </a:t>
            </a:r>
            <a:r>
              <a:rPr lang="en-US" sz="1800" u="sng">
                <a:solidFill>
                  <a:schemeClr val="hlink"/>
                </a:solidFill>
                <a:hlinkClick r:id="rId3"/>
              </a:rPr>
              <a:t>https://sap.github.io/cloud-sdk/docs/js/features/odata/generate-client</a:t>
            </a:r>
            <a:endParaRPr sz="1800"/>
          </a:p>
          <a:p>
            <a:pPr marL="285750" lvl="0" indent="-285750" algn="l" rtl="0">
              <a:spcBef>
                <a:spcPts val="360"/>
              </a:spcBef>
              <a:spcAft>
                <a:spcPts val="0"/>
              </a:spcAft>
              <a:buClr>
                <a:schemeClr val="dk1"/>
              </a:buClr>
              <a:buSzPts val="1800"/>
              <a:buFont typeface="Arial"/>
              <a:buChar char="•"/>
            </a:pPr>
            <a:r>
              <a:rPr lang="en-US" sz="1800"/>
              <a:t>Install SDK generator module to create boilerplate code - </a:t>
            </a:r>
            <a:r>
              <a:rPr lang="en-US" sz="1800" b="1"/>
              <a:t>npm install -D @sap-cloud-sdk/generator</a:t>
            </a:r>
            <a:endParaRPr/>
          </a:p>
          <a:p>
            <a:pPr marL="285750" lvl="0" indent="-285750" algn="l" rtl="0">
              <a:spcBef>
                <a:spcPts val="360"/>
              </a:spcBef>
              <a:spcAft>
                <a:spcPts val="0"/>
              </a:spcAft>
              <a:buClr>
                <a:schemeClr val="dk1"/>
              </a:buClr>
              <a:buSzPts val="1800"/>
              <a:buFont typeface="Arial"/>
              <a:buChar char="•"/>
            </a:pPr>
            <a:r>
              <a:rPr lang="en-US" sz="1800"/>
              <a:t>Also install the SDK V2 module needed to run odata v2 from SDK - </a:t>
            </a:r>
            <a:r>
              <a:rPr lang="en-US" sz="1800" b="1"/>
              <a:t>npm install @sap-cloud-sdk/odata-v2</a:t>
            </a:r>
            <a:endParaRPr/>
          </a:p>
          <a:p>
            <a:pPr marL="285750" lvl="0" indent="-285750" algn="l" rtl="0">
              <a:spcBef>
                <a:spcPts val="360"/>
              </a:spcBef>
              <a:spcAft>
                <a:spcPts val="0"/>
              </a:spcAft>
              <a:buClr>
                <a:schemeClr val="dk1"/>
              </a:buClr>
              <a:buSzPts val="1800"/>
              <a:buFont typeface="Arial"/>
              <a:buChar char="•"/>
            </a:pPr>
            <a:r>
              <a:rPr lang="en-US" sz="1800"/>
              <a:t>Now we create boiler plate code - </a:t>
            </a:r>
            <a:r>
              <a:rPr lang="en-US" sz="1800" b="1"/>
              <a:t>npx generate-odata-client --transpile --input srv/external --outputDir srv/src/generated</a:t>
            </a:r>
            <a:endParaRPr/>
          </a:p>
          <a:p>
            <a:pPr marL="285750" lvl="0" indent="-285750" algn="l" rtl="0">
              <a:spcBef>
                <a:spcPts val="360"/>
              </a:spcBef>
              <a:spcAft>
                <a:spcPts val="0"/>
              </a:spcAft>
              <a:buClr>
                <a:schemeClr val="dk1"/>
              </a:buClr>
              <a:buSzPts val="1800"/>
              <a:buFont typeface="Arial"/>
              <a:buChar char="•"/>
            </a:pPr>
            <a:r>
              <a:rPr lang="en-US" sz="1800"/>
              <a:t>Explore the generated folder service.js file to look at classes and api functions it created</a:t>
            </a:r>
            <a:endParaRPr/>
          </a:p>
          <a:p>
            <a:pPr marL="285750" lvl="0" indent="-285750" algn="l" rtl="0">
              <a:spcBef>
                <a:spcPts val="360"/>
              </a:spcBef>
              <a:spcAft>
                <a:spcPts val="0"/>
              </a:spcAft>
              <a:buClr>
                <a:schemeClr val="dk1"/>
              </a:buClr>
              <a:buSzPts val="1800"/>
              <a:buFont typeface="Arial"/>
              <a:buChar char="•"/>
            </a:pPr>
            <a:r>
              <a:rPr lang="en-US" sz="1800"/>
              <a:t>Next, we define the CAP API for working with sales order data of S/4HANA – CatalogService.cds</a:t>
            </a:r>
            <a:endParaRPr sz="1800"/>
          </a:p>
          <a:p>
            <a:pPr marL="285750" lvl="0" indent="-285750" algn="l" rtl="0">
              <a:spcBef>
                <a:spcPts val="360"/>
              </a:spcBef>
              <a:spcAft>
                <a:spcPts val="0"/>
              </a:spcAft>
              <a:buClr>
                <a:schemeClr val="dk1"/>
              </a:buClr>
              <a:buSzPts val="1800"/>
              <a:buFont typeface="Arial"/>
              <a:buChar char="•"/>
            </a:pPr>
            <a:r>
              <a:rPr lang="en-US" sz="1800"/>
              <a:t>Created the CatalogService.js file with required generic handlers</a:t>
            </a:r>
            <a:endParaRPr/>
          </a:p>
          <a:p>
            <a:pPr marL="285750" lvl="0" indent="-285750" algn="l" rtl="0">
              <a:spcBef>
                <a:spcPts val="360"/>
              </a:spcBef>
              <a:spcAft>
                <a:spcPts val="0"/>
              </a:spcAft>
              <a:buClr>
                <a:schemeClr val="dk1"/>
              </a:buClr>
              <a:buSzPts val="1800"/>
              <a:buFont typeface="Arial"/>
              <a:buChar char="•"/>
            </a:pPr>
            <a:r>
              <a:rPr lang="en-US" sz="1800"/>
              <a:t>Created .env file to maintain server URL, USER, PASSWORD, installed dotenv module</a:t>
            </a:r>
            <a:endParaRPr/>
          </a:p>
          <a:p>
            <a:pPr marL="285750" lvl="0" indent="-285750" algn="l" rtl="0">
              <a:spcBef>
                <a:spcPts val="360"/>
              </a:spcBef>
              <a:spcAft>
                <a:spcPts val="0"/>
              </a:spcAft>
              <a:buClr>
                <a:schemeClr val="dk1"/>
              </a:buClr>
              <a:buSzPts val="1800"/>
              <a:buFont typeface="Arial"/>
              <a:buChar char="•"/>
            </a:pPr>
            <a:r>
              <a:rPr lang="en-US" sz="1800"/>
              <a:t>Also install the moment module to perform date mapping with outgoing data</a:t>
            </a:r>
            <a:endParaRPr/>
          </a:p>
          <a:p>
            <a:pPr marL="285750" lvl="0" indent="-285750" algn="l" rtl="0">
              <a:spcBef>
                <a:spcPts val="360"/>
              </a:spcBef>
              <a:spcAft>
                <a:spcPts val="0"/>
              </a:spcAft>
              <a:buClr>
                <a:schemeClr val="dk1"/>
              </a:buClr>
              <a:buSzPts val="1800"/>
              <a:buFont typeface="Arial"/>
              <a:buChar char="•"/>
            </a:pPr>
            <a:r>
              <a:rPr lang="en-US" sz="1800" b="1"/>
              <a:t>cds watch </a:t>
            </a:r>
            <a:r>
              <a:rPr lang="en-US" sz="1800"/>
              <a:t>to perform local testing</a:t>
            </a:r>
            <a:endParaRPr/>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a:p>
            <a:pPr marL="285750" lvl="0" indent="-171450" algn="l" rtl="0">
              <a:spcBef>
                <a:spcPts val="360"/>
              </a:spcBef>
              <a:spcAft>
                <a:spcPts val="0"/>
              </a:spcAft>
              <a:buClr>
                <a:schemeClr val="dk1"/>
              </a:buClr>
              <a:buSzPts val="1800"/>
              <a:buFont typeface="Arial"/>
              <a:buNone/>
            </a:pPr>
            <a:endParaRPr sz="180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2923"/>
        <p:cNvGrpSpPr/>
        <p:nvPr/>
      </p:nvGrpSpPr>
      <p:grpSpPr>
        <a:xfrm>
          <a:off x="0" y="0"/>
          <a:ext cx="0" cy="0"/>
          <a:chOff x="0" y="0"/>
          <a:chExt cx="0" cy="0"/>
        </a:xfrm>
      </p:grpSpPr>
      <p:sp>
        <p:nvSpPr>
          <p:cNvPr id="2924" name="Google Shape;2924;p201"/>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Title</a:t>
            </a:r>
            <a:endParaRPr/>
          </a:p>
        </p:txBody>
      </p:sp>
      <p:sp>
        <p:nvSpPr>
          <p:cNvPr id="2925" name="Google Shape;2925;p201"/>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In order to test our app from BAS tool with destination in account to make sure the happy path works before deploying the app. We need to remotely bind the destination service with our app</a:t>
            </a:r>
            <a:endParaRPr/>
          </a:p>
          <a:p>
            <a:pPr marL="285750" lvl="0" indent="-285750" algn="l" rtl="0">
              <a:spcBef>
                <a:spcPts val="360"/>
              </a:spcBef>
              <a:spcAft>
                <a:spcPts val="0"/>
              </a:spcAft>
              <a:buClr>
                <a:schemeClr val="dk1"/>
              </a:buClr>
              <a:buSzPts val="1800"/>
              <a:buFont typeface="Arial"/>
              <a:buChar char="•"/>
            </a:pPr>
            <a:r>
              <a:rPr lang="en-US" sz="1800" b="1"/>
              <a:t>cf create-service destination lite mydest</a:t>
            </a:r>
            <a:endParaRPr sz="1800" b="1"/>
          </a:p>
          <a:p>
            <a:pPr marL="285750" lvl="0" indent="-285750" algn="l" rtl="0">
              <a:spcBef>
                <a:spcPts val="360"/>
              </a:spcBef>
              <a:spcAft>
                <a:spcPts val="0"/>
              </a:spcAft>
              <a:buClr>
                <a:schemeClr val="dk1"/>
              </a:buClr>
              <a:buSzPts val="1800"/>
              <a:buFont typeface="Arial"/>
              <a:buChar char="•"/>
            </a:pPr>
            <a:r>
              <a:rPr lang="en-US" sz="1800" b="1"/>
              <a:t>cf create-service-key mydest mydest-key</a:t>
            </a:r>
            <a:endParaRPr/>
          </a:p>
          <a:p>
            <a:pPr marL="285750" lvl="0" indent="-285750" algn="l" rtl="0">
              <a:spcBef>
                <a:spcPts val="360"/>
              </a:spcBef>
              <a:spcAft>
                <a:spcPts val="0"/>
              </a:spcAft>
              <a:buClr>
                <a:schemeClr val="dk1"/>
              </a:buClr>
              <a:buSzPts val="1800"/>
              <a:buFont typeface="Arial"/>
              <a:buChar char="•"/>
            </a:pPr>
            <a:r>
              <a:rPr lang="en-US" sz="1800" b="1"/>
              <a:t>cds bind -2 mydest:mydest-key</a:t>
            </a:r>
            <a:endParaRPr sz="1800" b="1"/>
          </a:p>
          <a:p>
            <a:pPr marL="285750" lvl="0" indent="-285750" algn="l" rtl="0">
              <a:spcBef>
                <a:spcPts val="360"/>
              </a:spcBef>
              <a:spcAft>
                <a:spcPts val="0"/>
              </a:spcAft>
              <a:buClr>
                <a:schemeClr val="dk1"/>
              </a:buClr>
              <a:buSzPts val="1800"/>
              <a:buFont typeface="Arial"/>
              <a:buChar char="•"/>
            </a:pPr>
            <a:r>
              <a:rPr lang="en-US" sz="1800" b="1"/>
              <a:t>cds watch --profile hybrid</a:t>
            </a:r>
            <a:endParaRPr/>
          </a:p>
          <a:p>
            <a:pPr marL="285750" lvl="0" indent="-285750" algn="l" rtl="0">
              <a:spcBef>
                <a:spcPts val="360"/>
              </a:spcBef>
              <a:spcAft>
                <a:spcPts val="0"/>
              </a:spcAft>
              <a:buClr>
                <a:schemeClr val="dk1"/>
              </a:buClr>
              <a:buSzPts val="1800"/>
              <a:buFont typeface="Arial"/>
              <a:buChar char="•"/>
            </a:pPr>
            <a:r>
              <a:rPr lang="en-US" sz="1800"/>
              <a:t>The above process ensure that our destination is healthy. </a:t>
            </a:r>
            <a:endParaRPr/>
          </a:p>
          <a:p>
            <a:pPr marL="285750" lvl="0" indent="-285750" algn="l" rtl="0">
              <a:spcBef>
                <a:spcPts val="360"/>
              </a:spcBef>
              <a:spcAft>
                <a:spcPts val="0"/>
              </a:spcAft>
              <a:buClr>
                <a:schemeClr val="dk1"/>
              </a:buClr>
              <a:buSzPts val="1800"/>
              <a:buFont typeface="Arial"/>
              <a:buChar char="•"/>
            </a:pPr>
            <a:r>
              <a:rPr lang="en-US" sz="1800"/>
              <a:t>When we deploy app, the destination server will also be created automatically, using mta.yaml. So when app react to cloud dev, qlt and prod, the destination service will auto create like xsuaa service.</a:t>
            </a:r>
            <a:endParaRPr/>
          </a:p>
          <a:p>
            <a:pPr marL="285750" lvl="0" indent="-285750" algn="l" rtl="0">
              <a:spcBef>
                <a:spcPts val="360"/>
              </a:spcBef>
              <a:spcAft>
                <a:spcPts val="0"/>
              </a:spcAft>
              <a:buClr>
                <a:schemeClr val="dk1"/>
              </a:buClr>
              <a:buSzPts val="1800"/>
              <a:buFont typeface="Arial"/>
              <a:buChar char="•"/>
            </a:pPr>
            <a:r>
              <a:rPr lang="en-US" sz="1800"/>
              <a:t>We added following support – </a:t>
            </a:r>
            <a:r>
              <a:rPr lang="en-US" sz="1800" b="1"/>
              <a:t>cds add hana, cds add xsuaa, cds add approuter, cds add mta</a:t>
            </a:r>
            <a:endParaRPr sz="1800" b="1"/>
          </a:p>
          <a:p>
            <a:pPr marL="285750" lvl="0" indent="-285750" algn="l" rtl="0">
              <a:spcBef>
                <a:spcPts val="360"/>
              </a:spcBef>
              <a:spcAft>
                <a:spcPts val="0"/>
              </a:spcAft>
              <a:buClr>
                <a:schemeClr val="dk1"/>
              </a:buClr>
              <a:buSzPts val="1800"/>
              <a:buFont typeface="Arial"/>
              <a:buChar char="•"/>
            </a:pPr>
            <a:r>
              <a:rPr lang="en-US" sz="1800"/>
              <a:t>Added boilerplate code in xs-security.json fole</a:t>
            </a:r>
            <a:endParaRPr sz="1800"/>
          </a:p>
          <a:p>
            <a:pPr marL="285750" lvl="0" indent="-285750" algn="l" rtl="0">
              <a:spcBef>
                <a:spcPts val="360"/>
              </a:spcBef>
              <a:spcAft>
                <a:spcPts val="0"/>
              </a:spcAft>
              <a:buClr>
                <a:schemeClr val="dk1"/>
              </a:buClr>
              <a:buSzPts val="1800"/>
              <a:buFont typeface="Arial"/>
              <a:buChar char="•"/>
            </a:pPr>
            <a:r>
              <a:rPr lang="en-US" sz="1800" b="1"/>
              <a:t>npm install, mbt build, cd mta_archieves, cf deploy &lt;MTAR Address&gt;</a:t>
            </a:r>
            <a:endParaRPr/>
          </a:p>
          <a:p>
            <a:pPr marL="0" lvl="0" indent="0" algn="l" rtl="0">
              <a:spcBef>
                <a:spcPts val="360"/>
              </a:spcBef>
              <a:spcAft>
                <a:spcPts val="0"/>
              </a:spcAft>
              <a:buClr>
                <a:schemeClr val="dk1"/>
              </a:buClr>
              <a:buSzPts val="1800"/>
              <a:buNone/>
            </a:pPr>
            <a:endParaRPr sz="180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2944"/>
        <p:cNvGrpSpPr/>
        <p:nvPr/>
      </p:nvGrpSpPr>
      <p:grpSpPr>
        <a:xfrm>
          <a:off x="0" y="0"/>
          <a:ext cx="0" cy="0"/>
          <a:chOff x="0" y="0"/>
          <a:chExt cx="0" cy="0"/>
        </a:xfrm>
      </p:grpSpPr>
      <p:sp>
        <p:nvSpPr>
          <p:cNvPr id="2945" name="Google Shape;2945;p204"/>
          <p:cNvSpPr txBox="1">
            <a:spLocks noGrp="1"/>
          </p:cNvSpPr>
          <p:nvPr>
            <p:ph type="title"/>
          </p:nvPr>
        </p:nvSpPr>
        <p:spPr>
          <a:xfrm>
            <a:off x="345105" y="0"/>
            <a:ext cx="9733444" cy="711081"/>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chemeClr val="accent6"/>
              </a:buClr>
              <a:buSzPts val="3600"/>
              <a:buFont typeface="Corben"/>
              <a:buNone/>
            </a:pPr>
            <a:r>
              <a:rPr lang="en-US"/>
              <a:t>External API using CAP</a:t>
            </a:r>
            <a:endParaRPr/>
          </a:p>
        </p:txBody>
      </p:sp>
      <p:sp>
        <p:nvSpPr>
          <p:cNvPr id="2946" name="Google Shape;2946;p204"/>
          <p:cNvSpPr txBox="1">
            <a:spLocks noGrp="1"/>
          </p:cNvSpPr>
          <p:nvPr>
            <p:ph type="body" idx="1"/>
          </p:nvPr>
        </p:nvSpPr>
        <p:spPr>
          <a:xfrm>
            <a:off x="368762" y="836712"/>
            <a:ext cx="11342274" cy="5616624"/>
          </a:xfrm>
          <a:prstGeom prst="rect">
            <a:avLst/>
          </a:prstGeom>
          <a:noFill/>
          <a:ln>
            <a:noFill/>
          </a:ln>
        </p:spPr>
        <p:txBody>
          <a:bodyPr spcFirstLastPara="1" wrap="square" lIns="0" tIns="60925" rIns="0" bIns="60925" anchor="t" anchorCtr="0">
            <a:normAutofit/>
          </a:bodyPr>
          <a:lstStyle/>
          <a:p>
            <a:pPr marL="285750" lvl="0" indent="-285750" algn="l" rtl="0">
              <a:spcBef>
                <a:spcPts val="0"/>
              </a:spcBef>
              <a:spcAft>
                <a:spcPts val="0"/>
              </a:spcAft>
              <a:buClr>
                <a:schemeClr val="dk1"/>
              </a:buClr>
              <a:buSzPts val="1800"/>
              <a:buFont typeface="Arial"/>
              <a:buChar char="•"/>
            </a:pPr>
            <a:r>
              <a:rPr lang="en-US" sz="1800"/>
              <a:t>Download the metadata of external API - </a:t>
            </a:r>
            <a:r>
              <a:rPr lang="en-US" sz="1800" u="sng">
                <a:solidFill>
                  <a:schemeClr val="hlink"/>
                </a:solidFill>
                <a:hlinkClick r:id="rId3"/>
              </a:rPr>
              <a:t>https://services.odata.org/Experimental/OData/OData.svc/$metadata</a:t>
            </a:r>
            <a:endParaRPr sz="1800"/>
          </a:p>
          <a:p>
            <a:pPr marL="285750" lvl="0" indent="-285750" algn="l" rtl="0">
              <a:spcBef>
                <a:spcPts val="360"/>
              </a:spcBef>
              <a:spcAft>
                <a:spcPts val="0"/>
              </a:spcAft>
              <a:buClr>
                <a:schemeClr val="dk1"/>
              </a:buClr>
              <a:buSzPts val="1800"/>
              <a:buFont typeface="Arial"/>
              <a:buChar char="•"/>
            </a:pPr>
            <a:r>
              <a:rPr lang="en-US" sz="1800"/>
              <a:t>Upload the edmx file to our CAP project in external folder</a:t>
            </a:r>
            <a:endParaRPr/>
          </a:p>
          <a:p>
            <a:pPr marL="285750" lvl="0" indent="-285750" algn="l" rtl="0">
              <a:spcBef>
                <a:spcPts val="360"/>
              </a:spcBef>
              <a:spcAft>
                <a:spcPts val="0"/>
              </a:spcAft>
              <a:buClr>
                <a:schemeClr val="dk1"/>
              </a:buClr>
              <a:buSzPts val="1800"/>
              <a:buFont typeface="Arial"/>
              <a:buChar char="•"/>
            </a:pPr>
            <a:r>
              <a:rPr lang="en-US" sz="1800"/>
              <a:t>cds import to create csn</a:t>
            </a:r>
            <a:endParaRPr sz="1800"/>
          </a:p>
          <a:p>
            <a:pPr marL="285750" lvl="0" indent="-171450" algn="l" rtl="0">
              <a:spcBef>
                <a:spcPts val="360"/>
              </a:spcBef>
              <a:spcAft>
                <a:spcPts val="0"/>
              </a:spcAft>
              <a:buClr>
                <a:schemeClr val="dk1"/>
              </a:buClr>
              <a:buSzPts val="1800"/>
              <a:buFont typeface="Arial"/>
              <a:buNone/>
            </a:pPr>
            <a:endParaRPr sz="180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2971"/>
        <p:cNvGrpSpPr/>
        <p:nvPr/>
      </p:nvGrpSpPr>
      <p:grpSpPr>
        <a:xfrm>
          <a:off x="0" y="0"/>
          <a:ext cx="0" cy="0"/>
          <a:chOff x="0" y="0"/>
          <a:chExt cx="0" cy="0"/>
        </a:xfrm>
      </p:grpSpPr>
      <p:sp>
        <p:nvSpPr>
          <p:cNvPr id="2972" name="Google Shape;2972;p208"/>
          <p:cNvSpPr txBox="1"/>
          <p:nvPr/>
        </p:nvSpPr>
        <p:spPr>
          <a:xfrm>
            <a:off x="286970" y="241153"/>
            <a:ext cx="10969943" cy="7110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22C60"/>
              </a:buClr>
              <a:buSzPts val="3600"/>
              <a:buFont typeface="Quattrocento Sans"/>
              <a:buNone/>
            </a:pPr>
            <a:r>
              <a:rPr lang="en-US" sz="3600" b="0" i="0" u="none" strike="noStrike" cap="none">
                <a:solidFill>
                  <a:srgbClr val="222C60"/>
                </a:solidFill>
                <a:latin typeface="Quattrocento Sans"/>
                <a:ea typeface="Quattrocento Sans"/>
                <a:cs typeface="Quattrocento Sans"/>
                <a:sym typeface="Quattrocento Sans"/>
              </a:rPr>
              <a:t>FAQs</a:t>
            </a:r>
            <a:endParaRPr/>
          </a:p>
        </p:txBody>
      </p:sp>
      <p:sp>
        <p:nvSpPr>
          <p:cNvPr id="2973" name="Google Shape;2973;p208"/>
          <p:cNvSpPr txBox="1"/>
          <p:nvPr/>
        </p:nvSpPr>
        <p:spPr>
          <a:xfrm>
            <a:off x="3934172" y="173462"/>
            <a:ext cx="475078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22C60"/>
              </a:buClr>
              <a:buSzPts val="2800"/>
              <a:buFont typeface="Corben"/>
              <a:buNone/>
            </a:pPr>
            <a:r>
              <a:rPr lang="en-US" sz="2800" b="1" i="0" u="none" strike="noStrike" cap="none">
                <a:solidFill>
                  <a:srgbClr val="222C60"/>
                </a:solidFill>
                <a:latin typeface="Corben"/>
                <a:ea typeface="Corben"/>
                <a:cs typeface="Corben"/>
                <a:sym typeface="Corben"/>
              </a:rPr>
              <a:t>www.anubhavtrainings.com</a:t>
            </a:r>
            <a:endParaRPr sz="2800" b="1" i="0" u="none" strike="noStrike" cap="none">
              <a:solidFill>
                <a:srgbClr val="222C60"/>
              </a:solidFill>
              <a:latin typeface="Corben"/>
              <a:ea typeface="Corben"/>
              <a:cs typeface="Corben"/>
              <a:sym typeface="Corben"/>
            </a:endParaRPr>
          </a:p>
        </p:txBody>
      </p:sp>
      <p:sp>
        <p:nvSpPr>
          <p:cNvPr id="2974" name="Google Shape;2974;p208"/>
          <p:cNvSpPr/>
          <p:nvPr/>
        </p:nvSpPr>
        <p:spPr>
          <a:xfrm>
            <a:off x="-32450" y="6492874"/>
            <a:ext cx="588428" cy="365126"/>
          </a:xfrm>
          <a:prstGeom prst="rect">
            <a:avLst/>
          </a:prstGeom>
          <a:solidFill>
            <a:srgbClr val="1A224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Quattrocento Sans"/>
              <a:buNone/>
            </a:pPr>
            <a:r>
              <a:rPr lang="en-US" sz="1200" b="0" i="0" u="none" strike="noStrike" cap="none">
                <a:solidFill>
                  <a:srgbClr val="FFFFFF"/>
                </a:solidFill>
                <a:latin typeface="Quattrocento Sans"/>
                <a:ea typeface="Quattrocento Sans"/>
                <a:cs typeface="Quattrocento Sans"/>
                <a:sym typeface="Quattrocento Sans"/>
              </a:rPr>
              <a:t>9</a:t>
            </a:r>
            <a:endParaRPr sz="1200" b="0" i="0" u="none" strike="noStrike" cap="none">
              <a:solidFill>
                <a:srgbClr val="FFFFFF"/>
              </a:solidFill>
              <a:latin typeface="Quattrocento Sans"/>
              <a:ea typeface="Quattrocento Sans"/>
              <a:cs typeface="Quattrocento Sans"/>
              <a:sym typeface="Quattrocento Sans"/>
            </a:endParaRPr>
          </a:p>
        </p:txBody>
      </p:sp>
      <p:pic>
        <p:nvPicPr>
          <p:cNvPr id="2975" name="Google Shape;2975;p208"/>
          <p:cNvPicPr preferRelativeResize="0"/>
          <p:nvPr/>
        </p:nvPicPr>
        <p:blipFill rotWithShape="1">
          <a:blip r:embed="rId3">
            <a:alphaModFix/>
          </a:blip>
          <a:srcRect/>
          <a:stretch/>
        </p:blipFill>
        <p:spPr>
          <a:xfrm>
            <a:off x="11567020" y="105140"/>
            <a:ext cx="497673" cy="491554"/>
          </a:xfrm>
          <a:prstGeom prst="rect">
            <a:avLst/>
          </a:prstGeom>
          <a:noFill/>
          <a:ln>
            <a:noFill/>
          </a:ln>
        </p:spPr>
      </p:pic>
      <p:sp>
        <p:nvSpPr>
          <p:cNvPr id="2976" name="Google Shape;2976;p208"/>
          <p:cNvSpPr/>
          <p:nvPr/>
        </p:nvSpPr>
        <p:spPr>
          <a:xfrm>
            <a:off x="389374" y="1155162"/>
            <a:ext cx="11410076" cy="5082160"/>
          </a:xfrm>
          <a:prstGeom prst="rect">
            <a:avLst/>
          </a:prstGeom>
          <a:solidFill>
            <a:srgbClr val="F2F2F2"/>
          </a:solidFill>
          <a:ln w="25400" cap="flat" cmpd="sng">
            <a:solidFill>
              <a:srgbClr val="289090"/>
            </a:solidFill>
            <a:prstDash val="solid"/>
            <a:round/>
            <a:headEnd type="none" w="sm" len="sm"/>
            <a:tailEnd type="none" w="sm" len="sm"/>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18203C"/>
              </a:buClr>
              <a:buSzPts val="1600"/>
              <a:buFont typeface="Arial"/>
              <a:buNone/>
            </a:pPr>
            <a:r>
              <a:rPr lang="en-US" sz="1600" b="1" i="0" u="none" strike="noStrike" cap="none">
                <a:solidFill>
                  <a:srgbClr val="18203C"/>
                </a:solidFill>
                <a:latin typeface="Arial"/>
                <a:ea typeface="Arial"/>
                <a:cs typeface="Arial"/>
                <a:sym typeface="Arial"/>
              </a:rPr>
              <a:t>Do I need to have prior knowledge of SAP BTP or Cloud Foundry?</a:t>
            </a:r>
            <a:endParaRPr sz="1600" b="0" i="0" u="none" strike="noStrike" cap="none">
              <a:solidFill>
                <a:srgbClr val="18203C"/>
              </a:solidFill>
              <a:latin typeface="Arial"/>
              <a:ea typeface="Arial"/>
              <a:cs typeface="Arial"/>
              <a:sym typeface="Arial"/>
            </a:endParaRPr>
          </a:p>
          <a:p>
            <a:pPr marL="0" marR="0" lvl="0" indent="0" algn="just"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No, We will cover the Cloud Foundry and BTP foundation in this course for you. </a:t>
            </a:r>
            <a:endParaRPr/>
          </a:p>
          <a:p>
            <a:pPr marL="0" marR="0" lvl="0" indent="0" algn="just" rtl="0">
              <a:lnSpc>
                <a:spcPct val="100000"/>
              </a:lnSpc>
              <a:spcBef>
                <a:spcPts val="0"/>
              </a:spcBef>
              <a:spcAft>
                <a:spcPts val="0"/>
              </a:spcAft>
              <a:buClr>
                <a:srgbClr val="FFFFFF"/>
              </a:buClr>
              <a:buSzPts val="1600"/>
              <a:buFont typeface="Arial"/>
              <a:buNone/>
            </a:pPr>
            <a:br>
              <a:rPr lang="en-US" sz="1600" b="0" i="0" u="none" strike="noStrike" cap="none">
                <a:solidFill>
                  <a:srgbClr val="FFFFFF"/>
                </a:solidFill>
                <a:latin typeface="Arial"/>
                <a:ea typeface="Arial"/>
                <a:cs typeface="Arial"/>
                <a:sym typeface="Arial"/>
              </a:rPr>
            </a:br>
            <a:r>
              <a:rPr lang="en-US" sz="1600" b="1" i="0" u="none" strike="noStrike" cap="none">
                <a:solidFill>
                  <a:srgbClr val="18203C"/>
                </a:solidFill>
                <a:latin typeface="Arial"/>
                <a:ea typeface="Arial"/>
                <a:cs typeface="Arial"/>
                <a:sym typeface="Arial"/>
              </a:rPr>
              <a:t>How much Node JS knowledge is required to learn BTP Course?</a:t>
            </a:r>
            <a:endParaRPr sz="1600" b="0" i="0" u="none" strike="noStrike" cap="none">
              <a:solidFill>
                <a:srgbClr val="18203C"/>
              </a:solidFill>
              <a:latin typeface="Arial"/>
              <a:ea typeface="Arial"/>
              <a:cs typeface="Arial"/>
              <a:sym typeface="Arial"/>
            </a:endParaRPr>
          </a:p>
          <a:p>
            <a:pPr marL="0" marR="0" lvl="0" indent="0" algn="just"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Only Basic programming skills are required, We will cover basics of Node JS for you along with Tools.</a:t>
            </a:r>
            <a:endParaRPr/>
          </a:p>
          <a:p>
            <a:pPr marL="0" marR="0" lvl="0" indent="0" algn="just" rtl="0">
              <a:lnSpc>
                <a:spcPct val="100000"/>
              </a:lnSpc>
              <a:spcBef>
                <a:spcPts val="0"/>
              </a:spcBef>
              <a:spcAft>
                <a:spcPts val="0"/>
              </a:spcAft>
              <a:buClr>
                <a:srgbClr val="184961"/>
              </a:buClr>
              <a:buSzPts val="1600"/>
              <a:buFont typeface="Arial"/>
              <a:buNone/>
            </a:pPr>
            <a:br>
              <a:rPr lang="en-US" sz="1600" b="1" i="0" u="none" strike="noStrike" cap="none">
                <a:solidFill>
                  <a:srgbClr val="184961"/>
                </a:solidFill>
                <a:latin typeface="Arial"/>
                <a:ea typeface="Arial"/>
                <a:cs typeface="Arial"/>
                <a:sym typeface="Arial"/>
              </a:rPr>
            </a:br>
            <a:r>
              <a:rPr lang="en-US" sz="1600" b="1" i="0" u="none" strike="noStrike" cap="none">
                <a:solidFill>
                  <a:srgbClr val="18203C"/>
                </a:solidFill>
                <a:latin typeface="Arial"/>
                <a:ea typeface="Arial"/>
                <a:cs typeface="Arial"/>
                <a:sym typeface="Arial"/>
              </a:rPr>
              <a:t>I am an ABAP Consultant; Can I learn SAP BTP ?</a:t>
            </a:r>
            <a:endParaRPr sz="1600" b="0" i="0" u="none" strike="noStrike" cap="none">
              <a:solidFill>
                <a:srgbClr val="18203C"/>
              </a:solidFill>
              <a:latin typeface="Arial"/>
              <a:ea typeface="Arial"/>
              <a:cs typeface="Arial"/>
              <a:sym typeface="Arial"/>
            </a:endParaRPr>
          </a:p>
          <a:p>
            <a:pPr marL="0" marR="0" lvl="0" indent="0" algn="just"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Yes, you must, because for all the future cloud projects, we need the knowledge of SAP BTP – Development Track</a:t>
            </a:r>
            <a:endParaRPr/>
          </a:p>
          <a:p>
            <a:pPr marL="0" marR="0" lvl="0" indent="0" algn="just" rtl="0">
              <a:lnSpc>
                <a:spcPct val="100000"/>
              </a:lnSpc>
              <a:spcBef>
                <a:spcPts val="0"/>
              </a:spcBef>
              <a:spcAft>
                <a:spcPts val="0"/>
              </a:spcAft>
              <a:buClr>
                <a:srgbClr val="0A1829"/>
              </a:buClr>
              <a:buSzPts val="1600"/>
              <a:buFont typeface="Arial"/>
              <a:buNone/>
            </a:pPr>
            <a:br>
              <a:rPr lang="en-US" sz="1600" b="0" i="0" u="none" strike="noStrike" cap="none">
                <a:solidFill>
                  <a:srgbClr val="0A1829"/>
                </a:solidFill>
                <a:latin typeface="Arial"/>
                <a:ea typeface="Arial"/>
                <a:cs typeface="Arial"/>
                <a:sym typeface="Arial"/>
              </a:rPr>
            </a:br>
            <a:r>
              <a:rPr lang="en-US" sz="1600" b="1" i="0" u="none" strike="noStrike" cap="none">
                <a:solidFill>
                  <a:srgbClr val="18203C"/>
                </a:solidFill>
                <a:latin typeface="Arial"/>
                <a:ea typeface="Arial"/>
                <a:cs typeface="Arial"/>
                <a:sym typeface="Arial"/>
              </a:rPr>
              <a:t>How much deep knowledge of BAS is required?</a:t>
            </a:r>
            <a:endParaRPr sz="1600" b="0" i="0" u="none" strike="noStrike" cap="none">
              <a:solidFill>
                <a:srgbClr val="18203C"/>
              </a:solidFill>
              <a:latin typeface="Arial"/>
              <a:ea typeface="Arial"/>
              <a:cs typeface="Arial"/>
              <a:sym typeface="Arial"/>
            </a:endParaRPr>
          </a:p>
          <a:p>
            <a:pPr marL="0" marR="0" lvl="0" indent="0" algn="just"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No prior experience is required, we will cover setup and administration of VS Code and BAS tool in the course.</a:t>
            </a:r>
            <a:endParaRPr/>
          </a:p>
          <a:p>
            <a:pPr marL="0" marR="0" lvl="0" indent="0" algn="just" rtl="0">
              <a:lnSpc>
                <a:spcPct val="100000"/>
              </a:lnSpc>
              <a:spcBef>
                <a:spcPts val="0"/>
              </a:spcBef>
              <a:spcAft>
                <a:spcPts val="0"/>
              </a:spcAft>
              <a:buClr>
                <a:srgbClr val="0A1829"/>
              </a:buClr>
              <a:buSzPts val="1600"/>
              <a:buFont typeface="Arial"/>
              <a:buNone/>
            </a:pPr>
            <a:br>
              <a:rPr lang="en-US" sz="1600" b="0" i="0" u="none" strike="noStrike" cap="none">
                <a:solidFill>
                  <a:srgbClr val="0A1829"/>
                </a:solidFill>
                <a:latin typeface="Arial"/>
                <a:ea typeface="Arial"/>
                <a:cs typeface="Arial"/>
                <a:sym typeface="Arial"/>
              </a:rPr>
            </a:br>
            <a:r>
              <a:rPr lang="en-US" sz="1600" b="1" i="0" u="none" strike="noStrike" cap="none">
                <a:solidFill>
                  <a:srgbClr val="18203C"/>
                </a:solidFill>
                <a:latin typeface="Arial"/>
                <a:ea typeface="Arial"/>
                <a:cs typeface="Arial"/>
                <a:sym typeface="Arial"/>
              </a:rPr>
              <a:t>What about server access?</a:t>
            </a:r>
            <a:endParaRPr sz="1600" b="0" i="0" u="none" strike="noStrike" cap="none">
              <a:solidFill>
                <a:srgbClr val="18203C"/>
              </a:solidFill>
              <a:latin typeface="Arial"/>
              <a:ea typeface="Arial"/>
              <a:cs typeface="Arial"/>
              <a:sym typeface="Arial"/>
            </a:endParaRPr>
          </a:p>
          <a:p>
            <a:pPr marL="0" marR="0" lvl="0" indent="0" algn="just"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The server is Free from SAP for 90 Days, We will use SAP BTP Trial Account for all the activities along with tools like Cloud Foundry CLI, VS Code, MBT which are free. For Deployment we will use productive Accounts.</a:t>
            </a:r>
            <a:endParaRPr/>
          </a:p>
          <a:p>
            <a:pPr marL="0" marR="0" lvl="0" indent="0" algn="just" rtl="0">
              <a:lnSpc>
                <a:spcPct val="100000"/>
              </a:lnSpc>
              <a:spcBef>
                <a:spcPts val="0"/>
              </a:spcBef>
              <a:spcAft>
                <a:spcPts val="0"/>
              </a:spcAft>
              <a:buClr>
                <a:schemeClr val="lt1"/>
              </a:buClr>
              <a:buSzPts val="1600"/>
              <a:buFont typeface="Quattrocento Sans"/>
              <a:buNone/>
            </a:pPr>
            <a:endParaRPr sz="1600" b="0" i="0" u="none" strike="noStrike" cap="none">
              <a:solidFill>
                <a:srgbClr val="0A1829"/>
              </a:solidFill>
              <a:latin typeface="Arial"/>
              <a:ea typeface="Arial"/>
              <a:cs typeface="Arial"/>
              <a:sym typeface="Arial"/>
            </a:endParaRPr>
          </a:p>
          <a:p>
            <a:pPr marL="0" marR="0" lvl="0" indent="0" algn="just" rtl="0">
              <a:lnSpc>
                <a:spcPct val="100000"/>
              </a:lnSpc>
              <a:spcBef>
                <a:spcPts val="0"/>
              </a:spcBef>
              <a:spcAft>
                <a:spcPts val="0"/>
              </a:spcAft>
              <a:buClr>
                <a:srgbClr val="0A1829"/>
              </a:buClr>
              <a:buSzPts val="1600"/>
              <a:buFont typeface="Arial"/>
              <a:buNone/>
            </a:pPr>
            <a:r>
              <a:rPr lang="en-US" sz="1600" b="1" i="0" u="none" strike="noStrike" cap="none">
                <a:solidFill>
                  <a:srgbClr val="0A1829"/>
                </a:solidFill>
                <a:latin typeface="Arial"/>
                <a:ea typeface="Arial"/>
                <a:cs typeface="Arial"/>
                <a:sym typeface="Arial"/>
              </a:rPr>
              <a:t>Would you cover Clean-core and Side by Side Extension scenario in BTP training?</a:t>
            </a:r>
            <a:endParaRPr/>
          </a:p>
          <a:p>
            <a:pPr marL="0" marR="0" lvl="0" indent="0" algn="just"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Yes, we will use SAP standard Sales order API from API HUB to build side-by-side application in BTP.</a:t>
            </a:r>
            <a:endParaRPr/>
          </a:p>
          <a:p>
            <a:pPr marL="0" marR="0" lvl="0" indent="0" algn="just" rtl="0">
              <a:lnSpc>
                <a:spcPct val="100000"/>
              </a:lnSpc>
              <a:spcBef>
                <a:spcPts val="0"/>
              </a:spcBef>
              <a:spcAft>
                <a:spcPts val="0"/>
              </a:spcAft>
              <a:buClr>
                <a:schemeClr val="lt1"/>
              </a:buClr>
              <a:buSzPts val="1600"/>
              <a:buFont typeface="Quattrocento Sans"/>
              <a:buNone/>
            </a:pPr>
            <a:endParaRPr sz="1600" b="1" i="0" u="none" strike="noStrike" cap="none">
              <a:solidFill>
                <a:srgbClr val="0A1829"/>
              </a:solidFill>
              <a:latin typeface="Arial"/>
              <a:ea typeface="Arial"/>
              <a:cs typeface="Arial"/>
              <a:sym typeface="Arial"/>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2980"/>
        <p:cNvGrpSpPr/>
        <p:nvPr/>
      </p:nvGrpSpPr>
      <p:grpSpPr>
        <a:xfrm>
          <a:off x="0" y="0"/>
          <a:ext cx="0" cy="0"/>
          <a:chOff x="0" y="0"/>
          <a:chExt cx="0" cy="0"/>
        </a:xfrm>
      </p:grpSpPr>
      <p:sp>
        <p:nvSpPr>
          <p:cNvPr id="2981" name="Google Shape;2981;p209"/>
          <p:cNvSpPr txBox="1"/>
          <p:nvPr/>
        </p:nvSpPr>
        <p:spPr>
          <a:xfrm>
            <a:off x="286970" y="241153"/>
            <a:ext cx="10969943" cy="7110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22C60"/>
              </a:buClr>
              <a:buSzPts val="3600"/>
              <a:buFont typeface="Quattrocento Sans"/>
              <a:buNone/>
            </a:pPr>
            <a:r>
              <a:rPr lang="en-US" sz="3600" b="0" i="0" u="none" strike="noStrike" cap="none">
                <a:solidFill>
                  <a:srgbClr val="222C60"/>
                </a:solidFill>
                <a:latin typeface="Quattrocento Sans"/>
                <a:ea typeface="Quattrocento Sans"/>
                <a:cs typeface="Quattrocento Sans"/>
                <a:sym typeface="Quattrocento Sans"/>
              </a:rPr>
              <a:t>FAQs</a:t>
            </a:r>
            <a:endParaRPr/>
          </a:p>
        </p:txBody>
      </p:sp>
      <p:sp>
        <p:nvSpPr>
          <p:cNvPr id="2982" name="Google Shape;2982;p209"/>
          <p:cNvSpPr txBox="1"/>
          <p:nvPr/>
        </p:nvSpPr>
        <p:spPr>
          <a:xfrm>
            <a:off x="3934172" y="173462"/>
            <a:ext cx="475078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22C60"/>
              </a:buClr>
              <a:buSzPts val="2800"/>
              <a:buFont typeface="Corben"/>
              <a:buNone/>
            </a:pPr>
            <a:r>
              <a:rPr lang="en-US" sz="2800" b="1" i="0" u="none" strike="noStrike" cap="none">
                <a:solidFill>
                  <a:srgbClr val="222C60"/>
                </a:solidFill>
                <a:latin typeface="Corben"/>
                <a:ea typeface="Corben"/>
                <a:cs typeface="Corben"/>
                <a:sym typeface="Corben"/>
              </a:rPr>
              <a:t>www.anubhavtrainings.com</a:t>
            </a:r>
            <a:endParaRPr sz="2800" b="1" i="0" u="none" strike="noStrike" cap="none">
              <a:solidFill>
                <a:srgbClr val="222C60"/>
              </a:solidFill>
              <a:latin typeface="Corben"/>
              <a:ea typeface="Corben"/>
              <a:cs typeface="Corben"/>
              <a:sym typeface="Corben"/>
            </a:endParaRPr>
          </a:p>
        </p:txBody>
      </p:sp>
      <p:sp>
        <p:nvSpPr>
          <p:cNvPr id="2983" name="Google Shape;2983;p209"/>
          <p:cNvSpPr/>
          <p:nvPr/>
        </p:nvSpPr>
        <p:spPr>
          <a:xfrm>
            <a:off x="-32450" y="6492874"/>
            <a:ext cx="588428" cy="365126"/>
          </a:xfrm>
          <a:prstGeom prst="rect">
            <a:avLst/>
          </a:prstGeom>
          <a:solidFill>
            <a:srgbClr val="1A224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00"/>
              <a:buFont typeface="Quattrocento Sans"/>
              <a:buNone/>
            </a:pPr>
            <a:r>
              <a:rPr lang="en-US" sz="1100" b="0" i="0" u="none" strike="noStrike" cap="none">
                <a:solidFill>
                  <a:srgbClr val="FFFFFF"/>
                </a:solidFill>
                <a:latin typeface="Quattrocento Sans"/>
                <a:ea typeface="Quattrocento Sans"/>
                <a:cs typeface="Quattrocento Sans"/>
                <a:sym typeface="Quattrocento Sans"/>
              </a:rPr>
              <a:t>10</a:t>
            </a:r>
            <a:endParaRPr sz="1100" b="0" i="0" u="none" strike="noStrike" cap="none">
              <a:solidFill>
                <a:srgbClr val="FFFFFF"/>
              </a:solidFill>
              <a:latin typeface="Quattrocento Sans"/>
              <a:ea typeface="Quattrocento Sans"/>
              <a:cs typeface="Quattrocento Sans"/>
              <a:sym typeface="Quattrocento Sans"/>
            </a:endParaRPr>
          </a:p>
        </p:txBody>
      </p:sp>
      <p:pic>
        <p:nvPicPr>
          <p:cNvPr id="2984" name="Google Shape;2984;p209"/>
          <p:cNvPicPr preferRelativeResize="0"/>
          <p:nvPr/>
        </p:nvPicPr>
        <p:blipFill rotWithShape="1">
          <a:blip r:embed="rId3">
            <a:alphaModFix/>
          </a:blip>
          <a:srcRect/>
          <a:stretch/>
        </p:blipFill>
        <p:spPr>
          <a:xfrm>
            <a:off x="11567020" y="105140"/>
            <a:ext cx="497673" cy="491554"/>
          </a:xfrm>
          <a:prstGeom prst="rect">
            <a:avLst/>
          </a:prstGeom>
          <a:noFill/>
          <a:ln>
            <a:noFill/>
          </a:ln>
        </p:spPr>
      </p:pic>
      <p:sp>
        <p:nvSpPr>
          <p:cNvPr id="2985" name="Google Shape;2985;p209"/>
          <p:cNvSpPr/>
          <p:nvPr/>
        </p:nvSpPr>
        <p:spPr>
          <a:xfrm>
            <a:off x="389374" y="1121878"/>
            <a:ext cx="11410076" cy="4983593"/>
          </a:xfrm>
          <a:prstGeom prst="rect">
            <a:avLst/>
          </a:prstGeom>
          <a:solidFill>
            <a:srgbClr val="F2F2F2"/>
          </a:solidFill>
          <a:ln w="25400" cap="flat" cmpd="sng">
            <a:solidFill>
              <a:srgbClr val="28909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8203C"/>
              </a:buClr>
              <a:buSzPts val="1600"/>
              <a:buFont typeface="Arial"/>
              <a:buNone/>
            </a:pPr>
            <a:r>
              <a:rPr lang="en-US" sz="1600" b="1" i="0" u="none" strike="noStrike" cap="none">
                <a:solidFill>
                  <a:srgbClr val="18203C"/>
                </a:solidFill>
                <a:latin typeface="Arial"/>
                <a:ea typeface="Arial"/>
                <a:cs typeface="Arial"/>
                <a:sym typeface="Arial"/>
              </a:rPr>
              <a:t>Do we also cover Cloud Connector and Cloud Application Security in the course?</a:t>
            </a:r>
            <a:endParaRPr sz="1600" b="0" i="0" u="none" strike="noStrike" cap="none">
              <a:solidFill>
                <a:srgbClr val="18203C"/>
              </a:solidFill>
              <a:latin typeface="Arial"/>
              <a:ea typeface="Arial"/>
              <a:cs typeface="Arial"/>
              <a:sym typeface="Arial"/>
            </a:endParaRPr>
          </a:p>
          <a:p>
            <a:pPr marL="0" marR="0" lvl="0" indent="0" algn="l"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Yes, we will cover both topics including application security like XSUAA, Managed and App Router, HTML Repos etc. We will cover concepts of Backing services, service keys and sap BTP cloud offerings.</a:t>
            </a:r>
            <a:endParaRPr/>
          </a:p>
          <a:p>
            <a:pPr marL="0" marR="0" lvl="0" indent="0" algn="l" rtl="0">
              <a:lnSpc>
                <a:spcPct val="100000"/>
              </a:lnSpc>
              <a:spcBef>
                <a:spcPts val="0"/>
              </a:spcBef>
              <a:spcAft>
                <a:spcPts val="0"/>
              </a:spcAft>
              <a:buClr>
                <a:srgbClr val="FFFFFF"/>
              </a:buClr>
              <a:buSzPts val="1600"/>
              <a:buFont typeface="Arial"/>
              <a:buNone/>
            </a:pPr>
            <a:br>
              <a:rPr lang="en-US" sz="1600" b="0" i="0" u="none" strike="noStrike" cap="none">
                <a:solidFill>
                  <a:srgbClr val="FFFFFF"/>
                </a:solidFill>
                <a:latin typeface="Arial"/>
                <a:ea typeface="Arial"/>
                <a:cs typeface="Arial"/>
                <a:sym typeface="Arial"/>
              </a:rPr>
            </a:br>
            <a:r>
              <a:rPr lang="en-US" sz="1600" b="1" i="0" u="none" strike="noStrike" cap="none">
                <a:solidFill>
                  <a:srgbClr val="18203C"/>
                </a:solidFill>
                <a:latin typeface="Arial"/>
                <a:ea typeface="Arial"/>
                <a:cs typeface="Arial"/>
                <a:sym typeface="Arial"/>
              </a:rPr>
              <a:t>How of this course do we spend time on CAPM?</a:t>
            </a:r>
            <a:endParaRPr sz="1600" b="0" i="0" u="none" strike="noStrike" cap="none">
              <a:solidFill>
                <a:srgbClr val="18203C"/>
              </a:solidFill>
              <a:latin typeface="Arial"/>
              <a:ea typeface="Arial"/>
              <a:cs typeface="Arial"/>
              <a:sym typeface="Arial"/>
            </a:endParaRPr>
          </a:p>
          <a:p>
            <a:pPr marL="0" marR="0" lvl="0" indent="0" algn="l"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We will spend almost 50% time on CAPM framework including basics of Node JS in the course. We will be using Node JS for CAP development.</a:t>
            </a:r>
            <a:endParaRPr/>
          </a:p>
          <a:p>
            <a:pPr marL="0" marR="0" lvl="0" indent="0" algn="l" rtl="0">
              <a:lnSpc>
                <a:spcPct val="100000"/>
              </a:lnSpc>
              <a:spcBef>
                <a:spcPts val="0"/>
              </a:spcBef>
              <a:spcAft>
                <a:spcPts val="0"/>
              </a:spcAft>
              <a:buClr>
                <a:srgbClr val="FFFFFF"/>
              </a:buClr>
              <a:buSzPts val="1600"/>
              <a:buFont typeface="Arial"/>
              <a:buNone/>
            </a:pPr>
            <a:br>
              <a:rPr lang="en-US" sz="1600" b="0" i="0" u="none" strike="noStrike" cap="none">
                <a:solidFill>
                  <a:srgbClr val="FFFFFF"/>
                </a:solidFill>
                <a:latin typeface="Arial"/>
                <a:ea typeface="Arial"/>
                <a:cs typeface="Arial"/>
                <a:sym typeface="Arial"/>
              </a:rPr>
            </a:br>
            <a:r>
              <a:rPr lang="en-US" sz="1600" b="1" i="0" u="none" strike="noStrike" cap="none">
                <a:solidFill>
                  <a:srgbClr val="18203C"/>
                </a:solidFill>
                <a:latin typeface="Arial"/>
                <a:ea typeface="Arial"/>
                <a:cs typeface="Arial"/>
                <a:sym typeface="Arial"/>
              </a:rPr>
              <a:t>Do I need prior OData Service experience?</a:t>
            </a:r>
            <a:endParaRPr sz="1600" b="0" i="0" u="none" strike="noStrike" cap="none">
              <a:solidFill>
                <a:srgbClr val="18203C"/>
              </a:solidFill>
              <a:latin typeface="Arial"/>
              <a:ea typeface="Arial"/>
              <a:cs typeface="Arial"/>
              <a:sym typeface="Arial"/>
            </a:endParaRPr>
          </a:p>
          <a:p>
            <a:pPr marL="0" marR="0" lvl="0" indent="0" algn="l"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No, we will provide one complimentary OData session</a:t>
            </a:r>
            <a:endParaRPr/>
          </a:p>
          <a:p>
            <a:pPr marL="0" marR="0" lvl="0" indent="0" algn="l" rtl="0">
              <a:lnSpc>
                <a:spcPct val="100000"/>
              </a:lnSpc>
              <a:spcBef>
                <a:spcPts val="0"/>
              </a:spcBef>
              <a:spcAft>
                <a:spcPts val="0"/>
              </a:spcAft>
              <a:buClr>
                <a:srgbClr val="FFFFFF"/>
              </a:buClr>
              <a:buSzPts val="1600"/>
              <a:buFont typeface="Arial"/>
              <a:buNone/>
            </a:pPr>
            <a:br>
              <a:rPr lang="en-US" sz="1600" b="0" i="0" u="none" strike="noStrike" cap="none">
                <a:solidFill>
                  <a:srgbClr val="FFFFFF"/>
                </a:solidFill>
                <a:latin typeface="Arial"/>
                <a:ea typeface="Arial"/>
                <a:cs typeface="Arial"/>
                <a:sym typeface="Arial"/>
              </a:rPr>
            </a:br>
            <a:r>
              <a:rPr lang="en-US" sz="1600" b="1" i="0" u="none" strike="noStrike" cap="none">
                <a:solidFill>
                  <a:srgbClr val="18203C"/>
                </a:solidFill>
                <a:latin typeface="Arial"/>
                <a:ea typeface="Arial"/>
                <a:cs typeface="Arial"/>
                <a:sym typeface="Arial"/>
              </a:rPr>
              <a:t>Can I also take the course in video mode as the times do not suit me?</a:t>
            </a:r>
            <a:endParaRPr sz="1600" b="0" i="0" u="none" strike="noStrike" cap="none">
              <a:solidFill>
                <a:srgbClr val="18203C"/>
              </a:solidFill>
              <a:latin typeface="Arial"/>
              <a:ea typeface="Arial"/>
              <a:cs typeface="Arial"/>
              <a:sym typeface="Arial"/>
            </a:endParaRPr>
          </a:p>
          <a:p>
            <a:pPr marL="0" marR="0" lvl="0" indent="0" algn="l"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Yes, You can even check the video after the class</a:t>
            </a:r>
            <a:endParaRPr/>
          </a:p>
          <a:p>
            <a:pPr marL="0" marR="0" lvl="0" indent="0" algn="l" rtl="0">
              <a:lnSpc>
                <a:spcPct val="100000"/>
              </a:lnSpc>
              <a:spcBef>
                <a:spcPts val="0"/>
              </a:spcBef>
              <a:spcAft>
                <a:spcPts val="0"/>
              </a:spcAft>
              <a:buClr>
                <a:srgbClr val="FFFFFF"/>
              </a:buClr>
              <a:buSzPts val="1600"/>
              <a:buFont typeface="Arial"/>
              <a:buNone/>
            </a:pPr>
            <a:br>
              <a:rPr lang="en-US" sz="1600" b="0" i="0" u="none" strike="noStrike" cap="none">
                <a:solidFill>
                  <a:srgbClr val="FFFFFF"/>
                </a:solidFill>
                <a:latin typeface="Arial"/>
                <a:ea typeface="Arial"/>
                <a:cs typeface="Arial"/>
                <a:sym typeface="Arial"/>
              </a:rPr>
            </a:br>
            <a:r>
              <a:rPr lang="en-US" sz="1600" b="1" i="0" u="none" strike="noStrike" cap="none">
                <a:solidFill>
                  <a:srgbClr val="18203C"/>
                </a:solidFill>
                <a:latin typeface="Arial"/>
                <a:ea typeface="Arial"/>
                <a:cs typeface="Arial"/>
                <a:sym typeface="Arial"/>
              </a:rPr>
              <a:t>What tools do I need to practice in the course?</a:t>
            </a:r>
            <a:endParaRPr sz="1600" b="0" i="0" u="none" strike="noStrike" cap="none">
              <a:solidFill>
                <a:srgbClr val="18203C"/>
              </a:solidFill>
              <a:latin typeface="Arial"/>
              <a:ea typeface="Arial"/>
              <a:cs typeface="Arial"/>
              <a:sym typeface="Arial"/>
            </a:endParaRPr>
          </a:p>
          <a:p>
            <a:pPr marL="0" marR="0" lvl="0" indent="0" algn="l"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Business Application Studio + VS Code + Cloud Foundry CLI.</a:t>
            </a:r>
            <a:endParaRPr/>
          </a:p>
          <a:p>
            <a:pPr marL="0" marR="0" lvl="0" indent="0" algn="l" rtl="0">
              <a:lnSpc>
                <a:spcPct val="100000"/>
              </a:lnSpc>
              <a:spcBef>
                <a:spcPts val="0"/>
              </a:spcBef>
              <a:spcAft>
                <a:spcPts val="0"/>
              </a:spcAft>
              <a:buClr>
                <a:srgbClr val="0A1829"/>
              </a:buClr>
              <a:buSzPts val="1600"/>
              <a:buFont typeface="Arial"/>
              <a:buNone/>
            </a:pPr>
            <a:br>
              <a:rPr lang="en-US" sz="1600" b="0" i="0" u="none" strike="noStrike" cap="none">
                <a:solidFill>
                  <a:srgbClr val="0A1829"/>
                </a:solidFill>
                <a:latin typeface="Arial"/>
                <a:ea typeface="Arial"/>
                <a:cs typeface="Arial"/>
                <a:sym typeface="Arial"/>
              </a:rPr>
            </a:br>
            <a:r>
              <a:rPr lang="en-US" sz="1600" b="1" i="0" u="none" strike="noStrike" cap="none">
                <a:solidFill>
                  <a:srgbClr val="18203C"/>
                </a:solidFill>
                <a:latin typeface="Arial"/>
                <a:ea typeface="Arial"/>
                <a:cs typeface="Arial"/>
                <a:sym typeface="Arial"/>
              </a:rPr>
              <a:t>How to join this course?</a:t>
            </a:r>
            <a:endParaRPr sz="1600" b="0" i="0" u="none" strike="noStrike" cap="none">
              <a:solidFill>
                <a:srgbClr val="18203C"/>
              </a:solidFill>
              <a:latin typeface="Arial"/>
              <a:ea typeface="Arial"/>
              <a:cs typeface="Arial"/>
              <a:sym typeface="Arial"/>
            </a:endParaRPr>
          </a:p>
          <a:p>
            <a:pPr marL="0" marR="0" lvl="0" indent="0" algn="l" rtl="0">
              <a:lnSpc>
                <a:spcPct val="100000"/>
              </a:lnSpc>
              <a:spcBef>
                <a:spcPts val="0"/>
              </a:spcBef>
              <a:spcAft>
                <a:spcPts val="0"/>
              </a:spcAft>
              <a:buClr>
                <a:srgbClr val="0A1829"/>
              </a:buClr>
              <a:buSzPts val="1600"/>
              <a:buFont typeface="Arial"/>
              <a:buNone/>
            </a:pPr>
            <a:r>
              <a:rPr lang="en-US" sz="1600" b="0" i="0" u="none" strike="noStrike" cap="none">
                <a:solidFill>
                  <a:srgbClr val="0A1829"/>
                </a:solidFill>
                <a:latin typeface="Arial"/>
                <a:ea typeface="Arial"/>
                <a:cs typeface="Arial"/>
                <a:sym typeface="Arial"/>
              </a:rPr>
              <a:t>Email us at </a:t>
            </a:r>
            <a:r>
              <a:rPr lang="en-US" sz="1600" b="1" i="0" u="sng" strike="noStrike" cap="none">
                <a:solidFill>
                  <a:srgbClr val="0A1829"/>
                </a:solidFill>
                <a:latin typeface="Arial"/>
                <a:ea typeface="Arial"/>
                <a:cs typeface="Arial"/>
                <a:sym typeface="Arial"/>
                <a:hlinkClick r:id="rId4">
                  <a:extLst>
                    <a:ext uri="{A12FA001-AC4F-418D-AE19-62706E023703}">
                      <ahyp:hlinkClr xmlns:ahyp="http://schemas.microsoft.com/office/drawing/2018/hyperlinkcolor" val="tx"/>
                    </a:ext>
                  </a:extLst>
                </a:hlinkClick>
              </a:rPr>
              <a:t>contact@anubhavtrainings.com</a:t>
            </a:r>
            <a:r>
              <a:rPr lang="en-US" sz="1600" b="1" i="0" u="none" strike="noStrike" cap="none">
                <a:solidFill>
                  <a:srgbClr val="0A1829"/>
                </a:solidFill>
                <a:latin typeface="Arial"/>
                <a:ea typeface="Arial"/>
                <a:cs typeface="Arial"/>
                <a:sym typeface="Arial"/>
              </a:rPr>
              <a:t> </a:t>
            </a:r>
            <a:r>
              <a:rPr lang="en-US" sz="1600" b="0" i="0" u="none" strike="noStrike" cap="none">
                <a:solidFill>
                  <a:srgbClr val="0A1829"/>
                </a:solidFill>
                <a:latin typeface="Arial"/>
                <a:ea typeface="Arial"/>
                <a:cs typeface="Arial"/>
                <a:sym typeface="Arial"/>
              </a:rPr>
              <a:t>for signing up!</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2989"/>
        <p:cNvGrpSpPr/>
        <p:nvPr/>
      </p:nvGrpSpPr>
      <p:grpSpPr>
        <a:xfrm>
          <a:off x="0" y="0"/>
          <a:ext cx="0" cy="0"/>
          <a:chOff x="0" y="0"/>
          <a:chExt cx="0" cy="0"/>
        </a:xfrm>
      </p:grpSpPr>
      <p:sp>
        <p:nvSpPr>
          <p:cNvPr id="2990" name="Google Shape;2990;p210"/>
          <p:cNvSpPr/>
          <p:nvPr/>
        </p:nvSpPr>
        <p:spPr>
          <a:xfrm>
            <a:off x="4222204" y="4800538"/>
            <a:ext cx="5040560" cy="2059107"/>
          </a:xfrm>
          <a:prstGeom prst="parallelogram">
            <a:avLst>
              <a:gd name="adj" fmla="val 56304"/>
            </a:avLst>
          </a:prstGeom>
          <a:gradFill>
            <a:gsLst>
              <a:gs pos="0">
                <a:schemeClr val="accent1"/>
              </a:gs>
              <a:gs pos="99000">
                <a:schemeClr val="accent2"/>
              </a:gs>
              <a:gs pos="100000">
                <a:schemeClr val="accent2"/>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991" name="Google Shape;2991;p210"/>
          <p:cNvSpPr/>
          <p:nvPr/>
        </p:nvSpPr>
        <p:spPr>
          <a:xfrm>
            <a:off x="9118748" y="0"/>
            <a:ext cx="3070076" cy="2276872"/>
          </a:xfrm>
          <a:prstGeom prst="rect">
            <a:avLst/>
          </a:prstGeom>
          <a:gradFill>
            <a:gsLst>
              <a:gs pos="0">
                <a:schemeClr val="accent1"/>
              </a:gs>
              <a:gs pos="99000">
                <a:schemeClr val="accent2"/>
              </a:gs>
              <a:gs pos="100000">
                <a:schemeClr val="accent2"/>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992" name="Google Shape;2992;p210"/>
          <p:cNvSpPr/>
          <p:nvPr/>
        </p:nvSpPr>
        <p:spPr>
          <a:xfrm rot="10800000">
            <a:off x="5374331" y="0"/>
            <a:ext cx="6814493" cy="6858000"/>
          </a:xfrm>
          <a:prstGeom prst="snip2DiagRect">
            <a:avLst>
              <a:gd name="adj1" fmla="val 0"/>
              <a:gd name="adj2" fmla="val 30169"/>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2993" name="Google Shape;2993;p210"/>
          <p:cNvSpPr txBox="1">
            <a:spLocks noGrp="1"/>
          </p:cNvSpPr>
          <p:nvPr>
            <p:ph type="title"/>
          </p:nvPr>
        </p:nvSpPr>
        <p:spPr>
          <a:xfrm>
            <a:off x="1053851" y="1995165"/>
            <a:ext cx="4968547" cy="1926089"/>
          </a:xfrm>
          <a:prstGeom prst="rect">
            <a:avLst/>
          </a:prstGeom>
          <a:noFill/>
          <a:ln>
            <a:noFill/>
          </a:ln>
        </p:spPr>
        <p:txBody>
          <a:bodyPr spcFirstLastPara="1" wrap="square" lIns="0" tIns="60925" rIns="0" bIns="60925" anchor="t" anchorCtr="0">
            <a:noAutofit/>
          </a:bodyPr>
          <a:lstStyle/>
          <a:p>
            <a:pPr marL="0" lvl="0" indent="0" algn="l" rtl="0">
              <a:spcBef>
                <a:spcPts val="0"/>
              </a:spcBef>
              <a:spcAft>
                <a:spcPts val="0"/>
              </a:spcAft>
              <a:buClr>
                <a:schemeClr val="accent1"/>
              </a:buClr>
              <a:buSzPts val="4000"/>
              <a:buFont typeface="Quattrocento Sans"/>
              <a:buNone/>
            </a:pPr>
            <a:r>
              <a:rPr lang="en-US"/>
              <a:t>Thank you</a:t>
            </a:r>
            <a:endParaRPr/>
          </a:p>
        </p:txBody>
      </p:sp>
      <p:sp>
        <p:nvSpPr>
          <p:cNvPr id="2994" name="Google Shape;2994;p210"/>
          <p:cNvSpPr txBox="1"/>
          <p:nvPr/>
        </p:nvSpPr>
        <p:spPr>
          <a:xfrm>
            <a:off x="1053852" y="1685814"/>
            <a:ext cx="3312368" cy="276999"/>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a:solidFill>
                  <a:schemeClr val="accent2"/>
                </a:solidFill>
                <a:latin typeface="Quattrocento Sans"/>
                <a:ea typeface="Quattrocento Sans"/>
                <a:cs typeface="Quattrocento Sans"/>
                <a:sym typeface="Quattrocento Sans"/>
              </a:rPr>
              <a:t>Anubhav Trainings</a:t>
            </a:r>
            <a:endParaRPr/>
          </a:p>
        </p:txBody>
      </p:sp>
      <p:grpSp>
        <p:nvGrpSpPr>
          <p:cNvPr id="2995" name="Google Shape;2995;p210" descr="Open quotation mark outline"/>
          <p:cNvGrpSpPr/>
          <p:nvPr/>
        </p:nvGrpSpPr>
        <p:grpSpPr>
          <a:xfrm>
            <a:off x="8329712" y="2119212"/>
            <a:ext cx="476250" cy="377952"/>
            <a:chOff x="8329712" y="2119212"/>
            <a:chExt cx="476250" cy="377952"/>
          </a:xfrm>
        </p:grpSpPr>
        <p:sp>
          <p:nvSpPr>
            <p:cNvPr id="2996" name="Google Shape;2996;p210"/>
            <p:cNvSpPr/>
            <p:nvPr/>
          </p:nvSpPr>
          <p:spPr>
            <a:xfrm>
              <a:off x="8615462" y="2119212"/>
              <a:ext cx="190500" cy="377952"/>
            </a:xfrm>
            <a:custGeom>
              <a:avLst/>
              <a:gdLst/>
              <a:ahLst/>
              <a:cxnLst/>
              <a:rect l="l" t="t" r="r" b="b"/>
              <a:pathLst>
                <a:path w="190500" h="377952" extrusionOk="0">
                  <a:moveTo>
                    <a:pt x="190500" y="81725"/>
                  </a:moveTo>
                  <a:lnTo>
                    <a:pt x="190500" y="0"/>
                  </a:lnTo>
                  <a:cubicBezTo>
                    <a:pt x="86469" y="-13"/>
                    <a:pt x="1665" y="83434"/>
                    <a:pt x="0" y="187452"/>
                  </a:cubicBezTo>
                  <a:lnTo>
                    <a:pt x="0" y="377952"/>
                  </a:lnTo>
                  <a:lnTo>
                    <a:pt x="190500" y="377952"/>
                  </a:lnTo>
                  <a:lnTo>
                    <a:pt x="190500" y="187452"/>
                  </a:lnTo>
                  <a:lnTo>
                    <a:pt x="81820" y="187452"/>
                  </a:lnTo>
                  <a:cubicBezTo>
                    <a:pt x="83469" y="128608"/>
                    <a:pt x="131633" y="81753"/>
                    <a:pt x="190500" y="81725"/>
                  </a:cubicBezTo>
                  <a:close/>
                  <a:moveTo>
                    <a:pt x="62779" y="186919"/>
                  </a:moveTo>
                  <a:lnTo>
                    <a:pt x="62227" y="206502"/>
                  </a:lnTo>
                  <a:lnTo>
                    <a:pt x="171450" y="206502"/>
                  </a:lnTo>
                  <a:lnTo>
                    <a:pt x="171450" y="358902"/>
                  </a:lnTo>
                  <a:lnTo>
                    <a:pt x="19050" y="358902"/>
                  </a:lnTo>
                  <a:lnTo>
                    <a:pt x="19050" y="187757"/>
                  </a:lnTo>
                  <a:cubicBezTo>
                    <a:pt x="20817" y="101643"/>
                    <a:pt x="85894" y="30058"/>
                    <a:pt x="171450" y="20117"/>
                  </a:cubicBezTo>
                  <a:lnTo>
                    <a:pt x="171450" y="64065"/>
                  </a:lnTo>
                  <a:cubicBezTo>
                    <a:pt x="110115" y="73038"/>
                    <a:pt x="64199" y="124947"/>
                    <a:pt x="62779" y="186919"/>
                  </a:cubicBezTo>
                  <a:close/>
                </a:path>
              </a:pathLst>
            </a:custGeom>
            <a:gradFill>
              <a:gsLst>
                <a:gs pos="0">
                  <a:schemeClr val="accent1"/>
                </a:gs>
                <a:gs pos="99000">
                  <a:schemeClr val="accent2"/>
                </a:gs>
                <a:gs pos="100000">
                  <a:schemeClr val="accent2"/>
                </a:gs>
              </a:gsLst>
              <a:lin ang="135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2997" name="Google Shape;2997;p210"/>
            <p:cNvSpPr/>
            <p:nvPr/>
          </p:nvSpPr>
          <p:spPr>
            <a:xfrm>
              <a:off x="8329712" y="2119212"/>
              <a:ext cx="190500" cy="377952"/>
            </a:xfrm>
            <a:custGeom>
              <a:avLst/>
              <a:gdLst/>
              <a:ahLst/>
              <a:cxnLst/>
              <a:rect l="l" t="t" r="r" b="b"/>
              <a:pathLst>
                <a:path w="190500" h="377952" extrusionOk="0">
                  <a:moveTo>
                    <a:pt x="190500" y="81725"/>
                  </a:moveTo>
                  <a:lnTo>
                    <a:pt x="190500" y="0"/>
                  </a:lnTo>
                  <a:cubicBezTo>
                    <a:pt x="86469" y="-13"/>
                    <a:pt x="1665" y="83434"/>
                    <a:pt x="0" y="187452"/>
                  </a:cubicBezTo>
                  <a:lnTo>
                    <a:pt x="0" y="377952"/>
                  </a:lnTo>
                  <a:lnTo>
                    <a:pt x="190500" y="377952"/>
                  </a:lnTo>
                  <a:lnTo>
                    <a:pt x="190500" y="187452"/>
                  </a:lnTo>
                  <a:lnTo>
                    <a:pt x="81820" y="187452"/>
                  </a:lnTo>
                  <a:cubicBezTo>
                    <a:pt x="83469" y="128608"/>
                    <a:pt x="131633" y="81753"/>
                    <a:pt x="190500" y="81725"/>
                  </a:cubicBezTo>
                  <a:close/>
                  <a:moveTo>
                    <a:pt x="62779" y="186919"/>
                  </a:moveTo>
                  <a:lnTo>
                    <a:pt x="62227" y="206502"/>
                  </a:lnTo>
                  <a:lnTo>
                    <a:pt x="171450" y="206502"/>
                  </a:lnTo>
                  <a:lnTo>
                    <a:pt x="171450" y="358902"/>
                  </a:lnTo>
                  <a:lnTo>
                    <a:pt x="19050" y="358902"/>
                  </a:lnTo>
                  <a:lnTo>
                    <a:pt x="19050" y="187757"/>
                  </a:lnTo>
                  <a:cubicBezTo>
                    <a:pt x="20817" y="101643"/>
                    <a:pt x="85894" y="30058"/>
                    <a:pt x="171450" y="20117"/>
                  </a:cubicBezTo>
                  <a:lnTo>
                    <a:pt x="171450" y="64065"/>
                  </a:lnTo>
                  <a:cubicBezTo>
                    <a:pt x="110115" y="73038"/>
                    <a:pt x="64198" y="124947"/>
                    <a:pt x="62779" y="186919"/>
                  </a:cubicBezTo>
                  <a:close/>
                </a:path>
              </a:pathLst>
            </a:custGeom>
            <a:gradFill>
              <a:gsLst>
                <a:gs pos="0">
                  <a:schemeClr val="accent1"/>
                </a:gs>
                <a:gs pos="99000">
                  <a:schemeClr val="accent2"/>
                </a:gs>
                <a:gs pos="100000">
                  <a:schemeClr val="accent2"/>
                </a:gs>
              </a:gsLst>
              <a:lin ang="135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grpSp>
      <p:sp>
        <p:nvSpPr>
          <p:cNvPr id="2998" name="Google Shape;2998;p210"/>
          <p:cNvSpPr txBox="1"/>
          <p:nvPr/>
        </p:nvSpPr>
        <p:spPr>
          <a:xfrm>
            <a:off x="8199661" y="2852936"/>
            <a:ext cx="3223343" cy="29854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Quattrocento Sans"/>
                <a:ea typeface="Quattrocento Sans"/>
                <a:cs typeface="Quattrocento Sans"/>
                <a:sym typeface="Quattrocento Sans"/>
              </a:rPr>
              <a:t>Power your career with amazing training content on </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Quattrocento Sans"/>
                <a:ea typeface="Quattrocento Sans"/>
                <a:cs typeface="Quattrocento Sans"/>
                <a:sym typeface="Quattrocento Sans"/>
              </a:rPr>
              <a:t>SAP Build Process Automation</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Quattrocento Sans"/>
                <a:ea typeface="Quattrocento Sans"/>
                <a:cs typeface="Quattrocento Sans"/>
                <a:sym typeface="Quattrocento Sans"/>
              </a:rPr>
              <a:t>Build Apps</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Quattrocento Sans"/>
                <a:ea typeface="Quattrocento Sans"/>
                <a:cs typeface="Quattrocento Sans"/>
                <a:sym typeface="Quattrocento Sans"/>
              </a:rPr>
              <a:t>Generative AI</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Quattrocento Sans"/>
                <a:ea typeface="Quattrocento Sans"/>
                <a:cs typeface="Quattrocento Sans"/>
                <a:sym typeface="Quattrocento Sans"/>
              </a:rPr>
              <a:t>BDC</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Quattrocento Sans"/>
                <a:ea typeface="Quattrocento Sans"/>
                <a:cs typeface="Quattrocento Sans"/>
                <a:sym typeface="Quattrocento Sans"/>
              </a:rPr>
              <a:t>Analytics Cloud</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Quattrocento Sans"/>
                <a:ea typeface="Quattrocento Sans"/>
                <a:cs typeface="Quattrocento Sans"/>
                <a:sym typeface="Quattrocento Sans"/>
              </a:rPr>
              <a:t>RAP</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Quattrocento Sans"/>
                <a:ea typeface="Quattrocento Sans"/>
                <a:cs typeface="Quattrocento Sans"/>
                <a:sym typeface="Quattrocento Sans"/>
              </a:rPr>
              <a:t>ABAP on HANA</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Quattrocento Sans"/>
                <a:ea typeface="Quattrocento Sans"/>
                <a:cs typeface="Quattrocento Sans"/>
                <a:sym typeface="Quattrocento Sans"/>
              </a:rPr>
              <a:t>SAP UI5 and Fiori</a:t>
            </a:r>
            <a:endParaRPr sz="2400">
              <a:solidFill>
                <a:schemeClr val="lt1"/>
              </a:solidFill>
              <a:latin typeface="Quattrocento Sans"/>
              <a:ea typeface="Quattrocento Sans"/>
              <a:cs typeface="Quattrocento Sans"/>
              <a:sym typeface="Quattrocento Sans"/>
            </a:endParaRPr>
          </a:p>
        </p:txBody>
      </p:sp>
      <p:sp>
        <p:nvSpPr>
          <p:cNvPr id="2999" name="Google Shape;2999;p210"/>
          <p:cNvSpPr/>
          <p:nvPr/>
        </p:nvSpPr>
        <p:spPr>
          <a:xfrm>
            <a:off x="981845" y="4053383"/>
            <a:ext cx="7023534" cy="1823889"/>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3000" name="Google Shape;3000;p210"/>
          <p:cNvSpPr/>
          <p:nvPr/>
        </p:nvSpPr>
        <p:spPr>
          <a:xfrm>
            <a:off x="749053" y="3602458"/>
            <a:ext cx="7256326" cy="2010471"/>
          </a:xfrm>
          <a:prstGeom prst="roundRect">
            <a:avLst>
              <a:gd name="adj" fmla="val 19194"/>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grpSp>
        <p:nvGrpSpPr>
          <p:cNvPr id="3001" name="Google Shape;3001;p210"/>
          <p:cNvGrpSpPr/>
          <p:nvPr/>
        </p:nvGrpSpPr>
        <p:grpSpPr>
          <a:xfrm>
            <a:off x="4034510" y="4461984"/>
            <a:ext cx="4032448" cy="588850"/>
            <a:chOff x="9000374" y="3105665"/>
            <a:chExt cx="4032448" cy="588850"/>
          </a:xfrm>
        </p:grpSpPr>
        <p:sp>
          <p:nvSpPr>
            <p:cNvPr id="3002" name="Google Shape;3002;p210"/>
            <p:cNvSpPr txBox="1"/>
            <p:nvPr/>
          </p:nvSpPr>
          <p:spPr>
            <a:xfrm>
              <a:off x="9000374" y="3105665"/>
              <a:ext cx="115212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WEBSITE</a:t>
              </a:r>
              <a:endParaRPr/>
            </a:p>
          </p:txBody>
        </p:sp>
        <p:sp>
          <p:nvSpPr>
            <p:cNvPr id="3003" name="Google Shape;3003;p210"/>
            <p:cNvSpPr txBox="1"/>
            <p:nvPr/>
          </p:nvSpPr>
          <p:spPr>
            <a:xfrm>
              <a:off x="9000374" y="3386738"/>
              <a:ext cx="403244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Quattrocento Sans"/>
                  <a:ea typeface="Quattrocento Sans"/>
                  <a:cs typeface="Quattrocento Sans"/>
                  <a:sym typeface="Quattrocento Sans"/>
                </a:rPr>
                <a:t>www.anubhavtrainings.com</a:t>
              </a:r>
              <a:endParaRPr/>
            </a:p>
          </p:txBody>
        </p:sp>
      </p:grpSp>
      <p:sp>
        <p:nvSpPr>
          <p:cNvPr id="3004" name="Google Shape;3004;p210" descr="World with solid fill"/>
          <p:cNvSpPr/>
          <p:nvPr/>
        </p:nvSpPr>
        <p:spPr>
          <a:xfrm>
            <a:off x="4076051" y="3911131"/>
            <a:ext cx="360000" cy="360000"/>
          </a:xfrm>
          <a:prstGeom prst="rect">
            <a:avLst/>
          </a:prstGeom>
          <a:noFill/>
          <a:ln>
            <a:noFill/>
          </a:ln>
        </p:spPr>
      </p:sp>
      <p:grpSp>
        <p:nvGrpSpPr>
          <p:cNvPr id="3005" name="Google Shape;3005;p210"/>
          <p:cNvGrpSpPr/>
          <p:nvPr/>
        </p:nvGrpSpPr>
        <p:grpSpPr>
          <a:xfrm>
            <a:off x="981844" y="4428570"/>
            <a:ext cx="3384376" cy="646331"/>
            <a:chOff x="8257267" y="1643545"/>
            <a:chExt cx="1676692" cy="646331"/>
          </a:xfrm>
        </p:grpSpPr>
        <p:sp>
          <p:nvSpPr>
            <p:cNvPr id="3006" name="Google Shape;3006;p210"/>
            <p:cNvSpPr txBox="1"/>
            <p:nvPr/>
          </p:nvSpPr>
          <p:spPr>
            <a:xfrm>
              <a:off x="8257267" y="1643545"/>
              <a:ext cx="115212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EMAIL</a:t>
              </a:r>
              <a:endParaRPr/>
            </a:p>
          </p:txBody>
        </p:sp>
        <p:sp>
          <p:nvSpPr>
            <p:cNvPr id="3007" name="Google Shape;3007;p210"/>
            <p:cNvSpPr txBox="1"/>
            <p:nvPr/>
          </p:nvSpPr>
          <p:spPr>
            <a:xfrm>
              <a:off x="8257267" y="1982099"/>
              <a:ext cx="167669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Quattrocento Sans"/>
                  <a:ea typeface="Quattrocento Sans"/>
                  <a:cs typeface="Quattrocento Sans"/>
                  <a:sym typeface="Quattrocento Sans"/>
                </a:rPr>
                <a:t>contact@anubhavtrainings.com</a:t>
              </a:r>
              <a:endParaRPr/>
            </a:p>
          </p:txBody>
        </p:sp>
      </p:grpSp>
      <p:sp>
        <p:nvSpPr>
          <p:cNvPr id="3008" name="Google Shape;3008;p210" descr="Open envelope with solid fill"/>
          <p:cNvSpPr/>
          <p:nvPr/>
        </p:nvSpPr>
        <p:spPr>
          <a:xfrm>
            <a:off x="1038377" y="3893593"/>
            <a:ext cx="360000" cy="360000"/>
          </a:xfrm>
          <a:prstGeom prst="rect">
            <a:avLst/>
          </a:prstGeom>
          <a:noFill/>
          <a:ln>
            <a:noFill/>
          </a:ln>
        </p:spPr>
      </p:sp>
      <p:pic>
        <p:nvPicPr>
          <p:cNvPr id="3009" name="Google Shape;3009;p210"/>
          <p:cNvPicPr preferRelativeResize="0"/>
          <p:nvPr/>
        </p:nvPicPr>
        <p:blipFill rotWithShape="1">
          <a:blip r:embed="rId3">
            <a:alphaModFix/>
          </a:blip>
          <a:srcRect/>
          <a:stretch/>
        </p:blipFill>
        <p:spPr>
          <a:xfrm>
            <a:off x="3733409" y="921119"/>
            <a:ext cx="1360873" cy="134414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93"/>
                                        </p:tgtEl>
                                        <p:attrNameLst>
                                          <p:attrName>style.visibility</p:attrName>
                                        </p:attrNameLst>
                                      </p:cBhvr>
                                      <p:to>
                                        <p:strVal val="visible"/>
                                      </p:to>
                                    </p:set>
                                    <p:animEffect transition="in" filter="fade">
                                      <p:cBhvr>
                                        <p:cTn id="7" dur="500"/>
                                        <p:tgtEl>
                                          <p:spTgt spid="2993"/>
                                        </p:tgtEl>
                                      </p:cBhvr>
                                    </p:animEffect>
                                  </p:childTnLst>
                                </p:cTn>
                              </p:par>
                              <p:par>
                                <p:cTn id="8" presetID="10" presetClass="entr" presetSubtype="0" fill="hold" nodeType="withEffect">
                                  <p:stCondLst>
                                    <p:cond delay="150"/>
                                  </p:stCondLst>
                                  <p:childTnLst>
                                    <p:set>
                                      <p:cBhvr>
                                        <p:cTn id="9" dur="1" fill="hold">
                                          <p:stCondLst>
                                            <p:cond delay="0"/>
                                          </p:stCondLst>
                                        </p:cTn>
                                        <p:tgtEl>
                                          <p:spTgt spid="2994"/>
                                        </p:tgtEl>
                                        <p:attrNameLst>
                                          <p:attrName>style.visibility</p:attrName>
                                        </p:attrNameLst>
                                      </p:cBhvr>
                                      <p:to>
                                        <p:strVal val="visible"/>
                                      </p:to>
                                    </p:set>
                                    <p:animEffect transition="in" filter="fade">
                                      <p:cBhvr>
                                        <p:cTn id="10" dur="500"/>
                                        <p:tgtEl>
                                          <p:spTgt spid="2994"/>
                                        </p:tgtEl>
                                      </p:cBhvr>
                                    </p:animEffect>
                                  </p:childTnLst>
                                </p:cTn>
                              </p:par>
                              <p:par>
                                <p:cTn id="11" presetID="2" presetClass="entr" presetSubtype="2" fill="hold" nodeType="withEffect">
                                  <p:stCondLst>
                                    <p:cond delay="150"/>
                                  </p:stCondLst>
                                  <p:childTnLst>
                                    <p:set>
                                      <p:cBhvr>
                                        <p:cTn id="12" dur="1" fill="hold">
                                          <p:stCondLst>
                                            <p:cond delay="0"/>
                                          </p:stCondLst>
                                        </p:cTn>
                                        <p:tgtEl>
                                          <p:spTgt spid="2992"/>
                                        </p:tgtEl>
                                        <p:attrNameLst>
                                          <p:attrName>style.visibility</p:attrName>
                                        </p:attrNameLst>
                                      </p:cBhvr>
                                      <p:to>
                                        <p:strVal val="visible"/>
                                      </p:to>
                                    </p:set>
                                    <p:anim calcmode="lin" valueType="num">
                                      <p:cBhvr additive="base">
                                        <p:cTn id="13" dur="500"/>
                                        <p:tgtEl>
                                          <p:spTgt spid="2992"/>
                                        </p:tgtEl>
                                        <p:attrNameLst>
                                          <p:attrName>ppt_x</p:attrName>
                                        </p:attrNameLst>
                                      </p:cBhvr>
                                      <p:tavLst>
                                        <p:tav tm="0">
                                          <p:val>
                                            <p:strVal val="#ppt_x+1"/>
                                          </p:val>
                                        </p:tav>
                                        <p:tav tm="100000">
                                          <p:val>
                                            <p:strVal val="#ppt_x"/>
                                          </p:val>
                                        </p:tav>
                                      </p:tavLst>
                                    </p:anim>
                                  </p:childTnLst>
                                </p:cTn>
                              </p:par>
                              <p:par>
                                <p:cTn id="14" presetID="10" presetClass="entr" presetSubtype="0" fill="hold" nodeType="withEffect">
                                  <p:stCondLst>
                                    <p:cond delay="450"/>
                                  </p:stCondLst>
                                  <p:childTnLst>
                                    <p:set>
                                      <p:cBhvr>
                                        <p:cTn id="15" dur="1" fill="hold">
                                          <p:stCondLst>
                                            <p:cond delay="0"/>
                                          </p:stCondLst>
                                        </p:cTn>
                                        <p:tgtEl>
                                          <p:spTgt spid="2990"/>
                                        </p:tgtEl>
                                        <p:attrNameLst>
                                          <p:attrName>style.visibility</p:attrName>
                                        </p:attrNameLst>
                                      </p:cBhvr>
                                      <p:to>
                                        <p:strVal val="visible"/>
                                      </p:to>
                                    </p:set>
                                    <p:animEffect transition="in" filter="fade">
                                      <p:cBhvr>
                                        <p:cTn id="16" dur="500"/>
                                        <p:tgtEl>
                                          <p:spTgt spid="2990"/>
                                        </p:tgtEl>
                                      </p:cBhvr>
                                    </p:animEffect>
                                  </p:childTnLst>
                                </p:cTn>
                              </p:par>
                              <p:par>
                                <p:cTn id="17" presetID="10" presetClass="entr" presetSubtype="0" fill="hold" nodeType="withEffect">
                                  <p:stCondLst>
                                    <p:cond delay="450"/>
                                  </p:stCondLst>
                                  <p:childTnLst>
                                    <p:set>
                                      <p:cBhvr>
                                        <p:cTn id="18" dur="1" fill="hold">
                                          <p:stCondLst>
                                            <p:cond delay="0"/>
                                          </p:stCondLst>
                                        </p:cTn>
                                        <p:tgtEl>
                                          <p:spTgt spid="2991"/>
                                        </p:tgtEl>
                                        <p:attrNameLst>
                                          <p:attrName>style.visibility</p:attrName>
                                        </p:attrNameLst>
                                      </p:cBhvr>
                                      <p:to>
                                        <p:strVal val="visible"/>
                                      </p:to>
                                    </p:set>
                                    <p:animEffect transition="in" filter="fade">
                                      <p:cBhvr>
                                        <p:cTn id="19" dur="500"/>
                                        <p:tgtEl>
                                          <p:spTgt spid="2991"/>
                                        </p:tgtEl>
                                      </p:cBhvr>
                                    </p:animEffect>
                                  </p:childTnLst>
                                </p:cTn>
                              </p:par>
                              <p:par>
                                <p:cTn id="20" presetID="23" presetClass="entr" presetSubtype="16" fill="hold" nodeType="withEffect">
                                  <p:stCondLst>
                                    <p:cond delay="300"/>
                                  </p:stCondLst>
                                  <p:childTnLst>
                                    <p:set>
                                      <p:cBhvr>
                                        <p:cTn id="21" dur="1" fill="hold">
                                          <p:stCondLst>
                                            <p:cond delay="0"/>
                                          </p:stCondLst>
                                        </p:cTn>
                                        <p:tgtEl>
                                          <p:spTgt spid="3008"/>
                                        </p:tgtEl>
                                        <p:attrNameLst>
                                          <p:attrName>style.visibility</p:attrName>
                                        </p:attrNameLst>
                                      </p:cBhvr>
                                      <p:to>
                                        <p:strVal val="visible"/>
                                      </p:to>
                                    </p:set>
                                    <p:anim calcmode="lin" valueType="num">
                                      <p:cBhvr additive="base">
                                        <p:cTn id="22" dur="500"/>
                                        <p:tgtEl>
                                          <p:spTgt spid="3008"/>
                                        </p:tgtEl>
                                        <p:attrNameLst>
                                          <p:attrName>ppt_w</p:attrName>
                                        </p:attrNameLst>
                                      </p:cBhvr>
                                      <p:tavLst>
                                        <p:tav tm="0">
                                          <p:val>
                                            <p:strVal val="0"/>
                                          </p:val>
                                        </p:tav>
                                        <p:tav tm="100000">
                                          <p:val>
                                            <p:strVal val="#ppt_w"/>
                                          </p:val>
                                        </p:tav>
                                      </p:tavLst>
                                    </p:anim>
                                    <p:anim calcmode="lin" valueType="num">
                                      <p:cBhvr additive="base">
                                        <p:cTn id="23" dur="500"/>
                                        <p:tgtEl>
                                          <p:spTgt spid="3008"/>
                                        </p:tgtEl>
                                        <p:attrNameLst>
                                          <p:attrName>ppt_h</p:attrName>
                                        </p:attrNameLst>
                                      </p:cBhvr>
                                      <p:tavLst>
                                        <p:tav tm="0">
                                          <p:val>
                                            <p:strVal val="0"/>
                                          </p:val>
                                        </p:tav>
                                        <p:tav tm="100000">
                                          <p:val>
                                            <p:strVal val="#ppt_h"/>
                                          </p:val>
                                        </p:tav>
                                      </p:tavLst>
                                    </p:anim>
                                  </p:childTnLst>
                                </p:cTn>
                              </p:par>
                              <p:par>
                                <p:cTn id="24" presetID="23" presetClass="entr" presetSubtype="16" fill="hold" nodeType="withEffect">
                                  <p:stCondLst>
                                    <p:cond delay="450"/>
                                  </p:stCondLst>
                                  <p:childTnLst>
                                    <p:set>
                                      <p:cBhvr>
                                        <p:cTn id="25" dur="1" fill="hold">
                                          <p:stCondLst>
                                            <p:cond delay="0"/>
                                          </p:stCondLst>
                                        </p:cTn>
                                        <p:tgtEl>
                                          <p:spTgt spid="3004"/>
                                        </p:tgtEl>
                                        <p:attrNameLst>
                                          <p:attrName>style.visibility</p:attrName>
                                        </p:attrNameLst>
                                      </p:cBhvr>
                                      <p:to>
                                        <p:strVal val="visible"/>
                                      </p:to>
                                    </p:set>
                                    <p:anim calcmode="lin" valueType="num">
                                      <p:cBhvr additive="base">
                                        <p:cTn id="26" dur="500"/>
                                        <p:tgtEl>
                                          <p:spTgt spid="3004"/>
                                        </p:tgtEl>
                                        <p:attrNameLst>
                                          <p:attrName>ppt_w</p:attrName>
                                        </p:attrNameLst>
                                      </p:cBhvr>
                                      <p:tavLst>
                                        <p:tav tm="0">
                                          <p:val>
                                            <p:strVal val="0"/>
                                          </p:val>
                                        </p:tav>
                                        <p:tav tm="100000">
                                          <p:val>
                                            <p:strVal val="#ppt_w"/>
                                          </p:val>
                                        </p:tav>
                                      </p:tavLst>
                                    </p:anim>
                                    <p:anim calcmode="lin" valueType="num">
                                      <p:cBhvr additive="base">
                                        <p:cTn id="27" dur="500"/>
                                        <p:tgtEl>
                                          <p:spTgt spid="3004"/>
                                        </p:tgtEl>
                                        <p:attrNameLst>
                                          <p:attrName>ppt_h</p:attrName>
                                        </p:attrNameLst>
                                      </p:cBhvr>
                                      <p:tavLst>
                                        <p:tav tm="0">
                                          <p:val>
                                            <p:strVal val="0"/>
                                          </p:val>
                                        </p:tav>
                                        <p:tav tm="100000">
                                          <p:val>
                                            <p:strVal val="#ppt_h"/>
                                          </p:val>
                                        </p:tav>
                                      </p:tavLst>
                                    </p:anim>
                                  </p:childTnLst>
                                </p:cTn>
                              </p:par>
                              <p:par>
                                <p:cTn id="28" presetID="10" presetClass="entr" presetSubtype="0" fill="hold" nodeType="withEffect">
                                  <p:stCondLst>
                                    <p:cond delay="250"/>
                                  </p:stCondLst>
                                  <p:childTnLst>
                                    <p:set>
                                      <p:cBhvr>
                                        <p:cTn id="29" dur="1" fill="hold">
                                          <p:stCondLst>
                                            <p:cond delay="0"/>
                                          </p:stCondLst>
                                        </p:cTn>
                                        <p:tgtEl>
                                          <p:spTgt spid="2999"/>
                                        </p:tgtEl>
                                        <p:attrNameLst>
                                          <p:attrName>style.visibility</p:attrName>
                                        </p:attrNameLst>
                                      </p:cBhvr>
                                      <p:to>
                                        <p:strVal val="visible"/>
                                      </p:to>
                                    </p:set>
                                    <p:animEffect transition="in" filter="fade">
                                      <p:cBhvr>
                                        <p:cTn id="30" dur="500"/>
                                        <p:tgtEl>
                                          <p:spTgt spid="2999"/>
                                        </p:tgtEl>
                                      </p:cBhvr>
                                    </p:animEffect>
                                  </p:childTnLst>
                                </p:cTn>
                              </p:par>
                              <p:par>
                                <p:cTn id="31" presetID="10" presetClass="entr" presetSubtype="0" fill="hold" nodeType="withEffect">
                                  <p:stCondLst>
                                    <p:cond delay="350"/>
                                  </p:stCondLst>
                                  <p:childTnLst>
                                    <p:set>
                                      <p:cBhvr>
                                        <p:cTn id="32" dur="1" fill="hold">
                                          <p:stCondLst>
                                            <p:cond delay="0"/>
                                          </p:stCondLst>
                                        </p:cTn>
                                        <p:tgtEl>
                                          <p:spTgt spid="3005"/>
                                        </p:tgtEl>
                                        <p:attrNameLst>
                                          <p:attrName>style.visibility</p:attrName>
                                        </p:attrNameLst>
                                      </p:cBhvr>
                                      <p:to>
                                        <p:strVal val="visible"/>
                                      </p:to>
                                    </p:set>
                                    <p:animEffect transition="in" filter="fade">
                                      <p:cBhvr>
                                        <p:cTn id="33" dur="500"/>
                                        <p:tgtEl>
                                          <p:spTgt spid="3005"/>
                                        </p:tgtEl>
                                      </p:cBhvr>
                                    </p:animEffect>
                                  </p:childTnLst>
                                </p:cTn>
                              </p:par>
                              <p:par>
                                <p:cTn id="34" presetID="10" presetClass="entr" presetSubtype="0" fill="hold" nodeType="withEffect">
                                  <p:stCondLst>
                                    <p:cond delay="450"/>
                                  </p:stCondLst>
                                  <p:childTnLst>
                                    <p:set>
                                      <p:cBhvr>
                                        <p:cTn id="35" dur="1" fill="hold">
                                          <p:stCondLst>
                                            <p:cond delay="0"/>
                                          </p:stCondLst>
                                        </p:cTn>
                                        <p:tgtEl>
                                          <p:spTgt spid="3001"/>
                                        </p:tgtEl>
                                        <p:attrNameLst>
                                          <p:attrName>style.visibility</p:attrName>
                                        </p:attrNameLst>
                                      </p:cBhvr>
                                      <p:to>
                                        <p:strVal val="visible"/>
                                      </p:to>
                                    </p:set>
                                    <p:animEffect transition="in" filter="fade">
                                      <p:cBhvr>
                                        <p:cTn id="36" dur="500"/>
                                        <p:tgtEl>
                                          <p:spTgt spid="3001"/>
                                        </p:tgtEl>
                                      </p:cBhvr>
                                    </p:animEffect>
                                  </p:childTnLst>
                                </p:cTn>
                              </p:par>
                              <p:par>
                                <p:cTn id="37" presetID="23" presetClass="entr" presetSubtype="16" fill="hold" nodeType="withEffect">
                                  <p:stCondLst>
                                    <p:cond delay="350"/>
                                  </p:stCondLst>
                                  <p:childTnLst>
                                    <p:set>
                                      <p:cBhvr>
                                        <p:cTn id="38" dur="1" fill="hold">
                                          <p:stCondLst>
                                            <p:cond delay="0"/>
                                          </p:stCondLst>
                                        </p:cTn>
                                        <p:tgtEl>
                                          <p:spTgt spid="2995"/>
                                        </p:tgtEl>
                                        <p:attrNameLst>
                                          <p:attrName>style.visibility</p:attrName>
                                        </p:attrNameLst>
                                      </p:cBhvr>
                                      <p:to>
                                        <p:strVal val="visible"/>
                                      </p:to>
                                    </p:set>
                                    <p:anim calcmode="lin" valueType="num">
                                      <p:cBhvr additive="base">
                                        <p:cTn id="39" dur="500"/>
                                        <p:tgtEl>
                                          <p:spTgt spid="2995"/>
                                        </p:tgtEl>
                                        <p:attrNameLst>
                                          <p:attrName>ppt_w</p:attrName>
                                        </p:attrNameLst>
                                      </p:cBhvr>
                                      <p:tavLst>
                                        <p:tav tm="0">
                                          <p:val>
                                            <p:strVal val="0"/>
                                          </p:val>
                                        </p:tav>
                                        <p:tav tm="100000">
                                          <p:val>
                                            <p:strVal val="#ppt_w"/>
                                          </p:val>
                                        </p:tav>
                                      </p:tavLst>
                                    </p:anim>
                                    <p:anim calcmode="lin" valueType="num">
                                      <p:cBhvr additive="base">
                                        <p:cTn id="40" dur="500"/>
                                        <p:tgtEl>
                                          <p:spTgt spid="2995"/>
                                        </p:tgtEl>
                                        <p:attrNameLst>
                                          <p:attrName>ppt_h</p:attrName>
                                        </p:attrNameLst>
                                      </p:cBhvr>
                                      <p:tavLst>
                                        <p:tav tm="0">
                                          <p:val>
                                            <p:strVal val="0"/>
                                          </p:val>
                                        </p:tav>
                                        <p:tav tm="100000">
                                          <p:val>
                                            <p:strVal val="#ppt_h"/>
                                          </p:val>
                                        </p:tav>
                                      </p:tavLst>
                                    </p:anim>
                                  </p:childTnLst>
                                </p:cTn>
                              </p:par>
                              <p:par>
                                <p:cTn id="41" presetID="10" presetClass="entr" presetSubtype="0" fill="hold" nodeType="withEffect">
                                  <p:stCondLst>
                                    <p:cond delay="500"/>
                                  </p:stCondLst>
                                  <p:childTnLst>
                                    <p:set>
                                      <p:cBhvr>
                                        <p:cTn id="42" dur="1" fill="hold">
                                          <p:stCondLst>
                                            <p:cond delay="0"/>
                                          </p:stCondLst>
                                        </p:cTn>
                                        <p:tgtEl>
                                          <p:spTgt spid="2998"/>
                                        </p:tgtEl>
                                        <p:attrNameLst>
                                          <p:attrName>style.visibility</p:attrName>
                                        </p:attrNameLst>
                                      </p:cBhvr>
                                      <p:to>
                                        <p:strVal val="visible"/>
                                      </p:to>
                                    </p:set>
                                    <p:animEffect transition="in" filter="fade">
                                      <p:cBhvr>
                                        <p:cTn id="43" dur="500"/>
                                        <p:tgtEl>
                                          <p:spTgt spid="2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SM - Vibe Coding">
      <a:dk1>
        <a:srgbClr val="000000"/>
      </a:dk1>
      <a:lt1>
        <a:srgbClr val="FFFFFF"/>
      </a:lt1>
      <a:dk2>
        <a:srgbClr val="1F497D"/>
      </a:dk2>
      <a:lt2>
        <a:srgbClr val="EEECE1"/>
      </a:lt2>
      <a:accent1>
        <a:srgbClr val="240353"/>
      </a:accent1>
      <a:accent2>
        <a:srgbClr val="EA338E"/>
      </a:accent2>
      <a:accent3>
        <a:srgbClr val="DE615C"/>
      </a:accent3>
      <a:accent4>
        <a:srgbClr val="1C2CD0"/>
      </a:accent4>
      <a:accent5>
        <a:srgbClr val="F0C260"/>
      </a:accent5>
      <a:accent6>
        <a:srgbClr val="CBEEF3"/>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Custom 144">
      <a:dk1>
        <a:srgbClr val="000000"/>
      </a:dk1>
      <a:lt1>
        <a:srgbClr val="FFFFFF"/>
      </a:lt1>
      <a:dk2>
        <a:srgbClr val="44546A"/>
      </a:dk2>
      <a:lt2>
        <a:srgbClr val="EEEBE6"/>
      </a:lt2>
      <a:accent1>
        <a:srgbClr val="0D5FDE"/>
      </a:accent1>
      <a:accent2>
        <a:srgbClr val="078EDA"/>
      </a:accent2>
      <a:accent3>
        <a:srgbClr val="2CAFF8"/>
      </a:accent3>
      <a:accent4>
        <a:srgbClr val="01C0D6"/>
      </a:accent4>
      <a:accent5>
        <a:srgbClr val="8DD4FB"/>
      </a:accent5>
      <a:accent6>
        <a:srgbClr val="B9F8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Custom 927">
      <a:dk1>
        <a:srgbClr val="000000"/>
      </a:dk1>
      <a:lt1>
        <a:srgbClr val="FFFFFF"/>
      </a:lt1>
      <a:dk2>
        <a:srgbClr val="153153"/>
      </a:dk2>
      <a:lt2>
        <a:srgbClr val="EEECE1"/>
      </a:lt2>
      <a:accent1>
        <a:srgbClr val="FF4823"/>
      </a:accent1>
      <a:accent2>
        <a:srgbClr val="346CE8"/>
      </a:accent2>
      <a:accent3>
        <a:srgbClr val="8BB74C"/>
      </a:accent3>
      <a:accent4>
        <a:srgbClr val="D0AD49"/>
      </a:accent4>
      <a:accent5>
        <a:srgbClr val="5CEEA6"/>
      </a:accent5>
      <a:accent6>
        <a:srgbClr val="7740B5"/>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Office Theme">
  <a:themeElements>
    <a:clrScheme name="Introducing Yourself And Your Capabilities">
      <a:dk1>
        <a:srgbClr val="000000"/>
      </a:dk1>
      <a:lt1>
        <a:srgbClr val="FFFFFF"/>
      </a:lt1>
      <a:dk2>
        <a:srgbClr val="1F497D"/>
      </a:dk2>
      <a:lt2>
        <a:srgbClr val="EEECE1"/>
      </a:lt2>
      <a:accent1>
        <a:srgbClr val="0F6FC5"/>
      </a:accent1>
      <a:accent2>
        <a:srgbClr val="019DD8"/>
      </a:accent2>
      <a:accent3>
        <a:srgbClr val="0CD0D9"/>
      </a:accent3>
      <a:accent4>
        <a:srgbClr val="10CF9D"/>
      </a:accent4>
      <a:accent5>
        <a:srgbClr val="8DCE72"/>
      </a:accent5>
      <a:accent6>
        <a:srgbClr val="A5C24A"/>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2_Office Theme">
  <a:themeElements>
    <a:clrScheme name="Custom 28">
      <a:dk1>
        <a:srgbClr val="000000"/>
      </a:dk1>
      <a:lt1>
        <a:srgbClr val="FFFFFF"/>
      </a:lt1>
      <a:dk2>
        <a:srgbClr val="153153"/>
      </a:dk2>
      <a:lt2>
        <a:srgbClr val="EEECE1"/>
      </a:lt2>
      <a:accent1>
        <a:srgbClr val="202B50"/>
      </a:accent1>
      <a:accent2>
        <a:srgbClr val="38C6C6"/>
      </a:accent2>
      <a:accent3>
        <a:srgbClr val="C2CEE6"/>
      </a:accent3>
      <a:accent4>
        <a:srgbClr val="E1E7F2"/>
      </a:accent4>
      <a:accent5>
        <a:srgbClr val="F5F0F8"/>
      </a:accent5>
      <a:accent6>
        <a:srgbClr val="FFFFFF"/>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16562</Words>
  <Application>Microsoft Office PowerPoint</Application>
  <PresentationFormat>Custom</PresentationFormat>
  <Paragraphs>1867</Paragraphs>
  <Slides>169</Slides>
  <Notes>169</Notes>
  <HiddenSlides>0</HiddenSlides>
  <MMClips>0</MMClips>
  <ScaleCrop>false</ScaleCrop>
  <HeadingPairs>
    <vt:vector size="6" baseType="variant">
      <vt:variant>
        <vt:lpstr>Fonts Used</vt:lpstr>
      </vt:variant>
      <vt:variant>
        <vt:i4>10</vt:i4>
      </vt:variant>
      <vt:variant>
        <vt:lpstr>Theme</vt:lpstr>
      </vt:variant>
      <vt:variant>
        <vt:i4>7</vt:i4>
      </vt:variant>
      <vt:variant>
        <vt:lpstr>Slide Titles</vt:lpstr>
      </vt:variant>
      <vt:variant>
        <vt:i4>169</vt:i4>
      </vt:variant>
    </vt:vector>
  </HeadingPairs>
  <TitlesOfParts>
    <vt:vector size="186" baseType="lpstr">
      <vt:lpstr>ADLaM Display</vt:lpstr>
      <vt:lpstr>arial</vt:lpstr>
      <vt:lpstr>arial</vt:lpstr>
      <vt:lpstr>Quattrocento Sans</vt:lpstr>
      <vt:lpstr>Consolas</vt:lpstr>
      <vt:lpstr>Open Sans</vt:lpstr>
      <vt:lpstr>Noto Sans Symbols</vt:lpstr>
      <vt:lpstr>Corben</vt:lpstr>
      <vt:lpstr>Calibri</vt:lpstr>
      <vt:lpstr>Avenir</vt:lpstr>
      <vt:lpstr>Office Theme</vt:lpstr>
      <vt:lpstr>1_Office Theme</vt:lpstr>
      <vt:lpstr>4_Office Theme</vt:lpstr>
      <vt:lpstr>3_Office Theme</vt:lpstr>
      <vt:lpstr>5_Office Theme</vt:lpstr>
      <vt:lpstr>6_Office Theme</vt:lpstr>
      <vt:lpstr>2_Office Theme</vt:lpstr>
      <vt:lpstr>SAP BTP CAPM Training</vt:lpstr>
      <vt:lpstr> Agenda</vt:lpstr>
      <vt:lpstr>PowerPoint Presentation</vt:lpstr>
      <vt:lpstr>PowerPoint Presentation</vt:lpstr>
      <vt:lpstr>PowerPoint Presentation</vt:lpstr>
      <vt:lpstr>PowerPoint Presentation</vt:lpstr>
      <vt:lpstr>What is CAPM?</vt:lpstr>
      <vt:lpstr>What we do today?</vt:lpstr>
      <vt:lpstr>Travel Data App</vt:lpstr>
      <vt:lpstr>New Updated Content</vt:lpstr>
      <vt:lpstr>PowerPoint Presentation</vt:lpstr>
      <vt:lpstr>PowerPoint Presentation</vt:lpstr>
      <vt:lpstr>PowerPoint Presentation</vt:lpstr>
      <vt:lpstr>What is SAP BTP?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BTP Account Structure</vt:lpstr>
      <vt:lpstr>PowerPoint Presentation</vt:lpstr>
      <vt:lpstr>Title</vt:lpstr>
      <vt:lpstr>Title</vt:lpstr>
      <vt:lpstr>BTP Subscription Models</vt:lpstr>
      <vt:lpstr>PowerPoint Presentation</vt:lpstr>
      <vt:lpstr>PowerPoint Presentation</vt:lpstr>
      <vt:lpstr>PowerPoint Presentation</vt:lpstr>
      <vt:lpstr>Microservice architecture</vt:lpstr>
      <vt:lpstr>Uber’s example of transformation</vt:lpstr>
      <vt:lpstr>1. Customers subscribe SAP Products using BTP</vt:lpstr>
      <vt:lpstr>2. Building Full Stack App*</vt:lpstr>
      <vt:lpstr>3. clean-core/ Side by Side Extension</vt:lpstr>
      <vt:lpstr>4. Using intelligent tech and innovations</vt:lpstr>
      <vt:lpstr>Tools Required for our journey</vt:lpstr>
      <vt:lpstr>Source Code built by Anubhav</vt:lpstr>
      <vt:lpstr>Business Application Studio (BAS)</vt:lpstr>
      <vt:lpstr>Comparison</vt:lpstr>
      <vt:lpstr>Title</vt:lpstr>
      <vt:lpstr>Scaling</vt:lpstr>
      <vt:lpstr>Client Server Architecture</vt:lpstr>
      <vt:lpstr>Node JS</vt:lpstr>
      <vt:lpstr>Node JS</vt:lpstr>
      <vt:lpstr>Funda fox:</vt:lpstr>
      <vt:lpstr>Variables</vt:lpstr>
      <vt:lpstr>Functions in JS</vt:lpstr>
      <vt:lpstr>Module in Node js</vt:lpstr>
      <vt:lpstr>Asynchronous Non Blocking IO</vt:lpstr>
      <vt:lpstr>Promises in JS</vt:lpstr>
      <vt:lpstr>How to start a real time node app</vt:lpstr>
      <vt:lpstr>Title</vt:lpstr>
      <vt:lpstr>Challenges to Build BTP apps using NodeJS</vt:lpstr>
      <vt:lpstr>CAPM</vt:lpstr>
      <vt:lpstr>@sap/cds-dk</vt:lpstr>
      <vt:lpstr>Aspect in CAPM</vt:lpstr>
      <vt:lpstr>CDS Views?</vt:lpstr>
      <vt:lpstr>Disadvantage of Node JS App</vt:lpstr>
      <vt:lpstr>What is OData</vt:lpstr>
      <vt:lpstr>Title</vt:lpstr>
      <vt:lpstr>How to kill the port which is closed</vt:lpstr>
      <vt:lpstr>Association v/s Composition</vt:lpstr>
      <vt:lpstr>Generic Handler</vt:lpstr>
      <vt:lpstr>Sequence Diagram</vt:lpstr>
      <vt:lpstr>Debug Config</vt:lpstr>
      <vt:lpstr>Functions and Actions</vt:lpstr>
      <vt:lpstr>V2 v/s V4</vt:lpstr>
      <vt:lpstr>Virtual Elements</vt:lpstr>
      <vt:lpstr>Title</vt:lpstr>
      <vt:lpstr>Fiori Element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Annotations Summary</vt:lpstr>
      <vt:lpstr>PowerPoint Presentation</vt:lpstr>
      <vt:lpstr>PowerPoint Presentation</vt:lpstr>
      <vt:lpstr>Database in Cloud</vt:lpstr>
      <vt:lpstr>Title</vt:lpstr>
      <vt:lpstr>Schema?</vt:lpstr>
      <vt:lpstr>HDI Container and HDI Service</vt:lpstr>
      <vt:lpstr>Design time</vt:lpstr>
      <vt:lpstr>Make your app run on HANA connected to BAS tool</vt:lpstr>
      <vt:lpstr>Reminder: Start HANA DB</vt:lpstr>
      <vt:lpstr>Authentication &amp; Authorization</vt:lpstr>
      <vt:lpstr>IDP – Identity Provider</vt:lpstr>
      <vt:lpstr>XSUAA – Security guard of BTP a/c</vt:lpstr>
      <vt:lpstr>Scope, Role Template, Attributes, RC</vt:lpstr>
      <vt:lpstr>Flow</vt:lpstr>
      <vt:lpstr>Documentations</vt:lpstr>
      <vt:lpstr>Steps</vt:lpstr>
      <vt:lpstr>Flow</vt:lpstr>
      <vt:lpstr>mta.yaml – Application descriptor file</vt:lpstr>
      <vt:lpstr>Runtime for DB</vt:lpstr>
      <vt:lpstr>Steps</vt:lpstr>
      <vt:lpstr>How to test</vt:lpstr>
      <vt:lpstr>Problem Statement</vt:lpstr>
      <vt:lpstr>App Router</vt:lpstr>
      <vt:lpstr>Real life example of App Router</vt:lpstr>
      <vt:lpstr>Implementing App Router</vt:lpstr>
      <vt:lpstr>Working with Real-time project – code management</vt:lpstr>
      <vt:lpstr>Git and GIT HUB</vt:lpstr>
      <vt:lpstr>Fixing past issue</vt:lpstr>
      <vt:lpstr>Git and GIT HUB</vt:lpstr>
      <vt:lpstr>Steps</vt:lpstr>
      <vt:lpstr>CI/CD</vt:lpstr>
      <vt:lpstr>Process</vt:lpstr>
      <vt:lpstr>CTMS – Cloud Transport Management Service</vt:lpstr>
      <vt:lpstr>Steps</vt:lpstr>
      <vt:lpstr>Title</vt:lpstr>
      <vt:lpstr>Steps Continued… CTMS</vt:lpstr>
      <vt:lpstr>Process</vt:lpstr>
      <vt:lpstr>Question</vt:lpstr>
      <vt:lpstr>Title</vt:lpstr>
      <vt:lpstr>Fixing Authorization issue</vt:lpstr>
      <vt:lpstr>Title</vt:lpstr>
      <vt:lpstr>Fiori on Cloud Recipe ingredients 3X3</vt:lpstr>
      <vt:lpstr>What is more…</vt:lpstr>
      <vt:lpstr>SAP Cloud Identity Service</vt:lpstr>
      <vt:lpstr>Persona</vt:lpstr>
      <vt:lpstr>Persona</vt:lpstr>
      <vt:lpstr>How to configure Build Workzone</vt:lpstr>
      <vt:lpstr>MBT Tool for local system</vt:lpstr>
      <vt:lpstr>Support for attachments</vt:lpstr>
      <vt:lpstr>Why Multi-tenant App?</vt:lpstr>
      <vt:lpstr>Common Challenges</vt:lpstr>
      <vt:lpstr>What is Multitenant - SaaS</vt:lpstr>
      <vt:lpstr>Benefits of Multi tenant App</vt:lpstr>
      <vt:lpstr>Challenges</vt:lpstr>
      <vt:lpstr>How it works in BTP?</vt:lpstr>
      <vt:lpstr>SAP Customer Perspective</vt:lpstr>
      <vt:lpstr>Multi-tenant App on BTP</vt:lpstr>
      <vt:lpstr>Partner Solutions</vt:lpstr>
      <vt:lpstr>Data Separation for Multi tenant Apps</vt:lpstr>
      <vt:lpstr>SAP BTP Offerings</vt:lpstr>
      <vt:lpstr>Multi Tenant App – Architecture with CAP</vt:lpstr>
      <vt:lpstr>Simple Analogy</vt:lpstr>
      <vt:lpstr>What Happens in Real Life – Customer Side</vt:lpstr>
      <vt:lpstr>Profiles</vt:lpstr>
      <vt:lpstr>Example MTA.yaml</vt:lpstr>
      <vt:lpstr>Step by Step – Multi tenancy</vt:lpstr>
      <vt:lpstr>Continue</vt:lpstr>
      <vt:lpstr>Analytics list page</vt:lpstr>
      <vt:lpstr>Analytics list page</vt:lpstr>
      <vt:lpstr>Use Case- Analytics</vt:lpstr>
      <vt:lpstr>PowerPoint Presentation</vt:lpstr>
      <vt:lpstr>PowerPoint Presentation</vt:lpstr>
      <vt:lpstr>PowerPoint Presentation</vt:lpstr>
      <vt:lpstr>PowerPoint Presentation</vt:lpstr>
      <vt:lpstr>Clean Core</vt:lpstr>
      <vt:lpstr>Benefits</vt:lpstr>
      <vt:lpstr>PowerPoint Presentation</vt:lpstr>
      <vt:lpstr>PowerPoint Presentation</vt:lpstr>
      <vt:lpstr>PowerPoint Presentation</vt:lpstr>
      <vt:lpstr>What is API </vt:lpstr>
      <vt:lpstr>Use Case</vt:lpstr>
      <vt:lpstr>Title</vt:lpstr>
      <vt:lpstr>Steps</vt:lpstr>
      <vt:lpstr>Cotinue…</vt:lpstr>
      <vt:lpstr>Destination for Anubhav Training system</vt:lpstr>
      <vt:lpstr>Cotinue…</vt:lpstr>
      <vt:lpstr>Title</vt:lpstr>
      <vt:lpstr>External API using CAP</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Julian</dc:creator>
  <cp:lastModifiedBy>Deepraj Debroy</cp:lastModifiedBy>
  <cp:revision>1</cp:revision>
  <dcterms:created xsi:type="dcterms:W3CDTF">2013-09-12T13:05:01Z</dcterms:created>
  <dcterms:modified xsi:type="dcterms:W3CDTF">2026-07-26T10:42:29Z</dcterms:modified>
</cp:coreProperties>
</file>