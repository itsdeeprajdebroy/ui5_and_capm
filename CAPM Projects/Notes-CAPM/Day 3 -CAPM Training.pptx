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6" r:id="rId2"/>
    <p:sldId id="4122" r:id="rId3"/>
    <p:sldId id="277" r:id="rId4"/>
    <p:sldId id="4752" r:id="rId5"/>
    <p:sldId id="4758" r:id="rId6"/>
    <p:sldId id="4774" r:id="rId7"/>
    <p:sldId id="4775" r:id="rId8"/>
    <p:sldId id="4776" r:id="rId9"/>
    <p:sldId id="4788" r:id="rId10"/>
    <p:sldId id="4777" r:id="rId11"/>
    <p:sldId id="4769" r:id="rId12"/>
    <p:sldId id="4757" r:id="rId13"/>
    <p:sldId id="4759" r:id="rId14"/>
    <p:sldId id="4787" r:id="rId15"/>
    <p:sldId id="4780" r:id="rId16"/>
    <p:sldId id="282" r:id="rId17"/>
    <p:sldId id="280" r:id="rId18"/>
    <p:sldId id="4711" r:id="rId19"/>
    <p:sldId id="4773" r:id="rId20"/>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817DAF-671E-40FA-9B34-C817E16E6842}">
          <p14:sldIdLst>
            <p14:sldId id="276"/>
            <p14:sldId id="4122"/>
            <p14:sldId id="277"/>
            <p14:sldId id="4752"/>
            <p14:sldId id="4758"/>
            <p14:sldId id="4774"/>
            <p14:sldId id="4775"/>
            <p14:sldId id="4776"/>
            <p14:sldId id="4788"/>
          </p14:sldIdLst>
        </p14:section>
        <p14:section name="Untitled Section" id="{3D25B6DE-2864-4657-B43E-6916E185213C}">
          <p14:sldIdLst>
            <p14:sldId id="4777"/>
            <p14:sldId id="4769"/>
            <p14:sldId id="4757"/>
            <p14:sldId id="4759"/>
            <p14:sldId id="4787"/>
            <p14:sldId id="4780"/>
            <p14:sldId id="282"/>
            <p14:sldId id="280"/>
            <p14:sldId id="4711"/>
            <p14:sldId id="4773"/>
          </p14:sldIdLst>
        </p14:section>
      </p14:sectionLst>
    </p:ex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95250" autoAdjust="0"/>
  </p:normalViewPr>
  <p:slideViewPr>
    <p:cSldViewPr>
      <p:cViewPr varScale="1">
        <p:scale>
          <a:sx n="59" d="100"/>
          <a:sy n="59" d="100"/>
        </p:scale>
        <p:origin x="1040" y="52"/>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6T05:44:01.939"/>
    </inkml:context>
    <inkml:brush xml:id="br0">
      <inkml:brushProperty name="width" value="0.05" units="cm"/>
      <inkml:brushProperty name="height" value="0.05" units="cm"/>
      <inkml:brushProperty name="color" value="#FFC114"/>
    </inkml:brush>
  </inkml:definitions>
  <inkml:trace contextRef="#ctx0" brushRef="#br0">1 0 24575,'3'0'0,"5"0"0,5 0 0,15 0 0,16 0 0,19 0 0,10 0 0,10 0 0,17 0 0,8 0 0,-2 0 0,-9 0 0,-21 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5T05:02:00.817"/>
    </inkml:context>
    <inkml:brush xml:id="br0">
      <inkml:brushProperty name="width" value="0.035" units="cm"/>
      <inkml:brushProperty name="height" value="0.035" units="cm"/>
      <inkml:brushProperty name="color" value="#FF0066"/>
    </inkml:brush>
  </inkml:definitions>
  <inkml:trace contextRef="#ctx0" brushRef="#br0">0 60 24575,'95'-26'0,"30"-8"-8191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1T07:36:39.665"/>
    </inkml:context>
    <inkml:brush xml:id="br0">
      <inkml:brushProperty name="width" value="0.05" units="cm"/>
      <inkml:brushProperty name="height" value="0.05" units="cm"/>
      <inkml:brushProperty name="color" value="#FFC114"/>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1T07:36:40.443"/>
    </inkml:context>
    <inkml:brush xml:id="br0">
      <inkml:brushProperty name="width" value="0.05" units="cm"/>
      <inkml:brushProperty name="height" value="0.05" units="cm"/>
      <inkml:brushProperty name="color" value="#FFC11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11/27/2025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11/27/2025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11/27/2025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hyperlink" Target="https://cap.cloud.sap/" TargetMode="External"/><Relationship Id="rId1" Type="http://schemas.openxmlformats.org/officeDocument/2006/relationships/slideLayout" Target="../slideLayouts/slideLayout2.xml"/><Relationship Id="rId10"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coreybutler/nvm-windows/release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thub.com/soyuztechnologies/SAP_BTP_Training_CLD200/blob/master/Day%203/01%20db.zip"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20srv.zip"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soyuztechnologies/SAP_BTP_Training_CLD200/blob/master/Day%203/01%20db/01db/CDSViews.cd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customXml" Target="../ink/ink3.xml"/><Relationship Id="rId1" Type="http://schemas.openxmlformats.org/officeDocument/2006/relationships/slideLayout" Target="../slideLayouts/slideLayout2.xml"/><Relationship Id="rId4" Type="http://schemas.openxmlformats.org/officeDocument/2006/relationships/customXml" Target="../ink/ink4.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hyperlink" Target="http://www.dribbble.com/"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2.tiff"/><Relationship Id="rId5" Type="http://schemas.openxmlformats.org/officeDocument/2006/relationships/image" Target="../media/image11.tiff"/><Relationship Id="rId4" Type="http://schemas.openxmlformats.org/officeDocument/2006/relationships/image" Target="../media/image10.tiff"/><Relationship Id="rId9"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Architect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3</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581024" y="1338826"/>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581024" y="309454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581024" y="4850271"/>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3" name="Rectangle: Rounded Corners 1132">
            <a:extLst>
              <a:ext uri="{FF2B5EF4-FFF2-40B4-BE49-F238E27FC236}">
                <a16:creationId xmlns:a16="http://schemas.microsoft.com/office/drawing/2014/main" id="{47299741-729A-4FA6-A73E-373218C0B948}"/>
              </a:ext>
            </a:extLst>
          </p:cNvPr>
          <p:cNvSpPr/>
          <p:nvPr/>
        </p:nvSpPr>
        <p:spPr>
          <a:xfrm>
            <a:off x="6326749" y="1338826"/>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6326749" y="309454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6326749" y="485027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1245710" y="1591839"/>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923980"/>
              <a:ext cx="2236930" cy="95875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Challenges in BTP application development</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1245710" y="3347558"/>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923980"/>
              <a:ext cx="2236930" cy="95875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What is Cloud Application programming Model?</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1" name="Group 1140">
            <a:extLst>
              <a:ext uri="{FF2B5EF4-FFF2-40B4-BE49-F238E27FC236}">
                <a16:creationId xmlns:a16="http://schemas.microsoft.com/office/drawing/2014/main" id="{010C7D28-B781-409B-AFDB-2EB8DCBAB471}"/>
              </a:ext>
            </a:extLst>
          </p:cNvPr>
          <p:cNvGrpSpPr/>
          <p:nvPr/>
        </p:nvGrpSpPr>
        <p:grpSpPr>
          <a:xfrm>
            <a:off x="6991434" y="1591839"/>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083772"/>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Create DB module with SQLite</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04</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6991434" y="3347558"/>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083770"/>
              <a:ext cx="2236930" cy="639170"/>
            </a:xfrm>
            <a:prstGeom prst="rect">
              <a:avLst/>
            </a:prstGeom>
            <a:noFill/>
          </p:spPr>
          <p:txBody>
            <a:bodyPr wrap="square" lIns="0" tIns="0" rIns="0" bIns="0" rtlCol="0" anchor="ctr">
              <a:spAutoFit/>
            </a:bodyPr>
            <a:lstStyle/>
            <a:p>
              <a:pPr marL="0" marR="0" indent="0" algn="l" rtl="0" eaLnBrk="1" fontAlgn="auto" latinLnBrk="0" hangingPunct="1">
                <a:spcBef>
                  <a:spcPts val="0"/>
                </a:spcBef>
                <a:spcAft>
                  <a:spcPts val="0"/>
                </a:spcAft>
              </a:pPr>
              <a:r>
                <a:rPr lang="en-US" sz="1800" b="0" i="0" kern="1200" spc="0" baseline="0" dirty="0">
                  <a:ln>
                    <a:noFill/>
                  </a:ln>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Understanding Aspects and associations</a:t>
              </a:r>
              <a:endParaRPr lang="en-US" sz="1400" dirty="0">
                <a:effectLst/>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05</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1245710" y="5103281"/>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CAPM and CDS Concept</a:t>
              </a: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04</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6991434" y="5103281"/>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Working with Service Layer</a:t>
              </a: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06</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Challenges of building Apps on BTP</a:t>
            </a:r>
            <a:endParaRPr lang="en-US" dirty="0"/>
          </a:p>
        </p:txBody>
      </p:sp>
      <p:sp>
        <p:nvSpPr>
          <p:cNvPr id="3" name="TextBox 2">
            <a:extLst>
              <a:ext uri="{FF2B5EF4-FFF2-40B4-BE49-F238E27FC236}">
                <a16:creationId xmlns:a16="http://schemas.microsoft.com/office/drawing/2014/main" id="{6148E66F-ABF6-0B15-CE8B-9C044524F705}"/>
              </a:ext>
            </a:extLst>
          </p:cNvPr>
          <p:cNvSpPr txBox="1"/>
          <p:nvPr/>
        </p:nvSpPr>
        <p:spPr>
          <a:xfrm>
            <a:off x="189756" y="787935"/>
            <a:ext cx="11809312" cy="5632311"/>
          </a:xfrm>
          <a:prstGeom prst="rect">
            <a:avLst/>
          </a:prstGeom>
          <a:noFill/>
        </p:spPr>
        <p:txBody>
          <a:bodyPr wrap="square" rtlCol="0">
            <a:spAutoFit/>
          </a:bodyPr>
          <a:lstStyle/>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What is the best-practice/ gold-standard to build sap </a:t>
            </a:r>
            <a:r>
              <a:rPr kumimoji="0" lang="en-US" sz="1800" b="0" i="0" u="none" strike="noStrike" kern="1200" cap="none" spc="0" normalizeH="0" baseline="0" noProof="0" dirty="0" err="1">
                <a:ln>
                  <a:noFill/>
                </a:ln>
                <a:solidFill>
                  <a:prstClr val="white"/>
                </a:solidFill>
                <a:effectLst/>
                <a:uLnTx/>
                <a:uFillTx/>
                <a:latin typeface="Segoe UI"/>
                <a:ea typeface="+mn-ea"/>
                <a:cs typeface="+mn-cs"/>
                <a:sym typeface="Wingdings" panose="05000000000000000000" pitchFamily="2" charset="2"/>
              </a:rPr>
              <a:t>btp</a:t>
            </a: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 applications, recommendation by SAP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Are there any existing sample apps which we can follow to build our app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Many times, as a developer it is hard to add each part of app like files, dependencies, deploy descriptor, lots of code. Can this process be simplified?</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How can we have reusability of the code to speed up my development and use sap provided tools to generate the skeleton of the apps</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As a developer we want to focus more on functional aspect implementation rather initial project setup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Our apps are sometime tightly coupled with DB technology, develop DB agnostic apps</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No matter what is the area we belong FIN, SD, MM, PP, PM, APO, CRM, HR etc. eventually as a developer we all do same work. Design tables, write logic, build UI</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How to develop software in BTP, which does not require too much time in handovers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SAP CAPM – Cloud Application Programming Model</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It’s a SAP provided framework to develop SaaS apps in BTP which is PaaS. If the developer wants to use open source technologies like Node and Java. Great cost saving and freedom of choice of technology and consultants available easily in market. </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SAP RAP – Restful Application Programming Model</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It is based on ABAP on Cloud. We can build extensions and SaaS application using this framework. The skill required will be ABAP and CDS knowledge. The deployment is very costly as compared to open-source technologies used in CAP.</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3201663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randombar(horizontal)">
                                      <p:cBhvr>
                                        <p:cTn id="55" dur="500"/>
                                        <p:tgtEl>
                                          <p:spTgt spid="3">
                                            <p:txEl>
                                              <p:pRg st="8" end="8"/>
                                            </p:txEl>
                                          </p:spTgt>
                                        </p:tgtEl>
                                      </p:cBhvr>
                                    </p:animEffect>
                                  </p:childTnLst>
                                </p:cTn>
                              </p:par>
                              <p:par>
                                <p:cTn id="56" presetID="14" presetClass="entr" presetSubtype="10" fill="hold" nodeType="with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randombar(horizontal)">
                                      <p:cBhvr>
                                        <p:cTn id="58" dur="500"/>
                                        <p:tgtEl>
                                          <p:spTgt spid="3">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63" dur="500"/>
                                        <p:tgtEl>
                                          <p:spTgt spid="3">
                                            <p:txEl>
                                              <p:pRg st="10" end="10"/>
                                            </p:txEl>
                                          </p:spTgt>
                                        </p:tgtEl>
                                      </p:cBhvr>
                                    </p:animEffect>
                                  </p:childTnLst>
                                </p:cTn>
                              </p:par>
                              <p:par>
                                <p:cTn id="64" presetID="14" presetClass="entr" presetSubtype="10" fill="hold" nodeType="with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6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CAPM Introduction</a:t>
            </a:r>
          </a:p>
        </p:txBody>
      </p:sp>
      <p:sp>
        <p:nvSpPr>
          <p:cNvPr id="3" name="TextBox 2">
            <a:extLst>
              <a:ext uri="{FF2B5EF4-FFF2-40B4-BE49-F238E27FC236}">
                <a16:creationId xmlns:a16="http://schemas.microsoft.com/office/drawing/2014/main" id="{3B5C91F9-8D30-80D7-24C7-7E4D9F3757AA}"/>
              </a:ext>
            </a:extLst>
          </p:cNvPr>
          <p:cNvSpPr txBox="1"/>
          <p:nvPr/>
        </p:nvSpPr>
        <p:spPr>
          <a:xfrm>
            <a:off x="189757" y="784925"/>
            <a:ext cx="11809312"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CAPM is a framework of (a framework is a collection of libraries, classes, function, attributes, events)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Languages – Java and Node 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Libraries – Node modules like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etc.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And Tools – VS Code or BAS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The CAP framework is used for building enterprise grade applications &amp; extensions which are cloud-native in SAP BTP.</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30072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CDS – Core Data and Services </a:t>
            </a:r>
            <a:endParaRPr lang="en-US" dirty="0"/>
          </a:p>
        </p:txBody>
      </p:sp>
      <p:sp>
        <p:nvSpPr>
          <p:cNvPr id="3" name="TextBox 2">
            <a:extLst>
              <a:ext uri="{FF2B5EF4-FFF2-40B4-BE49-F238E27FC236}">
                <a16:creationId xmlns:a16="http://schemas.microsoft.com/office/drawing/2014/main" id="{DC6F944F-40C8-B576-8042-58CDF7803F33}"/>
              </a:ext>
            </a:extLst>
          </p:cNvPr>
          <p:cNvSpPr txBox="1"/>
          <p:nvPr/>
        </p:nvSpPr>
        <p:spPr>
          <a:xfrm>
            <a:off x="189757" y="764802"/>
            <a:ext cx="1180931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Conceptually CDS is same concept but different flavor. The concept says that, we have a design time object which is a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file. We will create a </a:t>
            </a:r>
            <a:r>
              <a:rPr kumimoji="0" lang="en-US" sz="2000" b="1" i="0" u="none" strike="noStrike" kern="0" cap="none" spc="0" normalizeH="0" baseline="0" noProof="0" dirty="0">
                <a:ln>
                  <a:noFill/>
                </a:ln>
                <a:solidFill>
                  <a:prstClr val="white"/>
                </a:solidFill>
                <a:effectLst/>
                <a:uLnTx/>
                <a:uFillTx/>
                <a:latin typeface="Segoe UI"/>
                <a:ea typeface="+mn-ea"/>
                <a:cs typeface="+mn-cs"/>
              </a:rPr>
              <a:t>.</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file for almost everything e.g. database tables, views, models, services, UI/UX. This design time object file is compiled by CAPM framework (inside CAP we have node module called </a:t>
            </a:r>
            <a:r>
              <a:rPr kumimoji="0" lang="en-US" sz="2000" b="1" i="0" u="none" strike="noStrike" kern="0" cap="none" spc="0" normalizeH="0" baseline="0" noProof="0" dirty="0">
                <a:ln>
                  <a:noFill/>
                </a:ln>
                <a:solidFill>
                  <a:prstClr val="white"/>
                </a:solidFill>
                <a:effectLst/>
                <a:uLnTx/>
                <a:uFillTx/>
                <a:latin typeface="Segoe UI"/>
                <a:ea typeface="+mn-ea"/>
                <a:cs typeface="+mn-cs"/>
              </a:rPr>
              <a:t>@sap/cds)</a:t>
            </a:r>
            <a:r>
              <a:rPr kumimoji="0" lang="en-US" sz="2000" b="0" i="0" u="none" strike="noStrike" kern="0" cap="none" spc="0" normalizeH="0" baseline="0" noProof="0" dirty="0">
                <a:ln>
                  <a:noFill/>
                </a:ln>
                <a:solidFill>
                  <a:prstClr val="white"/>
                </a:solidFill>
                <a:effectLst/>
                <a:uLnTx/>
                <a:uFillTx/>
                <a:latin typeface="Segoe UI"/>
                <a:ea typeface="+mn-ea"/>
                <a:cs typeface="+mn-cs"/>
              </a:rPr>
              <a:t> Once the compilation is successful a </a:t>
            </a:r>
            <a:r>
              <a:rPr kumimoji="0" lang="en-US" sz="2000" b="1" i="0" u="none" strike="noStrike" kern="0" cap="none" spc="0" normalizeH="0" baseline="0" noProof="0" dirty="0">
                <a:ln>
                  <a:noFill/>
                </a:ln>
                <a:solidFill>
                  <a:prstClr val="white"/>
                </a:solidFill>
                <a:effectLst/>
                <a:uLnTx/>
                <a:uFillTx/>
                <a:latin typeface="Segoe UI"/>
                <a:ea typeface="+mn-ea"/>
                <a:cs typeface="+mn-cs"/>
              </a:rPr>
              <a:t>runtime</a:t>
            </a:r>
            <a:r>
              <a:rPr kumimoji="0" lang="en-US" sz="2000" b="0" i="0" u="none" strike="noStrike" kern="0" cap="none" spc="0" normalizeH="0" baseline="0" noProof="0" dirty="0">
                <a:ln>
                  <a:noFill/>
                </a:ln>
                <a:solidFill>
                  <a:prstClr val="white"/>
                </a:solidFill>
                <a:effectLst/>
                <a:uLnTx/>
                <a:uFillTx/>
                <a:latin typeface="Segoe UI"/>
                <a:ea typeface="+mn-ea"/>
                <a:cs typeface="+mn-cs"/>
              </a:rPr>
              <a:t> object gets created.</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14C97D6F-AA53-D025-A8BC-97B38BF92B0E}"/>
              </a:ext>
            </a:extLst>
          </p:cNvPr>
          <p:cNvSpPr/>
          <p:nvPr/>
        </p:nvSpPr>
        <p:spPr>
          <a:xfrm>
            <a:off x="1243076"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MySQL</a:t>
            </a:r>
          </a:p>
        </p:txBody>
      </p:sp>
      <p:sp>
        <p:nvSpPr>
          <p:cNvPr id="5" name="TextBox 4">
            <a:extLst>
              <a:ext uri="{FF2B5EF4-FFF2-40B4-BE49-F238E27FC236}">
                <a16:creationId xmlns:a16="http://schemas.microsoft.com/office/drawing/2014/main" id="{502740B2-396C-7B09-6F05-57352F5B989E}"/>
              </a:ext>
            </a:extLst>
          </p:cNvPr>
          <p:cNvSpPr txBox="1"/>
          <p:nvPr/>
        </p:nvSpPr>
        <p:spPr>
          <a:xfrm>
            <a:off x="693812" y="2413183"/>
            <a:ext cx="324036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 COLUMNS c1 integer, c2 varchar,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--20 lakh SQL statements</a:t>
            </a:r>
          </a:p>
        </p:txBody>
      </p:sp>
      <p:sp>
        <p:nvSpPr>
          <p:cNvPr id="6" name="Arrow: Down 5">
            <a:extLst>
              <a:ext uri="{FF2B5EF4-FFF2-40B4-BE49-F238E27FC236}">
                <a16:creationId xmlns:a16="http://schemas.microsoft.com/office/drawing/2014/main" id="{BC027F23-20DB-1584-2B1F-2C706F4CC0A7}"/>
              </a:ext>
            </a:extLst>
          </p:cNvPr>
          <p:cNvSpPr/>
          <p:nvPr/>
        </p:nvSpPr>
        <p:spPr>
          <a:xfrm>
            <a:off x="1989956"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3658874E-454E-1BD0-F383-B955248FFC11}"/>
              </a:ext>
            </a:extLst>
          </p:cNvPr>
          <p:cNvSpPr/>
          <p:nvPr/>
        </p:nvSpPr>
        <p:spPr>
          <a:xfrm>
            <a:off x="5086300"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8" name="Arrow: Down 7">
            <a:extLst>
              <a:ext uri="{FF2B5EF4-FFF2-40B4-BE49-F238E27FC236}">
                <a16:creationId xmlns:a16="http://schemas.microsoft.com/office/drawing/2014/main" id="{E66C5E84-AD3A-5B03-4F0B-B866473C75EE}"/>
              </a:ext>
            </a:extLst>
          </p:cNvPr>
          <p:cNvSpPr/>
          <p:nvPr/>
        </p:nvSpPr>
        <p:spPr>
          <a:xfrm>
            <a:off x="5734372"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Arrow: Down 8">
            <a:extLst>
              <a:ext uri="{FF2B5EF4-FFF2-40B4-BE49-F238E27FC236}">
                <a16:creationId xmlns:a16="http://schemas.microsoft.com/office/drawing/2014/main" id="{01BA5F7C-EEBF-9116-7607-D8BA196BFC0E}"/>
              </a:ext>
            </a:extLst>
          </p:cNvPr>
          <p:cNvSpPr/>
          <p:nvPr/>
        </p:nvSpPr>
        <p:spPr>
          <a:xfrm rot="19225908">
            <a:off x="3709153" y="3237906"/>
            <a:ext cx="648072" cy="1872208"/>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0" name="&quot;Not Allowed&quot; Symbol 9">
            <a:extLst>
              <a:ext uri="{FF2B5EF4-FFF2-40B4-BE49-F238E27FC236}">
                <a16:creationId xmlns:a16="http://schemas.microsoft.com/office/drawing/2014/main" id="{81E2AC82-DED5-D611-95D1-34338C0945F7}"/>
              </a:ext>
            </a:extLst>
          </p:cNvPr>
          <p:cNvSpPr/>
          <p:nvPr/>
        </p:nvSpPr>
        <p:spPr>
          <a:xfrm>
            <a:off x="3574132" y="3569122"/>
            <a:ext cx="864096" cy="830997"/>
          </a:xfrm>
          <a:prstGeom prst="noSmoking">
            <a:avLst/>
          </a:prstGeom>
          <a:solidFill>
            <a:srgbClr val="FF0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1" name="TextBox 10">
            <a:extLst>
              <a:ext uri="{FF2B5EF4-FFF2-40B4-BE49-F238E27FC236}">
                <a16:creationId xmlns:a16="http://schemas.microsoft.com/office/drawing/2014/main" id="{EF5E6E4A-BCB9-A94B-FB06-D6F0D7F285F3}"/>
              </a:ext>
            </a:extLst>
          </p:cNvPr>
          <p:cNvSpPr txBox="1"/>
          <p:nvPr/>
        </p:nvSpPr>
        <p:spPr>
          <a:xfrm>
            <a:off x="4294212" y="2236621"/>
            <a:ext cx="3240360"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tab(c1 integer, c2 varchar(30), primary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---2mn </a:t>
            </a:r>
            <a:r>
              <a:rPr kumimoji="0" lang="en-US" sz="1600" b="0" i="0" u="none" strike="noStrike" kern="0" cap="none" spc="0" normalizeH="0" baseline="0" noProof="0" dirty="0" err="1">
                <a:ln>
                  <a:noFill/>
                </a:ln>
                <a:solidFill>
                  <a:prstClr val="white"/>
                </a:solidFill>
                <a:effectLst/>
                <a:uLnTx/>
                <a:uFillTx/>
                <a:latin typeface="Segoe UI"/>
                <a:ea typeface="+mn-ea"/>
                <a:cs typeface="+mn-cs"/>
              </a:rPr>
              <a:t>sql</a:t>
            </a:r>
            <a:r>
              <a:rPr kumimoji="0" lang="en-US" sz="1600" b="0" i="0" u="none" strike="noStrike" kern="0" cap="none" spc="0" normalizeH="0" baseline="0" noProof="0" dirty="0">
                <a:ln>
                  <a:noFill/>
                </a:ln>
                <a:solidFill>
                  <a:prstClr val="white"/>
                </a:solidFill>
                <a:effectLst/>
                <a:uLnTx/>
                <a:uFillTx/>
                <a:latin typeface="Segoe UI"/>
                <a:ea typeface="+mn-ea"/>
                <a:cs typeface="+mn-cs"/>
              </a:rPr>
              <a:t> statements again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20bn dollars of investment</a:t>
            </a:r>
          </a:p>
        </p:txBody>
      </p:sp>
      <p:sp>
        <p:nvSpPr>
          <p:cNvPr id="12" name="TextBox 11">
            <a:extLst>
              <a:ext uri="{FF2B5EF4-FFF2-40B4-BE49-F238E27FC236}">
                <a16:creationId xmlns:a16="http://schemas.microsoft.com/office/drawing/2014/main" id="{1D03AE17-3F96-D0FF-95A3-FD2B8476D1F6}"/>
              </a:ext>
            </a:extLst>
          </p:cNvPr>
          <p:cNvSpPr txBox="1"/>
          <p:nvPr/>
        </p:nvSpPr>
        <p:spPr>
          <a:xfrm>
            <a:off x="2472148" y="6111399"/>
            <a:ext cx="36724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Too much database coupled</a:t>
            </a:r>
          </a:p>
        </p:txBody>
      </p:sp>
    </p:spTree>
    <p:extLst>
      <p:ext uri="{BB962C8B-B14F-4D97-AF65-F5344CB8AC3E}">
        <p14:creationId xmlns:p14="http://schemas.microsoft.com/office/powerpoint/2010/main" val="18116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heel(1)">
                                      <p:cBhvr>
                                        <p:cTn id="38" dur="2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000"/>
                                        <p:tgtEl>
                                          <p:spTgt spid="11"/>
                                        </p:tgtEl>
                                      </p:cBhvr>
                                    </p:animEffect>
                                    <p:anim calcmode="lin" valueType="num">
                                      <p:cBhvr>
                                        <p:cTn id="49" dur="1000" fill="hold"/>
                                        <p:tgtEl>
                                          <p:spTgt spid="11"/>
                                        </p:tgtEl>
                                        <p:attrNameLst>
                                          <p:attrName>ppt_x</p:attrName>
                                        </p:attrNameLst>
                                      </p:cBhvr>
                                      <p:tavLst>
                                        <p:tav tm="0">
                                          <p:val>
                                            <p:strVal val="#ppt_x"/>
                                          </p:val>
                                        </p:tav>
                                        <p:tav tm="100000">
                                          <p:val>
                                            <p:strVal val="#ppt_x"/>
                                          </p:val>
                                        </p:tav>
                                      </p:tavLst>
                                    </p:anim>
                                    <p:anim calcmode="lin" valueType="num">
                                      <p:cBhvr>
                                        <p:cTn id="5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P spid="7" grpId="0" animBg="1"/>
      <p:bldP spid="8" grpId="0" animBg="1"/>
      <p:bldP spid="9" grpId="0" animBg="1"/>
      <p:bldP spid="10" grpId="0" animBg="1"/>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Solution – use CAP framework</a:t>
            </a:r>
            <a:endParaRPr lang="en-US" dirty="0"/>
          </a:p>
        </p:txBody>
      </p:sp>
      <p:sp>
        <p:nvSpPr>
          <p:cNvPr id="3" name="Rectangle: Folded Corner 2">
            <a:extLst>
              <a:ext uri="{FF2B5EF4-FFF2-40B4-BE49-F238E27FC236}">
                <a16:creationId xmlns:a16="http://schemas.microsoft.com/office/drawing/2014/main" id="{9A95FA0B-4A9F-333C-1AA7-C5E921F7181F}"/>
              </a:ext>
            </a:extLst>
          </p:cNvPr>
          <p:cNvSpPr/>
          <p:nvPr/>
        </p:nvSpPr>
        <p:spPr>
          <a:xfrm>
            <a:off x="1413892" y="980728"/>
            <a:ext cx="2232248" cy="1728192"/>
          </a:xfrm>
          <a:prstGeom prst="foldedCorner">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entity tab{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c1 number,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c2 string(20)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a:t>
            </a:r>
          </a:p>
        </p:txBody>
      </p:sp>
      <p:sp>
        <p:nvSpPr>
          <p:cNvPr id="4" name="TextBox 3">
            <a:extLst>
              <a:ext uri="{FF2B5EF4-FFF2-40B4-BE49-F238E27FC236}">
                <a16:creationId xmlns:a16="http://schemas.microsoft.com/office/drawing/2014/main" id="{45DD6FC9-763F-819C-63CC-1867BA47F2F0}"/>
              </a:ext>
            </a:extLst>
          </p:cNvPr>
          <p:cNvSpPr txBox="1"/>
          <p:nvPr/>
        </p:nvSpPr>
        <p:spPr>
          <a:xfrm>
            <a:off x="3646140" y="1124744"/>
            <a:ext cx="187220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Design time artefact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Segoe UI"/>
                <a:ea typeface="+mn-ea"/>
                <a:cs typeface="+mn-cs"/>
              </a:rPr>
              <a:t>.</a:t>
            </a:r>
            <a:r>
              <a:rPr kumimoji="0" lang="en-US" sz="1800" b="1" i="0" u="none" strike="noStrike" kern="0" cap="none" spc="0" normalizeH="0" baseline="0" noProof="0" dirty="0" err="1">
                <a:ln>
                  <a:noFill/>
                </a:ln>
                <a:solidFill>
                  <a:prstClr val="white"/>
                </a:solidFill>
                <a:effectLst/>
                <a:uLnTx/>
                <a:uFillTx/>
                <a:latin typeface="Segoe UI"/>
                <a:ea typeface="+mn-ea"/>
                <a:cs typeface="+mn-cs"/>
              </a:rPr>
              <a:t>cds</a:t>
            </a:r>
            <a:endParaRPr kumimoji="0" lang="en-US" sz="1800" b="1" i="0" u="none" strike="noStrike" kern="0" cap="none" spc="0" normalizeH="0" baseline="0" noProof="0" dirty="0">
              <a:ln>
                <a:noFill/>
              </a:ln>
              <a:solidFill>
                <a:prstClr val="white"/>
              </a:solidFill>
              <a:effectLst/>
              <a:uLnTx/>
              <a:uFillTx/>
              <a:latin typeface="Segoe UI"/>
              <a:ea typeface="+mn-ea"/>
              <a:cs typeface="+mn-cs"/>
            </a:endParaRPr>
          </a:p>
        </p:txBody>
      </p:sp>
      <p:sp>
        <p:nvSpPr>
          <p:cNvPr id="5" name="Arrow: Down 4">
            <a:extLst>
              <a:ext uri="{FF2B5EF4-FFF2-40B4-BE49-F238E27FC236}">
                <a16:creationId xmlns:a16="http://schemas.microsoft.com/office/drawing/2014/main" id="{BEF93AA1-4FB8-2205-EE54-FA761629A5E9}"/>
              </a:ext>
            </a:extLst>
          </p:cNvPr>
          <p:cNvSpPr/>
          <p:nvPr/>
        </p:nvSpPr>
        <p:spPr>
          <a:xfrm>
            <a:off x="2195025" y="2872911"/>
            <a:ext cx="792088" cy="720080"/>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6" name="Rectangle: Rounded Corners 5">
            <a:extLst>
              <a:ext uri="{FF2B5EF4-FFF2-40B4-BE49-F238E27FC236}">
                <a16:creationId xmlns:a16="http://schemas.microsoft.com/office/drawing/2014/main" id="{BEED0806-C88E-25DF-81EA-74AD3B4FCCB8}"/>
              </a:ext>
            </a:extLst>
          </p:cNvPr>
          <p:cNvSpPr/>
          <p:nvPr/>
        </p:nvSpPr>
        <p:spPr>
          <a:xfrm>
            <a:off x="970889" y="3681516"/>
            <a:ext cx="3240359" cy="1060145"/>
          </a:xfrm>
          <a:prstGeom prst="round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CAPM Framework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
        <p:nvSpPr>
          <p:cNvPr id="7" name="Rectangle: Rounded Corners 6">
            <a:extLst>
              <a:ext uri="{FF2B5EF4-FFF2-40B4-BE49-F238E27FC236}">
                <a16:creationId xmlns:a16="http://schemas.microsoft.com/office/drawing/2014/main" id="{15722310-6A47-C40B-8707-AFC990AD696F}"/>
              </a:ext>
            </a:extLst>
          </p:cNvPr>
          <p:cNvSpPr/>
          <p:nvPr/>
        </p:nvSpPr>
        <p:spPr>
          <a:xfrm>
            <a:off x="1485900" y="4077072"/>
            <a:ext cx="2232248" cy="576064"/>
          </a:xfrm>
          <a:prstGeom prst="roundRect">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rgbClr val="38C6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@sap/cds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CDS Engine</a:t>
            </a:r>
          </a:p>
        </p:txBody>
      </p:sp>
      <p:sp>
        <p:nvSpPr>
          <p:cNvPr id="8" name="Arrow: Down 7">
            <a:extLst>
              <a:ext uri="{FF2B5EF4-FFF2-40B4-BE49-F238E27FC236}">
                <a16:creationId xmlns:a16="http://schemas.microsoft.com/office/drawing/2014/main" id="{0FF8E203-9B98-83E5-9DFF-897861D81898}"/>
              </a:ext>
            </a:extLst>
          </p:cNvPr>
          <p:cNvSpPr/>
          <p:nvPr/>
        </p:nvSpPr>
        <p:spPr>
          <a:xfrm>
            <a:off x="2277988" y="4893603"/>
            <a:ext cx="648072" cy="521822"/>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Rectangle 8">
            <a:extLst>
              <a:ext uri="{FF2B5EF4-FFF2-40B4-BE49-F238E27FC236}">
                <a16:creationId xmlns:a16="http://schemas.microsoft.com/office/drawing/2014/main" id="{AE3AC2C6-5214-3993-1341-66AEBD051856}"/>
              </a:ext>
            </a:extLst>
          </p:cNvPr>
          <p:cNvSpPr/>
          <p:nvPr/>
        </p:nvSpPr>
        <p:spPr>
          <a:xfrm>
            <a:off x="1618960" y="5555116"/>
            <a:ext cx="1944216" cy="580872"/>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 Code</a:t>
            </a:r>
          </a:p>
        </p:txBody>
      </p:sp>
      <p:sp>
        <p:nvSpPr>
          <p:cNvPr id="10" name="Flowchart: Magnetic Disk 9">
            <a:extLst>
              <a:ext uri="{FF2B5EF4-FFF2-40B4-BE49-F238E27FC236}">
                <a16:creationId xmlns:a16="http://schemas.microsoft.com/office/drawing/2014/main" id="{AFC8D9F1-7729-B25E-62C2-EC833E7F6DA2}"/>
              </a:ext>
            </a:extLst>
          </p:cNvPr>
          <p:cNvSpPr/>
          <p:nvPr/>
        </p:nvSpPr>
        <p:spPr>
          <a:xfrm>
            <a:off x="4726260" y="3681516"/>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SQLite</a:t>
            </a:r>
          </a:p>
        </p:txBody>
      </p:sp>
      <p:sp>
        <p:nvSpPr>
          <p:cNvPr id="11" name="&quot;Not Allowed&quot; Symbol 10">
            <a:extLst>
              <a:ext uri="{FF2B5EF4-FFF2-40B4-BE49-F238E27FC236}">
                <a16:creationId xmlns:a16="http://schemas.microsoft.com/office/drawing/2014/main" id="{12C1A82B-0D62-BB78-32C4-B2E3B6C53FE3}"/>
              </a:ext>
            </a:extLst>
          </p:cNvPr>
          <p:cNvSpPr/>
          <p:nvPr/>
        </p:nvSpPr>
        <p:spPr>
          <a:xfrm>
            <a:off x="5014292" y="3592991"/>
            <a:ext cx="1080120" cy="720080"/>
          </a:xfrm>
          <a:prstGeom prst="noSmoking">
            <a:avLst/>
          </a:prstGeom>
          <a:solidFill>
            <a:srgbClr val="FFC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w="22225">
                <a:solidFill>
                  <a:srgbClr val="38C6C6"/>
                </a:solidFill>
                <a:prstDash val="solid"/>
              </a:ln>
              <a:solidFill>
                <a:prstClr val="white"/>
              </a:solidFill>
              <a:effectLst/>
              <a:uLnTx/>
              <a:uFillTx/>
              <a:latin typeface="Segoe UI"/>
              <a:ea typeface="+mn-ea"/>
              <a:cs typeface="+mn-cs"/>
            </a:endParaRPr>
          </a:p>
        </p:txBody>
      </p:sp>
      <p:sp>
        <p:nvSpPr>
          <p:cNvPr id="12" name="Flowchart: Magnetic Disk 11">
            <a:extLst>
              <a:ext uri="{FF2B5EF4-FFF2-40B4-BE49-F238E27FC236}">
                <a16:creationId xmlns:a16="http://schemas.microsoft.com/office/drawing/2014/main" id="{82D31DB3-9CB9-25FA-5DC2-7C2E7DF2ACAD}"/>
              </a:ext>
            </a:extLst>
          </p:cNvPr>
          <p:cNvSpPr/>
          <p:nvPr/>
        </p:nvSpPr>
        <p:spPr>
          <a:xfrm>
            <a:off x="4762266" y="4465471"/>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13" name="TextBox 12">
            <a:extLst>
              <a:ext uri="{FF2B5EF4-FFF2-40B4-BE49-F238E27FC236}">
                <a16:creationId xmlns:a16="http://schemas.microsoft.com/office/drawing/2014/main" id="{6C3A3EF8-9D04-0A9E-B2CC-C8AA3142A0D9}"/>
              </a:ext>
            </a:extLst>
          </p:cNvPr>
          <p:cNvSpPr txBox="1"/>
          <p:nvPr/>
        </p:nvSpPr>
        <p:spPr>
          <a:xfrm>
            <a:off x="4283344" y="5660886"/>
            <a:ext cx="224311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Database Agnostic</a:t>
            </a:r>
          </a:p>
        </p:txBody>
      </p:sp>
      <p:sp>
        <p:nvSpPr>
          <p:cNvPr id="14" name="TextBox 13">
            <a:extLst>
              <a:ext uri="{FF2B5EF4-FFF2-40B4-BE49-F238E27FC236}">
                <a16:creationId xmlns:a16="http://schemas.microsoft.com/office/drawing/2014/main" id="{315DC700-9C1A-9BAC-FDEA-995B1D72F73D}"/>
              </a:ext>
            </a:extLst>
          </p:cNvPr>
          <p:cNvSpPr txBox="1"/>
          <p:nvPr/>
        </p:nvSpPr>
        <p:spPr>
          <a:xfrm>
            <a:off x="6530990" y="980728"/>
            <a:ext cx="388276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https://cap.cloud.sap/</a:t>
            </a: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AEF15A25-27E2-F1CF-28A6-8B044331A431}"/>
                  </a:ext>
                </a:extLst>
              </p14:cNvPr>
              <p14:cNvContentPartPr/>
              <p14:nvPr/>
            </p14:nvContentPartPr>
            <p14:xfrm>
              <a:off x="3162240" y="4030980"/>
              <a:ext cx="289080" cy="360"/>
            </p14:xfrm>
          </p:contentPart>
        </mc:Choice>
        <mc:Fallback xmlns="">
          <p:pic>
            <p:nvPicPr>
              <p:cNvPr id="19" name="Ink 18">
                <a:extLst>
                  <a:ext uri="{FF2B5EF4-FFF2-40B4-BE49-F238E27FC236}">
                    <a16:creationId xmlns:a16="http://schemas.microsoft.com/office/drawing/2014/main" id="{AEF15A25-27E2-F1CF-28A6-8B044331A431}"/>
                  </a:ext>
                </a:extLst>
              </p:cNvPr>
              <p:cNvPicPr/>
              <p:nvPr/>
            </p:nvPicPr>
            <p:blipFill>
              <a:blip r:embed="rId10"/>
              <a:stretch>
                <a:fillRect/>
              </a:stretch>
            </p:blipFill>
            <p:spPr>
              <a:xfrm>
                <a:off x="3153240" y="4021980"/>
                <a:ext cx="306720" cy="18000"/>
              </a:xfrm>
              <a:prstGeom prst="rect">
                <a:avLst/>
              </a:prstGeom>
            </p:spPr>
          </p:pic>
        </mc:Fallback>
      </mc:AlternateContent>
    </p:spTree>
    <p:extLst>
      <p:ext uri="{BB962C8B-B14F-4D97-AF65-F5344CB8AC3E}">
        <p14:creationId xmlns:p14="http://schemas.microsoft.com/office/powerpoint/2010/main" val="916190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circle(in)">
                                      <p:cBhvr>
                                        <p:cTn id="49" dur="20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5"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2000"/>
                                        <p:tgtEl>
                                          <p:spTgt spid="13"/>
                                        </p:tgtEl>
                                      </p:cBhvr>
                                    </p:animEffect>
                                    <p:anim calcmode="lin" valueType="num">
                                      <p:cBhvr>
                                        <p:cTn id="62" dur="2000" fill="hold"/>
                                        <p:tgtEl>
                                          <p:spTgt spid="13"/>
                                        </p:tgtEl>
                                        <p:attrNameLst>
                                          <p:attrName>ppt_w</p:attrName>
                                        </p:attrNameLst>
                                      </p:cBhvr>
                                      <p:tavLst>
                                        <p:tav tm="0" fmla="#ppt_w*sin(2.5*pi*$)">
                                          <p:val>
                                            <p:fltVal val="0"/>
                                          </p:val>
                                        </p:tav>
                                        <p:tav tm="100000">
                                          <p:val>
                                            <p:fltVal val="1"/>
                                          </p:val>
                                        </p:tav>
                                      </p:tavLst>
                                    </p:anim>
                                    <p:anim calcmode="lin" valueType="num">
                                      <p:cBhvr>
                                        <p:cTn id="63" dur="20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animBg="1"/>
      <p:bldP spid="8" grpId="0" animBg="1"/>
      <p:bldP spid="9" grpId="0" animBg="1"/>
      <p:bldP spid="10" grpId="0" animBg="1"/>
      <p:bldP spid="11" grpId="0" animBg="1"/>
      <p:bldP spid="12" grpId="0" animBg="1"/>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Modules for using CAP</a:t>
            </a:r>
            <a:endParaRPr lang="en-IN" sz="3600" dirty="0">
              <a:latin typeface="Cooper Black" panose="0208090404030B020404" pitchFamily="18" charset="0"/>
            </a:endParaRPr>
          </a:p>
        </p:txBody>
      </p:sp>
      <p:sp>
        <p:nvSpPr>
          <p:cNvPr id="3" name="TextBox 2">
            <a:extLst>
              <a:ext uri="{FF2B5EF4-FFF2-40B4-BE49-F238E27FC236}">
                <a16:creationId xmlns:a16="http://schemas.microsoft.com/office/drawing/2014/main" id="{3BD5C468-C983-C981-7134-1C975624C2ED}"/>
              </a:ext>
            </a:extLst>
          </p:cNvPr>
          <p:cNvSpPr txBox="1"/>
          <p:nvPr/>
        </p:nvSpPr>
        <p:spPr>
          <a:xfrm>
            <a:off x="189757" y="836712"/>
            <a:ext cx="11809312" cy="440120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We need to install sap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(Development kit), This kit includes required framework libraries and source code to build, test, deploy, run cap applications. It comes along with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CLI which will be used by developers to quickly generate the cap project skeleton. This module needs to be installed globally in our system if we are using VS Code, in case we use BAS, this module is pre-installed.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npm</a:t>
            </a:r>
            <a:r>
              <a:rPr kumimoji="0" lang="en-US" sz="2000" b="1" i="0" u="none" strike="noStrike" kern="0" cap="none" spc="0" normalizeH="0" baseline="0" noProof="0" dirty="0">
                <a:ln>
                  <a:noFill/>
                </a:ln>
                <a:solidFill>
                  <a:prstClr val="white"/>
                </a:solidFill>
                <a:effectLst/>
                <a:uLnTx/>
                <a:uFillTx/>
                <a:latin typeface="Segoe UI"/>
                <a:ea typeface="+mn-ea"/>
                <a:cs typeface="+mn-cs"/>
              </a:rPr>
              <a:t> install -g @sap/cds-dk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      node version &gt;= 14</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Check if the CAP is installed in my system </a:t>
            </a:r>
            <a:r>
              <a:rPr kumimoji="0" lang="en-US" sz="2000" b="0"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–v &amp;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--help</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Create a folder in our computer, and run </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init</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command. This will create a project skeleton automatically which includes </a:t>
            </a:r>
            <a:r>
              <a:rPr kumimoji="0" lang="en-US" sz="2000" b="1" i="0" u="none" strike="noStrike" kern="0" cap="none" spc="0" normalizeH="0" baseline="0" noProof="0" dirty="0" err="1">
                <a:ln>
                  <a:noFill/>
                </a:ln>
                <a:solidFill>
                  <a:prstClr val="white"/>
                </a:solidFill>
                <a:effectLst/>
                <a:uLnTx/>
                <a:uFillTx/>
                <a:latin typeface="Segoe UI"/>
                <a:ea typeface="+mn-ea"/>
                <a:cs typeface="+mn-cs"/>
              </a:rPr>
              <a:t>db</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srv</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ui</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folders.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If you want to quickly manage multiple node versions in your computer you can use </a:t>
            </a:r>
            <a:r>
              <a:rPr kumimoji="0" lang="en-IN" sz="2000" b="0" i="0" u="none" strike="noStrike" kern="0" cap="none" spc="0" normalizeH="0" baseline="0" noProof="0" dirty="0" err="1">
                <a:ln>
                  <a:noFill/>
                </a:ln>
                <a:solidFill>
                  <a:prstClr val="white"/>
                </a:solidFill>
                <a:effectLst/>
                <a:uLnTx/>
                <a:uFillTx/>
                <a:latin typeface="Segoe UI"/>
                <a:ea typeface="+mn-ea"/>
                <a:cs typeface="+mn-cs"/>
              </a:rPr>
              <a:t>nvm</a:t>
            </a:r>
            <a:r>
              <a:rPr kumimoji="0" lang="en-IN" sz="2000" b="0" i="0" u="none" strike="noStrike" kern="0" cap="none" spc="0" normalizeH="0" baseline="0" noProof="0" dirty="0">
                <a:ln>
                  <a:noFill/>
                </a:ln>
                <a:solidFill>
                  <a:prstClr val="white"/>
                </a:solidFill>
                <a:effectLst/>
                <a:uLnTx/>
                <a:uFillTx/>
                <a:latin typeface="Segoe UI"/>
                <a:ea typeface="+mn-ea"/>
                <a:cs typeface="+mn-cs"/>
              </a:rPr>
              <a:t> tool - </a:t>
            </a:r>
            <a:r>
              <a:rPr kumimoji="0" lang="en-IN" sz="20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https://github.com/coreybutler/nvm-windows/releases</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When we make constant changes to the project, we want project to detect a correction and automatically restart the server. We can use the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watch </a:t>
            </a:r>
            <a:r>
              <a:rPr kumimoji="0" lang="en-IN" sz="2000" b="0" i="0" u="none" strike="noStrike" kern="0" cap="none" spc="0" normalizeH="0" baseline="0" noProof="0" dirty="0">
                <a:ln>
                  <a:noFill/>
                </a:ln>
                <a:solidFill>
                  <a:prstClr val="white"/>
                </a:solidFill>
                <a:effectLst/>
                <a:uLnTx/>
                <a:uFillTx/>
                <a:latin typeface="Segoe UI"/>
                <a:ea typeface="+mn-ea"/>
                <a:cs typeface="+mn-cs"/>
              </a:rPr>
              <a:t>command instead of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run</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8436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E85E1-F80C-51F4-A8E4-E0C646AD032B}"/>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2E446F63-8FB5-DC70-E565-FE66E0EB3167}"/>
                  </a:ext>
                </a:extLst>
              </p14:cNvPr>
              <p14:cNvContentPartPr/>
              <p14:nvPr/>
            </p14:nvContentPartPr>
            <p14:xfrm>
              <a:off x="405522" y="6918070"/>
              <a:ext cx="79560" cy="21960"/>
            </p14:xfrm>
          </p:contentPart>
        </mc:Choice>
        <mc:Fallback xmlns="">
          <p:pic>
            <p:nvPicPr>
              <p:cNvPr id="3" name="Ink 2">
                <a:extLst>
                  <a:ext uri="{FF2B5EF4-FFF2-40B4-BE49-F238E27FC236}">
                    <a16:creationId xmlns:a16="http://schemas.microsoft.com/office/drawing/2014/main" id="{2E446F63-8FB5-DC70-E565-FE66E0EB3167}"/>
                  </a:ext>
                </a:extLst>
              </p:cNvPr>
              <p:cNvPicPr/>
              <p:nvPr/>
            </p:nvPicPr>
            <p:blipFill>
              <a:blip r:embed="rId3"/>
              <a:stretch>
                <a:fillRect/>
              </a:stretch>
            </p:blipFill>
            <p:spPr>
              <a:xfrm>
                <a:off x="399402" y="6911950"/>
                <a:ext cx="91800" cy="34200"/>
              </a:xfrm>
              <a:prstGeom prst="rect">
                <a:avLst/>
              </a:prstGeom>
            </p:spPr>
          </p:pic>
        </mc:Fallback>
      </mc:AlternateContent>
    </p:spTree>
    <p:extLst>
      <p:ext uri="{BB962C8B-B14F-4D97-AF65-F5344CB8AC3E}">
        <p14:creationId xmlns:p14="http://schemas.microsoft.com/office/powerpoint/2010/main" val="1284677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DB Design</a:t>
            </a:r>
          </a:p>
        </p:txBody>
      </p:sp>
      <p:sp>
        <p:nvSpPr>
          <p:cNvPr id="3" name="Rectangle 2">
            <a:extLst>
              <a:ext uri="{FF2B5EF4-FFF2-40B4-BE49-F238E27FC236}">
                <a16:creationId xmlns:a16="http://schemas.microsoft.com/office/drawing/2014/main" id="{EA20F50A-CB9E-23E1-DC37-E78CCBD617BA}"/>
              </a:ext>
            </a:extLst>
          </p:cNvPr>
          <p:cNvSpPr/>
          <p:nvPr/>
        </p:nvSpPr>
        <p:spPr>
          <a:xfrm>
            <a:off x="449806" y="2889216"/>
            <a:ext cx="2448272" cy="1296144"/>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Business partner</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t>
            </a:r>
            <a:r>
              <a:rPr kumimoji="0" lang="en-US" sz="1800" b="0" i="0" u="none" strike="noStrike" kern="1200" cap="none" spc="0" normalizeH="0" baseline="0" noProof="0" dirty="0">
                <a:ln>
                  <a:noFill/>
                </a:ln>
                <a:solidFill>
                  <a:prstClr val="white"/>
                </a:solidFill>
                <a:effectLst/>
                <a:uLnTx/>
                <a:uFillTx/>
                <a:latin typeface="Segoe UI"/>
                <a:ea typeface="+mn-ea"/>
                <a:cs typeface="+mn-cs"/>
              </a:rPr>
              <a:t>Customers, Suppliers)</a:t>
            </a: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3C70A250-995E-4FAE-671E-12D15849E10E}"/>
              </a:ext>
            </a:extLst>
          </p:cNvPr>
          <p:cNvSpPr/>
          <p:nvPr/>
        </p:nvSpPr>
        <p:spPr>
          <a:xfrm>
            <a:off x="449806" y="1310939"/>
            <a:ext cx="2448272" cy="786189"/>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Addresses</a:t>
            </a:r>
          </a:p>
        </p:txBody>
      </p:sp>
      <p:cxnSp>
        <p:nvCxnSpPr>
          <p:cNvPr id="5" name="Straight Connector 4">
            <a:extLst>
              <a:ext uri="{FF2B5EF4-FFF2-40B4-BE49-F238E27FC236}">
                <a16:creationId xmlns:a16="http://schemas.microsoft.com/office/drawing/2014/main" id="{23CAA533-07B7-451A-408E-566D8082B1EF}"/>
              </a:ext>
            </a:extLst>
          </p:cNvPr>
          <p:cNvCxnSpPr>
            <a:stCxn id="4" idx="2"/>
            <a:endCxn id="3" idx="0"/>
          </p:cNvCxnSpPr>
          <p:nvPr/>
        </p:nvCxnSpPr>
        <p:spPr>
          <a:xfrm>
            <a:off x="1673942" y="2097128"/>
            <a:ext cx="0" cy="79208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5EE02F7-7DF6-2EE9-BEA7-743EC18A42AE}"/>
              </a:ext>
            </a:extLst>
          </p:cNvPr>
          <p:cNvSpPr/>
          <p:nvPr/>
        </p:nvSpPr>
        <p:spPr>
          <a:xfrm>
            <a:off x="4122214" y="2924944"/>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a:t>
            </a:r>
          </a:p>
        </p:txBody>
      </p:sp>
      <p:cxnSp>
        <p:nvCxnSpPr>
          <p:cNvPr id="7" name="Connector: Elbow 6">
            <a:extLst>
              <a:ext uri="{FF2B5EF4-FFF2-40B4-BE49-F238E27FC236}">
                <a16:creationId xmlns:a16="http://schemas.microsoft.com/office/drawing/2014/main" id="{F917C211-2860-8724-D9F5-9329ABAE0B00}"/>
              </a:ext>
            </a:extLst>
          </p:cNvPr>
          <p:cNvCxnSpPr>
            <a:cxnSpLocks/>
            <a:stCxn id="3" idx="3"/>
            <a:endCxn id="6" idx="1"/>
          </p:cNvCxnSpPr>
          <p:nvPr/>
        </p:nvCxnSpPr>
        <p:spPr>
          <a:xfrm flipV="1">
            <a:off x="2898078" y="3336198"/>
            <a:ext cx="1224136" cy="201090"/>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2F37EE8-FC34-37D5-E210-AFE042B15CA9}"/>
              </a:ext>
            </a:extLst>
          </p:cNvPr>
          <p:cNvSpPr/>
          <p:nvPr/>
        </p:nvSpPr>
        <p:spPr>
          <a:xfrm>
            <a:off x="4103572" y="4703191"/>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 Items</a:t>
            </a:r>
          </a:p>
        </p:txBody>
      </p:sp>
      <p:cxnSp>
        <p:nvCxnSpPr>
          <p:cNvPr id="9" name="Connector: Elbow 8">
            <a:extLst>
              <a:ext uri="{FF2B5EF4-FFF2-40B4-BE49-F238E27FC236}">
                <a16:creationId xmlns:a16="http://schemas.microsoft.com/office/drawing/2014/main" id="{B5AE692E-309C-6D07-FB96-3BDA7FC1B78D}"/>
              </a:ext>
            </a:extLst>
          </p:cNvPr>
          <p:cNvCxnSpPr>
            <a:stCxn id="6" idx="2"/>
            <a:endCxn id="8" idx="0"/>
          </p:cNvCxnSpPr>
          <p:nvPr/>
        </p:nvCxnSpPr>
        <p:spPr>
          <a:xfrm rot="5400000">
            <a:off x="4859159" y="4216000"/>
            <a:ext cx="955740" cy="18642"/>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DDE7273-06D2-D315-6382-B8DD1BF36F53}"/>
              </a:ext>
            </a:extLst>
          </p:cNvPr>
          <p:cNvSpPr/>
          <p:nvPr/>
        </p:nvSpPr>
        <p:spPr>
          <a:xfrm>
            <a:off x="8442694" y="4617408"/>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a:t>
            </a:r>
          </a:p>
        </p:txBody>
      </p:sp>
      <p:cxnSp>
        <p:nvCxnSpPr>
          <p:cNvPr id="11" name="Connector: Elbow 10">
            <a:extLst>
              <a:ext uri="{FF2B5EF4-FFF2-40B4-BE49-F238E27FC236}">
                <a16:creationId xmlns:a16="http://schemas.microsoft.com/office/drawing/2014/main" id="{6ECB2D63-79EE-1B31-E55B-79CAEC7FF367}"/>
              </a:ext>
            </a:extLst>
          </p:cNvPr>
          <p:cNvCxnSpPr>
            <a:stCxn id="8" idx="3"/>
            <a:endCxn id="10" idx="1"/>
          </p:cNvCxnSpPr>
          <p:nvPr/>
        </p:nvCxnSpPr>
        <p:spPr>
          <a:xfrm>
            <a:off x="6551844" y="5114445"/>
            <a:ext cx="1890850" cy="10795"/>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9DF3925-FFE3-01C8-92A3-82EA23EC9784}"/>
              </a:ext>
            </a:extLst>
          </p:cNvPr>
          <p:cNvSpPr/>
          <p:nvPr/>
        </p:nvSpPr>
        <p:spPr>
          <a:xfrm>
            <a:off x="8457382" y="2828365"/>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 Text</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(localized)</a:t>
            </a:r>
          </a:p>
        </p:txBody>
      </p:sp>
      <p:cxnSp>
        <p:nvCxnSpPr>
          <p:cNvPr id="13" name="Connector: Elbow 12">
            <a:extLst>
              <a:ext uri="{FF2B5EF4-FFF2-40B4-BE49-F238E27FC236}">
                <a16:creationId xmlns:a16="http://schemas.microsoft.com/office/drawing/2014/main" id="{EBDD0C4B-85D4-E4B5-4A6C-6D11C2F9A5D5}"/>
              </a:ext>
            </a:extLst>
          </p:cNvPr>
          <p:cNvCxnSpPr>
            <a:stCxn id="12" idx="2"/>
            <a:endCxn id="10" idx="0"/>
          </p:cNvCxnSpPr>
          <p:nvPr/>
        </p:nvCxnSpPr>
        <p:spPr>
          <a:xfrm rot="5400000">
            <a:off x="9431500" y="4223374"/>
            <a:ext cx="773380" cy="14688"/>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3DC6AFA-1A63-88AE-E9CA-25885343CC64}"/>
              </a:ext>
            </a:extLst>
          </p:cNvPr>
          <p:cNvSpPr txBox="1"/>
          <p:nvPr/>
        </p:nvSpPr>
        <p:spPr>
          <a:xfrm>
            <a:off x="1853963" y="2241144"/>
            <a:ext cx="1116122" cy="461665"/>
          </a:xfrm>
          <a:prstGeom prst="rect">
            <a:avLst/>
          </a:prstGeom>
          <a:noFill/>
          <a:ln>
            <a:no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5" name="TextBox 14">
            <a:extLst>
              <a:ext uri="{FF2B5EF4-FFF2-40B4-BE49-F238E27FC236}">
                <a16:creationId xmlns:a16="http://schemas.microsoft.com/office/drawing/2014/main" id="{E3F4B239-2E8C-B6BF-1237-BF1705B90805}"/>
              </a:ext>
            </a:extLst>
          </p:cNvPr>
          <p:cNvSpPr txBox="1"/>
          <p:nvPr/>
        </p:nvSpPr>
        <p:spPr>
          <a:xfrm>
            <a:off x="3096377" y="2895202"/>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6" name="TextBox 15">
            <a:extLst>
              <a:ext uri="{FF2B5EF4-FFF2-40B4-BE49-F238E27FC236}">
                <a16:creationId xmlns:a16="http://schemas.microsoft.com/office/drawing/2014/main" id="{4FAE37F6-701D-F062-A38D-693DE4C4C026}"/>
              </a:ext>
            </a:extLst>
          </p:cNvPr>
          <p:cNvSpPr txBox="1"/>
          <p:nvPr/>
        </p:nvSpPr>
        <p:spPr>
          <a:xfrm>
            <a:off x="5571790" y="3994488"/>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7" name="TextBox 16">
            <a:extLst>
              <a:ext uri="{FF2B5EF4-FFF2-40B4-BE49-F238E27FC236}">
                <a16:creationId xmlns:a16="http://schemas.microsoft.com/office/drawing/2014/main" id="{8B15D7C1-BF60-5530-53BD-C009CCE0D8F0}"/>
              </a:ext>
            </a:extLst>
          </p:cNvPr>
          <p:cNvSpPr txBox="1"/>
          <p:nvPr/>
        </p:nvSpPr>
        <p:spPr>
          <a:xfrm>
            <a:off x="7218558" y="4730269"/>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8" name="TextBox 17">
            <a:extLst>
              <a:ext uri="{FF2B5EF4-FFF2-40B4-BE49-F238E27FC236}">
                <a16:creationId xmlns:a16="http://schemas.microsoft.com/office/drawing/2014/main" id="{DAB2FCD0-92E2-B406-33F3-FB25960B1291}"/>
              </a:ext>
            </a:extLst>
          </p:cNvPr>
          <p:cNvSpPr txBox="1"/>
          <p:nvPr/>
        </p:nvSpPr>
        <p:spPr>
          <a:xfrm>
            <a:off x="9954862" y="3985420"/>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Tree>
    <p:extLst>
      <p:ext uri="{BB962C8B-B14F-4D97-AF65-F5344CB8AC3E}">
        <p14:creationId xmlns:p14="http://schemas.microsoft.com/office/powerpoint/2010/main" val="1845492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Create DB Module</a:t>
            </a:r>
            <a:endParaRPr lang="en-US" dirty="0"/>
          </a:p>
        </p:txBody>
      </p:sp>
      <p:sp>
        <p:nvSpPr>
          <p:cNvPr id="5" name="TextBox 4">
            <a:extLst>
              <a:ext uri="{FF2B5EF4-FFF2-40B4-BE49-F238E27FC236}">
                <a16:creationId xmlns:a16="http://schemas.microsoft.com/office/drawing/2014/main" id="{C21469E4-175F-C0F0-122A-A58E62C81574}"/>
              </a:ext>
            </a:extLst>
          </p:cNvPr>
          <p:cNvSpPr txBox="1"/>
          <p:nvPr/>
        </p:nvSpPr>
        <p:spPr>
          <a:xfrm>
            <a:off x="189756" y="980728"/>
            <a:ext cx="11665296" cy="1200329"/>
          </a:xfrm>
          <a:prstGeom prst="rect">
            <a:avLst/>
          </a:prstGeom>
          <a:noFill/>
          <a:ln>
            <a:solidFill>
              <a:schemeClr val="bg1"/>
            </a:solid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Solution:</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a:ea typeface="+mn-ea"/>
                <a:cs typeface="+mn-cs"/>
                <a:hlinkClick r:id="rId2"/>
              </a:rPr>
              <a:t>https://github.com/soyuztechnologies/SAP_BTP_Training_CLD200/blob/master/Day%203/01%20db.zip</a:t>
            </a:r>
            <a:endParaRPr kumimoji="0" lang="en-US" sz="24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1026" name="Picture 2" descr="Database icons for free download | Freepik">
            <a:extLst>
              <a:ext uri="{FF2B5EF4-FFF2-40B4-BE49-F238E27FC236}">
                <a16:creationId xmlns:a16="http://schemas.microsoft.com/office/drawing/2014/main" id="{53697E66-CE08-835A-8815-829DBD6ED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172" y="2708920"/>
            <a:ext cx="3580656" cy="3580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15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Reuse Types and aspects</a:t>
            </a:r>
            <a:endParaRPr lang="en-US" dirty="0"/>
          </a:p>
        </p:txBody>
      </p:sp>
      <p:sp>
        <p:nvSpPr>
          <p:cNvPr id="3" name="TextBox 2">
            <a:extLst>
              <a:ext uri="{FF2B5EF4-FFF2-40B4-BE49-F238E27FC236}">
                <a16:creationId xmlns:a16="http://schemas.microsoft.com/office/drawing/2014/main" id="{7D710071-42A0-95C3-A71A-A66D7DB444D3}"/>
              </a:ext>
            </a:extLst>
          </p:cNvPr>
          <p:cNvSpPr txBox="1"/>
          <p:nvPr/>
        </p:nvSpPr>
        <p:spPr>
          <a:xfrm>
            <a:off x="189756" y="791728"/>
            <a:ext cx="11809312" cy="3170099"/>
          </a:xfrm>
          <a:prstGeom prst="rect">
            <a:avLst/>
          </a:prstGeom>
          <a:noFill/>
        </p:spPr>
        <p:txBody>
          <a:bodyPr wrap="square" rtlCol="0">
            <a:spAutoFit/>
          </a:bodyPr>
          <a:lstStyle/>
          <a:p>
            <a:r>
              <a:rPr lang="en-US" sz="2000" dirty="0">
                <a:solidFill>
                  <a:schemeClr val="bg1"/>
                </a:solidFill>
              </a:rPr>
              <a:t>When we design database artefacts, at times we have many similar objects and their data types. Instead of hardcoding the type as primitive type, it is recommended to create custom data types. Using custom data type increase reusability and reduce maintenance.</a:t>
            </a:r>
          </a:p>
          <a:p>
            <a:r>
              <a:rPr lang="en-US" sz="2000" dirty="0">
                <a:solidFill>
                  <a:schemeClr val="bg1"/>
                </a:solidFill>
              </a:rPr>
              <a:t>When we create a separate CDS file for reuse purpose and consume it. This file contain types, enumerators and aspects.</a:t>
            </a:r>
          </a:p>
          <a:p>
            <a:endParaRPr lang="en-US" sz="2000" dirty="0">
              <a:solidFill>
                <a:schemeClr val="bg1"/>
              </a:solidFill>
            </a:endParaRPr>
          </a:p>
          <a:p>
            <a:r>
              <a:rPr lang="en-US" sz="2000" dirty="0">
                <a:solidFill>
                  <a:schemeClr val="bg1"/>
                </a:solidFill>
              </a:rPr>
              <a:t>Every project would need some common aspects and types related to primary key generation, admin data (created by, created on, changed by, changed on) – temporal, Currency.</a:t>
            </a:r>
          </a:p>
          <a:p>
            <a:endParaRPr lang="en-IN" sz="2000" dirty="0">
              <a:solidFill>
                <a:schemeClr val="bg1"/>
              </a:solidFill>
            </a:endParaRPr>
          </a:p>
          <a:p>
            <a:r>
              <a:rPr lang="en-IN" sz="2000" dirty="0">
                <a:solidFill>
                  <a:schemeClr val="bg1"/>
                </a:solidFill>
              </a:rPr>
              <a:t>Aspect (structures in </a:t>
            </a:r>
            <a:r>
              <a:rPr lang="en-IN" sz="2000" dirty="0" err="1">
                <a:solidFill>
                  <a:schemeClr val="bg1"/>
                </a:solidFill>
              </a:rPr>
              <a:t>abap</a:t>
            </a:r>
            <a:r>
              <a:rPr lang="en-IN" sz="2000" dirty="0">
                <a:solidFill>
                  <a:schemeClr val="bg1"/>
                </a:solidFill>
              </a:rPr>
              <a:t>) is combination of many fields.</a:t>
            </a:r>
          </a:p>
        </p:txBody>
      </p:sp>
    </p:spTree>
    <p:extLst>
      <p:ext uri="{BB962C8B-B14F-4D97-AF65-F5344CB8AC3E}">
        <p14:creationId xmlns:p14="http://schemas.microsoft.com/office/powerpoint/2010/main" val="33397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Service creation</a:t>
            </a:r>
            <a:endParaRPr lang="en-US" dirty="0"/>
          </a:p>
        </p:txBody>
      </p:sp>
      <p:pic>
        <p:nvPicPr>
          <p:cNvPr id="2050" name="Picture 2" descr="Page 12 | Clean Input Images - Free Download on Freepik">
            <a:extLst>
              <a:ext uri="{FF2B5EF4-FFF2-40B4-BE49-F238E27FC236}">
                <a16:creationId xmlns:a16="http://schemas.microsoft.com/office/drawing/2014/main" id="{BAA36297-F35D-C0B5-2012-493056F98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6140" y="2996952"/>
            <a:ext cx="3374505" cy="33745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35E34EB-DCB8-C785-1853-C655B5BF6A95}"/>
              </a:ext>
            </a:extLst>
          </p:cNvPr>
          <p:cNvSpPr txBox="1"/>
          <p:nvPr/>
        </p:nvSpPr>
        <p:spPr>
          <a:xfrm>
            <a:off x="189756" y="980728"/>
            <a:ext cx="11737304" cy="1200329"/>
          </a:xfrm>
          <a:prstGeom prst="rect">
            <a:avLst/>
          </a:prstGeom>
          <a:noFill/>
          <a:ln>
            <a:solidFill>
              <a:schemeClr val="bg1"/>
            </a:solidFill>
          </a:ln>
        </p:spPr>
        <p:txBody>
          <a:bodyPr wrap="square" rtlCol="0">
            <a:spAutoFit/>
          </a:bodyPr>
          <a:lstStyle/>
          <a:p>
            <a:r>
              <a:rPr lang="en-US" dirty="0">
                <a:solidFill>
                  <a:schemeClr val="bg1"/>
                </a:solidFill>
              </a:rPr>
              <a:t>Solution</a:t>
            </a:r>
          </a:p>
          <a:p>
            <a:r>
              <a:rPr lang="en-US" dirty="0">
                <a:solidFill>
                  <a:schemeClr val="bg1"/>
                </a:solidFill>
                <a:hlinkClick r:id="rId3"/>
              </a:rPr>
              <a:t>https://github.com/soyuztechnologies/SAP_BTP_Training_CLD200/blob/master/Day%203/02%20srv.zip</a:t>
            </a:r>
            <a:endParaRPr lang="en-US" dirty="0">
              <a:solidFill>
                <a:schemeClr val="bg1"/>
              </a:solidFill>
            </a:endParaRPr>
          </a:p>
        </p:txBody>
      </p:sp>
    </p:spTree>
    <p:extLst>
      <p:ext uri="{BB962C8B-B14F-4D97-AF65-F5344CB8AC3E}">
        <p14:creationId xmlns:p14="http://schemas.microsoft.com/office/powerpoint/2010/main" val="3656999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71F3-7223-6535-6631-0650302FAD8B}"/>
              </a:ext>
            </a:extLst>
          </p:cNvPr>
          <p:cNvSpPr>
            <a:spLocks noGrp="1"/>
          </p:cNvSpPr>
          <p:nvPr>
            <p:ph type="title"/>
          </p:nvPr>
        </p:nvSpPr>
        <p:spPr/>
        <p:txBody>
          <a:bodyPr/>
          <a:lstStyle/>
          <a:p>
            <a:r>
              <a:rPr lang="en-US" dirty="0"/>
              <a:t>Introduction to CDS Views</a:t>
            </a:r>
          </a:p>
        </p:txBody>
      </p:sp>
      <p:sp>
        <p:nvSpPr>
          <p:cNvPr id="4" name="TextBox 3">
            <a:extLst>
              <a:ext uri="{FF2B5EF4-FFF2-40B4-BE49-F238E27FC236}">
                <a16:creationId xmlns:a16="http://schemas.microsoft.com/office/drawing/2014/main" id="{F93B2F40-10EC-C526-D717-5D1C55DAF2E7}"/>
              </a:ext>
            </a:extLst>
          </p:cNvPr>
          <p:cNvSpPr txBox="1"/>
          <p:nvPr/>
        </p:nvSpPr>
        <p:spPr>
          <a:xfrm>
            <a:off x="130881" y="784925"/>
            <a:ext cx="11927061" cy="2862322"/>
          </a:xfrm>
          <a:prstGeom prst="rect">
            <a:avLst/>
          </a:prstGeom>
          <a:noFill/>
        </p:spPr>
        <p:txBody>
          <a:bodyPr wrap="square">
            <a:spAutoFit/>
          </a:bodyPr>
          <a:lstStyle/>
          <a:p>
            <a:r>
              <a:rPr lang="en-US" sz="2000" dirty="0">
                <a:solidFill>
                  <a:schemeClr val="bg1"/>
                </a:solidFill>
              </a:rPr>
              <a:t>1. Usually we have all our data distributed across multiple tables, and if we need to get this data out, we need to write complex queries with joins. It becomes very complex to handle the maintenance of these large queries. Views will simplify the consumption and make it easy to maintenance.</a:t>
            </a:r>
          </a:p>
          <a:p>
            <a:r>
              <a:rPr lang="en-US" sz="2000" dirty="0">
                <a:solidFill>
                  <a:schemeClr val="bg1"/>
                </a:solidFill>
              </a:rPr>
              <a:t>2. We can perform operations like aggregation on the view.</a:t>
            </a:r>
          </a:p>
          <a:p>
            <a:r>
              <a:rPr lang="en-US" sz="2000" dirty="0">
                <a:solidFill>
                  <a:schemeClr val="bg1"/>
                </a:solidFill>
              </a:rPr>
              <a:t>3. Security</a:t>
            </a:r>
          </a:p>
          <a:p>
            <a:r>
              <a:rPr lang="en-US" sz="2000" dirty="0">
                <a:solidFill>
                  <a:schemeClr val="bg1"/>
                </a:solidFill>
              </a:rPr>
              <a:t>4. CDS views are also the contracts for data consumption</a:t>
            </a:r>
          </a:p>
          <a:p>
            <a:r>
              <a:rPr lang="en-US" sz="2000" dirty="0">
                <a:solidFill>
                  <a:schemeClr val="bg1"/>
                </a:solidFill>
              </a:rPr>
              <a:t>5. They include annotations which drive functionality.</a:t>
            </a:r>
          </a:p>
          <a:p>
            <a:r>
              <a:rPr lang="en-US" sz="2000" dirty="0">
                <a:solidFill>
                  <a:schemeClr val="bg1"/>
                </a:solidFill>
              </a:rPr>
              <a:t>6. View provide lose coupling to load data. Whereas when we use queries and joins, they are always tight coupling.</a:t>
            </a:r>
            <a:endParaRPr lang="en-IN" sz="2000" dirty="0">
              <a:solidFill>
                <a:schemeClr val="bg1"/>
              </a:solidFill>
            </a:endParaRPr>
          </a:p>
        </p:txBody>
      </p:sp>
      <p:sp>
        <p:nvSpPr>
          <p:cNvPr id="5" name="Rectangle 4">
            <a:extLst>
              <a:ext uri="{FF2B5EF4-FFF2-40B4-BE49-F238E27FC236}">
                <a16:creationId xmlns:a16="http://schemas.microsoft.com/office/drawing/2014/main" id="{F0D287AE-20B2-4CAD-0046-02C2B69712EA}"/>
              </a:ext>
            </a:extLst>
          </p:cNvPr>
          <p:cNvSpPr/>
          <p:nvPr/>
        </p:nvSpPr>
        <p:spPr>
          <a:xfrm>
            <a:off x="5446340" y="3789040"/>
            <a:ext cx="1800200" cy="2160240"/>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a:t>
            </a:r>
          </a:p>
        </p:txBody>
      </p:sp>
      <p:sp>
        <p:nvSpPr>
          <p:cNvPr id="6" name="Arrow: Right 5">
            <a:extLst>
              <a:ext uri="{FF2B5EF4-FFF2-40B4-BE49-F238E27FC236}">
                <a16:creationId xmlns:a16="http://schemas.microsoft.com/office/drawing/2014/main" id="{2000159E-ACDA-6DBB-DC5F-1AC1515897A5}"/>
              </a:ext>
            </a:extLst>
          </p:cNvPr>
          <p:cNvSpPr/>
          <p:nvPr/>
        </p:nvSpPr>
        <p:spPr>
          <a:xfrm>
            <a:off x="7179342" y="4213674"/>
            <a:ext cx="1944216" cy="936104"/>
          </a:xfrm>
          <a:prstGeom prst="rightArrow">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Load what is needed</a:t>
            </a:r>
          </a:p>
        </p:txBody>
      </p:sp>
      <p:sp>
        <p:nvSpPr>
          <p:cNvPr id="7" name="Rectangle 6">
            <a:extLst>
              <a:ext uri="{FF2B5EF4-FFF2-40B4-BE49-F238E27FC236}">
                <a16:creationId xmlns:a16="http://schemas.microsoft.com/office/drawing/2014/main" id="{F745815F-5E17-7D9A-42DC-0AA3D9422CB3}"/>
              </a:ext>
            </a:extLst>
          </p:cNvPr>
          <p:cNvSpPr/>
          <p:nvPr/>
        </p:nvSpPr>
        <p:spPr>
          <a:xfrm>
            <a:off x="9123558" y="3853634"/>
            <a:ext cx="2664296" cy="1872208"/>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 items</a:t>
            </a:r>
          </a:p>
        </p:txBody>
      </p:sp>
      <p:sp>
        <p:nvSpPr>
          <p:cNvPr id="8" name="Rectangle 7">
            <a:extLst>
              <a:ext uri="{FF2B5EF4-FFF2-40B4-BE49-F238E27FC236}">
                <a16:creationId xmlns:a16="http://schemas.microsoft.com/office/drawing/2014/main" id="{24B7DD77-5F7E-3374-6366-C97D3A0D58E3}"/>
              </a:ext>
            </a:extLst>
          </p:cNvPr>
          <p:cNvSpPr/>
          <p:nvPr/>
        </p:nvSpPr>
        <p:spPr>
          <a:xfrm>
            <a:off x="189756" y="3789040"/>
            <a:ext cx="4968552"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2"/>
              </a:rPr>
              <a:t>https://github.com/soyuztechnologies/SAP_BTP_Training_CLD200/blob/master/Day%203/01%20db/01db/CDSViews.cds</a:t>
            </a:r>
            <a:endParaRPr lang="en-US" dirty="0"/>
          </a:p>
        </p:txBody>
      </p:sp>
    </p:spTree>
    <p:extLst>
      <p:ext uri="{BB962C8B-B14F-4D97-AF65-F5344CB8AC3E}">
        <p14:creationId xmlns:p14="http://schemas.microsoft.com/office/powerpoint/2010/main" val="383963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72374-4141-516C-26A1-A350786D67CE}"/>
              </a:ext>
            </a:extLst>
          </p:cNvPr>
          <p:cNvSpPr>
            <a:spLocks noGrp="1"/>
          </p:cNvSpPr>
          <p:nvPr>
            <p:ph type="title"/>
          </p:nvPr>
        </p:nvSpPr>
        <p:spPr/>
        <p:txBody>
          <a:bodyPr/>
          <a:lstStyle/>
          <a:p>
            <a:r>
              <a:rPr lang="en-US" dirty="0"/>
              <a:t>Views – (CDS Views)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CFACC54-D083-39E6-7313-64BBE519DDFC}"/>
                  </a:ext>
                </a:extLst>
              </p14:cNvPr>
              <p14:cNvContentPartPr/>
              <p14:nvPr/>
            </p14:nvContentPartPr>
            <p14:xfrm>
              <a:off x="658444" y="2979116"/>
              <a:ext cx="360" cy="360"/>
            </p14:xfrm>
          </p:contentPart>
        </mc:Choice>
        <mc:Fallback xmlns="">
          <p:pic>
            <p:nvPicPr>
              <p:cNvPr id="3" name="Ink 2">
                <a:extLst>
                  <a:ext uri="{FF2B5EF4-FFF2-40B4-BE49-F238E27FC236}">
                    <a16:creationId xmlns:a16="http://schemas.microsoft.com/office/drawing/2014/main" id="{7CFACC54-D083-39E6-7313-64BBE519DDFC}"/>
                  </a:ext>
                </a:extLst>
              </p:cNvPr>
              <p:cNvPicPr/>
              <p:nvPr/>
            </p:nvPicPr>
            <p:blipFill>
              <a:blip r:embed="rId3"/>
              <a:stretch>
                <a:fillRect/>
              </a:stretch>
            </p:blipFill>
            <p:spPr>
              <a:xfrm>
                <a:off x="649444" y="297011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00B18A42-295D-3682-652A-5565771C4637}"/>
                  </a:ext>
                </a:extLst>
              </p14:cNvPr>
              <p14:cNvContentPartPr/>
              <p14:nvPr/>
            </p14:nvContentPartPr>
            <p14:xfrm>
              <a:off x="1474564" y="471515"/>
              <a:ext cx="360" cy="360"/>
            </p14:xfrm>
          </p:contentPart>
        </mc:Choice>
        <mc:Fallback xmlns="">
          <p:pic>
            <p:nvPicPr>
              <p:cNvPr id="4" name="Ink 3">
                <a:extLst>
                  <a:ext uri="{FF2B5EF4-FFF2-40B4-BE49-F238E27FC236}">
                    <a16:creationId xmlns:a16="http://schemas.microsoft.com/office/drawing/2014/main" id="{00B18A42-295D-3682-652A-5565771C4637}"/>
                  </a:ext>
                </a:extLst>
              </p:cNvPr>
              <p:cNvPicPr/>
              <p:nvPr/>
            </p:nvPicPr>
            <p:blipFill>
              <a:blip r:embed="rId3"/>
              <a:stretch>
                <a:fillRect/>
              </a:stretch>
            </p:blipFill>
            <p:spPr>
              <a:xfrm>
                <a:off x="1465924" y="462875"/>
                <a:ext cx="18000" cy="18000"/>
              </a:xfrm>
              <a:prstGeom prst="rect">
                <a:avLst/>
              </a:prstGeom>
            </p:spPr>
          </p:pic>
        </mc:Fallback>
      </mc:AlternateContent>
    </p:spTree>
    <p:extLst>
      <p:ext uri="{BB962C8B-B14F-4D97-AF65-F5344CB8AC3E}">
        <p14:creationId xmlns:p14="http://schemas.microsoft.com/office/powerpoint/2010/main" val="2021169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3</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40,000+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581024" y="1338826"/>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581024" y="309454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581024" y="4850271"/>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3" name="Rectangle: Rounded Corners 1132">
            <a:extLst>
              <a:ext uri="{FF2B5EF4-FFF2-40B4-BE49-F238E27FC236}">
                <a16:creationId xmlns:a16="http://schemas.microsoft.com/office/drawing/2014/main" id="{47299741-729A-4FA6-A73E-373218C0B948}"/>
              </a:ext>
            </a:extLst>
          </p:cNvPr>
          <p:cNvSpPr/>
          <p:nvPr/>
        </p:nvSpPr>
        <p:spPr>
          <a:xfrm>
            <a:off x="6326749" y="1338826"/>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6326749" y="309454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6326749" y="485027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1245710" y="1591839"/>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923980"/>
              <a:ext cx="2236930" cy="95875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Understanding Aspects and associations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01</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1245710" y="3347558"/>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083772"/>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Working with Service Layer</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02</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1" name="Group 1140">
            <a:extLst>
              <a:ext uri="{FF2B5EF4-FFF2-40B4-BE49-F238E27FC236}">
                <a16:creationId xmlns:a16="http://schemas.microsoft.com/office/drawing/2014/main" id="{010C7D28-B781-409B-AFDB-2EB8DCBAB471}"/>
              </a:ext>
            </a:extLst>
          </p:cNvPr>
          <p:cNvGrpSpPr/>
          <p:nvPr/>
        </p:nvGrpSpPr>
        <p:grpSpPr>
          <a:xfrm>
            <a:off x="6991434" y="1591839"/>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243564"/>
              <a:ext cx="2236930"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Generic Service handlers</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6991434" y="3347558"/>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083770"/>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Introduction to Fiori Elements</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05</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1245710" y="5103281"/>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Business Application Studio</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6991434" y="5103281"/>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Adding UI module</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06</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3014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7719</TotalTime>
  <Words>1325</Words>
  <Application>Microsoft Office PowerPoint</Application>
  <PresentationFormat>Custom</PresentationFormat>
  <Paragraphs>147</Paragraphs>
  <Slides>19</Slides>
  <Notes>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Amasis MT Pro Black</vt:lpstr>
      <vt:lpstr>Arial</vt:lpstr>
      <vt:lpstr>Arial Black</vt:lpstr>
      <vt:lpstr>Calibri</vt:lpstr>
      <vt:lpstr>Cooper Black</vt:lpstr>
      <vt:lpstr>Segoe UI</vt:lpstr>
      <vt:lpstr>Segoe UI Light</vt:lpstr>
      <vt:lpstr>Office Theme</vt:lpstr>
      <vt:lpstr>SAP BTP Architect Training</vt:lpstr>
      <vt:lpstr>PowerPoint Presentation</vt:lpstr>
      <vt:lpstr>Agenda – Day 3</vt:lpstr>
      <vt:lpstr>Challenges of building Apps on BTP</vt:lpstr>
      <vt:lpstr>CAPM Introduction</vt:lpstr>
      <vt:lpstr>CDS – Core Data and Services </vt:lpstr>
      <vt:lpstr>Solution – use CAP framework</vt:lpstr>
      <vt:lpstr>Hands on: Modules for using CAP</vt:lpstr>
      <vt:lpstr>PowerPoint Presentation</vt:lpstr>
      <vt:lpstr>DB Design</vt:lpstr>
      <vt:lpstr>Hands on: Create DB Module</vt:lpstr>
      <vt:lpstr>Reuse Types and aspects</vt:lpstr>
      <vt:lpstr>Hands on: Service creation</vt:lpstr>
      <vt:lpstr>Introduction to CDS Views</vt:lpstr>
      <vt:lpstr>Views – (CDS Views)</vt:lpstr>
      <vt:lpstr>PowerPoint Presentation</vt:lpstr>
      <vt:lpstr>PowerPoint Presentation</vt:lpstr>
      <vt:lpstr>PowerPoint Presentation</vt:lpstr>
      <vt:lpstr>Agenda – Day 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Deepraj Debroy</cp:lastModifiedBy>
  <cp:revision>226</cp:revision>
  <dcterms:created xsi:type="dcterms:W3CDTF">2013-09-12T13:05:01Z</dcterms:created>
  <dcterms:modified xsi:type="dcterms:W3CDTF">2025-11-27T20:38:10Z</dcterms:modified>
</cp:coreProperties>
</file>